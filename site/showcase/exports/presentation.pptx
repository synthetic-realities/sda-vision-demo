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presentation.pptx</a:t>
            </a:r>
          </a:p>
          <a:p>
            <a:r>
              <a:t>presentation.pptx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presentation.pptx</a:t>
            </a:r>
          </a:p>
          <a:p>
            <a:r>
              <a:t>Assessment summary</a:t>
            </a:r>
          </a:p>
          <a:p>
            <a:r>
              <a:t>Finding | Inconclusive</a:t>
            </a:r>
          </a:p>
          <a:p>
            <a:r>
              <a:t>Recorded verdict | inconclusive</a:t>
            </a:r>
          </a:p>
          <a:p>
            <a:r>
              <a:t>Confidence | low</a:t>
            </a:r>
          </a:p>
          <a:p>
            <a:r>
              <a:t>Indicative rating | 26/100</a:t>
            </a:r>
          </a:p>
          <a:p>
            <a:r>
              <a:t>Rating basis | rounded mean of available frame scores; not a calibrated probability</a:t>
            </a:r>
          </a:p>
          <a:p>
            <a:r>
              <a:t>Explanation | The sampled frames leave the assessment inconclusive. Review the frame results and source context.</a:t>
            </a:r>
          </a:p>
          <a:p>
            <a:r>
              <a:t>Coverage | pptx - 4 frame(s) analysed of 14 found</a:t>
            </a:r>
          </a:p>
          <a:p>
            <a:r>
              <a:t>Review context | Research assessment. Review alongside source information and context. When credentials are missing, origin remains unresolved by this check. Use these findings to inform a documented human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presentation.pptx</a:t>
            </a:r>
          </a:p>
          <a:p>
            <a:r>
              <a:t>Provider overview</a:t>
            </a:r>
          </a:p>
          <a:p>
            <a:r>
              <a:t>Claude Vision | vision / ok | inconclusive | 58/100</a:t>
            </a:r>
          </a:p>
          <a:p>
            <a:r>
              <a:t>OpenAI Vision | vision / ok | inconclusive | 15/100</a:t>
            </a:r>
          </a:p>
          <a:p>
            <a:r>
              <a:t>Gemini Vision | vision / ok | authentic likely | 28/100</a:t>
            </a:r>
          </a:p>
          <a:p>
            <a:r>
              <a:t>C2PA Content Credentials | provenance / ok | inconclusive | n/a</a:t>
            </a:r>
          </a:p>
          <a:p>
            <a:r>
              <a:t>Local forensic cues | forensic / ok | partially synthetic | 41/100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presentation.pptx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Worst of 4 frames (slide 1): synthetic likelihood 58/100; tells: network diagram geometry is approximately but not mathematically regular: uneven node spacing and edge endpoints that do not always terminate cleanly on nodes, some edges appear semi-transparent or softly blurred in an inconsistent way, unlike typical crisp vector rendering, teal-to-orange colour transition across nodes is painterly rather than rule-based, faint background polygon mesh with irregular, fading line segments</a:t>
            </a:r>
          </a:p>
          <a:p>
            <a:r>
              <a:t>Evidence 1 | Frame slide 1: 58/100</a:t>
            </a:r>
          </a:p>
          <a:p>
            <a:r>
              <a:t>Evidence 2 | Frame slide 5: 58/100</a:t>
            </a:r>
          </a:p>
          <a:p>
            <a:r>
              <a:t>Evidence 3 | Frame slide 10: 55/100</a:t>
            </a:r>
          </a:p>
          <a:p>
            <a:r>
              <a:t>Evidence 4 | Frame slide 14: 55/100</a:t>
            </a:r>
          </a:p>
          <a:p>
            <a:r>
              <a:t>Evidence 5 | Network diagram geometry is approximately but not mathematically regular: uneven node spacing and edge endpoints that do not always terminate cleanly on nodes</a:t>
            </a:r>
          </a:p>
          <a:p>
            <a:r>
              <a:t>Evidence 6 | Some edges appear semi-transparent or softly blurred in an inconsistent way, unlike typical crisp vector rendering</a:t>
            </a:r>
          </a:p>
          <a:p>
            <a:r>
              <a:t>Evidence 7 | Teal-to-orange colour transition across nodes is painterly rather than rule-based</a:t>
            </a:r>
          </a:p>
          <a:p>
            <a:r>
              <a:t>Evidence 8 | Faint background polygon mesh with irregular, fading line segments</a:t>
            </a:r>
          </a:p>
          <a:p>
            <a:r>
              <a:t>Evidence 9 | Typography is clean, correctly spelled and consistently kerned, which fits either conventional slide software or a modern text-capable image generator</a:t>
            </a:r>
          </a:p>
          <a:p>
            <a:r>
              <a:t>Evidence 10 | No camera signals (no sensor noise, lens blur or perspective) because this is a flat digital graphic, so photographic forensics do not apply</a:t>
            </a:r>
          </a:p>
          <a:p>
            <a:r>
              <a:t>Evidence 11 | Filename indicates a PowerPoint slide export, a plausible conventional design origin</a:t>
            </a:r>
          </a:p>
          <a:p>
            <a:r>
              <a:t>Evidence 12 | Caveat: This is a flat designed graphic, so camera-based forensic cues are absent. The irregular network rendering suggests an AI image generator but could also come from design or graph-visualisation software. Checking the source .pptx file, its metadata and the authoring tool history would be more decisive than visual inspection.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presentation.pptx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Worst of 4 frames (slide 1): synthetic likelihood 58/100; tells: network diagram geometry is approximately but not mathematically regular: uneven node spacing and edge endpoints that do not always terminate cleanly on nodes, some edges appear semi-transparent or softly blurred in an inconsistent way, unlike typical crisp vector rendering, teal-to-orange colour transition across nodes is painterly rather than rule-based, faint background polygon mesh with irregular, fading line segments</a:t>
            </a:r>
          </a:p>
          <a:p>
            <a:r>
              <a:t>Evidence 1 | Frame slide 1: 58/100</a:t>
            </a:r>
          </a:p>
          <a:p>
            <a:r>
              <a:t>Evidence 2 | Frame slide 5: 58/100</a:t>
            </a:r>
          </a:p>
          <a:p>
            <a:r>
              <a:t>Evidence 3 | Frame slide 10: 55/100</a:t>
            </a:r>
          </a:p>
          <a:p>
            <a:r>
              <a:t>Evidence 4 | Frame slide 14: 55/100</a:t>
            </a:r>
          </a:p>
          <a:p>
            <a:r>
              <a:t>Evidence 5 | Network diagram geometry is approximately but not mathematically regular: uneven node spacing and edge endpoints that do not always terminate cleanly on nodes</a:t>
            </a:r>
          </a:p>
          <a:p>
            <a:r>
              <a:t>Evidence 6 | Some edges appear semi-transparent or softly blurred in an inconsistent way, unlike typical crisp vector rendering</a:t>
            </a:r>
          </a:p>
          <a:p>
            <a:r>
              <a:t>Evidence 7 | Teal-to-orange colour transition across nodes is painterly rather than rule-based</a:t>
            </a:r>
          </a:p>
          <a:p>
            <a:r>
              <a:t>Evidence 8 | Faint background polygon mesh with irregular, fading line segments</a:t>
            </a:r>
          </a:p>
          <a:p>
            <a:r>
              <a:t>Evidence 9 | Typography is clean, correctly spelled and consistently kerned, which fits either conventional slide software or a modern text-capable image generator</a:t>
            </a:r>
          </a:p>
          <a:p>
            <a:r>
              <a:t>Evidence 10 | No camera signals (no sensor noise, lens blur or perspective) because this is a flat digital graphic, so photographic forensics do not apply</a:t>
            </a:r>
          </a:p>
          <a:p>
            <a:r>
              <a:t>Evidence 11 | Filename indicates a PowerPoint slide export, a plausible conventional design origin</a:t>
            </a:r>
          </a:p>
          <a:p>
            <a:r>
              <a:t>Evidence 12 | Caveat: This is a flat designed graphic, so camera-based forensic cues are absent. The irregular network rendering suggests an AI image generator but could also come from design or graph-visualisation software. Checking the source .pptx file, its metadata and the authoring tool history would be more decisive than visual inspection.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presentation.pptx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Worst of 4 frames (slide 1): synthetic likelihood 58/100; tells: network diagram geometry is approximately but not mathematically regular: uneven node spacing and edge endpoints that do not always terminate cleanly on nodes, some edges appear semi-transparent or softly blurred in an inconsistent way, unlike typical crisp vector rendering, teal-to-orange colour transition across nodes is painterly rather than rule-based, faint background polygon mesh with irregular, fading line segments</a:t>
            </a:r>
          </a:p>
          <a:p>
            <a:r>
              <a:t>Evidence 1 | Frame slide 1: 58/100</a:t>
            </a:r>
          </a:p>
          <a:p>
            <a:r>
              <a:t>Evidence 2 | Frame slide 5: 58/100</a:t>
            </a:r>
          </a:p>
          <a:p>
            <a:r>
              <a:t>Evidence 3 | Frame slide 10: 55/100</a:t>
            </a:r>
          </a:p>
          <a:p>
            <a:r>
              <a:t>Evidence 4 | Frame slide 14: 55/100</a:t>
            </a:r>
          </a:p>
          <a:p>
            <a:r>
              <a:t>Evidence 5 | Network diagram geometry is approximately but not mathematically regular: uneven node spacing and edge endpoints that do not always terminate cleanly on nodes</a:t>
            </a:r>
          </a:p>
          <a:p>
            <a:r>
              <a:t>Evidence 6 | Some edges appear semi-transparent or softly blurred in an inconsistent way, unlike typical crisp vector rendering</a:t>
            </a:r>
          </a:p>
          <a:p>
            <a:r>
              <a:t>Evidence 7 | Teal-to-orange colour transition across nodes is painterly rather than rule-based</a:t>
            </a:r>
          </a:p>
          <a:p>
            <a:r>
              <a:t>Evidence 8 | Faint background polygon mesh with irregular, fading line segments</a:t>
            </a:r>
          </a:p>
          <a:p>
            <a:r>
              <a:t>Evidence 9 | Typography is clean, correctly spelled and consistently kerned, which fits either conventional slide software or a modern text-capable image generator</a:t>
            </a:r>
          </a:p>
          <a:p>
            <a:r>
              <a:t>Evidence 10 | No camera signals (no sensor noise, lens blur or perspective) because this is a flat digital graphic, so photographic forensics do not apply</a:t>
            </a:r>
          </a:p>
          <a:p>
            <a:r>
              <a:t>Evidence 11 | Filename indicates a PowerPoint slide export, a plausible conventional design origin</a:t>
            </a:r>
          </a:p>
          <a:p>
            <a:r>
              <a:t>Evidence 12 | Caveat: This is a flat designed graphic, so camera-based forensic cues are absent. The irregular network rendering suggests an AI image generator but could also come from design or graph-visualisation software. Checking the source .pptx file, its metadata and the authoring tool history would be more decisive than visual inspection.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presentation.pptx</a:t>
            </a:r>
          </a:p>
          <a:p>
            <a:r>
              <a:t>Provider evidence / 2</a:t>
            </a:r>
          </a:p>
          <a:p>
            <a:r>
              <a:t>Provider | OpenAI Vision</a:t>
            </a:r>
          </a:p>
          <a:p>
            <a:r>
              <a:t>Model | gpt-6-astra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medium</a:t>
            </a:r>
          </a:p>
          <a:p>
            <a:r>
              <a:t>Role in assessment | Additional finding</a:t>
            </a:r>
          </a:p>
          <a:p>
            <a:r>
              <a:t>Provider summary | Worst of 4 frames (slide 1): synthetic likelihood 15/100; tells: Presentation-slide layout rather than a camera photograph, Legible typography with consistent letterforms and alignment, Network illustration uses clean straight edges and regularly placed circular nodes, No obvious generative distortions; conventional vector graphics could explain the design</a:t>
            </a:r>
          </a:p>
          <a:p>
            <a:r>
              <a:t>Evidence 1 | Frame slide 1: 15/100</a:t>
            </a:r>
          </a:p>
          <a:p>
            <a:r>
              <a:t>Evidence 2 | Frame slide 5: 15/100</a:t>
            </a:r>
          </a:p>
          <a:p>
            <a:r>
              <a:t>Evidence 3 | Frame slide 10: 12/100</a:t>
            </a:r>
          </a:p>
          <a:p>
            <a:r>
              <a:t>Evidence 4 | Frame slide 14: 10/100</a:t>
            </a:r>
          </a:p>
          <a:p>
            <a:r>
              <a:t>Evidence 5 | Presentation-slide layout rather than a camera photograph</a:t>
            </a:r>
          </a:p>
          <a:p>
            <a:r>
              <a:t>Evidence 6 | Legible typography with consistent letterforms and alignment</a:t>
            </a:r>
          </a:p>
          <a:p>
            <a:r>
              <a:t>Evidence 7 | Network illustration uses clean straight edges and regularly placed circular nodes</a:t>
            </a:r>
          </a:p>
          <a:p>
            <a:r>
              <a:t>Evidence 8 | No obvious generative distortions; conventional vector graphics could explain the design</a:t>
            </a:r>
          </a:p>
          <a:p>
            <a:r>
              <a:t>Evidence 9 | Caveat: A digitally designed slide is not itself evidence of AI generation; source files or provenance records are needed to distinguish conventional design from AI assistance.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presentation.pptx</a:t>
            </a:r>
          </a:p>
          <a:p>
            <a:r>
              <a:t>Provider evidence / 2</a:t>
            </a:r>
          </a:p>
          <a:p>
            <a:r>
              <a:t>Provider | OpenAI Vision</a:t>
            </a:r>
          </a:p>
          <a:p>
            <a:r>
              <a:t>Model | gpt-6-astra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medium</a:t>
            </a:r>
          </a:p>
          <a:p>
            <a:r>
              <a:t>Role in assessment | Additional finding</a:t>
            </a:r>
          </a:p>
          <a:p>
            <a:r>
              <a:t>Provider summary | Worst of 4 frames (slide 1): synthetic likelihood 15/100; tells: Presentation-slide layout rather than a camera photograph, Legible typography with consistent letterforms and alignment, Network illustration uses clean straight edges and regularly placed circular nodes, No obvious generative distortions; conventional vector graphics could explain the design</a:t>
            </a:r>
          </a:p>
          <a:p>
            <a:r>
              <a:t>Evidence 1 | Frame slide 1: 15/100</a:t>
            </a:r>
          </a:p>
          <a:p>
            <a:r>
              <a:t>Evidence 2 | Frame slide 5: 15/100</a:t>
            </a:r>
          </a:p>
          <a:p>
            <a:r>
              <a:t>Evidence 3 | Frame slide 10: 12/100</a:t>
            </a:r>
          </a:p>
          <a:p>
            <a:r>
              <a:t>Evidence 4 | Frame slide 14: 10/100</a:t>
            </a:r>
          </a:p>
          <a:p>
            <a:r>
              <a:t>Evidence 5 | Presentation-slide layout rather than a camera photograph</a:t>
            </a:r>
          </a:p>
          <a:p>
            <a:r>
              <a:t>Evidence 6 | Legible typography with consistent letterforms and alignment</a:t>
            </a:r>
          </a:p>
          <a:p>
            <a:r>
              <a:t>Evidence 7 | Network illustration uses clean straight edges and regularly placed circular nodes</a:t>
            </a:r>
          </a:p>
          <a:p>
            <a:r>
              <a:t>Evidence 8 | No obvious generative distortions; conventional vector graphics could explain the design</a:t>
            </a:r>
          </a:p>
          <a:p>
            <a:r>
              <a:t>Evidence 9 | Caveat: A digitally designed slide is not itself evidence of AI generation; source files or provenance records are needed to distinguish conventional design from AI assistance.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presentation.pptx</a:t>
            </a:r>
          </a:p>
          <a:p>
            <a:r>
              <a:t>Provider evidence / 3</a:t>
            </a:r>
          </a:p>
          <a:p>
            <a:r>
              <a:t>Provider | Gemini Vision</a:t>
            </a:r>
          </a:p>
          <a:p>
            <a:r>
              <a:t>Model | gemini-3.8-flash</a:t>
            </a:r>
          </a:p>
          <a:p>
            <a:r>
              <a:t>Status | ok</a:t>
            </a:r>
          </a:p>
          <a:p>
            <a:r>
              <a:t>Assessment | authentic likely</a:t>
            </a:r>
          </a:p>
          <a:p>
            <a:r>
              <a:t>Confidence | medium</a:t>
            </a:r>
          </a:p>
          <a:p>
            <a:r>
              <a:t>Role in assessment | Additional finding</a:t>
            </a:r>
          </a:p>
          <a:p>
            <a:r>
              <a:t>Provider summary | Worst of 4 frames (slide 5): synthetic likelihood 28/100; tells: sharp vector-style typography, clean standard digital design elements, absence of generative diffusion artifacts, structured geometric layout</a:t>
            </a:r>
          </a:p>
          <a:p>
            <a:r>
              <a:t>Evidence 1 | Frame slide 1: 25/100</a:t>
            </a:r>
          </a:p>
          <a:p>
            <a:r>
              <a:t>Evidence 2 | Frame slide 5: 28/100</a:t>
            </a:r>
          </a:p>
          <a:p>
            <a:r>
              <a:t>Evidence 3 | Frame slide 10: 25/100</a:t>
            </a:r>
          </a:p>
          <a:p>
            <a:r>
              <a:t>Evidence 4 | Frame slide 14: 25/100</a:t>
            </a:r>
          </a:p>
          <a:p>
            <a:r>
              <a:t>Evidence 5 | Sharp vector-style typography</a:t>
            </a:r>
          </a:p>
          <a:p>
            <a:r>
              <a:t>Evidence 6 | Clean standard digital design elements</a:t>
            </a:r>
          </a:p>
          <a:p>
            <a:r>
              <a:t>Evidence 7 | Absence of generative diffusion artifacts</a:t>
            </a:r>
          </a:p>
          <a:p>
            <a:r>
              <a:t>Evidence 8 | Structured geometric layout</a:t>
            </a:r>
          </a:p>
          <a:p>
            <a:r>
              <a:t>Evidence 9 | Caveat: Standard presentation slide graphics can be synthesized or edited via modern automated design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presentation.pptx</a:t>
            </a:r>
          </a:p>
          <a:p>
            <a:r>
              <a:t>Provider evidence / 3</a:t>
            </a:r>
          </a:p>
          <a:p>
            <a:r>
              <a:t>Provider | Gemini Vision</a:t>
            </a:r>
          </a:p>
          <a:p>
            <a:r>
              <a:t>Model | gemini-3.8-flash</a:t>
            </a:r>
          </a:p>
          <a:p>
            <a:r>
              <a:t>Status | ok</a:t>
            </a:r>
          </a:p>
          <a:p>
            <a:r>
              <a:t>Assessment | authentic likely</a:t>
            </a:r>
          </a:p>
          <a:p>
            <a:r>
              <a:t>Confidence | medium</a:t>
            </a:r>
          </a:p>
          <a:p>
            <a:r>
              <a:t>Role in assessment | Additional finding</a:t>
            </a:r>
          </a:p>
          <a:p>
            <a:r>
              <a:t>Provider summary | Worst of 4 frames (slide 5): synthetic likelihood 28/100; tells: sharp vector-style typography, clean standard digital design elements, absence of generative diffusion artifacts, structured geometric layout</a:t>
            </a:r>
          </a:p>
          <a:p>
            <a:r>
              <a:t>Evidence 1 | Frame slide 1: 25/100</a:t>
            </a:r>
          </a:p>
          <a:p>
            <a:r>
              <a:t>Evidence 2 | Frame slide 5: 28/100</a:t>
            </a:r>
          </a:p>
          <a:p>
            <a:r>
              <a:t>Evidence 3 | Frame slide 10: 25/100</a:t>
            </a:r>
          </a:p>
          <a:p>
            <a:r>
              <a:t>Evidence 4 | Frame slide 14: 25/100</a:t>
            </a:r>
          </a:p>
          <a:p>
            <a:r>
              <a:t>Evidence 5 | Sharp vector-style typography</a:t>
            </a:r>
          </a:p>
          <a:p>
            <a:r>
              <a:t>Evidence 6 | Clean standard digital design elements</a:t>
            </a:r>
          </a:p>
          <a:p>
            <a:r>
              <a:t>Evidence 7 | Absence of generative diffusion artifacts</a:t>
            </a:r>
          </a:p>
          <a:p>
            <a:r>
              <a:t>Evidence 8 | Structured geometric layout</a:t>
            </a:r>
          </a:p>
          <a:p>
            <a:r>
              <a:t>Evidence 9 | Caveat: Standard presentation slide graphics can be synthesized or edited via modern automated design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presentation.pptx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presentation.pptx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presentation.pptx</a:t>
            </a:r>
          </a:p>
          <a:p>
            <a:r>
              <a:t>Provider evidence / 5</a:t>
            </a:r>
          </a:p>
          <a:p>
            <a:r>
              <a:t>Provider | Local forensic cues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partially synthetic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Worst of 4 frames (slide 1): Heuristic synthetic likelihood 41/100 from metadata + pixel statistics.</a:t>
            </a:r>
          </a:p>
          <a:p>
            <a:r>
              <a:t>Evidence 1 | Frame slide 1: 41/100</a:t>
            </a:r>
          </a:p>
          <a:p>
            <a:r>
              <a:t>Evidence 2 | Frame slide 5: 41/100</a:t>
            </a:r>
          </a:p>
          <a:p>
            <a:r>
              <a:t>Evidence 3 | Frame slide 10: 41/100</a:t>
            </a:r>
          </a:p>
          <a:p>
            <a:r>
              <a:t>Evidence 4 | Frame slide 14: 41/100</a:t>
            </a:r>
          </a:p>
          <a:p>
            <a:r>
              <a:t>Evidence 5 | No camera EXIF (common in AI exports, screenshots, and re-saves).</a:t>
            </a:r>
          </a:p>
          <a:p>
            <a:r>
              <a:t>Evidence 6 | ELA mean 1.1, peak 24 (uniform high ELA can indicate generation/heavy edit).</a:t>
            </a:r>
          </a:p>
          <a:p>
            <a:r>
              <a:t>Evidence 7 | High-frequency noise std 15.93 (very low/very uniform noise is a synthesis cue).</a:t>
            </a:r>
          </a:p>
          <a:p>
            <a:r>
              <a:t>Evidence 8 | Spectral peakiness 11.91 (periodic frequency peaks can mark generated textures).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presentation.pptx</a:t>
            </a:r>
          </a:p>
          <a:p>
            <a:r>
              <a:t>Provider evidence / 5</a:t>
            </a:r>
          </a:p>
          <a:p>
            <a:r>
              <a:t>Provider | Local forensic cues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partially synthetic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Worst of 4 frames (slide 1): Heuristic synthetic likelihood 41/100 from metadata + pixel statistics.</a:t>
            </a:r>
          </a:p>
          <a:p>
            <a:r>
              <a:t>Evidence 1 | Frame slide 1: 41/100</a:t>
            </a:r>
          </a:p>
          <a:p>
            <a:r>
              <a:t>Evidence 2 | Frame slide 5: 41/100</a:t>
            </a:r>
          </a:p>
          <a:p>
            <a:r>
              <a:t>Evidence 3 | Frame slide 10: 41/100</a:t>
            </a:r>
          </a:p>
          <a:p>
            <a:r>
              <a:t>Evidence 4 | Frame slide 14: 41/100</a:t>
            </a:r>
          </a:p>
          <a:p>
            <a:r>
              <a:t>Evidence 5 | No camera EXIF (common in AI exports, screenshots, and re-saves).</a:t>
            </a:r>
          </a:p>
          <a:p>
            <a:r>
              <a:t>Evidence 6 | ELA mean 1.1, peak 24 (uniform high ELA can indicate generation/heavy edit).</a:t>
            </a:r>
          </a:p>
          <a:p>
            <a:r>
              <a:t>Evidence 7 | High-frequency noise std 15.93 (very low/very uniform noise is a synthesis cue).</a:t>
            </a:r>
          </a:p>
          <a:p>
            <a:r>
              <a:t>Evidence 8 | Spectral peakiness 11.91 (periodic frequency peaks can mark generated textures).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presentation.pptx</a:t>
            </a:r>
          </a:p>
          <a:p>
            <a:r>
              <a:t>Per-frame results</a:t>
            </a:r>
          </a:p>
          <a:p>
            <a:r>
              <a:t>slide 1 | inconclusive | 25</a:t>
            </a:r>
          </a:p>
          <a:p>
            <a:r>
              <a:t>slide 5 | inconclusive | 28</a:t>
            </a:r>
          </a:p>
          <a:p>
            <a:r>
              <a:t>slide 10 | authentic likely | 25</a:t>
            </a:r>
          </a:p>
          <a:p>
            <a:r>
              <a:t>slide 14 | inconclusive | 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presentation.pptx</a:t>
            </a:r>
          </a:p>
          <a:p>
            <a:r>
              <a:t>Evidence supporting this verdict</a:t>
            </a:r>
          </a:p>
          <a:p>
            <a:r>
              <a:t>Record | No entries recorded.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presentation.pptx</a:t>
            </a:r>
          </a:p>
          <a:p>
            <a:r>
              <a:t>Additional findings</a:t>
            </a:r>
          </a:p>
          <a:p>
            <a:r>
              <a:t>Claude Vision | Worst of 4 frames (slide 1): synthetic likelihood 58/100; tells: network diagram geometry is approximately but not mathematically regular: uneven node spacing and edge endpoints that do not always terminate cleanly on nodes, some edges appear semi-transparent or softly blurred in an inconsistent way, unlike typical crisp vector rendering, teal-to-orange colour transition across nodes is painterly rather than rule-based, faint background polygon mesh with irregular, fading line segments</a:t>
            </a:r>
          </a:p>
          <a:p>
            <a:r>
              <a:t>OpenAI Vision | Worst of 4 frames (slide 1): synthetic likelihood 15/100; tells: Presentation-slide layout rather than a camera photograph, Legible typography with consistent letterforms and alignment, Network illustration uses clean straight edges and regularly placed circular nodes, No obvious generative distortions; conventional vector graphics could explain the design</a:t>
            </a:r>
          </a:p>
          <a:p>
            <a:r>
              <a:t>Gemini Vision | Worst of 4 frames (slide 5): synthetic likelihood 28/100; tells: sharp vector-style typography, clean standard digital design elements, absence of generative diffusion artifacts, structured geometric layout</a:t>
            </a:r>
          </a:p>
          <a:p>
            <a:r>
              <a:t>Local forensic cues | Supporting observation; considered alongside the model assessments.</a:t>
            </a:r>
          </a:p>
          <a:p>
            <a:r>
              <a:t>C2PA Content Credentials | Embedded credentials: none found. Origin remains unresolved by this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presentation.pptx</a:t>
            </a:r>
          </a:p>
          <a:p>
            <a:r>
              <a:t>Additional findings</a:t>
            </a:r>
          </a:p>
          <a:p>
            <a:r>
              <a:t>Claude Vision | Worst of 4 frames (slide 1): synthetic likelihood 58/100; tells: network diagram geometry is approximately but not mathematically regular: uneven node spacing and edge endpoints that do not always terminate cleanly on nodes, some edges appear semi-transparent or softly blurred in an inconsistent way, unlike typical crisp vector rendering, teal-to-orange colour transition across nodes is painterly rather than rule-based, faint background polygon mesh with irregular, fading line segments</a:t>
            </a:r>
          </a:p>
          <a:p>
            <a:r>
              <a:t>OpenAI Vision | Worst of 4 frames (slide 1): synthetic likelihood 15/100; tells: Presentation-slide layout rather than a camera photograph, Legible typography with consistent letterforms and alignment, Network illustration uses clean straight edges and regularly placed circular nodes, No obvious generative distortions; conventional vector graphics could explain the design</a:t>
            </a:r>
          </a:p>
          <a:p>
            <a:r>
              <a:t>Gemini Vision | Worst of 4 frames (slide 5): synthetic likelihood 28/100; tells: sharp vector-style typography, clean standard digital design elements, absence of generative diffusion artifacts, structured geometric layout</a:t>
            </a:r>
          </a:p>
          <a:p>
            <a:r>
              <a:t>Local forensic cues | Supporting observation; considered alongside the model assessments.</a:t>
            </a:r>
          </a:p>
          <a:p>
            <a:r>
              <a:t>C2PA Content Credentials | Embedded credentials: none found. Origin remains unresolved by this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presentation.pptx</a:t>
            </a:r>
          </a:p>
          <a:p>
            <a:r>
              <a:t>Extracted text</a:t>
            </a:r>
          </a:p>
          <a:p>
            <a:r>
              <a:t>Recorded text | Catalyst 2: The Conspiracy Ecosystem | 1 | #Plandemic | The Threat Hoax | Minimising the virus itself. “It’s just the flu,” preferring natural immunity over interventions. | #Scamdemic | 2 | #COVID1984 | The Control Mechanism | Belief that mandates test public compliance, equating health rules to authoritarian mouth-gags. | #MaskTyranny | 3 | The Micro-Constituent Fear | Targeting vaccines specifically: fears of mRNA DNA-alteration, microchips, infertility, and Bill Gates narratives. | Once a citizen accepted the ‘Control Mechanism’ premise for masks, transitioning to the ‘Micro-Constituent Fear’ for vaccines required almost no psychological leap.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presentation.pptx</a:t>
            </a:r>
          </a:p>
          <a:p>
            <a:r>
              <a:t>How this assessment was reached</a:t>
            </a:r>
          </a:p>
          <a:p>
            <a:r>
              <a:t>1. frame_agreement | frames=4; synthetic_frames=0; authentic_frames=1; rating_spread=3</a:t>
            </a:r>
          </a:p>
          <a:p>
            <a:r>
              <a:t>2. verdict | value=inconclusive; confidence=low; reason=The sampled frames leave the assessment inconclusive. Review the frame results and source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presentation.pptx</a:t>
            </a:r>
          </a:p>
          <a:p>
            <a:r>
              <a:t>File and analysis record</a:t>
            </a:r>
          </a:p>
          <a:p>
            <a:r>
              <a:t>File | presentation.pptx</a:t>
            </a:r>
          </a:p>
          <a:p>
            <a:r>
              <a:t>Analysis ID | 07b8225b-30ca-47ee-8808-13e21f17ca4b</a:t>
            </a:r>
          </a:p>
          <a:p>
            <a:r>
              <a:t>Generated | 2026-09-26T17:54:46+00:00</a:t>
            </a:r>
          </a:p>
          <a:p>
            <a:r>
              <a:t>Tool | SDA Vision 0.1.0</a:t>
            </a:r>
          </a:p>
          <a:p>
            <a:r>
              <a:t>Models | claude-opus-5-5, gemini-3.8-flash, gpt-6-astra</a:t>
            </a:r>
          </a:p>
          <a:p>
            <a:r>
              <a:t>Method version | verdict-consistency-2026-09-26.1</a:t>
            </a:r>
          </a:p>
          <a:p>
            <a:r>
              <a:t>Analysis lens | general</a:t>
            </a:r>
          </a:p>
          <a:p>
            <a:r>
              <a:t>Original SHA-256 | d0ec89da564078611922195fca82364f2f8e63d253d02a6d9bb672a8265c5f15</a:t>
            </a:r>
          </a:p>
          <a:p>
            <a:r>
              <a:t>Ingestion note 1 | 14 slides; sampled 4 of 14 embedded slide image(s).</a:t>
            </a:r>
          </a:p>
          <a:p>
            <a:r>
              <a:t>Ingestion note 2 | Recomputed locally from the same saved provider replies acquired under run five-examples-20260926-r1. No new provider requests. Original report f08956d6-23e1-4043-972d-6af6e3cd2603 was generated at 2026-09-26T17:38:39+00:00 under method publication-repair-2026-09-24.3; that report is preserved.</a:t>
            </a:r>
          </a:p>
          <a:p>
            <a:r>
              <a:t>Ingestion note 3 | Method verdict-consistency-2026-09-26.1: directional model votes require matching explicit verdicts and rating thresholds. Inconclusive replies retain their ratings and remain undecided observations.</a:t>
            </a:r>
          </a:p>
          <a:p>
            <a:r>
              <a:t>Ingestion note 4 | Presentation copy of saved report d5854304-5dab-4b76-945b-d844e5fe7c44. The descriptive filename replaces the earlier example ID for navigation. Original analysis dates, provider replies, scores and acquisition context are retained; no new model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presentation.pptx</a:t>
            </a:r>
          </a:p>
          <a:p>
            <a:r>
              <a:t>File and analysis record</a:t>
            </a:r>
          </a:p>
          <a:p>
            <a:r>
              <a:t>File | presentation.pptx</a:t>
            </a:r>
          </a:p>
          <a:p>
            <a:r>
              <a:t>Analysis ID | 07b8225b-30ca-47ee-8808-13e21f17ca4b</a:t>
            </a:r>
          </a:p>
          <a:p>
            <a:r>
              <a:t>Generated | 2026-09-26T17:54:46+00:00</a:t>
            </a:r>
          </a:p>
          <a:p>
            <a:r>
              <a:t>Tool | SDA Vision 0.1.0</a:t>
            </a:r>
          </a:p>
          <a:p>
            <a:r>
              <a:t>Models | claude-opus-5-5, gemini-3.8-flash, gpt-6-astra</a:t>
            </a:r>
          </a:p>
          <a:p>
            <a:r>
              <a:t>Method version | verdict-consistency-2026-09-26.1</a:t>
            </a:r>
          </a:p>
          <a:p>
            <a:r>
              <a:t>Analysis lens | general</a:t>
            </a:r>
          </a:p>
          <a:p>
            <a:r>
              <a:t>Original SHA-256 | d0ec89da564078611922195fca82364f2f8e63d253d02a6d9bb672a8265c5f15</a:t>
            </a:r>
          </a:p>
          <a:p>
            <a:r>
              <a:t>Ingestion note 1 | 14 slides; sampled 4 of 14 embedded slide image(s).</a:t>
            </a:r>
          </a:p>
          <a:p>
            <a:r>
              <a:t>Ingestion note 2 | Recomputed locally from the same saved provider replies acquired under run five-examples-20260926-r1. No new provider requests. Original report f08956d6-23e1-4043-972d-6af6e3cd2603 was generated at 2026-09-26T17:38:39+00:00 under method publication-repair-2026-09-24.3; that report is preserved.</a:t>
            </a:r>
          </a:p>
          <a:p>
            <a:r>
              <a:t>Ingestion note 3 | Method verdict-consistency-2026-09-26.1: directional model votes require matching explicit verdicts and rating thresholds. Inconclusive replies retain their ratings and remain undecided observations.</a:t>
            </a:r>
          </a:p>
          <a:p>
            <a:r>
              <a:t>Ingestion note 4 | Presentation copy of saved report d5854304-5dab-4b76-945b-d844e5fe7c44. The descriptive filename replaces the earlier example ID for navigation. Original analysis dates, provider replies, scores and acquisition context are retained; no new model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Analysed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104" y="1353312"/>
            <a:ext cx="7369791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532120"/>
            <a:ext cx="8412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0">
                <a:solidFill>
                  <a:srgbClr val="21243A"/>
                </a:solidFill>
                <a:latin typeface="Arial"/>
              </a:defRPr>
            </a:pPr>
            <a:r>
              <a:t>presentation.pptx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Assessment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verdict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Indicative rating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26/100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Rating basis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rounded mean of available frame scores; not a calibrated probability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Explanation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The sampled frames leave the assessment inconclusive. Review the frame results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source context.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40010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pptx - 4 frame(s) analysed of 14 found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350512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Review context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Research assessment. Review alongside source information and context. When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credentials are missing, origin remains unresolved by this check. Use these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findings to inform a documented human review.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8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Type / status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Rating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58/100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15/100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28/100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provenance / 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n/a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forensic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41/100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claude-opus-5-5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1568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568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(slide 1): synthetic likelihood 58/100; tells: network diagram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geometry is approximately but not mathematically regular: uneven node spacing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edge endpoints that do not always terminate cleanly on nodes, some edges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appear semi-transparent or softly blurred in an inconsistent way, unlike typical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crisp vector rendering, teal-to-orange colour transition across nodes is painterly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rather than rule-based, faint background polygon mesh with irregular, fading line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segments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53665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slide 1: 58/100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slide 5: 58/100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slide 10: 55/100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slide 14: 55/100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Network diagram geometry is approximately but not mathematically regular: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uneven node spacing and edge endpoints that do not always terminate cleanly on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nodes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50520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Some edges appear semi-transparent or softly blurred in an inconsistent way,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unlike typical crisp vector rendering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40579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Teal-to-orange colour transition across nodes is painterly rather than rule-based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44074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Faint background polygon mesh with irregular, fading line segments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7569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9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Typography is clean, correctly spelled and consistently kerned, which fits either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conventional slide software or a modern text-capable image generator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30961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camera signals (no sensor noise, lens blur or perspective) because this is a flat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digital graphic, so photographic forensics do not apply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Filename indicates a PowerPoint slide export, a plausible conventional design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253488"/>
          <a:ext cx="8412479" cy="116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1623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This is a flat designed graphic, so camera-based forensic cues are absent.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The irregular network rendering suggests an AI image generator but could also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come from design or graph-visualisation software. Checking the source .pptx file,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its metadata and the authoring tool history would be more decisive than visual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inspection.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gpt-6-astra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116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1623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(slide 1): synthetic likelihood 15/100; tells: Presentation-slide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layout rather than a camera photograph, Legible typography with consistent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letterforms and alignment, Network illustration uses clean straight edges and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regularly placed circular nodes, No obvious generative distortions; conventional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vector graphics could explain the design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9601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slide 1: 15/100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3096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slide 5: 15/100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2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slide 10: 12/100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slide 14: 10/100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Presentation-slide layout rather than a camera photograph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Legible typography with consistent letterforms and alignment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Network illustration uses clean straight edges and regularly placed circular nodes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obvious generative distortions; conventional vector graphics could explain the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design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4001008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9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A digitally designed slide is not itself evidence of AI generation; source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files or provenance records are needed to distinguish conventional design from AI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assistance.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gemini-3.8-flash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(slide 5): synthetic likelihood 28/100; tells: sharp vector-style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typography, clean standard digital design elements, absence of generative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diffusion artifacts, structured geometric layout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5537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slide 1: 25/100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9032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slide 5: 28/100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2527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slide 10: 25/100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3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slide 14: 25/100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Sharp vector-style typography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Clean standard digital design elements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Absence of generative diffusion artifacts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Structured geometric layout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9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Standard presentation slide graphics can be synthesized or edited via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modern automated design tools.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Coverage: credentials embedded in the submitted file. External credentials were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retrieved.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70001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Verifier: c2pa-python 0.37.12; native SDK 0.91.0; specification target 2.4; policy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embedded-offline-reviewed-trust-v3.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25272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Offline embedded-manifest verification; no network trust-list, manifest 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revocation refresh.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reviewed local C2PA trust snapshot installed. Provenance overrides are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disabled.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(slide 1): Heuristic synthetic likelihood 41/100 from metadata +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pixel statistics.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3505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slide 1: 41/100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7000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slide 5: 41/100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0495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slide 10: 41/100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5760" y="539902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slide 14: 41/100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5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camera EXIF (common in AI exports, screenshots, and re-saves).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ELA mean 1.1, peak 24 (uniform high ELA can indicate generation/heavy edit).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High-frequency noise std 15.93 (very low/very uniform noise is a synthesis cue).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Spectral peakiness 11.91 (periodic frequency peaks can mark generated textures).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Per-frame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8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494"/>
                <a:gridCol w="4374489"/>
                <a:gridCol w="1682495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Frame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Rating / 100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494"/>
                <a:gridCol w="4374489"/>
                <a:gridCol w="1682495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slide 1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25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494"/>
                <a:gridCol w="4374489"/>
                <a:gridCol w="1682495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slide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28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494"/>
                <a:gridCol w="4374489"/>
                <a:gridCol w="1682495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slide 10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25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494"/>
                <a:gridCol w="4374489"/>
                <a:gridCol w="1682495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slide 14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Evidence supporting this verdict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entries recorded.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Additional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1568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568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(slide 1): synthetic likelihood 58/100; tells: network diagram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geometry is approximately but not mathematically regular: uneven node spacing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edge endpoints that do not always terminate cleanly on nodes, some edges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appear semi-transparent or softly blurred in an inconsistent way, unlike typical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crisp vector rendering, teal-to-orange colour transition across nodes is painterly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rather than rule-based, faint background polygon mesh with irregular, fading line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segments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3269488"/>
          <a:ext cx="8412479" cy="116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1623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(slide 1): synthetic likelihood 15/100; tells: Presentation-slide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layout rather than a camera photograph, Legible typography with consistent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letterforms and alignment, Network illustration uses clean straight edges and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regularly placed circular nodes, No obvious generative distortions; conventional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vector graphics could explain the design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4431792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(slide 5): synthetic likelihood 28/100; tells: sharp vector-style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typography, clean standard digital design elements, absence of generative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diffusion artifacts, structured geometric layout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51876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 observation; considered alongside the model assessments.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Additional findings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Extracted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9751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text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Catalyst 2: The Conspiracy Ecosystem | 1 | #Plandemic | The Threat Hoax |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Minimising the virus itself. “It’s just the flu,” preferring natural immunity over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interventions. | #Scamdemic | 2 | #COVID1984 | The Control Mechanism | Belief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that mandates test public compliance, equating health rules to authoritarian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mouth-gags. | #MaskTyranny | 3 | The Micro-Constituent Fear | Targeting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vaccines specifically: fears of mRNA DNA-alteration, microchips, infertility, and Bill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Gates narratives. | Once a citizen accepted the ‘Control Mechanism’ premise for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masks, transitioning to the ‘Micro-Constituent Fear’ for vaccines required almost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psychological leap.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How this assessment was reached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1. frame_agreement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frames=4; synthetic_frames=0; authentic_frames=1; rating_spread=3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2. verdict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value=inconclusive; confidence=low; reason=The sampled frames leave the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 inconclusive. Review the frame results and source context.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File and analysis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presentation.pptx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ID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07b8225b-30ca-47ee-8808-13e21f17ca4b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Generated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2026-09-26T17:54:46+00:00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Tool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SDA Vision 0.1.0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claude-opus-5-5, gemini-3.8-flash, gpt-6-astra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Method version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verdict-consistency-2026-09-26.1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lens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Original SHA-256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d0ec89da564078611922195fca82364f2f8e63d253d02a6d9bb672a8265c5f15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968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1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14 slides; sampled 4 of 14 embedded slide image(s).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4846320"/>
          <a:ext cx="8412479" cy="116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1623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2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Recomputed locally from the same saved provider replies acquired under run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five-examples-20260926-r1. No new provider requests. Original report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f08956d6-23e1-4043-972d-6af6e3cd2603 was generated at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2026-09-26T17:38:39+00:00 under method publication-repair-2026-09-24.3; that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report is preserved.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File and analysis record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3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Method verdict-consistency-2026-09-26.1: directional model votes require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matching explicit verdicts and rating thresholds. Inconclusive replies retain their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ratings and remain undecided observations.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456688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4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Presentation copy of saved report d5854304-5dab-4b76-945b-d844e5fe7c44. The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descriptive filename replaces the earlier example ID for navigation. Original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dates, provider replies, scores and acquisition context are retained; no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new model analysis.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