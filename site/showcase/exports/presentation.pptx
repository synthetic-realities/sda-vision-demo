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presentation.pptx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Assessment summary</a:t>
            </a:r>
          </a:p>
          <a:p>
            <a:r>
              <a:t>Finding | Inconclusive</a:t>
            </a:r>
          </a:p>
          <a:p>
            <a:r>
              <a:t>Recorded verdict | inconclusive</a:t>
            </a:r>
          </a:p>
          <a:p>
            <a:r>
              <a:t>Confidence | low</a:t>
            </a:r>
          </a:p>
          <a:p>
            <a:r>
              <a:t>Indicative rating | 27/100</a:t>
            </a:r>
          </a:p>
          <a:p>
            <a:r>
              <a:t>Rating basis | rounded mean of available frame scores; not a calibrated probability</a:t>
            </a:r>
          </a:p>
          <a:p>
            <a:r>
              <a:t>Explanation | The sampled frames leave the assessment inconclusive. Review the frame results and source context.</a:t>
            </a:r>
          </a:p>
          <a:p>
            <a:r>
              <a:t>Coverage | pptx - 4 frame(s) analysed of 14 found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overview</a:t>
            </a:r>
          </a:p>
          <a:p>
            <a:r>
              <a:t>Claude Vision | vision / ok | synthetic likely | 60/100</a:t>
            </a:r>
          </a:p>
          <a:p>
            <a:r>
              <a:t>OpenAI Vision | vision / ok | inconclusive | 20/100</a:t>
            </a:r>
          </a:p>
          <a:p>
            <a:r>
              <a:t>Gemini Vision | vision / ok | authentic likely | 28/100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1</a:t>
            </a:r>
          </a:p>
          <a:p>
            <a:r>
              <a:t>Provider | Claude Vision</a:t>
            </a:r>
          </a:p>
          <a:p>
            <a:r>
              <a:t>Model | claude-opus-5-5</a:t>
            </a:r>
          </a:p>
          <a:p>
            <a:r>
              <a:t>Status | ok</a:t>
            </a:r>
          </a:p>
          <a:p>
            <a:r>
              <a:t>Assessment | synthetic likely</a:t>
            </a:r>
          </a:p>
          <a:p>
            <a:r>
              <a:t>Confidence | low</a:t>
            </a:r>
          </a:p>
          <a:p>
            <a:r>
              <a:t>Role in assessment | Additional finding</a:t>
            </a:r>
          </a:p>
          <a:p>
            <a:r>
              <a:t>Provider summary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Evidence 1 | Frame slide 1: 60/100</a:t>
            </a:r>
          </a:p>
          <a:p>
            <a:r>
              <a:t>Evidence 2 | Frame slide 5: 55/100</a:t>
            </a:r>
          </a:p>
          <a:p>
            <a:r>
              <a:t>Evidence 3 | Frame slide 10: 58/100</a:t>
            </a:r>
          </a:p>
          <a:p>
            <a:r>
              <a:t>Evidence 4 | Frame slide 14: 40/100</a:t>
            </a:r>
          </a:p>
          <a:p>
            <a:r>
              <a:t>Evidence 5 | Network diagram is decorative and roughly symmetric rather than a data-driven force-directed layout</a:t>
            </a:r>
          </a:p>
          <a:p>
            <a:r>
              <a:t>Evidence 6 | Inconsistent node sizes and some edges ending without clear nodes</a:t>
            </a:r>
          </a:p>
          <a:p>
            <a:r>
              <a:t>Evidence 7 | Semi-transparent, softly blurred overlapping edge layers with painterly anti-aliasing</a:t>
            </a:r>
          </a:p>
          <a:p>
            <a:r>
              <a:t>Evidence 8 | Smooth teal-to-orange color gradient across the graph unrelated to any legend</a:t>
            </a:r>
          </a:p>
          <a:p>
            <a:r>
              <a:t>Evidence 9 | Faint low-poly mesh background typical of generated slide art</a:t>
            </a:r>
          </a:p>
          <a:p>
            <a:r>
              <a:t>Evidence 10 | Text is crisply and correctly rendered, consistent with either a design tool or a modern text-capable generator</a:t>
            </a:r>
          </a:p>
          <a:p>
            <a:r>
              <a:t>Evidence 11 | No camera-origin signals (vector-style graphic, no sensor noise or lens characteristics)</a:t>
            </a:r>
          </a:p>
          <a:p>
            <a:r>
              <a:t>Evidence 12 | Caveat: This is a graphic, not a photo, so camera-authenticity cues do not apply. The slide could equally come from ordinary slide or data-visualization software (the filename suggests a PowerPoint export). Checking the source file, the author and the claimed study would resolve its origin better than visual inspection.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1</a:t>
            </a:r>
          </a:p>
          <a:p>
            <a:r>
              <a:t>Provider | Claude Vision</a:t>
            </a:r>
          </a:p>
          <a:p>
            <a:r>
              <a:t>Model | claude-opus-5-5</a:t>
            </a:r>
          </a:p>
          <a:p>
            <a:r>
              <a:t>Status | ok</a:t>
            </a:r>
          </a:p>
          <a:p>
            <a:r>
              <a:t>Assessment | synthetic likely</a:t>
            </a:r>
          </a:p>
          <a:p>
            <a:r>
              <a:t>Confidence | low</a:t>
            </a:r>
          </a:p>
          <a:p>
            <a:r>
              <a:t>Role in assessment | Additional finding</a:t>
            </a:r>
          </a:p>
          <a:p>
            <a:r>
              <a:t>Provider summary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Evidence 1 | Frame slide 1: 60/100</a:t>
            </a:r>
          </a:p>
          <a:p>
            <a:r>
              <a:t>Evidence 2 | Frame slide 5: 55/100</a:t>
            </a:r>
          </a:p>
          <a:p>
            <a:r>
              <a:t>Evidence 3 | Frame slide 10: 58/100</a:t>
            </a:r>
          </a:p>
          <a:p>
            <a:r>
              <a:t>Evidence 4 | Frame slide 14: 40/100</a:t>
            </a:r>
          </a:p>
          <a:p>
            <a:r>
              <a:t>Evidence 5 | Network diagram is decorative and roughly symmetric rather than a data-driven force-directed layout</a:t>
            </a:r>
          </a:p>
          <a:p>
            <a:r>
              <a:t>Evidence 6 | Inconsistent node sizes and some edges ending without clear nodes</a:t>
            </a:r>
          </a:p>
          <a:p>
            <a:r>
              <a:t>Evidence 7 | Semi-transparent, softly blurred overlapping edge layers with painterly anti-aliasing</a:t>
            </a:r>
          </a:p>
          <a:p>
            <a:r>
              <a:t>Evidence 8 | Smooth teal-to-orange color gradient across the graph unrelated to any legend</a:t>
            </a:r>
          </a:p>
          <a:p>
            <a:r>
              <a:t>Evidence 9 | Faint low-poly mesh background typical of generated slide art</a:t>
            </a:r>
          </a:p>
          <a:p>
            <a:r>
              <a:t>Evidence 10 | Text is crisply and correctly rendered, consistent with either a design tool or a modern text-capable generator</a:t>
            </a:r>
          </a:p>
          <a:p>
            <a:r>
              <a:t>Evidence 11 | No camera-origin signals (vector-style graphic, no sensor noise or lens characteristics)</a:t>
            </a:r>
          </a:p>
          <a:p>
            <a:r>
              <a:t>Evidence 12 | Caveat: This is a graphic, not a photo, so camera-authenticity cues do not apply. The slide could equally come from ordinary slide or data-visualization software (the filename suggests a PowerPoint export). Checking the source file, the author and the claimed study would resolve its origin better than visual inspection.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1</a:t>
            </a:r>
          </a:p>
          <a:p>
            <a:r>
              <a:t>Provider | Claude Vision</a:t>
            </a:r>
          </a:p>
          <a:p>
            <a:r>
              <a:t>Model | claude-opus-5-5</a:t>
            </a:r>
          </a:p>
          <a:p>
            <a:r>
              <a:t>Status | ok</a:t>
            </a:r>
          </a:p>
          <a:p>
            <a:r>
              <a:t>Assessment | synthetic likely</a:t>
            </a:r>
          </a:p>
          <a:p>
            <a:r>
              <a:t>Confidence | low</a:t>
            </a:r>
          </a:p>
          <a:p>
            <a:r>
              <a:t>Role in assessment | Additional finding</a:t>
            </a:r>
          </a:p>
          <a:p>
            <a:r>
              <a:t>Provider summary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Evidence 1 | Frame slide 1: 60/100</a:t>
            </a:r>
          </a:p>
          <a:p>
            <a:r>
              <a:t>Evidence 2 | Frame slide 5: 55/100</a:t>
            </a:r>
          </a:p>
          <a:p>
            <a:r>
              <a:t>Evidence 3 | Frame slide 10: 58/100</a:t>
            </a:r>
          </a:p>
          <a:p>
            <a:r>
              <a:t>Evidence 4 | Frame slide 14: 40/100</a:t>
            </a:r>
          </a:p>
          <a:p>
            <a:r>
              <a:t>Evidence 5 | Network diagram is decorative and roughly symmetric rather than a data-driven force-directed layout</a:t>
            </a:r>
          </a:p>
          <a:p>
            <a:r>
              <a:t>Evidence 6 | Inconsistent node sizes and some edges ending without clear nodes</a:t>
            </a:r>
          </a:p>
          <a:p>
            <a:r>
              <a:t>Evidence 7 | Semi-transparent, softly blurred overlapping edge layers with painterly anti-aliasing</a:t>
            </a:r>
          </a:p>
          <a:p>
            <a:r>
              <a:t>Evidence 8 | Smooth teal-to-orange color gradient across the graph unrelated to any legend</a:t>
            </a:r>
          </a:p>
          <a:p>
            <a:r>
              <a:t>Evidence 9 | Faint low-poly mesh background typical of generated slide art</a:t>
            </a:r>
          </a:p>
          <a:p>
            <a:r>
              <a:t>Evidence 10 | Text is crisply and correctly rendered, consistent with either a design tool or a modern text-capable generator</a:t>
            </a:r>
          </a:p>
          <a:p>
            <a:r>
              <a:t>Evidence 11 | No camera-origin signals (vector-style graphic, no sensor noise or lens characteristics)</a:t>
            </a:r>
          </a:p>
          <a:p>
            <a:r>
              <a:t>Evidence 12 | Caveat: This is a graphic, not a photo, so camera-authenticity cues do not apply. The slide could equally come from ordinary slide or data-visualization software (the filename suggests a PowerPoint export). Checking the source file, the author and the claimed study would resolve its origin better than visual inspection.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Worst of 4 frames (slide 5): synthetic likelihood 20/100; tells: Consistently legible text with coherent letterforms and regular spacing, Four circular nodes with uniform glow effects and thin connecting lines, Aligned text blocks and repeated geometric network decorations typical of presentation graphics, No photographic subjects or camera texture available for assessment</a:t>
            </a:r>
          </a:p>
          <a:p>
            <a:r>
              <a:t>Evidence 1 | Frame slide 1: 15/100</a:t>
            </a:r>
          </a:p>
          <a:p>
            <a:r>
              <a:t>Evidence 2 | Frame slide 5: 20/100</a:t>
            </a:r>
          </a:p>
          <a:p>
            <a:r>
              <a:t>Evidence 3 | Frame slide 10: 15/100</a:t>
            </a:r>
          </a:p>
          <a:p>
            <a:r>
              <a:t>Evidence 4 | Frame slide 14: 15/100</a:t>
            </a:r>
          </a:p>
          <a:p>
            <a:r>
              <a:t>Evidence 5 | Consistently legible text with coherent letterforms and regular spacing</a:t>
            </a:r>
          </a:p>
          <a:p>
            <a:r>
              <a:t>Evidence 6 | Four circular nodes with uniform glow effects and thin connecting lines</a:t>
            </a:r>
          </a:p>
          <a:p>
            <a:r>
              <a:t>Evidence 7 | Aligned text blocks and repeated geometric network decorations typical of presentation graphics</a:t>
            </a:r>
          </a:p>
          <a:p>
            <a:r>
              <a:t>Evidence 8 | No photographic subjects or camera texture available for assessment</a:t>
            </a:r>
          </a:p>
          <a:p>
            <a:r>
              <a:t>Evidence 9 | Caveat: This is a presentation graphic, not a camera photo; appearance alone cannot distinguish conventional slide design from AI-assisted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Worst of 4 frames (slide 5): synthetic likelihood 20/100; tells: Consistently legible text with coherent letterforms and regular spacing, Four circular nodes with uniform glow effects and thin connecting lines, Aligned text blocks and repeated geometric network decorations typical of presentation graphics, No photographic subjects or camera texture available for assessment</a:t>
            </a:r>
          </a:p>
          <a:p>
            <a:r>
              <a:t>Evidence 1 | Frame slide 1: 15/100</a:t>
            </a:r>
          </a:p>
          <a:p>
            <a:r>
              <a:t>Evidence 2 | Frame slide 5: 20/100</a:t>
            </a:r>
          </a:p>
          <a:p>
            <a:r>
              <a:t>Evidence 3 | Frame slide 10: 15/100</a:t>
            </a:r>
          </a:p>
          <a:p>
            <a:r>
              <a:t>Evidence 4 | Frame slide 14: 15/100</a:t>
            </a:r>
          </a:p>
          <a:p>
            <a:r>
              <a:t>Evidence 5 | Consistently legible text with coherent letterforms and regular spacing</a:t>
            </a:r>
          </a:p>
          <a:p>
            <a:r>
              <a:t>Evidence 6 | Four circular nodes with uniform glow effects and thin connecting lines</a:t>
            </a:r>
          </a:p>
          <a:p>
            <a:r>
              <a:t>Evidence 7 | Aligned text blocks and repeated geometric network decorations typical of presentation graphics</a:t>
            </a:r>
          </a:p>
          <a:p>
            <a:r>
              <a:t>Evidence 8 | No photographic subjects or camera texture available for assessment</a:t>
            </a:r>
          </a:p>
          <a:p>
            <a:r>
              <a:t>Evidence 9 | Caveat: This is a presentation graphic, not a camera photo; appearance alone cannot distinguish conventional slide design from AI-assisted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3</a:t>
            </a:r>
          </a:p>
          <a:p>
            <a:r>
              <a:t>Provider | Gemini Vision</a:t>
            </a:r>
          </a:p>
          <a:p>
            <a:r>
              <a:t>Model | gemini-3.8-flash</a:t>
            </a:r>
          </a:p>
          <a:p>
            <a:r>
              <a:t>Status | ok</a:t>
            </a:r>
          </a:p>
          <a:p>
            <a:r>
              <a:t>Assessment | authentic likely</a:t>
            </a:r>
          </a:p>
          <a:p>
            <a:r>
              <a:t>Confidence | medium</a:t>
            </a:r>
          </a:p>
          <a:p>
            <a:r>
              <a:t>Role in assessment | Additional finding</a:t>
            </a:r>
          </a:p>
          <a:p>
            <a:r>
              <a:t>Provider summary | Worst of 4 frames (slide 1): synthetic likelihood 28/100; tells: clean vector geometry, standard digital typography, consistent presentation graphic layout, absence of generative diffusion artifacts</a:t>
            </a:r>
          </a:p>
          <a:p>
            <a:r>
              <a:t>Evidence 1 | Frame slide 1: 28/100</a:t>
            </a:r>
          </a:p>
          <a:p>
            <a:r>
              <a:t>Evidence 2 | Frame slide 5: 28/100</a:t>
            </a:r>
          </a:p>
          <a:p>
            <a:r>
              <a:t>Evidence 3 | Frame slide 10: 25/100</a:t>
            </a:r>
          </a:p>
          <a:p>
            <a:r>
              <a:t>Evidence 4 | Frame slide 14: 28/100</a:t>
            </a:r>
          </a:p>
          <a:p>
            <a:r>
              <a:t>Evidence 5 | Clean vector geometry</a:t>
            </a:r>
          </a:p>
          <a:p>
            <a:r>
              <a:t>Evidence 6 | Standard digital typography</a:t>
            </a:r>
          </a:p>
          <a:p>
            <a:r>
              <a:t>Evidence 7 | Consistent presentation graphic layout</a:t>
            </a:r>
          </a:p>
          <a:p>
            <a:r>
              <a:t>Evidence 8 | Absence of generative diffusion artifacts</a:t>
            </a:r>
          </a:p>
          <a:p>
            <a:r>
              <a:t>Evidence 9 | Caveat: Digital vector graphics and layout elements can mimic procedural generation tools.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3</a:t>
            </a:r>
          </a:p>
          <a:p>
            <a:r>
              <a:t>Provider | Gemini Vision</a:t>
            </a:r>
          </a:p>
          <a:p>
            <a:r>
              <a:t>Model | gemini-3.8-flash</a:t>
            </a:r>
          </a:p>
          <a:p>
            <a:r>
              <a:t>Status | ok</a:t>
            </a:r>
          </a:p>
          <a:p>
            <a:r>
              <a:t>Assessment | authentic likely</a:t>
            </a:r>
          </a:p>
          <a:p>
            <a:r>
              <a:t>Confidence | medium</a:t>
            </a:r>
          </a:p>
          <a:p>
            <a:r>
              <a:t>Role in assessment | Additional finding</a:t>
            </a:r>
          </a:p>
          <a:p>
            <a:r>
              <a:t>Provider summary | Worst of 4 frames (slide 1): synthetic likelihood 28/100; tells: clean vector geometry, standard digital typography, consistent presentation graphic layout, absence of generative diffusion artifacts</a:t>
            </a:r>
          </a:p>
          <a:p>
            <a:r>
              <a:t>Evidence 1 | Frame slide 1: 28/100</a:t>
            </a:r>
          </a:p>
          <a:p>
            <a:r>
              <a:t>Evidence 2 | Frame slide 5: 28/100</a:t>
            </a:r>
          </a:p>
          <a:p>
            <a:r>
              <a:t>Evidence 3 | Frame slide 10: 25/100</a:t>
            </a:r>
          </a:p>
          <a:p>
            <a:r>
              <a:t>Evidence 4 | Frame slide 14: 28/100</a:t>
            </a:r>
          </a:p>
          <a:p>
            <a:r>
              <a:t>Evidence 5 | Clean vector geometry</a:t>
            </a:r>
          </a:p>
          <a:p>
            <a:r>
              <a:t>Evidence 6 | Standard digital typography</a:t>
            </a:r>
          </a:p>
          <a:p>
            <a:r>
              <a:t>Evidence 7 | Consistent presentation graphic layout</a:t>
            </a:r>
          </a:p>
          <a:p>
            <a:r>
              <a:t>Evidence 8 | Absence of generative diffusion artifacts</a:t>
            </a:r>
          </a:p>
          <a:p>
            <a:r>
              <a:t>Evidence 9 | Caveat: Digital vector graphics and layout elements can mimic procedural generation tools.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Worst of 4 frames (slide 1): Heuristic synthetic likelihood 41/100 from metadata + pixel statistics.</a:t>
            </a:r>
          </a:p>
          <a:p>
            <a:r>
              <a:t>Evidence 1 | Frame slide 1: 41/100</a:t>
            </a:r>
          </a:p>
          <a:p>
            <a:r>
              <a:t>Evidence 2 | Frame slide 5: 41/100</a:t>
            </a:r>
          </a:p>
          <a:p>
            <a:r>
              <a:t>Evidence 3 | Frame slide 10: 41/100</a:t>
            </a:r>
          </a:p>
          <a:p>
            <a:r>
              <a:t>Evidence 4 | Frame slide 14: 41/100</a:t>
            </a:r>
          </a:p>
          <a:p>
            <a:r>
              <a:t>Evidence 5 | No camera EXIF (common in AI exports, screenshots, and re-saves).</a:t>
            </a:r>
          </a:p>
          <a:p>
            <a:r>
              <a:t>Evidence 6 | ELA mean 1.1, peak 24 (uniform high ELA can indicate generation/heavy edit).</a:t>
            </a:r>
          </a:p>
          <a:p>
            <a:r>
              <a:t>Evidence 7 | High-frequency noise std 15.93 (very low/very uniform noise is a synthesis cue).</a:t>
            </a:r>
          </a:p>
          <a:p>
            <a:r>
              <a:t>Evidence 8 | Spectral peakiness 11.91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Worst of 4 frames (slide 1): Heuristic synthetic likelihood 41/100 from metadata + pixel statistics.</a:t>
            </a:r>
          </a:p>
          <a:p>
            <a:r>
              <a:t>Evidence 1 | Frame slide 1: 41/100</a:t>
            </a:r>
          </a:p>
          <a:p>
            <a:r>
              <a:t>Evidence 2 | Frame slide 5: 41/100</a:t>
            </a:r>
          </a:p>
          <a:p>
            <a:r>
              <a:t>Evidence 3 | Frame slide 10: 41/100</a:t>
            </a:r>
          </a:p>
          <a:p>
            <a:r>
              <a:t>Evidence 4 | Frame slide 14: 41/100</a:t>
            </a:r>
          </a:p>
          <a:p>
            <a:r>
              <a:t>Evidence 5 | No camera EXIF (common in AI exports, screenshots, and re-saves).</a:t>
            </a:r>
          </a:p>
          <a:p>
            <a:r>
              <a:t>Evidence 6 | ELA mean 1.1, peak 24 (uniform high ELA can indicate generation/heavy edit).</a:t>
            </a:r>
          </a:p>
          <a:p>
            <a:r>
              <a:t>Evidence 7 | High-frequency noise std 15.93 (very low/very uniform noise is a synthesis cue).</a:t>
            </a:r>
          </a:p>
          <a:p>
            <a:r>
              <a:t>Evidence 8 | Spectral peakiness 11.91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Per-frame results</a:t>
            </a:r>
          </a:p>
          <a:p>
            <a:r>
              <a:t>slide 1 | inconclusive | 28</a:t>
            </a:r>
          </a:p>
          <a:p>
            <a:r>
              <a:t>slide 5 | inconclusive | 28</a:t>
            </a:r>
          </a:p>
          <a:p>
            <a:r>
              <a:t>slide 10 | inconclusive | 25</a:t>
            </a:r>
          </a:p>
          <a:p>
            <a:r>
              <a:t>slide 14 | inconclusive | 28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Evidence supporting this verdict</a:t>
            </a:r>
          </a:p>
          <a:p>
            <a:r>
              <a:t>Record | No entries recorded.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Additional findings</a:t>
            </a:r>
          </a:p>
          <a:p>
            <a:r>
              <a:t>Claude Vision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OpenAI Vision | Worst of 4 frames (slide 5): synthetic likelihood 20/100; tells: Consistently legible text with coherent letterforms and regular spacing, Four circular nodes with uniform glow effects and thin connecting lines, Aligned text blocks and repeated geometric network decorations typical of presentation graphics, No photographic subjects or camera texture available for assessment</a:t>
            </a:r>
          </a:p>
          <a:p>
            <a:r>
              <a:t>Gemini Vision | Worst of 4 frames (slide 1): synthetic likelihood 28/100; tells: clean vector geometry, standard digital typography, consistent presentation graphic layout, absence of generative diffusion artifacts</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Extracted text</a:t>
            </a:r>
          </a:p>
          <a:p>
            <a:r>
              <a:t>Recorded text | Catalyst 2: The Conspiracy Ecosystem | 1 The Threat Hoax: Minimising the virus itself. “It’s just the flu,” preferring natural immunity over interventions. | #Plandemic | #Scamdemic | 2 The Control Mechanism: Belief that mandates test public compliance, equating health rules to authoritarian mouth-gags. | #COVID1984 | #MaskTyranny | 3 The Micro-Constituent Fear: Targeting vaccines specifically: fears of mRNA DNA-alteration, microchips, infertility, and Bill Gates narratives. | Once a citizen accepted the ‘Control Mechanism’ premise for masks, transitioning to the ‘Micro-Constituent Fear’ for vaccines required almost no psychological leap.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How this assessment was reached</a:t>
            </a:r>
          </a:p>
          <a:p>
            <a:r>
              <a:t>1. frame_agreement | frames=4; synthetic_frames=0; authentic_frames=0; rating_spread=3</a:t>
            </a:r>
          </a:p>
          <a:p>
            <a:r>
              <a:t>2. verdict | value=inconclusive; confidence=low; reason=The sampled frames leave the assessment inconclusive. Review the frame results and source context.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Cite this analysis</a:t>
            </a:r>
          </a:p>
          <a:p>
            <a:r>
              <a:t>Software citation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presentation.pptx; media type: pptx; recorded at: 2026-09-26T22:31:28+00:00;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File and analysis record</a:t>
            </a:r>
          </a:p>
          <a:p>
            <a:r>
              <a:t>File | presentation.pptx</a:t>
            </a:r>
          </a:p>
          <a:p>
            <a:r>
              <a:t>Analysis ID | 250bad8f-c5c8-49fb-8c8c-10a2b68368b0</a:t>
            </a:r>
          </a:p>
          <a:p>
            <a:r>
              <a:t>Generated | 2026-09-26T22:31:28+00:00</a:t>
            </a:r>
          </a:p>
          <a:p>
            <a:r>
              <a:t>Tool | SDA Vision 0.1.0</a:t>
            </a:r>
          </a:p>
          <a:p>
            <a:r>
              <a:t>Models | claude-opus-5-5, gemini-3.8-flash, gpt-6-astra</a:t>
            </a:r>
          </a:p>
          <a:p>
            <a:r>
              <a:t>Method version | pdf-preparation-2026-09-26.1</a:t>
            </a:r>
          </a:p>
          <a:p>
            <a:r>
              <a:t>Analysis lens | general</a:t>
            </a:r>
          </a:p>
          <a:p>
            <a:r>
              <a:t>Original SHA-256 | d0ec89da564078611922195fca82364f2f8e63d253d02a6d9bb672a8265c5f15</a:t>
            </a:r>
          </a:p>
          <a:p>
            <a:r>
              <a:t>Ingestion note 1 | 14 slides; sampled 4 of 14 embedded slide image(s).</a:t>
            </a:r>
          </a:p>
          <a:p>
            <a:r>
              <a:t>Ingestion note 2 | Fresh provider replies acquired for eleven-examples-refresh-20260926-r1; report assembled locally from the saved responses without further API calls.</a:t>
            </a:r>
          </a:p>
          <a:p>
            <a:r>
              <a:t>Ingestion note 3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File and analysis record</a:t>
            </a:r>
          </a:p>
          <a:p>
            <a:r>
              <a:t>File | presentation.pptx</a:t>
            </a:r>
          </a:p>
          <a:p>
            <a:r>
              <a:t>Analysis ID | 250bad8f-c5c8-49fb-8c8c-10a2b68368b0</a:t>
            </a:r>
          </a:p>
          <a:p>
            <a:r>
              <a:t>Generated | 2026-09-26T22:31:28+00:00</a:t>
            </a:r>
          </a:p>
          <a:p>
            <a:r>
              <a:t>Tool | SDA Vision 0.1.0</a:t>
            </a:r>
          </a:p>
          <a:p>
            <a:r>
              <a:t>Models | claude-opus-5-5, gemini-3.8-flash, gpt-6-astra</a:t>
            </a:r>
          </a:p>
          <a:p>
            <a:r>
              <a:t>Method version | pdf-preparation-2026-09-26.1</a:t>
            </a:r>
          </a:p>
          <a:p>
            <a:r>
              <a:t>Analysis lens | general</a:t>
            </a:r>
          </a:p>
          <a:p>
            <a:r>
              <a:t>Original SHA-256 | d0ec89da564078611922195fca82364f2f8e63d253d02a6d9bb672a8265c5f15</a:t>
            </a:r>
          </a:p>
          <a:p>
            <a:r>
              <a:t>Ingestion note 1 | 14 slides; sampled 4 of 14 embedded slide image(s).</a:t>
            </a:r>
          </a:p>
          <a:p>
            <a:r>
              <a:t>Ingestion note 2 | Fresh provider replies acquired for eleven-examples-refresh-20260926-r1; report assembled locally from the saved responses without further API calls.</a:t>
            </a:r>
          </a:p>
          <a:p>
            <a:r>
              <a:t>Ingestion note 3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887104" y="1353312"/>
            <a:ext cx="7369791"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presentation.pptx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27/100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rounded mean of available frame scores;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sampled frames leave the assessment inconclusive. Review the frame results</a:t>
                      </a:r>
                    </a:p>
                    <a:p>
                      <a:pPr>
                        <a:lnSpc>
                          <a:spcPts val="1600"/>
                        </a:lnSpc>
                        <a:spcAft>
                          <a:spcPts val="0"/>
                        </a:spcAft>
                        <a:defRPr sz="1200" b="0">
                          <a:solidFill>
                            <a:srgbClr val="21243A"/>
                          </a:solidFill>
                          <a:latin typeface="Arial"/>
                        </a:defRPr>
                      </a:pPr>
                      <a:r>
                        <a:t>and source context.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0010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pptx - 4 frame(s) analysed of 14 found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60/100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20/100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28/100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60/100; tells: network diagram is</a:t>
                      </a:r>
                    </a:p>
                    <a:p>
                      <a:pPr>
                        <a:lnSpc>
                          <a:spcPts val="1600"/>
                        </a:lnSpc>
                        <a:spcAft>
                          <a:spcPts val="0"/>
                        </a:spcAft>
                        <a:defRPr sz="1200" b="0">
                          <a:solidFill>
                            <a:srgbClr val="21243A"/>
                          </a:solidFill>
                          <a:latin typeface="Arial"/>
                        </a:defRPr>
                      </a:pPr>
                      <a:r>
                        <a:t>decorative and roughly symmetric rather than a data-driven force-directed layout,</a:t>
                      </a:r>
                    </a:p>
                    <a:p>
                      <a:pPr>
                        <a:lnSpc>
                          <a:spcPts val="1600"/>
                        </a:lnSpc>
                        <a:spcAft>
                          <a:spcPts val="0"/>
                        </a:spcAft>
                        <a:defRPr sz="1200" b="0">
                          <a:solidFill>
                            <a:srgbClr val="21243A"/>
                          </a:solidFill>
                          <a:latin typeface="Arial"/>
                        </a:defRPr>
                      </a:pPr>
                      <a:r>
                        <a:t>inconsistent node sizes and some edges ending without clear nodes,</a:t>
                      </a:r>
                    </a:p>
                    <a:p>
                      <a:pPr>
                        <a:lnSpc>
                          <a:spcPts val="1600"/>
                        </a:lnSpc>
                        <a:spcAft>
                          <a:spcPts val="0"/>
                        </a:spcAft>
                        <a:defRPr sz="1200" b="0">
                          <a:solidFill>
                            <a:srgbClr val="21243A"/>
                          </a:solidFill>
                          <a:latin typeface="Arial"/>
                        </a:defRPr>
                      </a:pPr>
                      <a:r>
                        <a:t>semi-transparent, softly blurred overlapping edge layers with painterly</a:t>
                      </a:r>
                    </a:p>
                    <a:p>
                      <a:pPr>
                        <a:lnSpc>
                          <a:spcPts val="1600"/>
                        </a:lnSpc>
                        <a:spcAft>
                          <a:spcPts val="0"/>
                        </a:spcAft>
                        <a:defRPr sz="1200" b="0">
                          <a:solidFill>
                            <a:srgbClr val="21243A"/>
                          </a:solidFill>
                          <a:latin typeface="Arial"/>
                        </a:defRPr>
                      </a:pPr>
                      <a:r>
                        <a:t>anti-aliasing, smooth teal-to-orange color gradient across the graph unrelated to</a:t>
                      </a:r>
                    </a:p>
                    <a:p>
                      <a:pPr>
                        <a:lnSpc>
                          <a:spcPts val="1600"/>
                        </a:lnSpc>
                        <a:spcAft>
                          <a:spcPts val="0"/>
                        </a:spcAft>
                        <a:defRPr sz="1200" b="0">
                          <a:solidFill>
                            <a:srgbClr val="21243A"/>
                          </a:solidFill>
                          <a:latin typeface="Arial"/>
                        </a:defRPr>
                      </a:pPr>
                      <a:r>
                        <a:t>any legend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60/100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55/100</a:t>
                      </a:r>
                    </a:p>
                  </a:txBody>
                  <a:tcPr marL="82296" marR="82296" marT="64008" marB="64008">
                    <a:solidFill>
                      <a:srgbClr val="F1F7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58/100</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40/100</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Network diagram is decorative and roughly symmetric rather than a data-driven</a:t>
                      </a:r>
                    </a:p>
                    <a:p>
                      <a:pPr>
                        <a:lnSpc>
                          <a:spcPts val="1600"/>
                        </a:lnSpc>
                        <a:spcAft>
                          <a:spcPts val="0"/>
                        </a:spcAft>
                        <a:defRPr sz="1200" b="0">
                          <a:solidFill>
                            <a:srgbClr val="21243A"/>
                          </a:solidFill>
                          <a:latin typeface="Arial"/>
                        </a:defRPr>
                      </a:pPr>
                      <a:r>
                        <a:t>force-directed layout</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Inconsistent node sizes and some edges ending without clear nodes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301999"/>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Semi-transparent, softly blurred overlapping edge layers with painterly</a:t>
                      </a:r>
                    </a:p>
                    <a:p>
                      <a:pPr>
                        <a:lnSpc>
                          <a:spcPts val="1600"/>
                        </a:lnSpc>
                        <a:spcAft>
                          <a:spcPts val="0"/>
                        </a:spcAft>
                        <a:defRPr sz="1200" b="0">
                          <a:solidFill>
                            <a:srgbClr val="21243A"/>
                          </a:solidFill>
                          <a:latin typeface="Arial"/>
                        </a:defRPr>
                      </a:pPr>
                      <a:r>
                        <a:t>anti-aliasing</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38547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Smooth teal-to-orange color gradient across the graph unrelated to any legend</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2042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Faint low-poly mesh background typical of generated slide art</a:t>
                      </a:r>
                    </a:p>
                  </a:txBody>
                  <a:tcPr marL="82296" marR="82296" marT="64008" marB="64008">
                    <a:solidFill>
                      <a:srgbClr val="FFFFFF"/>
                    </a:solidFill>
                  </a:tcPr>
                </a:tc>
              </a:tr>
            </a:tbl>
          </a:graphicData>
        </a:graphic>
      </p:graphicFrame>
      <p:graphicFrame>
        <p:nvGraphicFramePr>
          <p:cNvPr id="14" name="Table 13"/>
          <p:cNvGraphicFramePr>
            <a:graphicFrameLocks noGrp="1"/>
          </p:cNvGraphicFramePr>
          <p:nvPr/>
        </p:nvGraphicFramePr>
        <p:xfrm>
          <a:off x="365760" y="45537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Text is crisply and correctly rendered, consistent with either a design tool or a</a:t>
                      </a:r>
                    </a:p>
                    <a:p>
                      <a:pPr>
                        <a:lnSpc>
                          <a:spcPts val="1600"/>
                        </a:lnSpc>
                        <a:spcAft>
                          <a:spcPts val="0"/>
                        </a:spcAft>
                        <a:defRPr sz="1200" b="0">
                          <a:solidFill>
                            <a:srgbClr val="21243A"/>
                          </a:solidFill>
                          <a:latin typeface="Arial"/>
                        </a:defRPr>
                      </a:pPr>
                      <a:r>
                        <a:t>modern text-capable generator</a:t>
                      </a:r>
                    </a:p>
                  </a:txBody>
                  <a:tcPr marL="82296" marR="82296" marT="64008" marB="64008">
                    <a:solidFill>
                      <a:srgbClr val="F1F7F7"/>
                    </a:solidFill>
                  </a:tcPr>
                </a:tc>
              </a:tr>
            </a:tbl>
          </a:graphicData>
        </a:graphic>
      </p:graphicFrame>
      <p:graphicFrame>
        <p:nvGraphicFramePr>
          <p:cNvPr id="15" name="Table 14"/>
          <p:cNvGraphicFramePr>
            <a:graphicFrameLocks noGrp="1"/>
          </p:cNvGraphicFramePr>
          <p:nvPr/>
        </p:nvGraphicFramePr>
        <p:xfrm>
          <a:off x="365760" y="51064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camera-origin signals (vector-style graphic, no sensor noise or lens</a:t>
                      </a:r>
                    </a:p>
                    <a:p>
                      <a:pPr>
                        <a:lnSpc>
                          <a:spcPts val="1600"/>
                        </a:lnSpc>
                        <a:spcAft>
                          <a:spcPts val="0"/>
                        </a:spcAft>
                        <a:defRPr sz="1200" b="0">
                          <a:solidFill>
                            <a:srgbClr val="21243A"/>
                          </a:solidFill>
                          <a:latin typeface="Arial"/>
                        </a:defRPr>
                      </a:pPr>
                      <a:r>
                        <a:t>characteristics)</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This is a graphic, not a photo, so camera-authenticity cues do not apply.</a:t>
                      </a:r>
                    </a:p>
                    <a:p>
                      <a:pPr>
                        <a:lnSpc>
                          <a:spcPts val="1600"/>
                        </a:lnSpc>
                        <a:spcAft>
                          <a:spcPts val="0"/>
                        </a:spcAft>
                        <a:defRPr sz="1200" b="0">
                          <a:solidFill>
                            <a:srgbClr val="21243A"/>
                          </a:solidFill>
                          <a:latin typeface="Arial"/>
                        </a:defRPr>
                      </a:pPr>
                      <a:r>
                        <a:t>The slide could equally come from ordinary slide or data-visualization software</a:t>
                      </a:r>
                    </a:p>
                    <a:p>
                      <a:pPr>
                        <a:lnSpc>
                          <a:spcPts val="1600"/>
                        </a:lnSpc>
                        <a:spcAft>
                          <a:spcPts val="0"/>
                        </a:spcAft>
                        <a:defRPr sz="1200" b="0">
                          <a:solidFill>
                            <a:srgbClr val="21243A"/>
                          </a:solidFill>
                          <a:latin typeface="Arial"/>
                        </a:defRPr>
                      </a:pPr>
                      <a:r>
                        <a:t>(the filename suggests a PowerPoint export). Checking the source file, the author</a:t>
                      </a:r>
                    </a:p>
                    <a:p>
                      <a:pPr>
                        <a:lnSpc>
                          <a:spcPts val="1600"/>
                        </a:lnSpc>
                        <a:spcAft>
                          <a:spcPts val="0"/>
                        </a:spcAft>
                        <a:defRPr sz="1200" b="0">
                          <a:solidFill>
                            <a:srgbClr val="21243A"/>
                          </a:solidFill>
                          <a:latin typeface="Arial"/>
                        </a:defRPr>
                      </a:pPr>
                      <a:r>
                        <a:t>and the claimed study would resolve its origin better than visual inspection.</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5): synthetic likelihood 20/100; tells: Consistently legible</a:t>
                      </a:r>
                    </a:p>
                    <a:p>
                      <a:pPr>
                        <a:lnSpc>
                          <a:spcPts val="1600"/>
                        </a:lnSpc>
                        <a:spcAft>
                          <a:spcPts val="0"/>
                        </a:spcAft>
                        <a:defRPr sz="1200" b="0">
                          <a:solidFill>
                            <a:srgbClr val="21243A"/>
                          </a:solidFill>
                          <a:latin typeface="Arial"/>
                        </a:defRPr>
                      </a:pPr>
                      <a:r>
                        <a:t>text with coherent letterforms and regular spacing, Four circular nodes with</a:t>
                      </a:r>
                    </a:p>
                    <a:p>
                      <a:pPr>
                        <a:lnSpc>
                          <a:spcPts val="1600"/>
                        </a:lnSpc>
                        <a:spcAft>
                          <a:spcPts val="0"/>
                        </a:spcAft>
                        <a:defRPr sz="1200" b="0">
                          <a:solidFill>
                            <a:srgbClr val="21243A"/>
                          </a:solidFill>
                          <a:latin typeface="Arial"/>
                        </a:defRPr>
                      </a:pPr>
                      <a:r>
                        <a:t>uniform glow effects and thin connecting lines, Aligned text blocks and repeated</a:t>
                      </a:r>
                    </a:p>
                    <a:p>
                      <a:pPr>
                        <a:lnSpc>
                          <a:spcPts val="1600"/>
                        </a:lnSpc>
                        <a:spcAft>
                          <a:spcPts val="0"/>
                        </a:spcAft>
                        <a:defRPr sz="1200" b="0">
                          <a:solidFill>
                            <a:srgbClr val="21243A"/>
                          </a:solidFill>
                          <a:latin typeface="Arial"/>
                        </a:defRPr>
                      </a:pPr>
                      <a:r>
                        <a:t>geometric network decorations typical of presentation graphics, No photographic</a:t>
                      </a:r>
                    </a:p>
                    <a:p>
                      <a:pPr>
                        <a:lnSpc>
                          <a:spcPts val="1600"/>
                        </a:lnSpc>
                        <a:spcAft>
                          <a:spcPts val="0"/>
                        </a:spcAft>
                        <a:defRPr sz="1200" b="0">
                          <a:solidFill>
                            <a:srgbClr val="21243A"/>
                          </a:solidFill>
                          <a:latin typeface="Arial"/>
                        </a:defRPr>
                      </a:pPr>
                      <a:r>
                        <a:t>subjects or camera texture available for assessment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15/100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20/100</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15/100</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15/100</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Consistently legible text with coherent letterforms and regular spacing</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Four circular nodes with uniform glow effects and thin connecting lines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0988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Aligned text blocks and repeated geometric network decorations typical of</a:t>
                      </a:r>
                    </a:p>
                    <a:p>
                      <a:pPr>
                        <a:lnSpc>
                          <a:spcPts val="1600"/>
                        </a:lnSpc>
                        <a:spcAft>
                          <a:spcPts val="0"/>
                        </a:spcAft>
                        <a:defRPr sz="1200" b="0">
                          <a:solidFill>
                            <a:srgbClr val="21243A"/>
                          </a:solidFill>
                          <a:latin typeface="Arial"/>
                        </a:defRPr>
                      </a:pPr>
                      <a:r>
                        <a:t>presentation graphics</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36515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photographic subjects or camera texture available for assessment</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0010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 presentation graphic, not a camera photo; appearance alone</a:t>
                      </a:r>
                    </a:p>
                    <a:p>
                      <a:pPr>
                        <a:lnSpc>
                          <a:spcPts val="1600"/>
                        </a:lnSpc>
                        <a:spcAft>
                          <a:spcPts val="0"/>
                        </a:spcAft>
                        <a:defRPr sz="1200" b="0">
                          <a:solidFill>
                            <a:srgbClr val="21243A"/>
                          </a:solidFill>
                          <a:latin typeface="Arial"/>
                        </a:defRPr>
                      </a:pPr>
                      <a:r>
                        <a:t>cannot distinguish conventional slide design from AI-assisted production.</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28/100; tells: clean vector</a:t>
                      </a:r>
                    </a:p>
                    <a:p>
                      <a:pPr>
                        <a:lnSpc>
                          <a:spcPts val="1600"/>
                        </a:lnSpc>
                        <a:spcAft>
                          <a:spcPts val="0"/>
                        </a:spcAft>
                        <a:defRPr sz="1200" b="0">
                          <a:solidFill>
                            <a:srgbClr val="21243A"/>
                          </a:solidFill>
                          <a:latin typeface="Arial"/>
                        </a:defRPr>
                      </a:pPr>
                      <a:r>
                        <a:t>geometry, standard digital typography, consistent presentation graphic layout,</a:t>
                      </a:r>
                    </a:p>
                    <a:p>
                      <a:pPr>
                        <a:lnSpc>
                          <a:spcPts val="1600"/>
                        </a:lnSpc>
                        <a:spcAft>
                          <a:spcPts val="0"/>
                        </a:spcAft>
                        <a:defRPr sz="1200" b="0">
                          <a:solidFill>
                            <a:srgbClr val="21243A"/>
                          </a:solidFill>
                          <a:latin typeface="Arial"/>
                        </a:defRPr>
                      </a:pPr>
                      <a:r>
                        <a:t>absence of generative diffusion artifacts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28/100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28/100</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25/100</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28/100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Clean vector geometry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Standard digital typography</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 presentation graphic layout</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Absence of generative diffusion artifacts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Digital vector graphics and layout elements can mimic procedural</a:t>
                      </a:r>
                    </a:p>
                    <a:p>
                      <a:pPr>
                        <a:lnSpc>
                          <a:spcPts val="1600"/>
                        </a:lnSpc>
                        <a:spcAft>
                          <a:spcPts val="0"/>
                        </a:spcAft>
                        <a:defRPr sz="1200" b="0">
                          <a:solidFill>
                            <a:srgbClr val="21243A"/>
                          </a:solidFill>
                          <a:latin typeface="Arial"/>
                        </a:defRPr>
                      </a:pPr>
                      <a:r>
                        <a:t>generation tools.</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Heuristic synthetic likelihood 41/100 from metadata +</a:t>
                      </a:r>
                    </a:p>
                    <a:p>
                      <a:pPr>
                        <a:lnSpc>
                          <a:spcPts val="1600"/>
                        </a:lnSpc>
                        <a:spcAft>
                          <a:spcPts val="0"/>
                        </a:spcAft>
                        <a:defRPr sz="1200" b="0">
                          <a:solidFill>
                            <a:srgbClr val="21243A"/>
                          </a:solidFill>
                          <a:latin typeface="Arial"/>
                        </a:defRPr>
                      </a:pPr>
                      <a:r>
                        <a:t>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41/100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41/100</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41/100</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3990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41/100</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1.1, peak 24 (uniform high ELA can indicate generation/heavy edit).</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15.93 (very low/very uniform noise is a synthesis cue).</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11.91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Per-frame results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355494"/>
                <a:gridCol w="4374489"/>
                <a:gridCol w="1682495"/>
              </a:tblGrid>
              <a:tr h="347472">
                <a:tc>
                  <a:txBody>
                    <a:bodyPr wrap="none"/>
                    <a:lstStyle/>
                    <a:p>
                      <a:pPr>
                        <a:lnSpc>
                          <a:spcPts val="1600"/>
                        </a:lnSpc>
                        <a:spcAft>
                          <a:spcPts val="0"/>
                        </a:spcAft>
                        <a:defRPr sz="1200" b="1">
                          <a:solidFill>
                            <a:srgbClr val="FFFFFF"/>
                          </a:solidFill>
                          <a:latin typeface="Arial"/>
                        </a:defRPr>
                      </a:pPr>
                      <a:r>
                        <a:t>Frame</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 / 100</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28</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28</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25</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14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28</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entries recorded.</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60/100; tells: network diagram is</a:t>
                      </a:r>
                    </a:p>
                    <a:p>
                      <a:pPr>
                        <a:lnSpc>
                          <a:spcPts val="1600"/>
                        </a:lnSpc>
                        <a:spcAft>
                          <a:spcPts val="0"/>
                        </a:spcAft>
                        <a:defRPr sz="1200" b="0">
                          <a:solidFill>
                            <a:srgbClr val="21243A"/>
                          </a:solidFill>
                          <a:latin typeface="Arial"/>
                        </a:defRPr>
                      </a:pPr>
                      <a:r>
                        <a:t>decorative and roughly symmetric rather than a data-driven force-directed layout,</a:t>
                      </a:r>
                    </a:p>
                    <a:p>
                      <a:pPr>
                        <a:lnSpc>
                          <a:spcPts val="1600"/>
                        </a:lnSpc>
                        <a:spcAft>
                          <a:spcPts val="0"/>
                        </a:spcAft>
                        <a:defRPr sz="1200" b="0">
                          <a:solidFill>
                            <a:srgbClr val="21243A"/>
                          </a:solidFill>
                          <a:latin typeface="Arial"/>
                        </a:defRPr>
                      </a:pPr>
                      <a:r>
                        <a:t>inconsistent node sizes and some edges ending without clear nodes,</a:t>
                      </a:r>
                    </a:p>
                    <a:p>
                      <a:pPr>
                        <a:lnSpc>
                          <a:spcPts val="1600"/>
                        </a:lnSpc>
                        <a:spcAft>
                          <a:spcPts val="0"/>
                        </a:spcAft>
                        <a:defRPr sz="1200" b="0">
                          <a:solidFill>
                            <a:srgbClr val="21243A"/>
                          </a:solidFill>
                          <a:latin typeface="Arial"/>
                        </a:defRPr>
                      </a:pPr>
                      <a:r>
                        <a:t>semi-transparent, softly blurred overlapping edge layers with painterly</a:t>
                      </a:r>
                    </a:p>
                    <a:p>
                      <a:pPr>
                        <a:lnSpc>
                          <a:spcPts val="1600"/>
                        </a:lnSpc>
                        <a:spcAft>
                          <a:spcPts val="0"/>
                        </a:spcAft>
                        <a:defRPr sz="1200" b="0">
                          <a:solidFill>
                            <a:srgbClr val="21243A"/>
                          </a:solidFill>
                          <a:latin typeface="Arial"/>
                        </a:defRPr>
                      </a:pPr>
                      <a:r>
                        <a:t>anti-aliasing, smooth teal-to-orange color gradient across the graph unrelated to</a:t>
                      </a:r>
                    </a:p>
                    <a:p>
                      <a:pPr>
                        <a:lnSpc>
                          <a:spcPts val="1600"/>
                        </a:lnSpc>
                        <a:spcAft>
                          <a:spcPts val="0"/>
                        </a:spcAft>
                        <a:defRPr sz="1200" b="0">
                          <a:solidFill>
                            <a:srgbClr val="21243A"/>
                          </a:solidFill>
                          <a:latin typeface="Arial"/>
                        </a:defRPr>
                      </a:pPr>
                      <a:r>
                        <a:t>any legend</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Worst of 4 frames (slide 5): synthetic likelihood 20/100; tells: Consistently legible</a:t>
                      </a:r>
                    </a:p>
                    <a:p>
                      <a:pPr>
                        <a:lnSpc>
                          <a:spcPts val="1600"/>
                        </a:lnSpc>
                        <a:spcAft>
                          <a:spcPts val="0"/>
                        </a:spcAft>
                        <a:defRPr sz="1200" b="0">
                          <a:solidFill>
                            <a:srgbClr val="21243A"/>
                          </a:solidFill>
                          <a:latin typeface="Arial"/>
                        </a:defRPr>
                      </a:pPr>
                      <a:r>
                        <a:t>text with coherent letterforms and regular spacing, Four circular nodes with</a:t>
                      </a:r>
                    </a:p>
                    <a:p>
                      <a:pPr>
                        <a:lnSpc>
                          <a:spcPts val="1600"/>
                        </a:lnSpc>
                        <a:spcAft>
                          <a:spcPts val="0"/>
                        </a:spcAft>
                        <a:defRPr sz="1200" b="0">
                          <a:solidFill>
                            <a:srgbClr val="21243A"/>
                          </a:solidFill>
                          <a:latin typeface="Arial"/>
                        </a:defRPr>
                      </a:pPr>
                      <a:r>
                        <a:t>uniform glow effects and thin connecting lines, Aligned text blocks and repeated</a:t>
                      </a:r>
                    </a:p>
                    <a:p>
                      <a:pPr>
                        <a:lnSpc>
                          <a:spcPts val="1600"/>
                        </a:lnSpc>
                        <a:spcAft>
                          <a:spcPts val="0"/>
                        </a:spcAft>
                        <a:defRPr sz="1200" b="0">
                          <a:solidFill>
                            <a:srgbClr val="21243A"/>
                          </a:solidFill>
                          <a:latin typeface="Arial"/>
                        </a:defRPr>
                      </a:pPr>
                      <a:r>
                        <a:t>geometric network decorations typical of presentation graphics, No photographic</a:t>
                      </a:r>
                    </a:p>
                    <a:p>
                      <a:pPr>
                        <a:lnSpc>
                          <a:spcPts val="1600"/>
                        </a:lnSpc>
                        <a:spcAft>
                          <a:spcPts val="0"/>
                        </a:spcAft>
                        <a:defRPr sz="1200" b="0">
                          <a:solidFill>
                            <a:srgbClr val="21243A"/>
                          </a:solidFill>
                          <a:latin typeface="Arial"/>
                        </a:defRPr>
                      </a:pPr>
                      <a:r>
                        <a:t>subjects or camera texture available for assessment</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28/100; tells: clean vector</a:t>
                      </a:r>
                    </a:p>
                    <a:p>
                      <a:pPr>
                        <a:lnSpc>
                          <a:spcPts val="1600"/>
                        </a:lnSpc>
                        <a:spcAft>
                          <a:spcPts val="0"/>
                        </a:spcAft>
                        <a:defRPr sz="1200" b="0">
                          <a:solidFill>
                            <a:srgbClr val="21243A"/>
                          </a:solidFill>
                          <a:latin typeface="Arial"/>
                        </a:defRPr>
                      </a:pPr>
                      <a:r>
                        <a:t>geometry, standard digital typography, consistent presentation graphic layout,</a:t>
                      </a:r>
                    </a:p>
                    <a:p>
                      <a:pPr>
                        <a:lnSpc>
                          <a:spcPts val="1600"/>
                        </a:lnSpc>
                        <a:spcAft>
                          <a:spcPts val="0"/>
                        </a:spcAft>
                        <a:defRPr sz="1200" b="0">
                          <a:solidFill>
                            <a:srgbClr val="21243A"/>
                          </a:solidFill>
                          <a:latin typeface="Arial"/>
                        </a:defRPr>
                      </a:pPr>
                      <a:r>
                        <a:t>absence of generative diffusion artifacts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4984495"/>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5334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Extracted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975104"/>
        </p:xfrm>
        <a:graphic>
          <a:graphicData uri="http://schemas.openxmlformats.org/drawingml/2006/table">
            <a:tbl>
              <a:tblPr firstRow="1" bandRow="1">
                <a:tableStyleId>{5C22544A-7EE6-4342-B048-85BDC9FD1C3A}</a:tableStyleId>
              </a:tblPr>
              <a:tblGrid>
                <a:gridCol w="2271369"/>
                <a:gridCol w="6141110"/>
              </a:tblGrid>
              <a:tr h="19751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Catalyst 2: The Conspiracy Ecosystem | 1 The Threat Hoax: Minimising the virus</a:t>
                      </a:r>
                    </a:p>
                    <a:p>
                      <a:pPr>
                        <a:lnSpc>
                          <a:spcPts val="1600"/>
                        </a:lnSpc>
                        <a:spcAft>
                          <a:spcPts val="0"/>
                        </a:spcAft>
                        <a:defRPr sz="1200" b="0">
                          <a:solidFill>
                            <a:srgbClr val="21243A"/>
                          </a:solidFill>
                          <a:latin typeface="Arial"/>
                        </a:defRPr>
                      </a:pPr>
                      <a:r>
                        <a:t>itself. “It’s just the flu,” preferring natural immunity over interventions. |</a:t>
                      </a:r>
                    </a:p>
                    <a:p>
                      <a:pPr>
                        <a:lnSpc>
                          <a:spcPts val="1600"/>
                        </a:lnSpc>
                        <a:spcAft>
                          <a:spcPts val="0"/>
                        </a:spcAft>
                        <a:defRPr sz="1200" b="0">
                          <a:solidFill>
                            <a:srgbClr val="21243A"/>
                          </a:solidFill>
                          <a:latin typeface="Arial"/>
                        </a:defRPr>
                      </a:pPr>
                      <a:r>
                        <a:t>#Plandemic | #Scamdemic | 2 The Control Mechanism: Belief that mandates test</a:t>
                      </a:r>
                    </a:p>
                    <a:p>
                      <a:pPr>
                        <a:lnSpc>
                          <a:spcPts val="1600"/>
                        </a:lnSpc>
                        <a:spcAft>
                          <a:spcPts val="0"/>
                        </a:spcAft>
                        <a:defRPr sz="1200" b="0">
                          <a:solidFill>
                            <a:srgbClr val="21243A"/>
                          </a:solidFill>
                          <a:latin typeface="Arial"/>
                        </a:defRPr>
                      </a:pPr>
                      <a:r>
                        <a:t>public compliance, equating health rules to authoritarian mouth-gags. |</a:t>
                      </a:r>
                    </a:p>
                    <a:p>
                      <a:pPr>
                        <a:lnSpc>
                          <a:spcPts val="1600"/>
                        </a:lnSpc>
                        <a:spcAft>
                          <a:spcPts val="0"/>
                        </a:spcAft>
                        <a:defRPr sz="1200" b="0">
                          <a:solidFill>
                            <a:srgbClr val="21243A"/>
                          </a:solidFill>
                          <a:latin typeface="Arial"/>
                        </a:defRPr>
                      </a:pPr>
                      <a:r>
                        <a:t>#COVID1984 | #MaskTyranny | 3 The Micro-Constituent Fear: Targeting vaccines</a:t>
                      </a:r>
                    </a:p>
                    <a:p>
                      <a:pPr>
                        <a:lnSpc>
                          <a:spcPts val="1600"/>
                        </a:lnSpc>
                        <a:spcAft>
                          <a:spcPts val="0"/>
                        </a:spcAft>
                        <a:defRPr sz="1200" b="0">
                          <a:solidFill>
                            <a:srgbClr val="21243A"/>
                          </a:solidFill>
                          <a:latin typeface="Arial"/>
                        </a:defRPr>
                      </a:pPr>
                      <a:r>
                        <a:t>specifically: fears of mRNA DNA-alteration, microchips, infertility, and Bill Gates</a:t>
                      </a:r>
                    </a:p>
                    <a:p>
                      <a:pPr>
                        <a:lnSpc>
                          <a:spcPts val="1600"/>
                        </a:lnSpc>
                        <a:spcAft>
                          <a:spcPts val="0"/>
                        </a:spcAft>
                        <a:defRPr sz="1200" b="0">
                          <a:solidFill>
                            <a:srgbClr val="21243A"/>
                          </a:solidFill>
                          <a:latin typeface="Arial"/>
                        </a:defRPr>
                      </a:pPr>
                      <a:r>
                        <a:t>narratives. | Once a citizen accepted the ‘Control Mechanism’ premise for masks,</a:t>
                      </a:r>
                    </a:p>
                    <a:p>
                      <a:pPr>
                        <a:lnSpc>
                          <a:spcPts val="1600"/>
                        </a:lnSpc>
                        <a:spcAft>
                          <a:spcPts val="0"/>
                        </a:spcAft>
                        <a:defRPr sz="1200" b="0">
                          <a:solidFill>
                            <a:srgbClr val="21243A"/>
                          </a:solidFill>
                          <a:latin typeface="Arial"/>
                        </a:defRPr>
                      </a:pPr>
                      <a:r>
                        <a:t>transitioning to the ‘Micro-Constituent Fear’ for vaccines required almost no</a:t>
                      </a:r>
                    </a:p>
                    <a:p>
                      <a:pPr>
                        <a:lnSpc>
                          <a:spcPts val="1600"/>
                        </a:lnSpc>
                        <a:spcAft>
                          <a:spcPts val="0"/>
                        </a:spcAft>
                        <a:defRPr sz="1200" b="0">
                          <a:solidFill>
                            <a:srgbClr val="21243A"/>
                          </a:solidFill>
                          <a:latin typeface="Arial"/>
                        </a:defRPr>
                      </a:pPr>
                      <a:r>
                        <a:t>psychological leap.</a:t>
                      </a:r>
                    </a:p>
                  </a:txBody>
                  <a:tcPr marL="82296" marR="82296" marT="64008" marB="64008">
                    <a:solidFill>
                      <a:srgbClr val="F1F7F7"/>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1. frame_agreement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frames=4; synthetic_frames=0; authentic_frames=0; rating_spread=3</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value=inconclusive; confidence=low; reason=The sampled frames leave the</a:t>
                      </a:r>
                    </a:p>
                    <a:p>
                      <a:pPr>
                        <a:lnSpc>
                          <a:spcPts val="1600"/>
                        </a:lnSpc>
                        <a:spcAft>
                          <a:spcPts val="0"/>
                        </a:spcAft>
                        <a:defRPr sz="1200" b="0">
                          <a:solidFill>
                            <a:srgbClr val="21243A"/>
                          </a:solidFill>
                          <a:latin typeface="Arial"/>
                        </a:defRPr>
                      </a:pPr>
                      <a:r>
                        <a:t>assessment inconclusive. Review the frame results and source context.</a:t>
                      </a:r>
                    </a:p>
                  </a:txBody>
                  <a:tcPr marL="82296" marR="82296" marT="64008" marB="6400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citation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presentation.pptx; media type: pptx; recorded at: 2026-09-26T22:31:28+00:00;</a:t>
                      </a:r>
                    </a:p>
                    <a:p>
                      <a:pPr>
                        <a:lnSpc>
                          <a:spcPts val="1600"/>
                        </a:lnSpc>
                        <a:spcAft>
                          <a:spcPts val="0"/>
                        </a:spcAft>
                        <a:defRPr sz="1200" b="0">
                          <a:solidFill>
                            <a:srgbClr val="21243A"/>
                          </a:solidFill>
                          <a:latin typeface="Arial"/>
                        </a:defRPr>
                      </a:pPr>
                      <a:r>
                        <a:t>models: claude-opus-5-5, gemini-3.8-flash, gpt-6-astra.</a:t>
                      </a:r>
                    </a:p>
                  </a:txBody>
                  <a:tcPr marL="82296" marR="82296" marT="64008" marB="64008">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presentation.pptx</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250bad8f-c5c8-49fb-8c8c-10a2b68368b0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2026-09-26T22:31:28+00:00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d0ec89da564078611922195fca82364f2f8e63d253d02a6d9bb672a8265c5f15</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14 slides; sampled 4 of 14 embedded slide image(s).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39902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txBody>
                  <a:tcPr marL="82296" marR="82296" marT="64008" marB="64008">
                    <a:solidFill>
                      <a:srgbClr val="F1F7F7"/>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