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social-media-image.png</a:t>
            </a:r>
          </a:p>
          <a:p>
            <a:r>
              <a:t>social-media-image.png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social-media-image.png</a:t>
            </a:r>
          </a:p>
          <a:p>
            <a:r>
              <a:t>Assessment summary</a:t>
            </a:r>
          </a:p>
          <a:p>
            <a:r>
              <a:t>Finding | Leaning synthetic</a:t>
            </a:r>
          </a:p>
          <a:p>
            <a:r>
              <a:t>Recorded verdict | synthetic likely</a:t>
            </a:r>
          </a:p>
          <a:p>
            <a:r>
              <a:t>Confidence | high</a:t>
            </a:r>
          </a:p>
          <a:p>
            <a:r>
              <a:t>Indicative rating | 93/100</a:t>
            </a:r>
          </a:p>
          <a:p>
            <a:r>
              <a:t>Rating basis | median of available model ratings; not a calibrated probability</a:t>
            </a:r>
          </a:p>
          <a:p>
            <a:r>
              <a:t>Explanation | 3 models agree this is likely synthetic.</a:t>
            </a:r>
          </a:p>
          <a:p>
            <a:r>
              <a:t>Coverage | image - 1 frame(s) analysed</a:t>
            </a:r>
          </a:p>
          <a:p>
            <a:r>
              <a:t>Review context | Research assessment. Review alongside source information and context. When credentials are missing, origin remains unresolved by this check. Use these findings to inform a documented human review.</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social-media-image.png</a:t>
            </a:r>
          </a:p>
          <a:p>
            <a:r>
              <a:t>Provider overview</a:t>
            </a:r>
          </a:p>
          <a:p>
            <a:r>
              <a:t>Claude Vision | vision / ok | synthetic likely | 93/100</a:t>
            </a:r>
          </a:p>
          <a:p>
            <a:r>
              <a:t>OpenAI Vision | vision / ok | synthetic likely | 94/100</a:t>
            </a:r>
          </a:p>
          <a:p>
            <a:r>
              <a:t>Gemini Vision | vision / ok | synthetic likely | 82/100</a:t>
            </a:r>
          </a:p>
          <a:p>
            <a:r>
              <a:t>C2PA Content Credentials | provenance / ok | inconclusive | n/a</a:t>
            </a:r>
          </a:p>
          <a:p>
            <a:r>
              <a:t>Local forensic cues | forensic / ok | partially synthetic | 41/100</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social-media-image.png</a:t>
            </a:r>
          </a:p>
          <a:p>
            <a:r>
              <a:t>Provider evidence / 1</a:t>
            </a:r>
          </a:p>
          <a:p>
            <a:r>
              <a:t>Provider | Claude Vision</a:t>
            </a:r>
          </a:p>
          <a:p>
            <a:r>
              <a:t>Model | claude-opus-5-5</a:t>
            </a:r>
          </a:p>
          <a:p>
            <a:r>
              <a:t>Status | ok</a:t>
            </a:r>
          </a:p>
          <a:p>
            <a:r>
              <a:t>Assessment | synthetic likely</a:t>
            </a:r>
          </a:p>
          <a:p>
            <a:r>
              <a:t>Confidence | high</a:t>
            </a:r>
          </a:p>
          <a:p>
            <a:r>
              <a:t>Role in assessment | Supporting</a:t>
            </a:r>
          </a:p>
          <a:p>
            <a:r>
              <a:t>Provider summary | synthetic likelihood 93/100; tells: hyper-saturated cinematic orange/teal grading typical of image generators, over-sharpened, uniformly detailed rabbit fur and whiskers with glowing rim light, implausible scale and composition: intact rabbit resting directly on a mass of glossy visceral tissue, organ mass has generic, anatomically incoherent structure with plastic-like specular highlights</a:t>
            </a:r>
          </a:p>
          <a:p>
            <a:r>
              <a:t>Evidence 1 | Hyper-saturated cinematic orange/teal grading typical of image generators</a:t>
            </a:r>
          </a:p>
          <a:p>
            <a:r>
              <a:t>Evidence 2 | Over-sharpened, uniformly detailed rabbit fur and whiskers with glowing rim light</a:t>
            </a:r>
          </a:p>
          <a:p>
            <a:r>
              <a:t>Evidence 3 | Implausible scale and composition: intact rabbit resting directly on a mass of glossy visceral tissue</a:t>
            </a:r>
          </a:p>
          <a:p>
            <a:r>
              <a:t>Evidence 4 | Organ mass has generic, anatomically incoherent structure with plastic-like specular highlights</a:t>
            </a:r>
          </a:p>
          <a:p>
            <a:r>
              <a:t>Evidence 5 | Stylised glowing drop at needle tip and spark/glow effects without physical light source</a:t>
            </a:r>
          </a:p>
          <a:p>
            <a:r>
              <a:t>Evidence 6 | Syringe barrel markings indistinct and non-legible</a:t>
            </a:r>
          </a:p>
          <a:p>
            <a:r>
              <a:t>Evidence 7 | Uniform bokeh of lab glassware lacking real optical detail</a:t>
            </a:r>
          </a:p>
          <a:p>
            <a:r>
              <a:t>Evidence 8 | Small four-point sparkle watermark in bottom-right corner consistent with an AI-generation provenance mark</a:t>
            </a:r>
          </a:p>
          <a:p>
            <a:r>
              <a:t>Evidence 9 | No camera grain, noise or lens imperfections; overall clean render look</a:t>
            </a:r>
          </a:p>
          <a:p>
            <a:r>
              <a:t>Evidence 10 | Caveat: The text overlay is a graphic addition, so the base image's origin is judged only from visual style and the corner sparkle mark. Verify the mark and any embedded metadata or C2PA/SynthID signals before drawing conclusions.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social-media-image.png</a:t>
            </a:r>
          </a:p>
          <a:p>
            <a:r>
              <a:t>Provider evidence / 1</a:t>
            </a:r>
          </a:p>
          <a:p>
            <a:r>
              <a:t>Provider | Claude Vision</a:t>
            </a:r>
          </a:p>
          <a:p>
            <a:r>
              <a:t>Model | claude-opus-5-5</a:t>
            </a:r>
          </a:p>
          <a:p>
            <a:r>
              <a:t>Status | ok</a:t>
            </a:r>
          </a:p>
          <a:p>
            <a:r>
              <a:t>Assessment | synthetic likely</a:t>
            </a:r>
          </a:p>
          <a:p>
            <a:r>
              <a:t>Confidence | high</a:t>
            </a:r>
          </a:p>
          <a:p>
            <a:r>
              <a:t>Role in assessment | Supporting</a:t>
            </a:r>
          </a:p>
          <a:p>
            <a:r>
              <a:t>Provider summary | synthetic likelihood 93/100; tells: hyper-saturated cinematic orange/teal grading typical of image generators, over-sharpened, uniformly detailed rabbit fur and whiskers with glowing rim light, implausible scale and composition: intact rabbit resting directly on a mass of glossy visceral tissue, organ mass has generic, anatomically incoherent structure with plastic-like specular highlights</a:t>
            </a:r>
          </a:p>
          <a:p>
            <a:r>
              <a:t>Evidence 1 | Hyper-saturated cinematic orange/teal grading typical of image generators</a:t>
            </a:r>
          </a:p>
          <a:p>
            <a:r>
              <a:t>Evidence 2 | Over-sharpened, uniformly detailed rabbit fur and whiskers with glowing rim light</a:t>
            </a:r>
          </a:p>
          <a:p>
            <a:r>
              <a:t>Evidence 3 | Implausible scale and composition: intact rabbit resting directly on a mass of glossy visceral tissue</a:t>
            </a:r>
          </a:p>
          <a:p>
            <a:r>
              <a:t>Evidence 4 | Organ mass has generic, anatomically incoherent structure with plastic-like specular highlights</a:t>
            </a:r>
          </a:p>
          <a:p>
            <a:r>
              <a:t>Evidence 5 | Stylised glowing drop at needle tip and spark/glow effects without physical light source</a:t>
            </a:r>
          </a:p>
          <a:p>
            <a:r>
              <a:t>Evidence 6 | Syringe barrel markings indistinct and non-legible</a:t>
            </a:r>
          </a:p>
          <a:p>
            <a:r>
              <a:t>Evidence 7 | Uniform bokeh of lab glassware lacking real optical detail</a:t>
            </a:r>
          </a:p>
          <a:p>
            <a:r>
              <a:t>Evidence 8 | Small four-point sparkle watermark in bottom-right corner consistent with an AI-generation provenance mark</a:t>
            </a:r>
          </a:p>
          <a:p>
            <a:r>
              <a:t>Evidence 9 | No camera grain, noise or lens imperfections; overall clean render look</a:t>
            </a:r>
          </a:p>
          <a:p>
            <a:r>
              <a:t>Evidence 10 | Caveat: The text overlay is a graphic addition, so the base image's origin is judged only from visual style and the corner sparkle mark. Verify the mark and any embedded metadata or C2PA/SynthID signals before drawing conclusions.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social-media-image.png</a:t>
            </a:r>
          </a:p>
          <a:p>
            <a:r>
              <a:t>Provider evidence / 2</a:t>
            </a:r>
          </a:p>
          <a:p>
            <a:r>
              <a:t>Provider | OpenAI Vision</a:t>
            </a:r>
          </a:p>
          <a:p>
            <a:r>
              <a:t>Model | gpt-6-astra</a:t>
            </a:r>
          </a:p>
          <a:p>
            <a:r>
              <a:t>Status | ok</a:t>
            </a:r>
          </a:p>
          <a:p>
            <a:r>
              <a:t>Assessment | synthetic likely</a:t>
            </a:r>
          </a:p>
          <a:p>
            <a:r>
              <a:t>Confidence | high</a:t>
            </a:r>
          </a:p>
          <a:p>
            <a:r>
              <a:t>Role in assessment | Supporting</a:t>
            </a:r>
          </a:p>
          <a:p>
            <a:r>
              <a:t>Provider summary | synthetic likelihood 94/100; tells: Syringe has unusually elaborate stacked connector rings and inconsistent graduation marks., Foreground organs and vessels merge into convoluted, highly glossy forms without clear anatomical boundaries., Rabbit fur and whiskers have unusually uniform sharpness and strong orange rim lighting., Liquid, tissue, and syringe share exaggerated jewel-like highlights.</a:t>
            </a:r>
          </a:p>
          <a:p>
            <a:r>
              <a:t>Evidence 1 | Syringe has unusually elaborate stacked connector rings and inconsistent graduation marks.</a:t>
            </a:r>
          </a:p>
          <a:p>
            <a:r>
              <a:t>Evidence 2 | Foreground organs and vessels merge into convoluted, highly glossy forms without clear anatomical boundaries.</a:t>
            </a:r>
          </a:p>
          <a:p>
            <a:r>
              <a:t>Evidence 3 | Rabbit fur and whiskers have unusually uniform sharpness and strong orange rim lighting.</a:t>
            </a:r>
          </a:p>
          <a:p>
            <a:r>
              <a:t>Evidence 4 | Liquid, tissue, and syringe share exaggerated jewel-like highlights.</a:t>
            </a:r>
          </a:p>
          <a:p>
            <a:r>
              <a:t>Evidence 5 | Small four-point sparkle emblem appears at the lower right.</a:t>
            </a:r>
          </a:p>
          <a:p>
            <a:r>
              <a:t>Evidence 6 | Caveat: Stylized CGI or a heavily retouched composite could produce similar cues; the image alone cannot establish AI provenance.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social-media-image.png</a:t>
            </a:r>
          </a:p>
          <a:p>
            <a:r>
              <a:t>Provider evidence / 2</a:t>
            </a:r>
          </a:p>
          <a:p>
            <a:r>
              <a:t>Provider | OpenAI Vision</a:t>
            </a:r>
          </a:p>
          <a:p>
            <a:r>
              <a:t>Model | gpt-6-astra</a:t>
            </a:r>
          </a:p>
          <a:p>
            <a:r>
              <a:t>Status | ok</a:t>
            </a:r>
          </a:p>
          <a:p>
            <a:r>
              <a:t>Assessment | synthetic likely</a:t>
            </a:r>
          </a:p>
          <a:p>
            <a:r>
              <a:t>Confidence | high</a:t>
            </a:r>
          </a:p>
          <a:p>
            <a:r>
              <a:t>Role in assessment | Supporting</a:t>
            </a:r>
          </a:p>
          <a:p>
            <a:r>
              <a:t>Provider summary | synthetic likelihood 94/100; tells: Syringe has unusually elaborate stacked connector rings and inconsistent graduation marks., Foreground organs and vessels merge into convoluted, highly glossy forms without clear anatomical boundaries., Rabbit fur and whiskers have unusually uniform sharpness and strong orange rim lighting., Liquid, tissue, and syringe share exaggerated jewel-like highlights.</a:t>
            </a:r>
          </a:p>
          <a:p>
            <a:r>
              <a:t>Evidence 1 | Syringe has unusually elaborate stacked connector rings and inconsistent graduation marks.</a:t>
            </a:r>
          </a:p>
          <a:p>
            <a:r>
              <a:t>Evidence 2 | Foreground organs and vessels merge into convoluted, highly glossy forms without clear anatomical boundaries.</a:t>
            </a:r>
          </a:p>
          <a:p>
            <a:r>
              <a:t>Evidence 3 | Rabbit fur and whiskers have unusually uniform sharpness and strong orange rim lighting.</a:t>
            </a:r>
          </a:p>
          <a:p>
            <a:r>
              <a:t>Evidence 4 | Liquid, tissue, and syringe share exaggerated jewel-like highlights.</a:t>
            </a:r>
          </a:p>
          <a:p>
            <a:r>
              <a:t>Evidence 5 | Small four-point sparkle emblem appears at the lower right.</a:t>
            </a:r>
          </a:p>
          <a:p>
            <a:r>
              <a:t>Evidence 6 | Caveat: Stylized CGI or a heavily retouched composite could produce similar cues; the image alone cannot establish AI provenance.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social-media-image.png</a:t>
            </a:r>
          </a:p>
          <a:p>
            <a:r>
              <a:t>Provider evidence / 3</a:t>
            </a:r>
          </a:p>
          <a:p>
            <a:r>
              <a:t>Provider | Gemini Vision</a:t>
            </a:r>
          </a:p>
          <a:p>
            <a:r>
              <a:t>Model | gemini-3.8-flash</a:t>
            </a:r>
          </a:p>
          <a:p>
            <a:r>
              <a:t>Status | ok</a:t>
            </a:r>
          </a:p>
          <a:p>
            <a:r>
              <a:t>Assessment | synthetic likely</a:t>
            </a:r>
          </a:p>
          <a:p>
            <a:r>
              <a:t>Confidence | high</a:t>
            </a:r>
          </a:p>
          <a:p>
            <a:r>
              <a:t>Role in assessment | Supporting</a:t>
            </a:r>
          </a:p>
          <a:p>
            <a:r>
              <a:t>Provider summary | synthetic likelihood 82/100; tells: hyper-rendered specular textures on viscera, unnatural fusion of biological anatomical forms, stylized digital lighting and bokeh inconsistencies, AI-typical crisp fur detailing with odd spatial occlusion</a:t>
            </a:r>
          </a:p>
          <a:p>
            <a:r>
              <a:t>Evidence 1 | Hyper-rendered specular textures on viscera</a:t>
            </a:r>
          </a:p>
          <a:p>
            <a:r>
              <a:t>Evidence 2 | Unnatural fusion of biological anatomical forms</a:t>
            </a:r>
          </a:p>
          <a:p>
            <a:r>
              <a:t>Evidence 3 | Stylized digital lighting and bokeh inconsistencies</a:t>
            </a:r>
          </a:p>
          <a:p>
            <a:r>
              <a:t>Evidence 4 | AI-typical crisp fur detailing with odd spatial occlusion</a:t>
            </a:r>
          </a:p>
          <a:p>
            <a:r>
              <a:t>Evidence 5 | Caveat: High-end 3D CGI or professional digital compositing can mimic generative-AI artifacts.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social-media-image.png</a:t>
            </a:r>
          </a:p>
          <a:p>
            <a:r>
              <a:t>Provider evidence / 3</a:t>
            </a:r>
          </a:p>
          <a:p>
            <a:r>
              <a:t>Provider | Gemini Vision</a:t>
            </a:r>
          </a:p>
          <a:p>
            <a:r>
              <a:t>Model | gemini-3.8-flash</a:t>
            </a:r>
          </a:p>
          <a:p>
            <a:r>
              <a:t>Status | ok</a:t>
            </a:r>
          </a:p>
          <a:p>
            <a:r>
              <a:t>Assessment | synthetic likely</a:t>
            </a:r>
          </a:p>
          <a:p>
            <a:r>
              <a:t>Confidence | high</a:t>
            </a:r>
          </a:p>
          <a:p>
            <a:r>
              <a:t>Role in assessment | Supporting</a:t>
            </a:r>
          </a:p>
          <a:p>
            <a:r>
              <a:t>Provider summary | synthetic likelihood 82/100; tells: hyper-rendered specular textures on viscera, unnatural fusion of biological anatomical forms, stylized digital lighting and bokeh inconsistencies, AI-typical crisp fur detailing with odd spatial occlusion</a:t>
            </a:r>
          </a:p>
          <a:p>
            <a:r>
              <a:t>Evidence 1 | Hyper-rendered specular textures on viscera</a:t>
            </a:r>
          </a:p>
          <a:p>
            <a:r>
              <a:t>Evidence 2 | Unnatural fusion of biological anatomical forms</a:t>
            </a:r>
          </a:p>
          <a:p>
            <a:r>
              <a:t>Evidence 3 | Stylized digital lighting and bokeh inconsistencies</a:t>
            </a:r>
          </a:p>
          <a:p>
            <a:r>
              <a:t>Evidence 4 | AI-typical crisp fur detailing with odd spatial occlusion</a:t>
            </a:r>
          </a:p>
          <a:p>
            <a:r>
              <a:t>Evidence 5 | Caveat: High-end 3D CGI or professional digital compositing can mimic generative-AI artifacts.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social-media-image.png</a:t>
            </a:r>
          </a:p>
          <a:p>
            <a:r>
              <a:t>Content Credentials / provenance</a:t>
            </a:r>
          </a:p>
          <a:p>
            <a:r>
              <a:t>Provider | C2PA Content Credentials</a:t>
            </a:r>
          </a:p>
          <a:p>
            <a:r>
              <a:t>Model | Not recorded</a:t>
            </a:r>
          </a:p>
          <a:p>
            <a:r>
              <a:t>Status | ok</a:t>
            </a:r>
          </a:p>
          <a:p>
            <a:r>
              <a:t>Assessment | inconclusive</a:t>
            </a:r>
          </a:p>
          <a:p>
            <a:r>
              <a:t>Confidence | Not recorded</a:t>
            </a:r>
          </a:p>
          <a:p>
            <a:r>
              <a:t>Role in assessment | Additional finding</a:t>
            </a:r>
          </a:p>
          <a:p>
            <a:r>
              <a:t>Provider summary | Embedded credentials: none found. Origin remains unresolved by this check.</a:t>
            </a:r>
          </a:p>
          <a:p>
            <a:r>
              <a:t>Evidence 1 | Coverage: credentials embedded in the submitted file. External credentials were not retrieved.</a:t>
            </a:r>
          </a:p>
          <a:p>
            <a:r>
              <a:t>Evidence 2 | Verifier: c2pa-python 0.37.12; native SDK 0.91.0; specification target 2.4; policy embedded-offline-reviewed-trust-v3.</a:t>
            </a:r>
          </a:p>
          <a:p>
            <a:r>
              <a:t>Evidence 3 | Offline embedded-manifest verification; no network trust-list, manifest or revocation refresh.</a:t>
            </a:r>
          </a:p>
          <a:p>
            <a:r>
              <a:t>Evidence 4 | No reviewed local C2PA trust snapshot installed. Provenance overrides are disabled.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social-media-image.png</a:t>
            </a:r>
          </a:p>
          <a:p>
            <a:r>
              <a:t>Content Credentials / provenance</a:t>
            </a:r>
          </a:p>
          <a:p>
            <a:r>
              <a:t>Provider | C2PA Content Credentials</a:t>
            </a:r>
          </a:p>
          <a:p>
            <a:r>
              <a:t>Model | Not recorded</a:t>
            </a:r>
          </a:p>
          <a:p>
            <a:r>
              <a:t>Status | ok</a:t>
            </a:r>
          </a:p>
          <a:p>
            <a:r>
              <a:t>Assessment | inconclusive</a:t>
            </a:r>
          </a:p>
          <a:p>
            <a:r>
              <a:t>Confidence | Not recorded</a:t>
            </a:r>
          </a:p>
          <a:p>
            <a:r>
              <a:t>Role in assessment | Additional finding</a:t>
            </a:r>
          </a:p>
          <a:p>
            <a:r>
              <a:t>Provider summary | Embedded credentials: none found. Origin remains unresolved by this check.</a:t>
            </a:r>
          </a:p>
          <a:p>
            <a:r>
              <a:t>Evidence 1 | Coverage: credentials embedded in the submitted file. External credentials were not retrieved.</a:t>
            </a:r>
          </a:p>
          <a:p>
            <a:r>
              <a:t>Evidence 2 | Verifier: c2pa-python 0.37.12; native SDK 0.91.0; specification target 2.4; policy embedded-offline-reviewed-trust-v3.</a:t>
            </a:r>
          </a:p>
          <a:p>
            <a:r>
              <a:t>Evidence 3 | Offline embedded-manifest verification; no network trust-list, manifest or revocation refresh.</a:t>
            </a:r>
          </a:p>
          <a:p>
            <a:r>
              <a:t>Evidence 4 | No reviewed local C2PA trust snapshot installed. Provenance overrides are disabled.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social-media-image.png</a:t>
            </a:r>
          </a:p>
          <a:p>
            <a:r>
              <a:t>Provider evidence / 5</a:t>
            </a:r>
          </a:p>
          <a:p>
            <a:r>
              <a:t>Provider | Local forensic cues</a:t>
            </a:r>
          </a:p>
          <a:p>
            <a:r>
              <a:t>Model | Not recorded</a:t>
            </a:r>
          </a:p>
          <a:p>
            <a:r>
              <a:t>Status | ok</a:t>
            </a:r>
          </a:p>
          <a:p>
            <a:r>
              <a:t>Assessment | partially synthetic</a:t>
            </a:r>
          </a:p>
          <a:p>
            <a:r>
              <a:t>Confidence | low</a:t>
            </a:r>
          </a:p>
          <a:p>
            <a:r>
              <a:t>Role in assessment | Additional finding</a:t>
            </a:r>
          </a:p>
          <a:p>
            <a:r>
              <a:t>Provider summary | Heuristic synthetic likelihood 41/100 from metadata + pixel statistics.</a:t>
            </a:r>
          </a:p>
          <a:p>
            <a:r>
              <a:t>Evidence 1 | No camera EXIF (common in AI exports, screenshots, and re-saves).</a:t>
            </a:r>
          </a:p>
          <a:p>
            <a:r>
              <a:t>Evidence 2 | ELA mean 2.3, peak 74 (uniform high ELA can indicate generation/heavy edit).</a:t>
            </a:r>
          </a:p>
          <a:p>
            <a:r>
              <a:t>Evidence 3 | High-frequency noise std 7.53 (very low/very uniform noise is a synthesis cue).</a:t>
            </a:r>
          </a:p>
          <a:p>
            <a:r>
              <a:t>Evidence 4 | Spectral peakiness 22.81 (periodic frequency peaks can mark generated textures).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social-media-image.png</a:t>
            </a:r>
          </a:p>
          <a:p>
            <a:r>
              <a:t>Evidence supporting this verdict</a:t>
            </a:r>
          </a:p>
          <a:p>
            <a:r>
              <a:t>Claude Vision | synthetic likelihood 93/100; tells: hyper-saturated cinematic orange/teal grading typical of image generators, over-sharpened, uniformly detailed rabbit fur and whiskers with glowing rim light, implausible scale and composition: intact rabbit resting directly on a mass of glossy visceral tissue, organ mass has generic, anatomically incoherent structure with plastic-like specular highlights</a:t>
            </a:r>
          </a:p>
          <a:p>
            <a:r>
              <a:t>OpenAI Vision | synthetic likelihood 94/100; tells: Syringe has unusually elaborate stacked connector rings and inconsistent graduation marks., Foreground organs and vessels merge into convoluted, highly glossy forms without clear anatomical boundaries., Rabbit fur and whiskers have unusually uniform sharpness and strong orange rim lighting., Liquid, tissue, and syringe share exaggerated jewel-like highlights.</a:t>
            </a:r>
          </a:p>
          <a:p>
            <a:r>
              <a:t>Gemini Vision | synthetic likelihood 82/100; tells: hyper-rendered specular textures on viscera, unnatural fusion of biological anatomical forms, stylized digital lighting and bokeh inconsistencies, AI-typical crisp fur detailing with odd spatial occlusion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social-media-image.png</a:t>
            </a:r>
          </a:p>
          <a:p>
            <a:r>
              <a:t>Additional findings</a:t>
            </a:r>
          </a:p>
          <a:p>
            <a:r>
              <a:t>Local forensic cues | Supporting observation; considered alongside the model assessments.</a:t>
            </a:r>
          </a:p>
          <a:p>
            <a:r>
              <a:t>C2PA Content Credentials | Embedded credentials: none found. Origin remains unresolved by this check.</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social-media-image.png</a:t>
            </a:r>
          </a:p>
          <a:p>
            <a:r>
              <a:t>Visible text</a:t>
            </a:r>
          </a:p>
          <a:p>
            <a:r>
              <a:t>Recorded text | SHOCKING STUDY!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social-media-image.png</a:t>
            </a:r>
          </a:p>
          <a:p>
            <a:r>
              <a:t>How this assessment was reached</a:t>
            </a:r>
          </a:p>
          <a:p>
            <a:r>
              <a:t>1. override | outcome=none; detail=No confirmed C2PA AI assertion or SynthID watermark. Origin remains unresolved by these checks.</a:t>
            </a:r>
          </a:p>
          <a:p>
            <a:r>
              <a:t>2. model_agreement | synthetic=['Claude Vision', 'OpenAI Vision', 'Gemini Vision']; authentic=[]; uncertain=[]; forensic_supports_synthetic=False</a:t>
            </a:r>
          </a:p>
          <a:p>
            <a:r>
              <a:t>3. verdict | value=synthetic_likely; confidence=high; reason=3 models agree this is likely synthetic.</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social-media-image.png</a:t>
            </a:r>
          </a:p>
          <a:p>
            <a:r>
              <a:t>File and analysis record</a:t>
            </a:r>
          </a:p>
          <a:p>
            <a:r>
              <a:t>File | social-media-image.png</a:t>
            </a:r>
          </a:p>
          <a:p>
            <a:r>
              <a:t>Analysis ID | 19e08bec-290f-4eef-bc04-a35798496852</a:t>
            </a:r>
          </a:p>
          <a:p>
            <a:r>
              <a:t>Generated | 2026-09-26T22:31:29+00:00</a:t>
            </a:r>
          </a:p>
          <a:p>
            <a:r>
              <a:t>Tool | SDA Vision 0.1.0</a:t>
            </a:r>
          </a:p>
          <a:p>
            <a:r>
              <a:t>Models | claude-opus-5-5, gemini-3.8-flash, gpt-6-astra</a:t>
            </a:r>
          </a:p>
          <a:p>
            <a:r>
              <a:t>Method version | pdf-preparation-2026-09-26.1</a:t>
            </a:r>
          </a:p>
          <a:p>
            <a:r>
              <a:t>Analysis lens | general</a:t>
            </a:r>
          </a:p>
          <a:p>
            <a:r>
              <a:t>Original SHA-256 | f849e223762889e4d091fdf09caae3de19bff4cdc6e0024b50379276318f9fe7</a:t>
            </a:r>
          </a:p>
          <a:p>
            <a:r>
              <a:t>Ingestion note 1 | Fresh provider replies acquired for eleven-examples-refresh-20260926-r1; report assembled locally from the saved responses without further API calls.</a:t>
            </a:r>
          </a:p>
          <a:p>
            <a:r>
              <a:t>Ingestion note 2 | Provider latency values are restored from the acquisition receipts (maximum sampled-frame latency per provider); raw replies and assessment results are unchanged by this bookkeeping step.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412480" cy="228600"/>
          </a:xfrm>
          <a:prstGeom prst="rect">
            <a:avLst/>
          </a:prstGeom>
          <a:noFill/>
        </p:spPr>
        <p:txBody>
          <a:bodyPr wrap="square" lIns="0" rIns="0" tIns="0" bIns="0">
            <a:spAutoFit/>
          </a:bodyPr>
          <a:lstStyle/>
          <a:p>
            <a:pPr>
              <a:lnSpc>
                <a:spcPct val="115000"/>
              </a:lnSpc>
              <a:spcAft>
                <a:spcPts val="0"/>
              </a:spcAft>
              <a:defRPr sz="1100" b="1">
                <a:solidFill>
                  <a:srgbClr val="C5006A"/>
                </a:solidFill>
                <a:latin typeface="Arial"/>
              </a:defRPr>
            </a:pPr>
            <a:r>
              <a:t>SDA VISION / RESEARCH REPORT</a:t>
            </a:r>
          </a:p>
        </p:txBody>
      </p:sp>
      <p:sp>
        <p:nvSpPr>
          <p:cNvPr id="3" name="TextBox 2"/>
          <p:cNvSpPr txBox="1"/>
          <p:nvPr/>
        </p:nvSpPr>
        <p:spPr>
          <a:xfrm>
            <a:off x="365760" y="658368"/>
            <a:ext cx="8412480" cy="612648"/>
          </a:xfrm>
          <a:prstGeom prst="rect">
            <a:avLst/>
          </a:prstGeom>
          <a:noFill/>
        </p:spPr>
        <p:txBody>
          <a:bodyPr wrap="square" lIns="0" rIns="0" tIns="0" bIns="0">
            <a:spAutoFit/>
          </a:bodyPr>
          <a:lstStyle/>
          <a:p>
            <a:pPr>
              <a:lnSpc>
                <a:spcPct val="115000"/>
              </a:lnSpc>
              <a:spcAft>
                <a:spcPts val="0"/>
              </a:spcAft>
              <a:defRPr sz="2200" b="1">
                <a:solidFill>
                  <a:srgbClr val="21243A"/>
                </a:solidFill>
                <a:latin typeface="Arial"/>
              </a:defRPr>
            </a:pPr>
            <a:r>
              <a:t>Analysed item</a:t>
            </a:r>
          </a:p>
        </p:txBody>
      </p:sp>
      <p:sp>
        <p:nvSpPr>
          <p:cNvPr id="4" name="TextBox 3"/>
          <p:cNvSpPr txBox="1"/>
          <p:nvPr/>
        </p:nvSpPr>
        <p:spPr>
          <a:xfrm>
            <a:off x="365760" y="6291072"/>
            <a:ext cx="8001000" cy="365760"/>
          </a:xfrm>
          <a:prstGeom prst="rect">
            <a:avLst/>
          </a:prstGeom>
          <a:noFill/>
        </p:spPr>
        <p:txBody>
          <a:bodyPr wrap="square" lIns="0" rIns="0" tIns="0" bIns="0">
            <a:spAutoFit/>
          </a:bodyPr>
          <a:lstStyle/>
          <a:p>
            <a:pPr>
              <a:lnSpc>
                <a:spcPct val="115000"/>
              </a:lnSpc>
              <a:spcAft>
                <a:spcPts val="0"/>
              </a:spcAft>
              <a:defRPr sz="800" b="0">
                <a:solidFill>
                  <a:srgbClr val="545B6D"/>
                </a:solidFill>
                <a:latin typeface="Arial"/>
              </a:defRPr>
            </a:pPr>
            <a:r>
              <a:t>Research assessment. Ratings are not calibrated probabilities.</a:t>
            </a:r>
          </a:p>
        </p:txBody>
      </p:sp>
      <p:sp>
        <p:nvSpPr>
          <p:cNvPr id="5" name="TextBox 4"/>
          <p:cNvSpPr txBox="1"/>
          <p:nvPr/>
        </p:nvSpPr>
        <p:spPr>
          <a:xfrm>
            <a:off x="8394192" y="6318504"/>
            <a:ext cx="365760" cy="228600"/>
          </a:xfrm>
          <a:prstGeom prst="rect">
            <a:avLst/>
          </a:prstGeom>
          <a:noFill/>
        </p:spPr>
        <p:txBody>
          <a:bodyPr wrap="square" lIns="0" rIns="0" tIns="0" bIns="0">
            <a:spAutoFit/>
          </a:bodyPr>
          <a:lstStyle/>
          <a:p>
            <a:pPr>
              <a:lnSpc>
                <a:spcPct val="115000"/>
              </a:lnSpc>
              <a:spcAft>
                <a:spcPts val="0"/>
              </a:spcAft>
              <a:defRPr sz="900" b="0">
                <a:solidFill>
                  <a:srgbClr val="545B6D"/>
                </a:solidFill>
                <a:latin typeface="Arial"/>
              </a:defRPr>
            </a:pPr>
            <a:r>
              <a:t>1</a:t>
            </a:r>
          </a:p>
        </p:txBody>
      </p:sp>
      <p:pic>
        <p:nvPicPr>
          <p:cNvPr id="6" name="Picture 5" descr="image.jpg"/>
          <p:cNvPicPr>
            <a:picLocks noChangeAspect="1"/>
          </p:cNvPicPr>
          <p:nvPr/>
        </p:nvPicPr>
        <p:blipFill>
          <a:blip r:embed="rId3"/>
          <a:stretch>
            <a:fillRect/>
          </a:stretch>
        </p:blipFill>
        <p:spPr>
          <a:xfrm>
            <a:off x="3411855" y="1353312"/>
            <a:ext cx="2320290" cy="4114800"/>
          </a:xfrm>
          <a:prstGeom prst="rect">
            <a:avLst/>
          </a:prstGeom>
        </p:spPr>
      </p:pic>
      <p:sp>
        <p:nvSpPr>
          <p:cNvPr id="7" name="TextBox 6"/>
          <p:cNvSpPr txBox="1"/>
          <p:nvPr/>
        </p:nvSpPr>
        <p:spPr>
          <a:xfrm>
            <a:off x="365760" y="5532120"/>
            <a:ext cx="8412480" cy="594360"/>
          </a:xfrm>
          <a:prstGeom prst="rect">
            <a:avLst/>
          </a:prstGeom>
          <a:noFill/>
        </p:spPr>
        <p:txBody>
          <a:bodyPr wrap="square" lIns="0" rIns="0" tIns="0" bIns="0">
            <a:spAutoFit/>
          </a:bodyPr>
          <a:lstStyle/>
          <a:p>
            <a:pPr>
              <a:lnSpc>
                <a:spcPct val="115000"/>
              </a:lnSpc>
              <a:spcAft>
                <a:spcPts val="0"/>
              </a:spcAft>
              <a:defRPr sz="1100" b="0">
                <a:solidFill>
                  <a:srgbClr val="21243A"/>
                </a:solidFill>
                <a:latin typeface="Arial"/>
              </a:defRPr>
            </a:pPr>
            <a:r>
              <a:t>social-media-image.png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412480" cy="228600"/>
          </a:xfrm>
          <a:prstGeom prst="rect">
            <a:avLst/>
          </a:prstGeom>
          <a:noFill/>
        </p:spPr>
        <p:txBody>
          <a:bodyPr wrap="square" lIns="0" rIns="0" tIns="0" bIns="0">
            <a:spAutoFit/>
          </a:bodyPr>
          <a:lstStyle/>
          <a:p>
            <a:pPr>
              <a:lnSpc>
                <a:spcPct val="115000"/>
              </a:lnSpc>
              <a:spcAft>
                <a:spcPts val="0"/>
              </a:spcAft>
              <a:defRPr sz="1100" b="1">
                <a:solidFill>
                  <a:srgbClr val="C5006A"/>
                </a:solidFill>
                <a:latin typeface="Arial"/>
              </a:defRPr>
            </a:pPr>
            <a:r>
              <a:t>SDA VISION / RESEARCH REPORT</a:t>
            </a:r>
          </a:p>
        </p:txBody>
      </p:sp>
      <p:sp>
        <p:nvSpPr>
          <p:cNvPr id="3" name="TextBox 2"/>
          <p:cNvSpPr txBox="1"/>
          <p:nvPr/>
        </p:nvSpPr>
        <p:spPr>
          <a:xfrm>
            <a:off x="365760" y="658368"/>
            <a:ext cx="8412480" cy="612648"/>
          </a:xfrm>
          <a:prstGeom prst="rect">
            <a:avLst/>
          </a:prstGeom>
          <a:noFill/>
        </p:spPr>
        <p:txBody>
          <a:bodyPr wrap="square" lIns="0" rIns="0" tIns="0" bIns="0">
            <a:spAutoFit/>
          </a:bodyPr>
          <a:lstStyle/>
          <a:p>
            <a:pPr>
              <a:lnSpc>
                <a:spcPct val="115000"/>
              </a:lnSpc>
              <a:spcAft>
                <a:spcPts val="0"/>
              </a:spcAft>
              <a:defRPr sz="2200" b="1">
                <a:solidFill>
                  <a:srgbClr val="21243A"/>
                </a:solidFill>
                <a:latin typeface="Arial"/>
              </a:defRPr>
            </a:pPr>
            <a:r>
              <a:t>Assessment summary</a:t>
            </a:r>
          </a:p>
        </p:txBody>
      </p:sp>
      <p:sp>
        <p:nvSpPr>
          <p:cNvPr id="4" name="TextBox 3"/>
          <p:cNvSpPr txBox="1"/>
          <p:nvPr/>
        </p:nvSpPr>
        <p:spPr>
          <a:xfrm>
            <a:off x="365760" y="6291072"/>
            <a:ext cx="8001000" cy="365760"/>
          </a:xfrm>
          <a:prstGeom prst="rect">
            <a:avLst/>
          </a:prstGeom>
          <a:noFill/>
        </p:spPr>
        <p:txBody>
          <a:bodyPr wrap="square" lIns="0" rIns="0" tIns="0" bIns="0">
            <a:spAutoFit/>
          </a:bodyPr>
          <a:lstStyle/>
          <a:p>
            <a:pPr>
              <a:lnSpc>
                <a:spcPct val="115000"/>
              </a:lnSpc>
              <a:spcAft>
                <a:spcPts val="0"/>
              </a:spcAft>
              <a:defRPr sz="800" b="0">
                <a:solidFill>
                  <a:srgbClr val="545B6D"/>
                </a:solidFill>
                <a:latin typeface="Arial"/>
              </a:defRPr>
            </a:pPr>
            <a:r>
              <a:t>Research assessment. Ratings are not calibrated probabilities.</a:t>
            </a:r>
          </a:p>
        </p:txBody>
      </p:sp>
      <p:sp>
        <p:nvSpPr>
          <p:cNvPr id="5" name="TextBox 4"/>
          <p:cNvSpPr txBox="1"/>
          <p:nvPr/>
        </p:nvSpPr>
        <p:spPr>
          <a:xfrm>
            <a:off x="8394192" y="6318504"/>
            <a:ext cx="365760" cy="228600"/>
          </a:xfrm>
          <a:prstGeom prst="rect">
            <a:avLst/>
          </a:prstGeom>
          <a:noFill/>
        </p:spPr>
        <p:txBody>
          <a:bodyPr wrap="square" lIns="0" rIns="0" tIns="0" bIns="0">
            <a:spAutoFit/>
          </a:bodyPr>
          <a:lstStyle/>
          <a:p>
            <a:pPr>
              <a:lnSpc>
                <a:spcPct val="115000"/>
              </a:lnSpc>
              <a:spcAft>
                <a:spcPts val="0"/>
              </a:spcAft>
              <a:defRPr sz="900" b="0">
                <a:solidFill>
                  <a:srgbClr val="545B6D"/>
                </a:solidFill>
                <a:latin typeface="Arial"/>
              </a:defRPr>
            </a:pPr>
            <a:r>
              <a:t>2</a:t>
            </a:r>
          </a:p>
        </p:txBody>
      </p:sp>
      <p:graphicFrame>
        <p:nvGraphicFramePr>
          <p:cNvPr id="6" name="Table 5"/>
          <p:cNvGraphicFramePr>
            <a:graphicFrameLocks noGrp="1"/>
          </p:cNvGraphicFramePr>
          <p:nvPr/>
        </p:nvGraphicFramePr>
        <p:xfrm>
          <a:off x="365760" y="1353312"/>
          <a:ext cx="8412479" cy="347472"/>
        </p:xfrm>
        <a:graphic>
          <a:graphicData uri="http://schemas.openxmlformats.org/drawingml/2006/table">
            <a:tbl>
              <a:tblPr firstRow="1" bandRow="1">
                <a:tableStyleId>{5C22544A-7EE6-4342-B048-85BDC9FD1C3A}</a:tableStyleId>
              </a:tblPr>
              <a:tblGrid>
                <a:gridCol w="2271369"/>
                <a:gridCol w="6141110"/>
              </a:tblGrid>
              <a:tr h="347472">
                <a:tc>
                  <a:txBody>
                    <a:bodyPr wrap="none"/>
                    <a:lstStyle/>
                    <a:p>
                      <a:pPr>
                        <a:lnSpc>
                          <a:spcPts val="1600"/>
                        </a:lnSpc>
                        <a:spcAft>
                          <a:spcPts val="0"/>
                        </a:spcAft>
                        <a:defRPr sz="1200" b="1">
                          <a:solidFill>
                            <a:srgbClr val="FFFFFF"/>
                          </a:solidFill>
                          <a:latin typeface="Arial"/>
                        </a:defRPr>
                      </a:pPr>
                      <a:r>
                        <a:t>Field</a:t>
                      </a:r>
                    </a:p>
                  </a:txBody>
                  <a:tcPr marL="82296" marR="82296" marT="64008" marB="64008">
                    <a:solidFill>
                      <a:srgbClr val="16787C"/>
                    </a:solidFill>
                  </a:tcPr>
                </a:tc>
                <a:tc>
                  <a:txBody>
                    <a:bodyPr wrap="none"/>
                    <a:lstStyle/>
                    <a:p>
                      <a:pPr>
                        <a:lnSpc>
                          <a:spcPts val="1600"/>
                        </a:lnSpc>
                        <a:spcAft>
                          <a:spcPts val="0"/>
                        </a:spcAft>
                        <a:defRPr sz="1200" b="1">
                          <a:solidFill>
                            <a:srgbClr val="FFFFFF"/>
                          </a:solidFill>
                          <a:latin typeface="Arial"/>
                        </a:defRPr>
                      </a:pPr>
                      <a:r>
                        <a:t>Recorded detail</a:t>
                      </a:r>
                    </a:p>
                  </a:txBody>
                  <a:tcPr marL="82296" marR="82296" marT="64008" marB="64008">
                    <a:solidFill>
                      <a:srgbClr val="16787C"/>
                    </a:solidFill>
                  </a:tcPr>
                </a:tc>
              </a:tr>
            </a:tbl>
          </a:graphicData>
        </a:graphic>
      </p:graphicFrame>
      <p:graphicFrame>
        <p:nvGraphicFramePr>
          <p:cNvPr id="7" name="Table 6"/>
          <p:cNvGraphicFramePr>
            <a:graphicFrameLocks noGrp="1"/>
          </p:cNvGraphicFramePr>
          <p:nvPr/>
        </p:nvGraphicFramePr>
        <p:xfrm>
          <a:off x="365760" y="1700784"/>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Finding</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Leaning synthetic</a:t>
                      </a:r>
                    </a:p>
                  </a:txBody>
                  <a:tcPr marL="82296" marR="82296" marT="64008" marB="64008">
                    <a:solidFill>
                      <a:srgbClr val="F1F7F7"/>
                    </a:solidFill>
                  </a:tcPr>
                </a:tc>
              </a:tr>
            </a:tbl>
          </a:graphicData>
        </a:graphic>
      </p:graphicFrame>
      <p:graphicFrame>
        <p:nvGraphicFramePr>
          <p:cNvPr id="8" name="Table 7"/>
          <p:cNvGraphicFramePr>
            <a:graphicFrameLocks noGrp="1"/>
          </p:cNvGraphicFramePr>
          <p:nvPr/>
        </p:nvGraphicFramePr>
        <p:xfrm>
          <a:off x="365760" y="2050288"/>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Recorded verdict</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synthetic likely</a:t>
                      </a:r>
                    </a:p>
                  </a:txBody>
                  <a:tcPr marL="82296" marR="82296" marT="64008" marB="64008">
                    <a:solidFill>
                      <a:srgbClr val="FFFFFF"/>
                    </a:solidFill>
                  </a:tcPr>
                </a:tc>
              </a:tr>
            </a:tbl>
          </a:graphicData>
        </a:graphic>
      </p:graphicFrame>
      <p:graphicFrame>
        <p:nvGraphicFramePr>
          <p:cNvPr id="9" name="Table 8"/>
          <p:cNvGraphicFramePr>
            <a:graphicFrameLocks noGrp="1"/>
          </p:cNvGraphicFramePr>
          <p:nvPr/>
        </p:nvGraphicFramePr>
        <p:xfrm>
          <a:off x="365760" y="2399792"/>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Confidence</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high</a:t>
                      </a:r>
                    </a:p>
                  </a:txBody>
                  <a:tcPr marL="82296" marR="82296" marT="64008" marB="64008">
                    <a:solidFill>
                      <a:srgbClr val="F1F7F7"/>
                    </a:solidFill>
                  </a:tcPr>
                </a:tc>
              </a:tr>
            </a:tbl>
          </a:graphicData>
        </a:graphic>
      </p:graphicFrame>
      <p:graphicFrame>
        <p:nvGraphicFramePr>
          <p:cNvPr id="10" name="Table 9"/>
          <p:cNvGraphicFramePr>
            <a:graphicFrameLocks noGrp="1"/>
          </p:cNvGraphicFramePr>
          <p:nvPr/>
        </p:nvGraphicFramePr>
        <p:xfrm>
          <a:off x="365760" y="2749296"/>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Indicative rating</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93/100</a:t>
                      </a:r>
                    </a:p>
                  </a:txBody>
                  <a:tcPr marL="82296" marR="82296" marT="64008" marB="64008">
                    <a:solidFill>
                      <a:srgbClr val="FFFFFF"/>
                    </a:solidFill>
                  </a:tcPr>
                </a:tc>
              </a:tr>
            </a:tbl>
          </a:graphicData>
        </a:graphic>
      </p:graphicFrame>
      <p:graphicFrame>
        <p:nvGraphicFramePr>
          <p:cNvPr id="11" name="Table 10"/>
          <p:cNvGraphicFramePr>
            <a:graphicFrameLocks noGrp="1"/>
          </p:cNvGraphicFramePr>
          <p:nvPr/>
        </p:nvGraphicFramePr>
        <p:xfrm>
          <a:off x="365760" y="3098800"/>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Rating basis</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median of available model ratings; not a calibrated probability</a:t>
                      </a:r>
                    </a:p>
                  </a:txBody>
                  <a:tcPr marL="82296" marR="82296" marT="64008" marB="64008">
                    <a:solidFill>
                      <a:srgbClr val="F1F7F7"/>
                    </a:solidFill>
                  </a:tcPr>
                </a:tc>
              </a:tr>
            </a:tbl>
          </a:graphicData>
        </a:graphic>
      </p:graphicFrame>
      <p:graphicFrame>
        <p:nvGraphicFramePr>
          <p:cNvPr id="12" name="Table 11"/>
          <p:cNvGraphicFramePr>
            <a:graphicFrameLocks noGrp="1"/>
          </p:cNvGraphicFramePr>
          <p:nvPr/>
        </p:nvGraphicFramePr>
        <p:xfrm>
          <a:off x="365760" y="3448304"/>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Explanation</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3 models agree this is likely synthetic.</a:t>
                      </a:r>
                    </a:p>
                  </a:txBody>
                  <a:tcPr marL="82296" marR="82296" marT="64008" marB="64008">
                    <a:solidFill>
                      <a:srgbClr val="FFFFFF"/>
                    </a:solidFill>
                  </a:tcPr>
                </a:tc>
              </a:tr>
            </a:tbl>
          </a:graphicData>
        </a:graphic>
      </p:graphicFrame>
      <p:graphicFrame>
        <p:nvGraphicFramePr>
          <p:cNvPr id="13" name="Table 12"/>
          <p:cNvGraphicFramePr>
            <a:graphicFrameLocks noGrp="1"/>
          </p:cNvGraphicFramePr>
          <p:nvPr/>
        </p:nvGraphicFramePr>
        <p:xfrm>
          <a:off x="365760" y="3797808"/>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Coverage</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image - 1 frame(s) analysed</a:t>
                      </a:r>
                    </a:p>
                  </a:txBody>
                  <a:tcPr marL="82296" marR="82296" marT="64008" marB="64008">
                    <a:solidFill>
                      <a:srgbClr val="F1F7F7"/>
                    </a:solidFill>
                  </a:tcPr>
                </a:tc>
              </a:tr>
            </a:tbl>
          </a:graphicData>
        </a:graphic>
      </p:graphicFrame>
      <p:graphicFrame>
        <p:nvGraphicFramePr>
          <p:cNvPr id="14" name="Table 13"/>
          <p:cNvGraphicFramePr>
            <a:graphicFrameLocks noGrp="1"/>
          </p:cNvGraphicFramePr>
          <p:nvPr/>
        </p:nvGraphicFramePr>
        <p:xfrm>
          <a:off x="365760" y="4147312"/>
          <a:ext cx="8412479" cy="755904"/>
        </p:xfrm>
        <a:graphic>
          <a:graphicData uri="http://schemas.openxmlformats.org/drawingml/2006/table">
            <a:tbl>
              <a:tblPr firstRow="1" bandRow="1">
                <a:tableStyleId>{5C22544A-7EE6-4342-B048-85BDC9FD1C3A}</a:tableStyleId>
              </a:tblPr>
              <a:tblGrid>
                <a:gridCol w="2271369"/>
                <a:gridCol w="6141110"/>
              </a:tblGrid>
              <a:tr h="755904">
                <a:tc>
                  <a:txBody>
                    <a:bodyPr wrap="none"/>
                    <a:lstStyle/>
                    <a:p>
                      <a:pPr>
                        <a:lnSpc>
                          <a:spcPts val="1600"/>
                        </a:lnSpc>
                        <a:spcAft>
                          <a:spcPts val="0"/>
                        </a:spcAft>
                        <a:defRPr sz="1200" b="0">
                          <a:solidFill>
                            <a:srgbClr val="21243A"/>
                          </a:solidFill>
                          <a:latin typeface="Arial"/>
                        </a:defRPr>
                      </a:pPr>
                      <a:r>
                        <a:t>Review context</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Research assessment. Review alongside source information and context. When</a:t>
                      </a:r>
                    </a:p>
                    <a:p>
                      <a:pPr>
                        <a:lnSpc>
                          <a:spcPts val="1600"/>
                        </a:lnSpc>
                        <a:spcAft>
                          <a:spcPts val="0"/>
                        </a:spcAft>
                        <a:defRPr sz="1200" b="0">
                          <a:solidFill>
                            <a:srgbClr val="21243A"/>
                          </a:solidFill>
                          <a:latin typeface="Arial"/>
                        </a:defRPr>
                      </a:pPr>
                      <a:r>
                        <a:t>credentials are missing, origin remains unresolved by this check. Use these</a:t>
                      </a:r>
                    </a:p>
                    <a:p>
                      <a:pPr>
                        <a:lnSpc>
                          <a:spcPts val="1600"/>
                        </a:lnSpc>
                        <a:spcAft>
                          <a:spcPts val="0"/>
                        </a:spcAft>
                        <a:defRPr sz="1200" b="0">
                          <a:solidFill>
                            <a:srgbClr val="21243A"/>
                          </a:solidFill>
                          <a:latin typeface="Arial"/>
                        </a:defRPr>
                      </a:pPr>
                      <a:r>
                        <a:t>findings to inform a documented human review.</a:t>
                      </a:r>
                    </a:p>
                  </a:txBody>
                  <a:tcPr marL="82296" marR="82296" marT="64008" marB="6400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412480" cy="228600"/>
          </a:xfrm>
          <a:prstGeom prst="rect">
            <a:avLst/>
          </a:prstGeom>
          <a:noFill/>
        </p:spPr>
        <p:txBody>
          <a:bodyPr wrap="square" lIns="0" rIns="0" tIns="0" bIns="0">
            <a:spAutoFit/>
          </a:bodyPr>
          <a:lstStyle/>
          <a:p>
            <a:pPr>
              <a:lnSpc>
                <a:spcPct val="115000"/>
              </a:lnSpc>
              <a:spcAft>
                <a:spcPts val="0"/>
              </a:spcAft>
              <a:defRPr sz="1100" b="1">
                <a:solidFill>
                  <a:srgbClr val="C5006A"/>
                </a:solidFill>
                <a:latin typeface="Arial"/>
              </a:defRPr>
            </a:pPr>
            <a:r>
              <a:t>SDA VISION / RESEARCH REPORT</a:t>
            </a:r>
          </a:p>
        </p:txBody>
      </p:sp>
      <p:sp>
        <p:nvSpPr>
          <p:cNvPr id="3" name="TextBox 2"/>
          <p:cNvSpPr txBox="1"/>
          <p:nvPr/>
        </p:nvSpPr>
        <p:spPr>
          <a:xfrm>
            <a:off x="365760" y="658368"/>
            <a:ext cx="8412480" cy="612648"/>
          </a:xfrm>
          <a:prstGeom prst="rect">
            <a:avLst/>
          </a:prstGeom>
          <a:noFill/>
        </p:spPr>
        <p:txBody>
          <a:bodyPr wrap="square" lIns="0" rIns="0" tIns="0" bIns="0">
            <a:spAutoFit/>
          </a:bodyPr>
          <a:lstStyle/>
          <a:p>
            <a:pPr>
              <a:lnSpc>
                <a:spcPct val="115000"/>
              </a:lnSpc>
              <a:spcAft>
                <a:spcPts val="0"/>
              </a:spcAft>
              <a:defRPr sz="2200" b="1">
                <a:solidFill>
                  <a:srgbClr val="21243A"/>
                </a:solidFill>
                <a:latin typeface="Arial"/>
              </a:defRPr>
            </a:pPr>
            <a:r>
              <a:t>Provider overview</a:t>
            </a:r>
          </a:p>
        </p:txBody>
      </p:sp>
      <p:sp>
        <p:nvSpPr>
          <p:cNvPr id="4" name="TextBox 3"/>
          <p:cNvSpPr txBox="1"/>
          <p:nvPr/>
        </p:nvSpPr>
        <p:spPr>
          <a:xfrm>
            <a:off x="365760" y="6291072"/>
            <a:ext cx="8001000" cy="365760"/>
          </a:xfrm>
          <a:prstGeom prst="rect">
            <a:avLst/>
          </a:prstGeom>
          <a:noFill/>
        </p:spPr>
        <p:txBody>
          <a:bodyPr wrap="square" lIns="0" rIns="0" tIns="0" bIns="0">
            <a:spAutoFit/>
          </a:bodyPr>
          <a:lstStyle/>
          <a:p>
            <a:pPr>
              <a:lnSpc>
                <a:spcPct val="115000"/>
              </a:lnSpc>
              <a:spcAft>
                <a:spcPts val="0"/>
              </a:spcAft>
              <a:defRPr sz="800" b="0">
                <a:solidFill>
                  <a:srgbClr val="545B6D"/>
                </a:solidFill>
                <a:latin typeface="Arial"/>
              </a:defRPr>
            </a:pPr>
            <a:r>
              <a:t>Research assessment. Ratings are not calibrated probabilities.</a:t>
            </a:r>
          </a:p>
        </p:txBody>
      </p:sp>
      <p:sp>
        <p:nvSpPr>
          <p:cNvPr id="5" name="TextBox 4"/>
          <p:cNvSpPr txBox="1"/>
          <p:nvPr/>
        </p:nvSpPr>
        <p:spPr>
          <a:xfrm>
            <a:off x="8394192" y="6318504"/>
            <a:ext cx="365760" cy="228600"/>
          </a:xfrm>
          <a:prstGeom prst="rect">
            <a:avLst/>
          </a:prstGeom>
          <a:noFill/>
        </p:spPr>
        <p:txBody>
          <a:bodyPr wrap="square" lIns="0" rIns="0" tIns="0" bIns="0">
            <a:spAutoFit/>
          </a:bodyPr>
          <a:lstStyle/>
          <a:p>
            <a:pPr>
              <a:lnSpc>
                <a:spcPct val="115000"/>
              </a:lnSpc>
              <a:spcAft>
                <a:spcPts val="0"/>
              </a:spcAft>
              <a:defRPr sz="900" b="0">
                <a:solidFill>
                  <a:srgbClr val="545B6D"/>
                </a:solidFill>
                <a:latin typeface="Arial"/>
              </a:defRPr>
            </a:pPr>
            <a:r>
              <a:t>3</a:t>
            </a:r>
          </a:p>
        </p:txBody>
      </p:sp>
      <p:graphicFrame>
        <p:nvGraphicFramePr>
          <p:cNvPr id="6" name="Table 5"/>
          <p:cNvGraphicFramePr>
            <a:graphicFrameLocks noGrp="1"/>
          </p:cNvGraphicFramePr>
          <p:nvPr/>
        </p:nvGraphicFramePr>
        <p:xfrm>
          <a:off x="365760" y="1353312"/>
          <a:ext cx="8412478" cy="347472"/>
        </p:xfrm>
        <a:graphic>
          <a:graphicData uri="http://schemas.openxmlformats.org/drawingml/2006/table">
            <a:tbl>
              <a:tblPr firstRow="1" bandRow="1">
                <a:tableStyleId>{5C22544A-7EE6-4342-B048-85BDC9FD1C3A}</a:tableStyleId>
              </a:tblPr>
              <a:tblGrid>
                <a:gridCol w="2691993"/>
                <a:gridCol w="1850745"/>
                <a:gridCol w="2523744"/>
                <a:gridCol w="1345996"/>
              </a:tblGrid>
              <a:tr h="347472">
                <a:tc>
                  <a:txBody>
                    <a:bodyPr wrap="none"/>
                    <a:lstStyle/>
                    <a:p>
                      <a:pPr>
                        <a:lnSpc>
                          <a:spcPts val="1600"/>
                        </a:lnSpc>
                        <a:spcAft>
                          <a:spcPts val="0"/>
                        </a:spcAft>
                        <a:defRPr sz="1200" b="1">
                          <a:solidFill>
                            <a:srgbClr val="FFFFFF"/>
                          </a:solidFill>
                          <a:latin typeface="Arial"/>
                        </a:defRPr>
                      </a:pPr>
                      <a:r>
                        <a:t>Provider</a:t>
                      </a:r>
                    </a:p>
                  </a:txBody>
                  <a:tcPr marL="82296" marR="82296" marT="64008" marB="64008">
                    <a:solidFill>
                      <a:srgbClr val="16787C"/>
                    </a:solidFill>
                  </a:tcPr>
                </a:tc>
                <a:tc>
                  <a:txBody>
                    <a:bodyPr wrap="none"/>
                    <a:lstStyle/>
                    <a:p>
                      <a:pPr>
                        <a:lnSpc>
                          <a:spcPts val="1600"/>
                        </a:lnSpc>
                        <a:spcAft>
                          <a:spcPts val="0"/>
                        </a:spcAft>
                        <a:defRPr sz="1200" b="1">
                          <a:solidFill>
                            <a:srgbClr val="FFFFFF"/>
                          </a:solidFill>
                          <a:latin typeface="Arial"/>
                        </a:defRPr>
                      </a:pPr>
                      <a:r>
                        <a:t>Type / status</a:t>
                      </a:r>
                    </a:p>
                  </a:txBody>
                  <a:tcPr marL="82296" marR="82296" marT="64008" marB="64008">
                    <a:solidFill>
                      <a:srgbClr val="16787C"/>
                    </a:solidFill>
                  </a:tcPr>
                </a:tc>
                <a:tc>
                  <a:txBody>
                    <a:bodyPr wrap="none"/>
                    <a:lstStyle/>
                    <a:p>
                      <a:pPr>
                        <a:lnSpc>
                          <a:spcPts val="1600"/>
                        </a:lnSpc>
                        <a:spcAft>
                          <a:spcPts val="0"/>
                        </a:spcAft>
                        <a:defRPr sz="1200" b="1">
                          <a:solidFill>
                            <a:srgbClr val="FFFFFF"/>
                          </a:solidFill>
                          <a:latin typeface="Arial"/>
                        </a:defRPr>
                      </a:pPr>
                      <a:r>
                        <a:t>Assessment</a:t>
                      </a:r>
                    </a:p>
                  </a:txBody>
                  <a:tcPr marL="82296" marR="82296" marT="64008" marB="64008">
                    <a:solidFill>
                      <a:srgbClr val="16787C"/>
                    </a:solidFill>
                  </a:tcPr>
                </a:tc>
                <a:tc>
                  <a:txBody>
                    <a:bodyPr wrap="none"/>
                    <a:lstStyle/>
                    <a:p>
                      <a:pPr>
                        <a:lnSpc>
                          <a:spcPts val="1600"/>
                        </a:lnSpc>
                        <a:spcAft>
                          <a:spcPts val="0"/>
                        </a:spcAft>
                        <a:defRPr sz="1200" b="1">
                          <a:solidFill>
                            <a:srgbClr val="FFFFFF"/>
                          </a:solidFill>
                          <a:latin typeface="Arial"/>
                        </a:defRPr>
                      </a:pPr>
                      <a:r>
                        <a:t>Rating</a:t>
                      </a:r>
                    </a:p>
                  </a:txBody>
                  <a:tcPr marL="82296" marR="82296" marT="64008" marB="64008">
                    <a:solidFill>
                      <a:srgbClr val="16787C"/>
                    </a:solidFill>
                  </a:tcPr>
                </a:tc>
              </a:tr>
            </a:tbl>
          </a:graphicData>
        </a:graphic>
      </p:graphicFrame>
      <p:graphicFrame>
        <p:nvGraphicFramePr>
          <p:cNvPr id="7" name="Table 6"/>
          <p:cNvGraphicFramePr>
            <a:graphicFrameLocks noGrp="1"/>
          </p:cNvGraphicFramePr>
          <p:nvPr/>
        </p:nvGraphicFramePr>
        <p:xfrm>
          <a:off x="365760" y="1700784"/>
          <a:ext cx="8412478" cy="349504"/>
        </p:xfrm>
        <a:graphic>
          <a:graphicData uri="http://schemas.openxmlformats.org/drawingml/2006/table">
            <a:tbl>
              <a:tblPr firstRow="1" bandRow="1">
                <a:tableStyleId>{5C22544A-7EE6-4342-B048-85BDC9FD1C3A}</a:tableStyleId>
              </a:tblPr>
              <a:tblGrid>
                <a:gridCol w="2691993"/>
                <a:gridCol w="1850745"/>
                <a:gridCol w="2523744"/>
                <a:gridCol w="1345996"/>
              </a:tblGrid>
              <a:tr h="349504">
                <a:tc>
                  <a:txBody>
                    <a:bodyPr wrap="none"/>
                    <a:lstStyle/>
                    <a:p>
                      <a:pPr>
                        <a:lnSpc>
                          <a:spcPts val="1600"/>
                        </a:lnSpc>
                        <a:spcAft>
                          <a:spcPts val="0"/>
                        </a:spcAft>
                        <a:defRPr sz="1200" b="0">
                          <a:solidFill>
                            <a:srgbClr val="21243A"/>
                          </a:solidFill>
                          <a:latin typeface="Arial"/>
                        </a:defRPr>
                      </a:pPr>
                      <a:r>
                        <a:t>Claude Vision</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vision / ok</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synthetic likely</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93/100</a:t>
                      </a:r>
                    </a:p>
                  </a:txBody>
                  <a:tcPr marL="82296" marR="82296" marT="64008" marB="64008">
                    <a:solidFill>
                      <a:srgbClr val="F1F7F7"/>
                    </a:solidFill>
                  </a:tcPr>
                </a:tc>
              </a:tr>
            </a:tbl>
          </a:graphicData>
        </a:graphic>
      </p:graphicFrame>
      <p:graphicFrame>
        <p:nvGraphicFramePr>
          <p:cNvPr id="8" name="Table 7"/>
          <p:cNvGraphicFramePr>
            <a:graphicFrameLocks noGrp="1"/>
          </p:cNvGraphicFramePr>
          <p:nvPr/>
        </p:nvGraphicFramePr>
        <p:xfrm>
          <a:off x="365760" y="2050288"/>
          <a:ext cx="8412478" cy="349504"/>
        </p:xfrm>
        <a:graphic>
          <a:graphicData uri="http://schemas.openxmlformats.org/drawingml/2006/table">
            <a:tbl>
              <a:tblPr firstRow="1" bandRow="1">
                <a:tableStyleId>{5C22544A-7EE6-4342-B048-85BDC9FD1C3A}</a:tableStyleId>
              </a:tblPr>
              <a:tblGrid>
                <a:gridCol w="2691993"/>
                <a:gridCol w="1850745"/>
                <a:gridCol w="2523744"/>
                <a:gridCol w="1345996"/>
              </a:tblGrid>
              <a:tr h="349504">
                <a:tc>
                  <a:txBody>
                    <a:bodyPr wrap="none"/>
                    <a:lstStyle/>
                    <a:p>
                      <a:pPr>
                        <a:lnSpc>
                          <a:spcPts val="1600"/>
                        </a:lnSpc>
                        <a:spcAft>
                          <a:spcPts val="0"/>
                        </a:spcAft>
                        <a:defRPr sz="1200" b="0">
                          <a:solidFill>
                            <a:srgbClr val="21243A"/>
                          </a:solidFill>
                          <a:latin typeface="Arial"/>
                        </a:defRPr>
                      </a:pPr>
                      <a:r>
                        <a:t>OpenAI Vision</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vision / ok</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synthetic likely</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94/100</a:t>
                      </a:r>
                    </a:p>
                  </a:txBody>
                  <a:tcPr marL="82296" marR="82296" marT="64008" marB="64008">
                    <a:solidFill>
                      <a:srgbClr val="FFFFFF"/>
                    </a:solidFill>
                  </a:tcPr>
                </a:tc>
              </a:tr>
            </a:tbl>
          </a:graphicData>
        </a:graphic>
      </p:graphicFrame>
      <p:graphicFrame>
        <p:nvGraphicFramePr>
          <p:cNvPr id="9" name="Table 8"/>
          <p:cNvGraphicFramePr>
            <a:graphicFrameLocks noGrp="1"/>
          </p:cNvGraphicFramePr>
          <p:nvPr/>
        </p:nvGraphicFramePr>
        <p:xfrm>
          <a:off x="365760" y="2399792"/>
          <a:ext cx="8412478" cy="349504"/>
        </p:xfrm>
        <a:graphic>
          <a:graphicData uri="http://schemas.openxmlformats.org/drawingml/2006/table">
            <a:tbl>
              <a:tblPr firstRow="1" bandRow="1">
                <a:tableStyleId>{5C22544A-7EE6-4342-B048-85BDC9FD1C3A}</a:tableStyleId>
              </a:tblPr>
              <a:tblGrid>
                <a:gridCol w="2691993"/>
                <a:gridCol w="1850745"/>
                <a:gridCol w="2523744"/>
                <a:gridCol w="1345996"/>
              </a:tblGrid>
              <a:tr h="349504">
                <a:tc>
                  <a:txBody>
                    <a:bodyPr wrap="none"/>
                    <a:lstStyle/>
                    <a:p>
                      <a:pPr>
                        <a:lnSpc>
                          <a:spcPts val="1600"/>
                        </a:lnSpc>
                        <a:spcAft>
                          <a:spcPts val="0"/>
                        </a:spcAft>
                        <a:defRPr sz="1200" b="0">
                          <a:solidFill>
                            <a:srgbClr val="21243A"/>
                          </a:solidFill>
                          <a:latin typeface="Arial"/>
                        </a:defRPr>
                      </a:pPr>
                      <a:r>
                        <a:t>Gemini Vision</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vision / ok</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synthetic likely</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82/100</a:t>
                      </a:r>
                    </a:p>
                  </a:txBody>
                  <a:tcPr marL="82296" marR="82296" marT="64008" marB="64008">
                    <a:solidFill>
                      <a:srgbClr val="F1F7F7"/>
                    </a:solidFill>
                  </a:tcPr>
                </a:tc>
              </a:tr>
            </a:tbl>
          </a:graphicData>
        </a:graphic>
      </p:graphicFrame>
      <p:graphicFrame>
        <p:nvGraphicFramePr>
          <p:cNvPr id="10" name="Table 9"/>
          <p:cNvGraphicFramePr>
            <a:graphicFrameLocks noGrp="1"/>
          </p:cNvGraphicFramePr>
          <p:nvPr/>
        </p:nvGraphicFramePr>
        <p:xfrm>
          <a:off x="365760" y="2749296"/>
          <a:ext cx="8412478" cy="349504"/>
        </p:xfrm>
        <a:graphic>
          <a:graphicData uri="http://schemas.openxmlformats.org/drawingml/2006/table">
            <a:tbl>
              <a:tblPr firstRow="1" bandRow="1">
                <a:tableStyleId>{5C22544A-7EE6-4342-B048-85BDC9FD1C3A}</a:tableStyleId>
              </a:tblPr>
              <a:tblGrid>
                <a:gridCol w="2691993"/>
                <a:gridCol w="1850745"/>
                <a:gridCol w="2523744"/>
                <a:gridCol w="1345996"/>
              </a:tblGrid>
              <a:tr h="349504">
                <a:tc>
                  <a:txBody>
                    <a:bodyPr wrap="none"/>
                    <a:lstStyle/>
                    <a:p>
                      <a:pPr>
                        <a:lnSpc>
                          <a:spcPts val="1600"/>
                        </a:lnSpc>
                        <a:spcAft>
                          <a:spcPts val="0"/>
                        </a:spcAft>
                        <a:defRPr sz="1200" b="0">
                          <a:solidFill>
                            <a:srgbClr val="21243A"/>
                          </a:solidFill>
                          <a:latin typeface="Arial"/>
                        </a:defRPr>
                      </a:pPr>
                      <a:r>
                        <a:t>C2PA Content Credentials</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provenance / ok</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inconclusive</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n/a</a:t>
                      </a:r>
                    </a:p>
                  </a:txBody>
                  <a:tcPr marL="82296" marR="82296" marT="64008" marB="64008">
                    <a:solidFill>
                      <a:srgbClr val="FFFFFF"/>
                    </a:solidFill>
                  </a:tcPr>
                </a:tc>
              </a:tr>
            </a:tbl>
          </a:graphicData>
        </a:graphic>
      </p:graphicFrame>
      <p:graphicFrame>
        <p:nvGraphicFramePr>
          <p:cNvPr id="11" name="Table 10"/>
          <p:cNvGraphicFramePr>
            <a:graphicFrameLocks noGrp="1"/>
          </p:cNvGraphicFramePr>
          <p:nvPr/>
        </p:nvGraphicFramePr>
        <p:xfrm>
          <a:off x="365760" y="3098800"/>
          <a:ext cx="8412478" cy="349504"/>
        </p:xfrm>
        <a:graphic>
          <a:graphicData uri="http://schemas.openxmlformats.org/drawingml/2006/table">
            <a:tbl>
              <a:tblPr firstRow="1" bandRow="1">
                <a:tableStyleId>{5C22544A-7EE6-4342-B048-85BDC9FD1C3A}</a:tableStyleId>
              </a:tblPr>
              <a:tblGrid>
                <a:gridCol w="2691993"/>
                <a:gridCol w="1850745"/>
                <a:gridCol w="2523744"/>
                <a:gridCol w="1345996"/>
              </a:tblGrid>
              <a:tr h="349504">
                <a:tc>
                  <a:txBody>
                    <a:bodyPr wrap="none"/>
                    <a:lstStyle/>
                    <a:p>
                      <a:pPr>
                        <a:lnSpc>
                          <a:spcPts val="1600"/>
                        </a:lnSpc>
                        <a:spcAft>
                          <a:spcPts val="0"/>
                        </a:spcAft>
                        <a:defRPr sz="1200" b="0">
                          <a:solidFill>
                            <a:srgbClr val="21243A"/>
                          </a:solidFill>
                          <a:latin typeface="Arial"/>
                        </a:defRPr>
                      </a:pPr>
                      <a:r>
                        <a:t>Local forensic cues</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forensic / ok</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partially synthetic</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41/100</a:t>
                      </a:r>
                    </a:p>
                  </a:txBody>
                  <a:tcPr marL="82296" marR="82296" marT="64008" marB="64008">
                    <a:solidFill>
                      <a:srgbClr val="F1F7F7"/>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412480" cy="228600"/>
          </a:xfrm>
          <a:prstGeom prst="rect">
            <a:avLst/>
          </a:prstGeom>
          <a:noFill/>
        </p:spPr>
        <p:txBody>
          <a:bodyPr wrap="square" lIns="0" rIns="0" tIns="0" bIns="0">
            <a:spAutoFit/>
          </a:bodyPr>
          <a:lstStyle/>
          <a:p>
            <a:pPr>
              <a:lnSpc>
                <a:spcPct val="115000"/>
              </a:lnSpc>
              <a:spcAft>
                <a:spcPts val="0"/>
              </a:spcAft>
              <a:defRPr sz="1100" b="1">
                <a:solidFill>
                  <a:srgbClr val="C5006A"/>
                </a:solidFill>
                <a:latin typeface="Arial"/>
              </a:defRPr>
            </a:pPr>
            <a:r>
              <a:t>SDA VISION / RESEARCH REPORT</a:t>
            </a:r>
          </a:p>
        </p:txBody>
      </p:sp>
      <p:sp>
        <p:nvSpPr>
          <p:cNvPr id="3" name="TextBox 2"/>
          <p:cNvSpPr txBox="1"/>
          <p:nvPr/>
        </p:nvSpPr>
        <p:spPr>
          <a:xfrm>
            <a:off x="365760" y="658368"/>
            <a:ext cx="8412480" cy="612648"/>
          </a:xfrm>
          <a:prstGeom prst="rect">
            <a:avLst/>
          </a:prstGeom>
          <a:noFill/>
        </p:spPr>
        <p:txBody>
          <a:bodyPr wrap="square" lIns="0" rIns="0" tIns="0" bIns="0">
            <a:spAutoFit/>
          </a:bodyPr>
          <a:lstStyle/>
          <a:p>
            <a:pPr>
              <a:lnSpc>
                <a:spcPct val="115000"/>
              </a:lnSpc>
              <a:spcAft>
                <a:spcPts val="0"/>
              </a:spcAft>
              <a:defRPr sz="2200" b="1">
                <a:solidFill>
                  <a:srgbClr val="21243A"/>
                </a:solidFill>
                <a:latin typeface="Arial"/>
              </a:defRPr>
            </a:pPr>
            <a:r>
              <a:t>Provider evidence / 1</a:t>
            </a:r>
          </a:p>
        </p:txBody>
      </p:sp>
      <p:sp>
        <p:nvSpPr>
          <p:cNvPr id="4" name="TextBox 3"/>
          <p:cNvSpPr txBox="1"/>
          <p:nvPr/>
        </p:nvSpPr>
        <p:spPr>
          <a:xfrm>
            <a:off x="365760" y="6291072"/>
            <a:ext cx="8001000" cy="365760"/>
          </a:xfrm>
          <a:prstGeom prst="rect">
            <a:avLst/>
          </a:prstGeom>
          <a:noFill/>
        </p:spPr>
        <p:txBody>
          <a:bodyPr wrap="square" lIns="0" rIns="0" tIns="0" bIns="0">
            <a:spAutoFit/>
          </a:bodyPr>
          <a:lstStyle/>
          <a:p>
            <a:pPr>
              <a:lnSpc>
                <a:spcPct val="115000"/>
              </a:lnSpc>
              <a:spcAft>
                <a:spcPts val="0"/>
              </a:spcAft>
              <a:defRPr sz="800" b="0">
                <a:solidFill>
                  <a:srgbClr val="545B6D"/>
                </a:solidFill>
                <a:latin typeface="Arial"/>
              </a:defRPr>
            </a:pPr>
            <a:r>
              <a:t>Research assessment. Ratings are not calibrated probabilities.</a:t>
            </a:r>
          </a:p>
        </p:txBody>
      </p:sp>
      <p:sp>
        <p:nvSpPr>
          <p:cNvPr id="5" name="TextBox 4"/>
          <p:cNvSpPr txBox="1"/>
          <p:nvPr/>
        </p:nvSpPr>
        <p:spPr>
          <a:xfrm>
            <a:off x="8394192" y="6318504"/>
            <a:ext cx="365760" cy="228600"/>
          </a:xfrm>
          <a:prstGeom prst="rect">
            <a:avLst/>
          </a:prstGeom>
          <a:noFill/>
        </p:spPr>
        <p:txBody>
          <a:bodyPr wrap="square" lIns="0" rIns="0" tIns="0" bIns="0">
            <a:spAutoFit/>
          </a:bodyPr>
          <a:lstStyle/>
          <a:p>
            <a:pPr>
              <a:lnSpc>
                <a:spcPct val="115000"/>
              </a:lnSpc>
              <a:spcAft>
                <a:spcPts val="0"/>
              </a:spcAft>
              <a:defRPr sz="900" b="0">
                <a:solidFill>
                  <a:srgbClr val="545B6D"/>
                </a:solidFill>
                <a:latin typeface="Arial"/>
              </a:defRPr>
            </a:pPr>
            <a:r>
              <a:t>4</a:t>
            </a:r>
          </a:p>
        </p:txBody>
      </p:sp>
      <p:graphicFrame>
        <p:nvGraphicFramePr>
          <p:cNvPr id="6" name="Table 5"/>
          <p:cNvGraphicFramePr>
            <a:graphicFrameLocks noGrp="1"/>
          </p:cNvGraphicFramePr>
          <p:nvPr/>
        </p:nvGraphicFramePr>
        <p:xfrm>
          <a:off x="365760" y="1353312"/>
          <a:ext cx="8412479" cy="347472"/>
        </p:xfrm>
        <a:graphic>
          <a:graphicData uri="http://schemas.openxmlformats.org/drawingml/2006/table">
            <a:tbl>
              <a:tblPr firstRow="1" bandRow="1">
                <a:tableStyleId>{5C22544A-7EE6-4342-B048-85BDC9FD1C3A}</a:tableStyleId>
              </a:tblPr>
              <a:tblGrid>
                <a:gridCol w="2271369"/>
                <a:gridCol w="6141110"/>
              </a:tblGrid>
              <a:tr h="347472">
                <a:tc>
                  <a:txBody>
                    <a:bodyPr wrap="none"/>
                    <a:lstStyle/>
                    <a:p>
                      <a:pPr>
                        <a:lnSpc>
                          <a:spcPts val="1600"/>
                        </a:lnSpc>
                        <a:spcAft>
                          <a:spcPts val="0"/>
                        </a:spcAft>
                        <a:defRPr sz="1200" b="1">
                          <a:solidFill>
                            <a:srgbClr val="FFFFFF"/>
                          </a:solidFill>
                          <a:latin typeface="Arial"/>
                        </a:defRPr>
                      </a:pPr>
                      <a:r>
                        <a:t>Field</a:t>
                      </a:r>
                    </a:p>
                  </a:txBody>
                  <a:tcPr marL="82296" marR="82296" marT="64008" marB="64008">
                    <a:solidFill>
                      <a:srgbClr val="16787C"/>
                    </a:solidFill>
                  </a:tcPr>
                </a:tc>
                <a:tc>
                  <a:txBody>
                    <a:bodyPr wrap="none"/>
                    <a:lstStyle/>
                    <a:p>
                      <a:pPr>
                        <a:lnSpc>
                          <a:spcPts val="1600"/>
                        </a:lnSpc>
                        <a:spcAft>
                          <a:spcPts val="0"/>
                        </a:spcAft>
                        <a:defRPr sz="1200" b="1">
                          <a:solidFill>
                            <a:srgbClr val="FFFFFF"/>
                          </a:solidFill>
                          <a:latin typeface="Arial"/>
                        </a:defRPr>
                      </a:pPr>
                      <a:r>
                        <a:t>Recorded detail</a:t>
                      </a:r>
                    </a:p>
                  </a:txBody>
                  <a:tcPr marL="82296" marR="82296" marT="64008" marB="64008">
                    <a:solidFill>
                      <a:srgbClr val="16787C"/>
                    </a:solidFill>
                  </a:tcPr>
                </a:tc>
              </a:tr>
            </a:tbl>
          </a:graphicData>
        </a:graphic>
      </p:graphicFrame>
      <p:graphicFrame>
        <p:nvGraphicFramePr>
          <p:cNvPr id="7" name="Table 6"/>
          <p:cNvGraphicFramePr>
            <a:graphicFrameLocks noGrp="1"/>
          </p:cNvGraphicFramePr>
          <p:nvPr/>
        </p:nvGraphicFramePr>
        <p:xfrm>
          <a:off x="365760" y="1700784"/>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Provider</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Claude Vision</a:t>
                      </a:r>
                    </a:p>
                  </a:txBody>
                  <a:tcPr marL="82296" marR="82296" marT="64008" marB="64008">
                    <a:solidFill>
                      <a:srgbClr val="F1F7F7"/>
                    </a:solidFill>
                  </a:tcPr>
                </a:tc>
              </a:tr>
            </a:tbl>
          </a:graphicData>
        </a:graphic>
      </p:graphicFrame>
      <p:graphicFrame>
        <p:nvGraphicFramePr>
          <p:cNvPr id="8" name="Table 7"/>
          <p:cNvGraphicFramePr>
            <a:graphicFrameLocks noGrp="1"/>
          </p:cNvGraphicFramePr>
          <p:nvPr/>
        </p:nvGraphicFramePr>
        <p:xfrm>
          <a:off x="365760" y="2050288"/>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Model</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claude-opus-5-5</a:t>
                      </a:r>
                    </a:p>
                  </a:txBody>
                  <a:tcPr marL="82296" marR="82296" marT="64008" marB="64008">
                    <a:solidFill>
                      <a:srgbClr val="FFFFFF"/>
                    </a:solidFill>
                  </a:tcPr>
                </a:tc>
              </a:tr>
            </a:tbl>
          </a:graphicData>
        </a:graphic>
      </p:graphicFrame>
      <p:graphicFrame>
        <p:nvGraphicFramePr>
          <p:cNvPr id="9" name="Table 8"/>
          <p:cNvGraphicFramePr>
            <a:graphicFrameLocks noGrp="1"/>
          </p:cNvGraphicFramePr>
          <p:nvPr/>
        </p:nvGraphicFramePr>
        <p:xfrm>
          <a:off x="365760" y="2399792"/>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Status</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ok</a:t>
                      </a:r>
                    </a:p>
                  </a:txBody>
                  <a:tcPr marL="82296" marR="82296" marT="64008" marB="64008">
                    <a:solidFill>
                      <a:srgbClr val="F1F7F7"/>
                    </a:solidFill>
                  </a:tcPr>
                </a:tc>
              </a:tr>
            </a:tbl>
          </a:graphicData>
        </a:graphic>
      </p:graphicFrame>
      <p:graphicFrame>
        <p:nvGraphicFramePr>
          <p:cNvPr id="10" name="Table 9"/>
          <p:cNvGraphicFramePr>
            <a:graphicFrameLocks noGrp="1"/>
          </p:cNvGraphicFramePr>
          <p:nvPr/>
        </p:nvGraphicFramePr>
        <p:xfrm>
          <a:off x="365760" y="2749296"/>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Assessment</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synthetic likely</a:t>
                      </a:r>
                    </a:p>
                  </a:txBody>
                  <a:tcPr marL="82296" marR="82296" marT="64008" marB="64008">
                    <a:solidFill>
                      <a:srgbClr val="FFFFFF"/>
                    </a:solidFill>
                  </a:tcPr>
                </a:tc>
              </a:tr>
            </a:tbl>
          </a:graphicData>
        </a:graphic>
      </p:graphicFrame>
      <p:graphicFrame>
        <p:nvGraphicFramePr>
          <p:cNvPr id="11" name="Table 10"/>
          <p:cNvGraphicFramePr>
            <a:graphicFrameLocks noGrp="1"/>
          </p:cNvGraphicFramePr>
          <p:nvPr/>
        </p:nvGraphicFramePr>
        <p:xfrm>
          <a:off x="365760" y="3098800"/>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Confidence</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high</a:t>
                      </a:r>
                    </a:p>
                  </a:txBody>
                  <a:tcPr marL="82296" marR="82296" marT="64008" marB="64008">
                    <a:solidFill>
                      <a:srgbClr val="F1F7F7"/>
                    </a:solidFill>
                  </a:tcPr>
                </a:tc>
              </a:tr>
            </a:tbl>
          </a:graphicData>
        </a:graphic>
      </p:graphicFrame>
      <p:graphicFrame>
        <p:nvGraphicFramePr>
          <p:cNvPr id="12" name="Table 11"/>
          <p:cNvGraphicFramePr>
            <a:graphicFrameLocks noGrp="1"/>
          </p:cNvGraphicFramePr>
          <p:nvPr/>
        </p:nvGraphicFramePr>
        <p:xfrm>
          <a:off x="365760" y="3448304"/>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Role in assessment</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Supporting</a:t>
                      </a:r>
                    </a:p>
                  </a:txBody>
                  <a:tcPr marL="82296" marR="82296" marT="64008" marB="64008">
                    <a:solidFill>
                      <a:srgbClr val="FFFFFF"/>
                    </a:solidFill>
                  </a:tcPr>
                </a:tc>
              </a:tr>
            </a:tbl>
          </a:graphicData>
        </a:graphic>
      </p:graphicFrame>
      <p:graphicFrame>
        <p:nvGraphicFramePr>
          <p:cNvPr id="13" name="Table 12"/>
          <p:cNvGraphicFramePr>
            <a:graphicFrameLocks noGrp="1"/>
          </p:cNvGraphicFramePr>
          <p:nvPr/>
        </p:nvGraphicFramePr>
        <p:xfrm>
          <a:off x="365760" y="3797808"/>
          <a:ext cx="8412479" cy="1162304"/>
        </p:xfrm>
        <a:graphic>
          <a:graphicData uri="http://schemas.openxmlformats.org/drawingml/2006/table">
            <a:tbl>
              <a:tblPr firstRow="1" bandRow="1">
                <a:tableStyleId>{5C22544A-7EE6-4342-B048-85BDC9FD1C3A}</a:tableStyleId>
              </a:tblPr>
              <a:tblGrid>
                <a:gridCol w="2271369"/>
                <a:gridCol w="6141110"/>
              </a:tblGrid>
              <a:tr h="1162304">
                <a:tc>
                  <a:txBody>
                    <a:bodyPr wrap="none"/>
                    <a:lstStyle/>
                    <a:p>
                      <a:pPr>
                        <a:lnSpc>
                          <a:spcPts val="1600"/>
                        </a:lnSpc>
                        <a:spcAft>
                          <a:spcPts val="0"/>
                        </a:spcAft>
                        <a:defRPr sz="1200" b="0">
                          <a:solidFill>
                            <a:srgbClr val="21243A"/>
                          </a:solidFill>
                          <a:latin typeface="Arial"/>
                        </a:defRPr>
                      </a:pPr>
                      <a:r>
                        <a:t>Provider summary</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synthetic likelihood 93/100; tells: hyper-saturated cinematic orange/teal grading</a:t>
                      </a:r>
                    </a:p>
                    <a:p>
                      <a:pPr>
                        <a:lnSpc>
                          <a:spcPts val="1600"/>
                        </a:lnSpc>
                        <a:spcAft>
                          <a:spcPts val="0"/>
                        </a:spcAft>
                        <a:defRPr sz="1200" b="0">
                          <a:solidFill>
                            <a:srgbClr val="21243A"/>
                          </a:solidFill>
                          <a:latin typeface="Arial"/>
                        </a:defRPr>
                      </a:pPr>
                      <a:r>
                        <a:t>typical of image generators, over-sharpened, uniformly detailed rabbit fur and</a:t>
                      </a:r>
                    </a:p>
                    <a:p>
                      <a:pPr>
                        <a:lnSpc>
                          <a:spcPts val="1600"/>
                        </a:lnSpc>
                        <a:spcAft>
                          <a:spcPts val="0"/>
                        </a:spcAft>
                        <a:defRPr sz="1200" b="0">
                          <a:solidFill>
                            <a:srgbClr val="21243A"/>
                          </a:solidFill>
                          <a:latin typeface="Arial"/>
                        </a:defRPr>
                      </a:pPr>
                      <a:r>
                        <a:t>whiskers with glowing rim light, implausible scale and composition: intact rabbit</a:t>
                      </a:r>
                    </a:p>
                    <a:p>
                      <a:pPr>
                        <a:lnSpc>
                          <a:spcPts val="1600"/>
                        </a:lnSpc>
                        <a:spcAft>
                          <a:spcPts val="0"/>
                        </a:spcAft>
                        <a:defRPr sz="1200" b="0">
                          <a:solidFill>
                            <a:srgbClr val="21243A"/>
                          </a:solidFill>
                          <a:latin typeface="Arial"/>
                        </a:defRPr>
                      </a:pPr>
                      <a:r>
                        <a:t>resting directly on a mass of glossy visceral tissue, organ mass has generic,</a:t>
                      </a:r>
                    </a:p>
                    <a:p>
                      <a:pPr>
                        <a:lnSpc>
                          <a:spcPts val="1600"/>
                        </a:lnSpc>
                        <a:spcAft>
                          <a:spcPts val="0"/>
                        </a:spcAft>
                        <a:defRPr sz="1200" b="0">
                          <a:solidFill>
                            <a:srgbClr val="21243A"/>
                          </a:solidFill>
                          <a:latin typeface="Arial"/>
                        </a:defRPr>
                      </a:pPr>
                      <a:r>
                        <a:t>anatomically incoherent structure with plastic-like specular highlights</a:t>
                      </a:r>
                    </a:p>
                  </a:txBody>
                  <a:tcPr marL="82296" marR="82296" marT="64008" marB="64008">
                    <a:solidFill>
                      <a:srgbClr val="F1F7F7"/>
                    </a:solidFill>
                  </a:tcPr>
                </a:tc>
              </a:tr>
            </a:tbl>
          </a:graphicData>
        </a:graphic>
      </p:graphicFrame>
      <p:graphicFrame>
        <p:nvGraphicFramePr>
          <p:cNvPr id="14" name="Table 13"/>
          <p:cNvGraphicFramePr>
            <a:graphicFrameLocks noGrp="1"/>
          </p:cNvGraphicFramePr>
          <p:nvPr/>
        </p:nvGraphicFramePr>
        <p:xfrm>
          <a:off x="365760" y="4960112"/>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Evidence 1</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Hyper-saturated cinematic orange/teal grading typical of image generators</a:t>
                      </a:r>
                    </a:p>
                  </a:txBody>
                  <a:tcPr marL="82296" marR="82296" marT="64008" marB="64008">
                    <a:solidFill>
                      <a:srgbClr val="FFFFFF"/>
                    </a:solidFill>
                  </a:tcPr>
                </a:tc>
              </a:tr>
            </a:tbl>
          </a:graphicData>
        </a:graphic>
      </p:graphicFrame>
      <p:graphicFrame>
        <p:nvGraphicFramePr>
          <p:cNvPr id="15" name="Table 14"/>
          <p:cNvGraphicFramePr>
            <a:graphicFrameLocks noGrp="1"/>
          </p:cNvGraphicFramePr>
          <p:nvPr/>
        </p:nvGraphicFramePr>
        <p:xfrm>
          <a:off x="365760" y="5309616"/>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Evidence 2</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Over-sharpened, uniformly detailed rabbit fur and whiskers with glowing rim light</a:t>
                      </a:r>
                    </a:p>
                  </a:txBody>
                  <a:tcPr marL="82296" marR="82296" marT="64008" marB="64008">
                    <a:solidFill>
                      <a:srgbClr val="F1F7F7"/>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412480" cy="228600"/>
          </a:xfrm>
          <a:prstGeom prst="rect">
            <a:avLst/>
          </a:prstGeom>
          <a:noFill/>
        </p:spPr>
        <p:txBody>
          <a:bodyPr wrap="square" lIns="0" rIns="0" tIns="0" bIns="0">
            <a:spAutoFit/>
          </a:bodyPr>
          <a:lstStyle/>
          <a:p>
            <a:pPr>
              <a:lnSpc>
                <a:spcPct val="115000"/>
              </a:lnSpc>
              <a:spcAft>
                <a:spcPts val="0"/>
              </a:spcAft>
              <a:defRPr sz="1100" b="1">
                <a:solidFill>
                  <a:srgbClr val="C5006A"/>
                </a:solidFill>
                <a:latin typeface="Arial"/>
              </a:defRPr>
            </a:pPr>
            <a:r>
              <a:t>SDA VISION / RESEARCH REPORT</a:t>
            </a:r>
          </a:p>
        </p:txBody>
      </p:sp>
      <p:sp>
        <p:nvSpPr>
          <p:cNvPr id="3" name="TextBox 2"/>
          <p:cNvSpPr txBox="1"/>
          <p:nvPr/>
        </p:nvSpPr>
        <p:spPr>
          <a:xfrm>
            <a:off x="365760" y="658368"/>
            <a:ext cx="8412480" cy="612648"/>
          </a:xfrm>
          <a:prstGeom prst="rect">
            <a:avLst/>
          </a:prstGeom>
          <a:noFill/>
        </p:spPr>
        <p:txBody>
          <a:bodyPr wrap="square" lIns="0" rIns="0" tIns="0" bIns="0">
            <a:spAutoFit/>
          </a:bodyPr>
          <a:lstStyle/>
          <a:p>
            <a:pPr>
              <a:lnSpc>
                <a:spcPct val="115000"/>
              </a:lnSpc>
              <a:spcAft>
                <a:spcPts val="0"/>
              </a:spcAft>
              <a:defRPr sz="2200" b="1">
                <a:solidFill>
                  <a:srgbClr val="21243A"/>
                </a:solidFill>
                <a:latin typeface="Arial"/>
              </a:defRPr>
            </a:pPr>
            <a:r>
              <a:t>Provider evidence / 1 (continued)</a:t>
            </a:r>
          </a:p>
        </p:txBody>
      </p:sp>
      <p:sp>
        <p:nvSpPr>
          <p:cNvPr id="4" name="TextBox 3"/>
          <p:cNvSpPr txBox="1"/>
          <p:nvPr/>
        </p:nvSpPr>
        <p:spPr>
          <a:xfrm>
            <a:off x="365760" y="6291072"/>
            <a:ext cx="8001000" cy="365760"/>
          </a:xfrm>
          <a:prstGeom prst="rect">
            <a:avLst/>
          </a:prstGeom>
          <a:noFill/>
        </p:spPr>
        <p:txBody>
          <a:bodyPr wrap="square" lIns="0" rIns="0" tIns="0" bIns="0">
            <a:spAutoFit/>
          </a:bodyPr>
          <a:lstStyle/>
          <a:p>
            <a:pPr>
              <a:lnSpc>
                <a:spcPct val="115000"/>
              </a:lnSpc>
              <a:spcAft>
                <a:spcPts val="0"/>
              </a:spcAft>
              <a:defRPr sz="800" b="0">
                <a:solidFill>
                  <a:srgbClr val="545B6D"/>
                </a:solidFill>
                <a:latin typeface="Arial"/>
              </a:defRPr>
            </a:pPr>
            <a:r>
              <a:t>Research assessment. Ratings are not calibrated probabilities.</a:t>
            </a:r>
          </a:p>
        </p:txBody>
      </p:sp>
      <p:sp>
        <p:nvSpPr>
          <p:cNvPr id="5" name="TextBox 4"/>
          <p:cNvSpPr txBox="1"/>
          <p:nvPr/>
        </p:nvSpPr>
        <p:spPr>
          <a:xfrm>
            <a:off x="8394192" y="6318504"/>
            <a:ext cx="365760" cy="228600"/>
          </a:xfrm>
          <a:prstGeom prst="rect">
            <a:avLst/>
          </a:prstGeom>
          <a:noFill/>
        </p:spPr>
        <p:txBody>
          <a:bodyPr wrap="square" lIns="0" rIns="0" tIns="0" bIns="0">
            <a:spAutoFit/>
          </a:bodyPr>
          <a:lstStyle/>
          <a:p>
            <a:pPr>
              <a:lnSpc>
                <a:spcPct val="115000"/>
              </a:lnSpc>
              <a:spcAft>
                <a:spcPts val="0"/>
              </a:spcAft>
              <a:defRPr sz="900" b="0">
                <a:solidFill>
                  <a:srgbClr val="545B6D"/>
                </a:solidFill>
                <a:latin typeface="Arial"/>
              </a:defRPr>
            </a:pPr>
            <a:r>
              <a:t>5</a:t>
            </a:r>
          </a:p>
        </p:txBody>
      </p:sp>
      <p:graphicFrame>
        <p:nvGraphicFramePr>
          <p:cNvPr id="6" name="Table 5"/>
          <p:cNvGraphicFramePr>
            <a:graphicFrameLocks noGrp="1"/>
          </p:cNvGraphicFramePr>
          <p:nvPr/>
        </p:nvGraphicFramePr>
        <p:xfrm>
          <a:off x="365760" y="1353312"/>
          <a:ext cx="8412479" cy="347472"/>
        </p:xfrm>
        <a:graphic>
          <a:graphicData uri="http://schemas.openxmlformats.org/drawingml/2006/table">
            <a:tbl>
              <a:tblPr firstRow="1" bandRow="1">
                <a:tableStyleId>{5C22544A-7EE6-4342-B048-85BDC9FD1C3A}</a:tableStyleId>
              </a:tblPr>
              <a:tblGrid>
                <a:gridCol w="2271369"/>
                <a:gridCol w="6141110"/>
              </a:tblGrid>
              <a:tr h="347472">
                <a:tc>
                  <a:txBody>
                    <a:bodyPr wrap="none"/>
                    <a:lstStyle/>
                    <a:p>
                      <a:pPr>
                        <a:lnSpc>
                          <a:spcPts val="1600"/>
                        </a:lnSpc>
                        <a:spcAft>
                          <a:spcPts val="0"/>
                        </a:spcAft>
                        <a:defRPr sz="1200" b="1">
                          <a:solidFill>
                            <a:srgbClr val="FFFFFF"/>
                          </a:solidFill>
                          <a:latin typeface="Arial"/>
                        </a:defRPr>
                      </a:pPr>
                      <a:r>
                        <a:t>Field</a:t>
                      </a:r>
                    </a:p>
                  </a:txBody>
                  <a:tcPr marL="82296" marR="82296" marT="64008" marB="64008">
                    <a:solidFill>
                      <a:srgbClr val="16787C"/>
                    </a:solidFill>
                  </a:tcPr>
                </a:tc>
                <a:tc>
                  <a:txBody>
                    <a:bodyPr wrap="none"/>
                    <a:lstStyle/>
                    <a:p>
                      <a:pPr>
                        <a:lnSpc>
                          <a:spcPts val="1600"/>
                        </a:lnSpc>
                        <a:spcAft>
                          <a:spcPts val="0"/>
                        </a:spcAft>
                        <a:defRPr sz="1200" b="1">
                          <a:solidFill>
                            <a:srgbClr val="FFFFFF"/>
                          </a:solidFill>
                          <a:latin typeface="Arial"/>
                        </a:defRPr>
                      </a:pPr>
                      <a:r>
                        <a:t>Recorded detail</a:t>
                      </a:r>
                    </a:p>
                  </a:txBody>
                  <a:tcPr marL="82296" marR="82296" marT="64008" marB="64008">
                    <a:solidFill>
                      <a:srgbClr val="16787C"/>
                    </a:solidFill>
                  </a:tcPr>
                </a:tc>
              </a:tr>
            </a:tbl>
          </a:graphicData>
        </a:graphic>
      </p:graphicFrame>
      <p:graphicFrame>
        <p:nvGraphicFramePr>
          <p:cNvPr id="7" name="Table 6"/>
          <p:cNvGraphicFramePr>
            <a:graphicFrameLocks noGrp="1"/>
          </p:cNvGraphicFramePr>
          <p:nvPr/>
        </p:nvGraphicFramePr>
        <p:xfrm>
          <a:off x="365760" y="1700784"/>
          <a:ext cx="8412479" cy="552704"/>
        </p:xfrm>
        <a:graphic>
          <a:graphicData uri="http://schemas.openxmlformats.org/drawingml/2006/table">
            <a:tbl>
              <a:tblPr firstRow="1" bandRow="1">
                <a:tableStyleId>{5C22544A-7EE6-4342-B048-85BDC9FD1C3A}</a:tableStyleId>
              </a:tblPr>
              <a:tblGrid>
                <a:gridCol w="2271369"/>
                <a:gridCol w="6141110"/>
              </a:tblGrid>
              <a:tr h="552704">
                <a:tc>
                  <a:txBody>
                    <a:bodyPr wrap="none"/>
                    <a:lstStyle/>
                    <a:p>
                      <a:pPr>
                        <a:lnSpc>
                          <a:spcPts val="1600"/>
                        </a:lnSpc>
                        <a:spcAft>
                          <a:spcPts val="0"/>
                        </a:spcAft>
                        <a:defRPr sz="1200" b="0">
                          <a:solidFill>
                            <a:srgbClr val="21243A"/>
                          </a:solidFill>
                          <a:latin typeface="Arial"/>
                        </a:defRPr>
                      </a:pPr>
                      <a:r>
                        <a:t>Evidence 3</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Implausible scale and composition: intact rabbit resting directly on a mass of</a:t>
                      </a:r>
                    </a:p>
                    <a:p>
                      <a:pPr>
                        <a:lnSpc>
                          <a:spcPts val="1600"/>
                        </a:lnSpc>
                        <a:spcAft>
                          <a:spcPts val="0"/>
                        </a:spcAft>
                        <a:defRPr sz="1200" b="0">
                          <a:solidFill>
                            <a:srgbClr val="21243A"/>
                          </a:solidFill>
                          <a:latin typeface="Arial"/>
                        </a:defRPr>
                      </a:pPr>
                      <a:r>
                        <a:t>glossy visceral tissue</a:t>
                      </a:r>
                    </a:p>
                  </a:txBody>
                  <a:tcPr marL="82296" marR="82296" marT="64008" marB="64008">
                    <a:solidFill>
                      <a:srgbClr val="FFFFFF"/>
                    </a:solidFill>
                  </a:tcPr>
                </a:tc>
              </a:tr>
            </a:tbl>
          </a:graphicData>
        </a:graphic>
      </p:graphicFrame>
      <p:graphicFrame>
        <p:nvGraphicFramePr>
          <p:cNvPr id="8" name="Table 7"/>
          <p:cNvGraphicFramePr>
            <a:graphicFrameLocks noGrp="1"/>
          </p:cNvGraphicFramePr>
          <p:nvPr/>
        </p:nvGraphicFramePr>
        <p:xfrm>
          <a:off x="365760" y="2253488"/>
          <a:ext cx="8412479" cy="552704"/>
        </p:xfrm>
        <a:graphic>
          <a:graphicData uri="http://schemas.openxmlformats.org/drawingml/2006/table">
            <a:tbl>
              <a:tblPr firstRow="1" bandRow="1">
                <a:tableStyleId>{5C22544A-7EE6-4342-B048-85BDC9FD1C3A}</a:tableStyleId>
              </a:tblPr>
              <a:tblGrid>
                <a:gridCol w="2271369"/>
                <a:gridCol w="6141110"/>
              </a:tblGrid>
              <a:tr h="552704">
                <a:tc>
                  <a:txBody>
                    <a:bodyPr wrap="none"/>
                    <a:lstStyle/>
                    <a:p>
                      <a:pPr>
                        <a:lnSpc>
                          <a:spcPts val="1600"/>
                        </a:lnSpc>
                        <a:spcAft>
                          <a:spcPts val="0"/>
                        </a:spcAft>
                        <a:defRPr sz="1200" b="0">
                          <a:solidFill>
                            <a:srgbClr val="21243A"/>
                          </a:solidFill>
                          <a:latin typeface="Arial"/>
                        </a:defRPr>
                      </a:pPr>
                      <a:r>
                        <a:t>Evidence 4</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Organ mass has generic, anatomically incoherent structure with plastic-like</a:t>
                      </a:r>
                    </a:p>
                    <a:p>
                      <a:pPr>
                        <a:lnSpc>
                          <a:spcPts val="1600"/>
                        </a:lnSpc>
                        <a:spcAft>
                          <a:spcPts val="0"/>
                        </a:spcAft>
                        <a:defRPr sz="1200" b="0">
                          <a:solidFill>
                            <a:srgbClr val="21243A"/>
                          </a:solidFill>
                          <a:latin typeface="Arial"/>
                        </a:defRPr>
                      </a:pPr>
                      <a:r>
                        <a:t>specular highlights</a:t>
                      </a:r>
                    </a:p>
                  </a:txBody>
                  <a:tcPr marL="82296" marR="82296" marT="64008" marB="64008">
                    <a:solidFill>
                      <a:srgbClr val="F1F7F7"/>
                    </a:solidFill>
                  </a:tcPr>
                </a:tc>
              </a:tr>
            </a:tbl>
          </a:graphicData>
        </a:graphic>
      </p:graphicFrame>
      <p:graphicFrame>
        <p:nvGraphicFramePr>
          <p:cNvPr id="9" name="Table 8"/>
          <p:cNvGraphicFramePr>
            <a:graphicFrameLocks noGrp="1"/>
          </p:cNvGraphicFramePr>
          <p:nvPr/>
        </p:nvGraphicFramePr>
        <p:xfrm>
          <a:off x="365760" y="2806192"/>
          <a:ext cx="8412479" cy="552704"/>
        </p:xfrm>
        <a:graphic>
          <a:graphicData uri="http://schemas.openxmlformats.org/drawingml/2006/table">
            <a:tbl>
              <a:tblPr firstRow="1" bandRow="1">
                <a:tableStyleId>{5C22544A-7EE6-4342-B048-85BDC9FD1C3A}</a:tableStyleId>
              </a:tblPr>
              <a:tblGrid>
                <a:gridCol w="2271369"/>
                <a:gridCol w="6141110"/>
              </a:tblGrid>
              <a:tr h="552704">
                <a:tc>
                  <a:txBody>
                    <a:bodyPr wrap="none"/>
                    <a:lstStyle/>
                    <a:p>
                      <a:pPr>
                        <a:lnSpc>
                          <a:spcPts val="1600"/>
                        </a:lnSpc>
                        <a:spcAft>
                          <a:spcPts val="0"/>
                        </a:spcAft>
                        <a:defRPr sz="1200" b="0">
                          <a:solidFill>
                            <a:srgbClr val="21243A"/>
                          </a:solidFill>
                          <a:latin typeface="Arial"/>
                        </a:defRPr>
                      </a:pPr>
                      <a:r>
                        <a:t>Evidence 5</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Stylised glowing drop at needle tip and spark/glow effects without physical light</a:t>
                      </a:r>
                    </a:p>
                    <a:p>
                      <a:pPr>
                        <a:lnSpc>
                          <a:spcPts val="1600"/>
                        </a:lnSpc>
                        <a:spcAft>
                          <a:spcPts val="0"/>
                        </a:spcAft>
                        <a:defRPr sz="1200" b="0">
                          <a:solidFill>
                            <a:srgbClr val="21243A"/>
                          </a:solidFill>
                          <a:latin typeface="Arial"/>
                        </a:defRPr>
                      </a:pPr>
                      <a:r>
                        <a:t>source</a:t>
                      </a:r>
                    </a:p>
                  </a:txBody>
                  <a:tcPr marL="82296" marR="82296" marT="64008" marB="64008">
                    <a:solidFill>
                      <a:srgbClr val="FFFFFF"/>
                    </a:solidFill>
                  </a:tcPr>
                </a:tc>
              </a:tr>
            </a:tbl>
          </a:graphicData>
        </a:graphic>
      </p:graphicFrame>
      <p:graphicFrame>
        <p:nvGraphicFramePr>
          <p:cNvPr id="10" name="Table 9"/>
          <p:cNvGraphicFramePr>
            <a:graphicFrameLocks noGrp="1"/>
          </p:cNvGraphicFramePr>
          <p:nvPr/>
        </p:nvGraphicFramePr>
        <p:xfrm>
          <a:off x="365760" y="3358896"/>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Evidence 6</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Syringe barrel markings indistinct and non-legible</a:t>
                      </a:r>
                    </a:p>
                  </a:txBody>
                  <a:tcPr marL="82296" marR="82296" marT="64008" marB="64008">
                    <a:solidFill>
                      <a:srgbClr val="F1F7F7"/>
                    </a:solidFill>
                  </a:tcPr>
                </a:tc>
              </a:tr>
            </a:tbl>
          </a:graphicData>
        </a:graphic>
      </p:graphicFrame>
      <p:graphicFrame>
        <p:nvGraphicFramePr>
          <p:cNvPr id="11" name="Table 10"/>
          <p:cNvGraphicFramePr>
            <a:graphicFrameLocks noGrp="1"/>
          </p:cNvGraphicFramePr>
          <p:nvPr/>
        </p:nvGraphicFramePr>
        <p:xfrm>
          <a:off x="365760" y="3708400"/>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Evidence 7</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Uniform bokeh of lab glassware lacking real optical detail</a:t>
                      </a:r>
                    </a:p>
                  </a:txBody>
                  <a:tcPr marL="82296" marR="82296" marT="64008" marB="64008">
                    <a:solidFill>
                      <a:srgbClr val="FFFFFF"/>
                    </a:solidFill>
                  </a:tcPr>
                </a:tc>
              </a:tr>
            </a:tbl>
          </a:graphicData>
        </a:graphic>
      </p:graphicFrame>
      <p:graphicFrame>
        <p:nvGraphicFramePr>
          <p:cNvPr id="12" name="Table 11"/>
          <p:cNvGraphicFramePr>
            <a:graphicFrameLocks noGrp="1"/>
          </p:cNvGraphicFramePr>
          <p:nvPr/>
        </p:nvGraphicFramePr>
        <p:xfrm>
          <a:off x="365760" y="4057904"/>
          <a:ext cx="8412479" cy="552704"/>
        </p:xfrm>
        <a:graphic>
          <a:graphicData uri="http://schemas.openxmlformats.org/drawingml/2006/table">
            <a:tbl>
              <a:tblPr firstRow="1" bandRow="1">
                <a:tableStyleId>{5C22544A-7EE6-4342-B048-85BDC9FD1C3A}</a:tableStyleId>
              </a:tblPr>
              <a:tblGrid>
                <a:gridCol w="2271369"/>
                <a:gridCol w="6141110"/>
              </a:tblGrid>
              <a:tr h="552704">
                <a:tc>
                  <a:txBody>
                    <a:bodyPr wrap="none"/>
                    <a:lstStyle/>
                    <a:p>
                      <a:pPr>
                        <a:lnSpc>
                          <a:spcPts val="1600"/>
                        </a:lnSpc>
                        <a:spcAft>
                          <a:spcPts val="0"/>
                        </a:spcAft>
                        <a:defRPr sz="1200" b="0">
                          <a:solidFill>
                            <a:srgbClr val="21243A"/>
                          </a:solidFill>
                          <a:latin typeface="Arial"/>
                        </a:defRPr>
                      </a:pPr>
                      <a:r>
                        <a:t>Evidence 8</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Small four-point sparkle watermark in bottom-right corner consistent with an</a:t>
                      </a:r>
                    </a:p>
                    <a:p>
                      <a:pPr>
                        <a:lnSpc>
                          <a:spcPts val="1600"/>
                        </a:lnSpc>
                        <a:spcAft>
                          <a:spcPts val="0"/>
                        </a:spcAft>
                        <a:defRPr sz="1200" b="0">
                          <a:solidFill>
                            <a:srgbClr val="21243A"/>
                          </a:solidFill>
                          <a:latin typeface="Arial"/>
                        </a:defRPr>
                      </a:pPr>
                      <a:r>
                        <a:t>AI-generation provenance mark</a:t>
                      </a:r>
                    </a:p>
                  </a:txBody>
                  <a:tcPr marL="82296" marR="82296" marT="64008" marB="64008">
                    <a:solidFill>
                      <a:srgbClr val="F1F7F7"/>
                    </a:solidFill>
                  </a:tcPr>
                </a:tc>
              </a:tr>
            </a:tbl>
          </a:graphicData>
        </a:graphic>
      </p:graphicFrame>
      <p:graphicFrame>
        <p:nvGraphicFramePr>
          <p:cNvPr id="13" name="Table 12"/>
          <p:cNvGraphicFramePr>
            <a:graphicFrameLocks noGrp="1"/>
          </p:cNvGraphicFramePr>
          <p:nvPr/>
        </p:nvGraphicFramePr>
        <p:xfrm>
          <a:off x="365760" y="4610608"/>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Evidence 9</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No camera grain, noise or lens imperfections; overall clean render look</a:t>
                      </a:r>
                    </a:p>
                  </a:txBody>
                  <a:tcPr marL="82296" marR="82296" marT="64008" marB="64008">
                    <a:solidFill>
                      <a:srgbClr val="FFFFFF"/>
                    </a:solidFill>
                  </a:tcPr>
                </a:tc>
              </a:tr>
            </a:tbl>
          </a:graphicData>
        </a:graphic>
      </p:graphicFrame>
      <p:graphicFrame>
        <p:nvGraphicFramePr>
          <p:cNvPr id="14" name="Table 13"/>
          <p:cNvGraphicFramePr>
            <a:graphicFrameLocks noGrp="1"/>
          </p:cNvGraphicFramePr>
          <p:nvPr/>
        </p:nvGraphicFramePr>
        <p:xfrm>
          <a:off x="365760" y="4960112"/>
          <a:ext cx="8412479" cy="755904"/>
        </p:xfrm>
        <a:graphic>
          <a:graphicData uri="http://schemas.openxmlformats.org/drawingml/2006/table">
            <a:tbl>
              <a:tblPr firstRow="1" bandRow="1">
                <a:tableStyleId>{5C22544A-7EE6-4342-B048-85BDC9FD1C3A}</a:tableStyleId>
              </a:tblPr>
              <a:tblGrid>
                <a:gridCol w="2271369"/>
                <a:gridCol w="6141110"/>
              </a:tblGrid>
              <a:tr h="755904">
                <a:tc>
                  <a:txBody>
                    <a:bodyPr wrap="none"/>
                    <a:lstStyle/>
                    <a:p>
                      <a:pPr>
                        <a:lnSpc>
                          <a:spcPts val="1600"/>
                        </a:lnSpc>
                        <a:spcAft>
                          <a:spcPts val="0"/>
                        </a:spcAft>
                        <a:defRPr sz="1200" b="0">
                          <a:solidFill>
                            <a:srgbClr val="21243A"/>
                          </a:solidFill>
                          <a:latin typeface="Arial"/>
                        </a:defRPr>
                      </a:pPr>
                      <a:r>
                        <a:t>Evidence 10</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Caveat: The text overlay is a graphic addition, so the base image's origin is judged</a:t>
                      </a:r>
                    </a:p>
                    <a:p>
                      <a:pPr>
                        <a:lnSpc>
                          <a:spcPts val="1600"/>
                        </a:lnSpc>
                        <a:spcAft>
                          <a:spcPts val="0"/>
                        </a:spcAft>
                        <a:defRPr sz="1200" b="0">
                          <a:solidFill>
                            <a:srgbClr val="21243A"/>
                          </a:solidFill>
                          <a:latin typeface="Arial"/>
                        </a:defRPr>
                      </a:pPr>
                      <a:r>
                        <a:t>only from visual style and the corner sparkle mark. Verify the mark and any</a:t>
                      </a:r>
                    </a:p>
                    <a:p>
                      <a:pPr>
                        <a:lnSpc>
                          <a:spcPts val="1600"/>
                        </a:lnSpc>
                        <a:spcAft>
                          <a:spcPts val="0"/>
                        </a:spcAft>
                        <a:defRPr sz="1200" b="0">
                          <a:solidFill>
                            <a:srgbClr val="21243A"/>
                          </a:solidFill>
                          <a:latin typeface="Arial"/>
                        </a:defRPr>
                      </a:pPr>
                      <a:r>
                        <a:t>embedded metadata or C2PA/SynthID signals before drawing conclusions.</a:t>
                      </a:r>
                    </a:p>
                  </a:txBody>
                  <a:tcPr marL="82296" marR="82296" marT="64008" marB="64008">
                    <a:solidFill>
                      <a:srgbClr val="F1F7F7"/>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412480" cy="228600"/>
          </a:xfrm>
          <a:prstGeom prst="rect">
            <a:avLst/>
          </a:prstGeom>
          <a:noFill/>
        </p:spPr>
        <p:txBody>
          <a:bodyPr wrap="square" lIns="0" rIns="0" tIns="0" bIns="0">
            <a:spAutoFit/>
          </a:bodyPr>
          <a:lstStyle/>
          <a:p>
            <a:pPr>
              <a:lnSpc>
                <a:spcPct val="115000"/>
              </a:lnSpc>
              <a:spcAft>
                <a:spcPts val="0"/>
              </a:spcAft>
              <a:defRPr sz="1100" b="1">
                <a:solidFill>
                  <a:srgbClr val="C5006A"/>
                </a:solidFill>
                <a:latin typeface="Arial"/>
              </a:defRPr>
            </a:pPr>
            <a:r>
              <a:t>SDA VISION / RESEARCH REPORT</a:t>
            </a:r>
          </a:p>
        </p:txBody>
      </p:sp>
      <p:sp>
        <p:nvSpPr>
          <p:cNvPr id="3" name="TextBox 2"/>
          <p:cNvSpPr txBox="1"/>
          <p:nvPr/>
        </p:nvSpPr>
        <p:spPr>
          <a:xfrm>
            <a:off x="365760" y="658368"/>
            <a:ext cx="8412480" cy="612648"/>
          </a:xfrm>
          <a:prstGeom prst="rect">
            <a:avLst/>
          </a:prstGeom>
          <a:noFill/>
        </p:spPr>
        <p:txBody>
          <a:bodyPr wrap="square" lIns="0" rIns="0" tIns="0" bIns="0">
            <a:spAutoFit/>
          </a:bodyPr>
          <a:lstStyle/>
          <a:p>
            <a:pPr>
              <a:lnSpc>
                <a:spcPct val="115000"/>
              </a:lnSpc>
              <a:spcAft>
                <a:spcPts val="0"/>
              </a:spcAft>
              <a:defRPr sz="2200" b="1">
                <a:solidFill>
                  <a:srgbClr val="21243A"/>
                </a:solidFill>
                <a:latin typeface="Arial"/>
              </a:defRPr>
            </a:pPr>
            <a:r>
              <a:t>Provider evidence / 2</a:t>
            </a:r>
          </a:p>
        </p:txBody>
      </p:sp>
      <p:sp>
        <p:nvSpPr>
          <p:cNvPr id="4" name="TextBox 3"/>
          <p:cNvSpPr txBox="1"/>
          <p:nvPr/>
        </p:nvSpPr>
        <p:spPr>
          <a:xfrm>
            <a:off x="365760" y="6291072"/>
            <a:ext cx="8001000" cy="365760"/>
          </a:xfrm>
          <a:prstGeom prst="rect">
            <a:avLst/>
          </a:prstGeom>
          <a:noFill/>
        </p:spPr>
        <p:txBody>
          <a:bodyPr wrap="square" lIns="0" rIns="0" tIns="0" bIns="0">
            <a:spAutoFit/>
          </a:bodyPr>
          <a:lstStyle/>
          <a:p>
            <a:pPr>
              <a:lnSpc>
                <a:spcPct val="115000"/>
              </a:lnSpc>
              <a:spcAft>
                <a:spcPts val="0"/>
              </a:spcAft>
              <a:defRPr sz="800" b="0">
                <a:solidFill>
                  <a:srgbClr val="545B6D"/>
                </a:solidFill>
                <a:latin typeface="Arial"/>
              </a:defRPr>
            </a:pPr>
            <a:r>
              <a:t>Research assessment. Ratings are not calibrated probabilities.</a:t>
            </a:r>
          </a:p>
        </p:txBody>
      </p:sp>
      <p:sp>
        <p:nvSpPr>
          <p:cNvPr id="5" name="TextBox 4"/>
          <p:cNvSpPr txBox="1"/>
          <p:nvPr/>
        </p:nvSpPr>
        <p:spPr>
          <a:xfrm>
            <a:off x="8394192" y="6318504"/>
            <a:ext cx="365760" cy="228600"/>
          </a:xfrm>
          <a:prstGeom prst="rect">
            <a:avLst/>
          </a:prstGeom>
          <a:noFill/>
        </p:spPr>
        <p:txBody>
          <a:bodyPr wrap="square" lIns="0" rIns="0" tIns="0" bIns="0">
            <a:spAutoFit/>
          </a:bodyPr>
          <a:lstStyle/>
          <a:p>
            <a:pPr>
              <a:lnSpc>
                <a:spcPct val="115000"/>
              </a:lnSpc>
              <a:spcAft>
                <a:spcPts val="0"/>
              </a:spcAft>
              <a:defRPr sz="900" b="0">
                <a:solidFill>
                  <a:srgbClr val="545B6D"/>
                </a:solidFill>
                <a:latin typeface="Arial"/>
              </a:defRPr>
            </a:pPr>
            <a:r>
              <a:t>6</a:t>
            </a:r>
          </a:p>
        </p:txBody>
      </p:sp>
      <p:graphicFrame>
        <p:nvGraphicFramePr>
          <p:cNvPr id="6" name="Table 5"/>
          <p:cNvGraphicFramePr>
            <a:graphicFrameLocks noGrp="1"/>
          </p:cNvGraphicFramePr>
          <p:nvPr/>
        </p:nvGraphicFramePr>
        <p:xfrm>
          <a:off x="365760" y="1353312"/>
          <a:ext cx="8412479" cy="347472"/>
        </p:xfrm>
        <a:graphic>
          <a:graphicData uri="http://schemas.openxmlformats.org/drawingml/2006/table">
            <a:tbl>
              <a:tblPr firstRow="1" bandRow="1">
                <a:tableStyleId>{5C22544A-7EE6-4342-B048-85BDC9FD1C3A}</a:tableStyleId>
              </a:tblPr>
              <a:tblGrid>
                <a:gridCol w="2271369"/>
                <a:gridCol w="6141110"/>
              </a:tblGrid>
              <a:tr h="347472">
                <a:tc>
                  <a:txBody>
                    <a:bodyPr wrap="none"/>
                    <a:lstStyle/>
                    <a:p>
                      <a:pPr>
                        <a:lnSpc>
                          <a:spcPts val="1600"/>
                        </a:lnSpc>
                        <a:spcAft>
                          <a:spcPts val="0"/>
                        </a:spcAft>
                        <a:defRPr sz="1200" b="1">
                          <a:solidFill>
                            <a:srgbClr val="FFFFFF"/>
                          </a:solidFill>
                          <a:latin typeface="Arial"/>
                        </a:defRPr>
                      </a:pPr>
                      <a:r>
                        <a:t>Field</a:t>
                      </a:r>
                    </a:p>
                  </a:txBody>
                  <a:tcPr marL="82296" marR="82296" marT="64008" marB="64008">
                    <a:solidFill>
                      <a:srgbClr val="16787C"/>
                    </a:solidFill>
                  </a:tcPr>
                </a:tc>
                <a:tc>
                  <a:txBody>
                    <a:bodyPr wrap="none"/>
                    <a:lstStyle/>
                    <a:p>
                      <a:pPr>
                        <a:lnSpc>
                          <a:spcPts val="1600"/>
                        </a:lnSpc>
                        <a:spcAft>
                          <a:spcPts val="0"/>
                        </a:spcAft>
                        <a:defRPr sz="1200" b="1">
                          <a:solidFill>
                            <a:srgbClr val="FFFFFF"/>
                          </a:solidFill>
                          <a:latin typeface="Arial"/>
                        </a:defRPr>
                      </a:pPr>
                      <a:r>
                        <a:t>Recorded detail</a:t>
                      </a:r>
                    </a:p>
                  </a:txBody>
                  <a:tcPr marL="82296" marR="82296" marT="64008" marB="64008">
                    <a:solidFill>
                      <a:srgbClr val="16787C"/>
                    </a:solidFill>
                  </a:tcPr>
                </a:tc>
              </a:tr>
            </a:tbl>
          </a:graphicData>
        </a:graphic>
      </p:graphicFrame>
      <p:graphicFrame>
        <p:nvGraphicFramePr>
          <p:cNvPr id="7" name="Table 6"/>
          <p:cNvGraphicFramePr>
            <a:graphicFrameLocks noGrp="1"/>
          </p:cNvGraphicFramePr>
          <p:nvPr/>
        </p:nvGraphicFramePr>
        <p:xfrm>
          <a:off x="365760" y="1700784"/>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Provider</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OpenAI Vision</a:t>
                      </a:r>
                    </a:p>
                  </a:txBody>
                  <a:tcPr marL="82296" marR="82296" marT="64008" marB="64008">
                    <a:solidFill>
                      <a:srgbClr val="F1F7F7"/>
                    </a:solidFill>
                  </a:tcPr>
                </a:tc>
              </a:tr>
            </a:tbl>
          </a:graphicData>
        </a:graphic>
      </p:graphicFrame>
      <p:graphicFrame>
        <p:nvGraphicFramePr>
          <p:cNvPr id="8" name="Table 7"/>
          <p:cNvGraphicFramePr>
            <a:graphicFrameLocks noGrp="1"/>
          </p:cNvGraphicFramePr>
          <p:nvPr/>
        </p:nvGraphicFramePr>
        <p:xfrm>
          <a:off x="365760" y="2050288"/>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Model</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gpt-6-astra</a:t>
                      </a:r>
                    </a:p>
                  </a:txBody>
                  <a:tcPr marL="82296" marR="82296" marT="64008" marB="64008">
                    <a:solidFill>
                      <a:srgbClr val="FFFFFF"/>
                    </a:solidFill>
                  </a:tcPr>
                </a:tc>
              </a:tr>
            </a:tbl>
          </a:graphicData>
        </a:graphic>
      </p:graphicFrame>
      <p:graphicFrame>
        <p:nvGraphicFramePr>
          <p:cNvPr id="9" name="Table 8"/>
          <p:cNvGraphicFramePr>
            <a:graphicFrameLocks noGrp="1"/>
          </p:cNvGraphicFramePr>
          <p:nvPr/>
        </p:nvGraphicFramePr>
        <p:xfrm>
          <a:off x="365760" y="2399792"/>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Status</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ok</a:t>
                      </a:r>
                    </a:p>
                  </a:txBody>
                  <a:tcPr marL="82296" marR="82296" marT="64008" marB="64008">
                    <a:solidFill>
                      <a:srgbClr val="F1F7F7"/>
                    </a:solidFill>
                  </a:tcPr>
                </a:tc>
              </a:tr>
            </a:tbl>
          </a:graphicData>
        </a:graphic>
      </p:graphicFrame>
      <p:graphicFrame>
        <p:nvGraphicFramePr>
          <p:cNvPr id="10" name="Table 9"/>
          <p:cNvGraphicFramePr>
            <a:graphicFrameLocks noGrp="1"/>
          </p:cNvGraphicFramePr>
          <p:nvPr/>
        </p:nvGraphicFramePr>
        <p:xfrm>
          <a:off x="365760" y="2749296"/>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Assessment</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synthetic likely</a:t>
                      </a:r>
                    </a:p>
                  </a:txBody>
                  <a:tcPr marL="82296" marR="82296" marT="64008" marB="64008">
                    <a:solidFill>
                      <a:srgbClr val="FFFFFF"/>
                    </a:solidFill>
                  </a:tcPr>
                </a:tc>
              </a:tr>
            </a:tbl>
          </a:graphicData>
        </a:graphic>
      </p:graphicFrame>
      <p:graphicFrame>
        <p:nvGraphicFramePr>
          <p:cNvPr id="11" name="Table 10"/>
          <p:cNvGraphicFramePr>
            <a:graphicFrameLocks noGrp="1"/>
          </p:cNvGraphicFramePr>
          <p:nvPr/>
        </p:nvGraphicFramePr>
        <p:xfrm>
          <a:off x="365760" y="3098800"/>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Confidence</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high</a:t>
                      </a:r>
                    </a:p>
                  </a:txBody>
                  <a:tcPr marL="82296" marR="82296" marT="64008" marB="64008">
                    <a:solidFill>
                      <a:srgbClr val="F1F7F7"/>
                    </a:solidFill>
                  </a:tcPr>
                </a:tc>
              </a:tr>
            </a:tbl>
          </a:graphicData>
        </a:graphic>
      </p:graphicFrame>
      <p:graphicFrame>
        <p:nvGraphicFramePr>
          <p:cNvPr id="12" name="Table 11"/>
          <p:cNvGraphicFramePr>
            <a:graphicFrameLocks noGrp="1"/>
          </p:cNvGraphicFramePr>
          <p:nvPr/>
        </p:nvGraphicFramePr>
        <p:xfrm>
          <a:off x="365760" y="3448304"/>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Role in assessment</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Supporting</a:t>
                      </a:r>
                    </a:p>
                  </a:txBody>
                  <a:tcPr marL="82296" marR="82296" marT="64008" marB="64008">
                    <a:solidFill>
                      <a:srgbClr val="FFFFFF"/>
                    </a:solidFill>
                  </a:tcPr>
                </a:tc>
              </a:tr>
            </a:tbl>
          </a:graphicData>
        </a:graphic>
      </p:graphicFrame>
      <p:graphicFrame>
        <p:nvGraphicFramePr>
          <p:cNvPr id="13" name="Table 12"/>
          <p:cNvGraphicFramePr>
            <a:graphicFrameLocks noGrp="1"/>
          </p:cNvGraphicFramePr>
          <p:nvPr/>
        </p:nvGraphicFramePr>
        <p:xfrm>
          <a:off x="365760" y="3797808"/>
          <a:ext cx="8412479" cy="1365503"/>
        </p:xfrm>
        <a:graphic>
          <a:graphicData uri="http://schemas.openxmlformats.org/drawingml/2006/table">
            <a:tbl>
              <a:tblPr firstRow="1" bandRow="1">
                <a:tableStyleId>{5C22544A-7EE6-4342-B048-85BDC9FD1C3A}</a:tableStyleId>
              </a:tblPr>
              <a:tblGrid>
                <a:gridCol w="2271369"/>
                <a:gridCol w="6141110"/>
              </a:tblGrid>
              <a:tr h="1365503">
                <a:tc>
                  <a:txBody>
                    <a:bodyPr wrap="none"/>
                    <a:lstStyle/>
                    <a:p>
                      <a:pPr>
                        <a:lnSpc>
                          <a:spcPts val="1600"/>
                        </a:lnSpc>
                        <a:spcAft>
                          <a:spcPts val="0"/>
                        </a:spcAft>
                        <a:defRPr sz="1200" b="0">
                          <a:solidFill>
                            <a:srgbClr val="21243A"/>
                          </a:solidFill>
                          <a:latin typeface="Arial"/>
                        </a:defRPr>
                      </a:pPr>
                      <a:r>
                        <a:t>Provider summary</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synthetic likelihood 94/100; tells: Syringe has unusually elaborate stacked</a:t>
                      </a:r>
                    </a:p>
                    <a:p>
                      <a:pPr>
                        <a:lnSpc>
                          <a:spcPts val="1600"/>
                        </a:lnSpc>
                        <a:spcAft>
                          <a:spcPts val="0"/>
                        </a:spcAft>
                        <a:defRPr sz="1200" b="0">
                          <a:solidFill>
                            <a:srgbClr val="21243A"/>
                          </a:solidFill>
                          <a:latin typeface="Arial"/>
                        </a:defRPr>
                      </a:pPr>
                      <a:r>
                        <a:t>connector rings and inconsistent graduation marks., Foreground organs and</a:t>
                      </a:r>
                    </a:p>
                    <a:p>
                      <a:pPr>
                        <a:lnSpc>
                          <a:spcPts val="1600"/>
                        </a:lnSpc>
                        <a:spcAft>
                          <a:spcPts val="0"/>
                        </a:spcAft>
                        <a:defRPr sz="1200" b="0">
                          <a:solidFill>
                            <a:srgbClr val="21243A"/>
                          </a:solidFill>
                          <a:latin typeface="Arial"/>
                        </a:defRPr>
                      </a:pPr>
                      <a:r>
                        <a:t>vessels merge into convoluted, highly glossy forms without clear anatomical</a:t>
                      </a:r>
                    </a:p>
                    <a:p>
                      <a:pPr>
                        <a:lnSpc>
                          <a:spcPts val="1600"/>
                        </a:lnSpc>
                        <a:spcAft>
                          <a:spcPts val="0"/>
                        </a:spcAft>
                        <a:defRPr sz="1200" b="0">
                          <a:solidFill>
                            <a:srgbClr val="21243A"/>
                          </a:solidFill>
                          <a:latin typeface="Arial"/>
                        </a:defRPr>
                      </a:pPr>
                      <a:r>
                        <a:t>boundaries., Rabbit fur and whiskers have unusually uniform sharpness and</a:t>
                      </a:r>
                    </a:p>
                    <a:p>
                      <a:pPr>
                        <a:lnSpc>
                          <a:spcPts val="1600"/>
                        </a:lnSpc>
                        <a:spcAft>
                          <a:spcPts val="0"/>
                        </a:spcAft>
                        <a:defRPr sz="1200" b="0">
                          <a:solidFill>
                            <a:srgbClr val="21243A"/>
                          </a:solidFill>
                          <a:latin typeface="Arial"/>
                        </a:defRPr>
                      </a:pPr>
                      <a:r>
                        <a:t>strong orange rim lighting., Liquid, tissue, and syringe share exaggerated</a:t>
                      </a:r>
                    </a:p>
                    <a:p>
                      <a:pPr>
                        <a:lnSpc>
                          <a:spcPts val="1600"/>
                        </a:lnSpc>
                        <a:spcAft>
                          <a:spcPts val="0"/>
                        </a:spcAft>
                        <a:defRPr sz="1200" b="0">
                          <a:solidFill>
                            <a:srgbClr val="21243A"/>
                          </a:solidFill>
                          <a:latin typeface="Arial"/>
                        </a:defRPr>
                      </a:pPr>
                      <a:r>
                        <a:t>jewel-like highlights.</a:t>
                      </a:r>
                    </a:p>
                  </a:txBody>
                  <a:tcPr marL="82296" marR="82296" marT="64008" marB="64008">
                    <a:solidFill>
                      <a:srgbClr val="F1F7F7"/>
                    </a:solidFill>
                  </a:tcPr>
                </a:tc>
              </a:tr>
            </a:tbl>
          </a:graphicData>
        </a:graphic>
      </p:graphicFrame>
      <p:graphicFrame>
        <p:nvGraphicFramePr>
          <p:cNvPr id="14" name="Table 13"/>
          <p:cNvGraphicFramePr>
            <a:graphicFrameLocks noGrp="1"/>
          </p:cNvGraphicFramePr>
          <p:nvPr/>
        </p:nvGraphicFramePr>
        <p:xfrm>
          <a:off x="365760" y="5163312"/>
          <a:ext cx="8412479" cy="552704"/>
        </p:xfrm>
        <a:graphic>
          <a:graphicData uri="http://schemas.openxmlformats.org/drawingml/2006/table">
            <a:tbl>
              <a:tblPr firstRow="1" bandRow="1">
                <a:tableStyleId>{5C22544A-7EE6-4342-B048-85BDC9FD1C3A}</a:tableStyleId>
              </a:tblPr>
              <a:tblGrid>
                <a:gridCol w="2271369"/>
                <a:gridCol w="6141110"/>
              </a:tblGrid>
              <a:tr h="552704">
                <a:tc>
                  <a:txBody>
                    <a:bodyPr wrap="none"/>
                    <a:lstStyle/>
                    <a:p>
                      <a:pPr>
                        <a:lnSpc>
                          <a:spcPts val="1600"/>
                        </a:lnSpc>
                        <a:spcAft>
                          <a:spcPts val="0"/>
                        </a:spcAft>
                        <a:defRPr sz="1200" b="0">
                          <a:solidFill>
                            <a:srgbClr val="21243A"/>
                          </a:solidFill>
                          <a:latin typeface="Arial"/>
                        </a:defRPr>
                      </a:pPr>
                      <a:r>
                        <a:t>Evidence 1</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Syringe has unusually elaborate stacked connector rings and inconsistent</a:t>
                      </a:r>
                    </a:p>
                    <a:p>
                      <a:pPr>
                        <a:lnSpc>
                          <a:spcPts val="1600"/>
                        </a:lnSpc>
                        <a:spcAft>
                          <a:spcPts val="0"/>
                        </a:spcAft>
                        <a:defRPr sz="1200" b="0">
                          <a:solidFill>
                            <a:srgbClr val="21243A"/>
                          </a:solidFill>
                          <a:latin typeface="Arial"/>
                        </a:defRPr>
                      </a:pPr>
                      <a:r>
                        <a:t>graduation marks.</a:t>
                      </a:r>
                    </a:p>
                  </a:txBody>
                  <a:tcPr marL="82296" marR="82296" marT="64008" marB="64008">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412480" cy="228600"/>
          </a:xfrm>
          <a:prstGeom prst="rect">
            <a:avLst/>
          </a:prstGeom>
          <a:noFill/>
        </p:spPr>
        <p:txBody>
          <a:bodyPr wrap="square" lIns="0" rIns="0" tIns="0" bIns="0">
            <a:spAutoFit/>
          </a:bodyPr>
          <a:lstStyle/>
          <a:p>
            <a:pPr>
              <a:lnSpc>
                <a:spcPct val="115000"/>
              </a:lnSpc>
              <a:spcAft>
                <a:spcPts val="0"/>
              </a:spcAft>
              <a:defRPr sz="1100" b="1">
                <a:solidFill>
                  <a:srgbClr val="C5006A"/>
                </a:solidFill>
                <a:latin typeface="Arial"/>
              </a:defRPr>
            </a:pPr>
            <a:r>
              <a:t>SDA VISION / RESEARCH REPORT</a:t>
            </a:r>
          </a:p>
        </p:txBody>
      </p:sp>
      <p:sp>
        <p:nvSpPr>
          <p:cNvPr id="3" name="TextBox 2"/>
          <p:cNvSpPr txBox="1"/>
          <p:nvPr/>
        </p:nvSpPr>
        <p:spPr>
          <a:xfrm>
            <a:off x="365760" y="658368"/>
            <a:ext cx="8412480" cy="612648"/>
          </a:xfrm>
          <a:prstGeom prst="rect">
            <a:avLst/>
          </a:prstGeom>
          <a:noFill/>
        </p:spPr>
        <p:txBody>
          <a:bodyPr wrap="square" lIns="0" rIns="0" tIns="0" bIns="0">
            <a:spAutoFit/>
          </a:bodyPr>
          <a:lstStyle/>
          <a:p>
            <a:pPr>
              <a:lnSpc>
                <a:spcPct val="115000"/>
              </a:lnSpc>
              <a:spcAft>
                <a:spcPts val="0"/>
              </a:spcAft>
              <a:defRPr sz="2200" b="1">
                <a:solidFill>
                  <a:srgbClr val="21243A"/>
                </a:solidFill>
                <a:latin typeface="Arial"/>
              </a:defRPr>
            </a:pPr>
            <a:r>
              <a:t>Provider evidence / 2 (continued)</a:t>
            </a:r>
          </a:p>
        </p:txBody>
      </p:sp>
      <p:sp>
        <p:nvSpPr>
          <p:cNvPr id="4" name="TextBox 3"/>
          <p:cNvSpPr txBox="1"/>
          <p:nvPr/>
        </p:nvSpPr>
        <p:spPr>
          <a:xfrm>
            <a:off x="365760" y="6291072"/>
            <a:ext cx="8001000" cy="365760"/>
          </a:xfrm>
          <a:prstGeom prst="rect">
            <a:avLst/>
          </a:prstGeom>
          <a:noFill/>
        </p:spPr>
        <p:txBody>
          <a:bodyPr wrap="square" lIns="0" rIns="0" tIns="0" bIns="0">
            <a:spAutoFit/>
          </a:bodyPr>
          <a:lstStyle/>
          <a:p>
            <a:pPr>
              <a:lnSpc>
                <a:spcPct val="115000"/>
              </a:lnSpc>
              <a:spcAft>
                <a:spcPts val="0"/>
              </a:spcAft>
              <a:defRPr sz="800" b="0">
                <a:solidFill>
                  <a:srgbClr val="545B6D"/>
                </a:solidFill>
                <a:latin typeface="Arial"/>
              </a:defRPr>
            </a:pPr>
            <a:r>
              <a:t>Research assessment. Ratings are not calibrated probabilities.</a:t>
            </a:r>
          </a:p>
        </p:txBody>
      </p:sp>
      <p:sp>
        <p:nvSpPr>
          <p:cNvPr id="5" name="TextBox 4"/>
          <p:cNvSpPr txBox="1"/>
          <p:nvPr/>
        </p:nvSpPr>
        <p:spPr>
          <a:xfrm>
            <a:off x="8394192" y="6318504"/>
            <a:ext cx="365760" cy="228600"/>
          </a:xfrm>
          <a:prstGeom prst="rect">
            <a:avLst/>
          </a:prstGeom>
          <a:noFill/>
        </p:spPr>
        <p:txBody>
          <a:bodyPr wrap="square" lIns="0" rIns="0" tIns="0" bIns="0">
            <a:spAutoFit/>
          </a:bodyPr>
          <a:lstStyle/>
          <a:p>
            <a:pPr>
              <a:lnSpc>
                <a:spcPct val="115000"/>
              </a:lnSpc>
              <a:spcAft>
                <a:spcPts val="0"/>
              </a:spcAft>
              <a:defRPr sz="900" b="0">
                <a:solidFill>
                  <a:srgbClr val="545B6D"/>
                </a:solidFill>
                <a:latin typeface="Arial"/>
              </a:defRPr>
            </a:pPr>
            <a:r>
              <a:t>7</a:t>
            </a:r>
          </a:p>
        </p:txBody>
      </p:sp>
      <p:graphicFrame>
        <p:nvGraphicFramePr>
          <p:cNvPr id="6" name="Table 5"/>
          <p:cNvGraphicFramePr>
            <a:graphicFrameLocks noGrp="1"/>
          </p:cNvGraphicFramePr>
          <p:nvPr/>
        </p:nvGraphicFramePr>
        <p:xfrm>
          <a:off x="365760" y="1353312"/>
          <a:ext cx="8412479" cy="347472"/>
        </p:xfrm>
        <a:graphic>
          <a:graphicData uri="http://schemas.openxmlformats.org/drawingml/2006/table">
            <a:tbl>
              <a:tblPr firstRow="1" bandRow="1">
                <a:tableStyleId>{5C22544A-7EE6-4342-B048-85BDC9FD1C3A}</a:tableStyleId>
              </a:tblPr>
              <a:tblGrid>
                <a:gridCol w="2271369"/>
                <a:gridCol w="6141110"/>
              </a:tblGrid>
              <a:tr h="347472">
                <a:tc>
                  <a:txBody>
                    <a:bodyPr wrap="none"/>
                    <a:lstStyle/>
                    <a:p>
                      <a:pPr>
                        <a:lnSpc>
                          <a:spcPts val="1600"/>
                        </a:lnSpc>
                        <a:spcAft>
                          <a:spcPts val="0"/>
                        </a:spcAft>
                        <a:defRPr sz="1200" b="1">
                          <a:solidFill>
                            <a:srgbClr val="FFFFFF"/>
                          </a:solidFill>
                          <a:latin typeface="Arial"/>
                        </a:defRPr>
                      </a:pPr>
                      <a:r>
                        <a:t>Field</a:t>
                      </a:r>
                    </a:p>
                  </a:txBody>
                  <a:tcPr marL="82296" marR="82296" marT="64008" marB="64008">
                    <a:solidFill>
                      <a:srgbClr val="16787C"/>
                    </a:solidFill>
                  </a:tcPr>
                </a:tc>
                <a:tc>
                  <a:txBody>
                    <a:bodyPr wrap="none"/>
                    <a:lstStyle/>
                    <a:p>
                      <a:pPr>
                        <a:lnSpc>
                          <a:spcPts val="1600"/>
                        </a:lnSpc>
                        <a:spcAft>
                          <a:spcPts val="0"/>
                        </a:spcAft>
                        <a:defRPr sz="1200" b="1">
                          <a:solidFill>
                            <a:srgbClr val="FFFFFF"/>
                          </a:solidFill>
                          <a:latin typeface="Arial"/>
                        </a:defRPr>
                      </a:pPr>
                      <a:r>
                        <a:t>Recorded detail</a:t>
                      </a:r>
                    </a:p>
                  </a:txBody>
                  <a:tcPr marL="82296" marR="82296" marT="64008" marB="64008">
                    <a:solidFill>
                      <a:srgbClr val="16787C"/>
                    </a:solidFill>
                  </a:tcPr>
                </a:tc>
              </a:tr>
            </a:tbl>
          </a:graphicData>
        </a:graphic>
      </p:graphicFrame>
      <p:graphicFrame>
        <p:nvGraphicFramePr>
          <p:cNvPr id="7" name="Table 6"/>
          <p:cNvGraphicFramePr>
            <a:graphicFrameLocks noGrp="1"/>
          </p:cNvGraphicFramePr>
          <p:nvPr/>
        </p:nvGraphicFramePr>
        <p:xfrm>
          <a:off x="365760" y="1700784"/>
          <a:ext cx="8412479" cy="552704"/>
        </p:xfrm>
        <a:graphic>
          <a:graphicData uri="http://schemas.openxmlformats.org/drawingml/2006/table">
            <a:tbl>
              <a:tblPr firstRow="1" bandRow="1">
                <a:tableStyleId>{5C22544A-7EE6-4342-B048-85BDC9FD1C3A}</a:tableStyleId>
              </a:tblPr>
              <a:tblGrid>
                <a:gridCol w="2271369"/>
                <a:gridCol w="6141110"/>
              </a:tblGrid>
              <a:tr h="552704">
                <a:tc>
                  <a:txBody>
                    <a:bodyPr wrap="none"/>
                    <a:lstStyle/>
                    <a:p>
                      <a:pPr>
                        <a:lnSpc>
                          <a:spcPts val="1600"/>
                        </a:lnSpc>
                        <a:spcAft>
                          <a:spcPts val="0"/>
                        </a:spcAft>
                        <a:defRPr sz="1200" b="0">
                          <a:solidFill>
                            <a:srgbClr val="21243A"/>
                          </a:solidFill>
                          <a:latin typeface="Arial"/>
                        </a:defRPr>
                      </a:pPr>
                      <a:r>
                        <a:t>Evidence 2</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Foreground organs and vessels merge into convoluted, highly glossy forms</a:t>
                      </a:r>
                    </a:p>
                    <a:p>
                      <a:pPr>
                        <a:lnSpc>
                          <a:spcPts val="1600"/>
                        </a:lnSpc>
                        <a:spcAft>
                          <a:spcPts val="0"/>
                        </a:spcAft>
                        <a:defRPr sz="1200" b="0">
                          <a:solidFill>
                            <a:srgbClr val="21243A"/>
                          </a:solidFill>
                          <a:latin typeface="Arial"/>
                        </a:defRPr>
                      </a:pPr>
                      <a:r>
                        <a:t>without clear anatomical boundaries.</a:t>
                      </a:r>
                    </a:p>
                  </a:txBody>
                  <a:tcPr marL="82296" marR="82296" marT="64008" marB="64008">
                    <a:solidFill>
                      <a:srgbClr val="F1F7F7"/>
                    </a:solidFill>
                  </a:tcPr>
                </a:tc>
              </a:tr>
            </a:tbl>
          </a:graphicData>
        </a:graphic>
      </p:graphicFrame>
      <p:graphicFrame>
        <p:nvGraphicFramePr>
          <p:cNvPr id="8" name="Table 7"/>
          <p:cNvGraphicFramePr>
            <a:graphicFrameLocks noGrp="1"/>
          </p:cNvGraphicFramePr>
          <p:nvPr/>
        </p:nvGraphicFramePr>
        <p:xfrm>
          <a:off x="365760" y="2253488"/>
          <a:ext cx="8412479" cy="552704"/>
        </p:xfrm>
        <a:graphic>
          <a:graphicData uri="http://schemas.openxmlformats.org/drawingml/2006/table">
            <a:tbl>
              <a:tblPr firstRow="1" bandRow="1">
                <a:tableStyleId>{5C22544A-7EE6-4342-B048-85BDC9FD1C3A}</a:tableStyleId>
              </a:tblPr>
              <a:tblGrid>
                <a:gridCol w="2271369"/>
                <a:gridCol w="6141110"/>
              </a:tblGrid>
              <a:tr h="552704">
                <a:tc>
                  <a:txBody>
                    <a:bodyPr wrap="none"/>
                    <a:lstStyle/>
                    <a:p>
                      <a:pPr>
                        <a:lnSpc>
                          <a:spcPts val="1600"/>
                        </a:lnSpc>
                        <a:spcAft>
                          <a:spcPts val="0"/>
                        </a:spcAft>
                        <a:defRPr sz="1200" b="0">
                          <a:solidFill>
                            <a:srgbClr val="21243A"/>
                          </a:solidFill>
                          <a:latin typeface="Arial"/>
                        </a:defRPr>
                      </a:pPr>
                      <a:r>
                        <a:t>Evidence 3</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Rabbit fur and whiskers have unusually uniform sharpness and strong orange rim</a:t>
                      </a:r>
                    </a:p>
                    <a:p>
                      <a:pPr>
                        <a:lnSpc>
                          <a:spcPts val="1600"/>
                        </a:lnSpc>
                        <a:spcAft>
                          <a:spcPts val="0"/>
                        </a:spcAft>
                        <a:defRPr sz="1200" b="0">
                          <a:solidFill>
                            <a:srgbClr val="21243A"/>
                          </a:solidFill>
                          <a:latin typeface="Arial"/>
                        </a:defRPr>
                      </a:pPr>
                      <a:r>
                        <a:t>lighting.</a:t>
                      </a:r>
                    </a:p>
                  </a:txBody>
                  <a:tcPr marL="82296" marR="82296" marT="64008" marB="64008">
                    <a:solidFill>
                      <a:srgbClr val="FFFFFF"/>
                    </a:solidFill>
                  </a:tcPr>
                </a:tc>
              </a:tr>
            </a:tbl>
          </a:graphicData>
        </a:graphic>
      </p:graphicFrame>
      <p:graphicFrame>
        <p:nvGraphicFramePr>
          <p:cNvPr id="9" name="Table 8"/>
          <p:cNvGraphicFramePr>
            <a:graphicFrameLocks noGrp="1"/>
          </p:cNvGraphicFramePr>
          <p:nvPr/>
        </p:nvGraphicFramePr>
        <p:xfrm>
          <a:off x="365760" y="2806192"/>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Evidence 4</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Liquid, tissue, and syringe share exaggerated jewel-like highlights.</a:t>
                      </a:r>
                    </a:p>
                  </a:txBody>
                  <a:tcPr marL="82296" marR="82296" marT="64008" marB="64008">
                    <a:solidFill>
                      <a:srgbClr val="F1F7F7"/>
                    </a:solidFill>
                  </a:tcPr>
                </a:tc>
              </a:tr>
            </a:tbl>
          </a:graphicData>
        </a:graphic>
      </p:graphicFrame>
      <p:graphicFrame>
        <p:nvGraphicFramePr>
          <p:cNvPr id="10" name="Table 9"/>
          <p:cNvGraphicFramePr>
            <a:graphicFrameLocks noGrp="1"/>
          </p:cNvGraphicFramePr>
          <p:nvPr/>
        </p:nvGraphicFramePr>
        <p:xfrm>
          <a:off x="365760" y="3155696"/>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Evidence 5</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Small four-point sparkle emblem appears at the lower right.</a:t>
                      </a:r>
                    </a:p>
                  </a:txBody>
                  <a:tcPr marL="82296" marR="82296" marT="64008" marB="64008">
                    <a:solidFill>
                      <a:srgbClr val="FFFFFF"/>
                    </a:solidFill>
                  </a:tcPr>
                </a:tc>
              </a:tr>
            </a:tbl>
          </a:graphicData>
        </a:graphic>
      </p:graphicFrame>
      <p:graphicFrame>
        <p:nvGraphicFramePr>
          <p:cNvPr id="11" name="Table 10"/>
          <p:cNvGraphicFramePr>
            <a:graphicFrameLocks noGrp="1"/>
          </p:cNvGraphicFramePr>
          <p:nvPr/>
        </p:nvGraphicFramePr>
        <p:xfrm>
          <a:off x="365760" y="3505200"/>
          <a:ext cx="8412479" cy="552704"/>
        </p:xfrm>
        <a:graphic>
          <a:graphicData uri="http://schemas.openxmlformats.org/drawingml/2006/table">
            <a:tbl>
              <a:tblPr firstRow="1" bandRow="1">
                <a:tableStyleId>{5C22544A-7EE6-4342-B048-85BDC9FD1C3A}</a:tableStyleId>
              </a:tblPr>
              <a:tblGrid>
                <a:gridCol w="2271369"/>
                <a:gridCol w="6141110"/>
              </a:tblGrid>
              <a:tr h="552704">
                <a:tc>
                  <a:txBody>
                    <a:bodyPr wrap="none"/>
                    <a:lstStyle/>
                    <a:p>
                      <a:pPr>
                        <a:lnSpc>
                          <a:spcPts val="1600"/>
                        </a:lnSpc>
                        <a:spcAft>
                          <a:spcPts val="0"/>
                        </a:spcAft>
                        <a:defRPr sz="1200" b="0">
                          <a:solidFill>
                            <a:srgbClr val="21243A"/>
                          </a:solidFill>
                          <a:latin typeface="Arial"/>
                        </a:defRPr>
                      </a:pPr>
                      <a:r>
                        <a:t>Evidence 6</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Caveat: Stylized CGI or a heavily retouched composite could produce similar cues;</a:t>
                      </a:r>
                    </a:p>
                    <a:p>
                      <a:pPr>
                        <a:lnSpc>
                          <a:spcPts val="1600"/>
                        </a:lnSpc>
                        <a:spcAft>
                          <a:spcPts val="0"/>
                        </a:spcAft>
                        <a:defRPr sz="1200" b="0">
                          <a:solidFill>
                            <a:srgbClr val="21243A"/>
                          </a:solidFill>
                          <a:latin typeface="Arial"/>
                        </a:defRPr>
                      </a:pPr>
                      <a:r>
                        <a:t>the image alone cannot establish AI provenance.</a:t>
                      </a:r>
                    </a:p>
                  </a:txBody>
                  <a:tcPr marL="82296" marR="82296" marT="64008" marB="64008">
                    <a:solidFill>
                      <a:srgbClr val="F1F7F7"/>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412480" cy="228600"/>
          </a:xfrm>
          <a:prstGeom prst="rect">
            <a:avLst/>
          </a:prstGeom>
          <a:noFill/>
        </p:spPr>
        <p:txBody>
          <a:bodyPr wrap="square" lIns="0" rIns="0" tIns="0" bIns="0">
            <a:spAutoFit/>
          </a:bodyPr>
          <a:lstStyle/>
          <a:p>
            <a:pPr>
              <a:lnSpc>
                <a:spcPct val="115000"/>
              </a:lnSpc>
              <a:spcAft>
                <a:spcPts val="0"/>
              </a:spcAft>
              <a:defRPr sz="1100" b="1">
                <a:solidFill>
                  <a:srgbClr val="C5006A"/>
                </a:solidFill>
                <a:latin typeface="Arial"/>
              </a:defRPr>
            </a:pPr>
            <a:r>
              <a:t>SDA VISION / RESEARCH REPORT</a:t>
            </a:r>
          </a:p>
        </p:txBody>
      </p:sp>
      <p:sp>
        <p:nvSpPr>
          <p:cNvPr id="3" name="TextBox 2"/>
          <p:cNvSpPr txBox="1"/>
          <p:nvPr/>
        </p:nvSpPr>
        <p:spPr>
          <a:xfrm>
            <a:off x="365760" y="658368"/>
            <a:ext cx="8412480" cy="612648"/>
          </a:xfrm>
          <a:prstGeom prst="rect">
            <a:avLst/>
          </a:prstGeom>
          <a:noFill/>
        </p:spPr>
        <p:txBody>
          <a:bodyPr wrap="square" lIns="0" rIns="0" tIns="0" bIns="0">
            <a:spAutoFit/>
          </a:bodyPr>
          <a:lstStyle/>
          <a:p>
            <a:pPr>
              <a:lnSpc>
                <a:spcPct val="115000"/>
              </a:lnSpc>
              <a:spcAft>
                <a:spcPts val="0"/>
              </a:spcAft>
              <a:defRPr sz="2200" b="1">
                <a:solidFill>
                  <a:srgbClr val="21243A"/>
                </a:solidFill>
                <a:latin typeface="Arial"/>
              </a:defRPr>
            </a:pPr>
            <a:r>
              <a:t>Provider evidence / 3</a:t>
            </a:r>
          </a:p>
        </p:txBody>
      </p:sp>
      <p:sp>
        <p:nvSpPr>
          <p:cNvPr id="4" name="TextBox 3"/>
          <p:cNvSpPr txBox="1"/>
          <p:nvPr/>
        </p:nvSpPr>
        <p:spPr>
          <a:xfrm>
            <a:off x="365760" y="6291072"/>
            <a:ext cx="8001000" cy="365760"/>
          </a:xfrm>
          <a:prstGeom prst="rect">
            <a:avLst/>
          </a:prstGeom>
          <a:noFill/>
        </p:spPr>
        <p:txBody>
          <a:bodyPr wrap="square" lIns="0" rIns="0" tIns="0" bIns="0">
            <a:spAutoFit/>
          </a:bodyPr>
          <a:lstStyle/>
          <a:p>
            <a:pPr>
              <a:lnSpc>
                <a:spcPct val="115000"/>
              </a:lnSpc>
              <a:spcAft>
                <a:spcPts val="0"/>
              </a:spcAft>
              <a:defRPr sz="800" b="0">
                <a:solidFill>
                  <a:srgbClr val="545B6D"/>
                </a:solidFill>
                <a:latin typeface="Arial"/>
              </a:defRPr>
            </a:pPr>
            <a:r>
              <a:t>Research assessment. Ratings are not calibrated probabilities.</a:t>
            </a:r>
          </a:p>
        </p:txBody>
      </p:sp>
      <p:sp>
        <p:nvSpPr>
          <p:cNvPr id="5" name="TextBox 4"/>
          <p:cNvSpPr txBox="1"/>
          <p:nvPr/>
        </p:nvSpPr>
        <p:spPr>
          <a:xfrm>
            <a:off x="8394192" y="6318504"/>
            <a:ext cx="365760" cy="228600"/>
          </a:xfrm>
          <a:prstGeom prst="rect">
            <a:avLst/>
          </a:prstGeom>
          <a:noFill/>
        </p:spPr>
        <p:txBody>
          <a:bodyPr wrap="square" lIns="0" rIns="0" tIns="0" bIns="0">
            <a:spAutoFit/>
          </a:bodyPr>
          <a:lstStyle/>
          <a:p>
            <a:pPr>
              <a:lnSpc>
                <a:spcPct val="115000"/>
              </a:lnSpc>
              <a:spcAft>
                <a:spcPts val="0"/>
              </a:spcAft>
              <a:defRPr sz="900" b="0">
                <a:solidFill>
                  <a:srgbClr val="545B6D"/>
                </a:solidFill>
                <a:latin typeface="Arial"/>
              </a:defRPr>
            </a:pPr>
            <a:r>
              <a:t>8</a:t>
            </a:r>
          </a:p>
        </p:txBody>
      </p:sp>
      <p:graphicFrame>
        <p:nvGraphicFramePr>
          <p:cNvPr id="6" name="Table 5"/>
          <p:cNvGraphicFramePr>
            <a:graphicFrameLocks noGrp="1"/>
          </p:cNvGraphicFramePr>
          <p:nvPr/>
        </p:nvGraphicFramePr>
        <p:xfrm>
          <a:off x="365760" y="1353312"/>
          <a:ext cx="8412479" cy="347472"/>
        </p:xfrm>
        <a:graphic>
          <a:graphicData uri="http://schemas.openxmlformats.org/drawingml/2006/table">
            <a:tbl>
              <a:tblPr firstRow="1" bandRow="1">
                <a:tableStyleId>{5C22544A-7EE6-4342-B048-85BDC9FD1C3A}</a:tableStyleId>
              </a:tblPr>
              <a:tblGrid>
                <a:gridCol w="2271369"/>
                <a:gridCol w="6141110"/>
              </a:tblGrid>
              <a:tr h="347472">
                <a:tc>
                  <a:txBody>
                    <a:bodyPr wrap="none"/>
                    <a:lstStyle/>
                    <a:p>
                      <a:pPr>
                        <a:lnSpc>
                          <a:spcPts val="1600"/>
                        </a:lnSpc>
                        <a:spcAft>
                          <a:spcPts val="0"/>
                        </a:spcAft>
                        <a:defRPr sz="1200" b="1">
                          <a:solidFill>
                            <a:srgbClr val="FFFFFF"/>
                          </a:solidFill>
                          <a:latin typeface="Arial"/>
                        </a:defRPr>
                      </a:pPr>
                      <a:r>
                        <a:t>Field</a:t>
                      </a:r>
                    </a:p>
                  </a:txBody>
                  <a:tcPr marL="82296" marR="82296" marT="64008" marB="64008">
                    <a:solidFill>
                      <a:srgbClr val="16787C"/>
                    </a:solidFill>
                  </a:tcPr>
                </a:tc>
                <a:tc>
                  <a:txBody>
                    <a:bodyPr wrap="none"/>
                    <a:lstStyle/>
                    <a:p>
                      <a:pPr>
                        <a:lnSpc>
                          <a:spcPts val="1600"/>
                        </a:lnSpc>
                        <a:spcAft>
                          <a:spcPts val="0"/>
                        </a:spcAft>
                        <a:defRPr sz="1200" b="1">
                          <a:solidFill>
                            <a:srgbClr val="FFFFFF"/>
                          </a:solidFill>
                          <a:latin typeface="Arial"/>
                        </a:defRPr>
                      </a:pPr>
                      <a:r>
                        <a:t>Recorded detail</a:t>
                      </a:r>
                    </a:p>
                  </a:txBody>
                  <a:tcPr marL="82296" marR="82296" marT="64008" marB="64008">
                    <a:solidFill>
                      <a:srgbClr val="16787C"/>
                    </a:solidFill>
                  </a:tcPr>
                </a:tc>
              </a:tr>
            </a:tbl>
          </a:graphicData>
        </a:graphic>
      </p:graphicFrame>
      <p:graphicFrame>
        <p:nvGraphicFramePr>
          <p:cNvPr id="7" name="Table 6"/>
          <p:cNvGraphicFramePr>
            <a:graphicFrameLocks noGrp="1"/>
          </p:cNvGraphicFramePr>
          <p:nvPr/>
        </p:nvGraphicFramePr>
        <p:xfrm>
          <a:off x="365760" y="1700784"/>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Provider</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Gemini Vision</a:t>
                      </a:r>
                    </a:p>
                  </a:txBody>
                  <a:tcPr marL="82296" marR="82296" marT="64008" marB="64008">
                    <a:solidFill>
                      <a:srgbClr val="F1F7F7"/>
                    </a:solidFill>
                  </a:tcPr>
                </a:tc>
              </a:tr>
            </a:tbl>
          </a:graphicData>
        </a:graphic>
      </p:graphicFrame>
      <p:graphicFrame>
        <p:nvGraphicFramePr>
          <p:cNvPr id="8" name="Table 7"/>
          <p:cNvGraphicFramePr>
            <a:graphicFrameLocks noGrp="1"/>
          </p:cNvGraphicFramePr>
          <p:nvPr/>
        </p:nvGraphicFramePr>
        <p:xfrm>
          <a:off x="365760" y="2050288"/>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Model</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gemini-3.8-flash</a:t>
                      </a:r>
                    </a:p>
                  </a:txBody>
                  <a:tcPr marL="82296" marR="82296" marT="64008" marB="64008">
                    <a:solidFill>
                      <a:srgbClr val="FFFFFF"/>
                    </a:solidFill>
                  </a:tcPr>
                </a:tc>
              </a:tr>
            </a:tbl>
          </a:graphicData>
        </a:graphic>
      </p:graphicFrame>
      <p:graphicFrame>
        <p:nvGraphicFramePr>
          <p:cNvPr id="9" name="Table 8"/>
          <p:cNvGraphicFramePr>
            <a:graphicFrameLocks noGrp="1"/>
          </p:cNvGraphicFramePr>
          <p:nvPr/>
        </p:nvGraphicFramePr>
        <p:xfrm>
          <a:off x="365760" y="2399792"/>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Status</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ok</a:t>
                      </a:r>
                    </a:p>
                  </a:txBody>
                  <a:tcPr marL="82296" marR="82296" marT="64008" marB="64008">
                    <a:solidFill>
                      <a:srgbClr val="F1F7F7"/>
                    </a:solidFill>
                  </a:tcPr>
                </a:tc>
              </a:tr>
            </a:tbl>
          </a:graphicData>
        </a:graphic>
      </p:graphicFrame>
      <p:graphicFrame>
        <p:nvGraphicFramePr>
          <p:cNvPr id="10" name="Table 9"/>
          <p:cNvGraphicFramePr>
            <a:graphicFrameLocks noGrp="1"/>
          </p:cNvGraphicFramePr>
          <p:nvPr/>
        </p:nvGraphicFramePr>
        <p:xfrm>
          <a:off x="365760" y="2749296"/>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Assessment</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synthetic likely</a:t>
                      </a:r>
                    </a:p>
                  </a:txBody>
                  <a:tcPr marL="82296" marR="82296" marT="64008" marB="64008">
                    <a:solidFill>
                      <a:srgbClr val="FFFFFF"/>
                    </a:solidFill>
                  </a:tcPr>
                </a:tc>
              </a:tr>
            </a:tbl>
          </a:graphicData>
        </a:graphic>
      </p:graphicFrame>
      <p:graphicFrame>
        <p:nvGraphicFramePr>
          <p:cNvPr id="11" name="Table 10"/>
          <p:cNvGraphicFramePr>
            <a:graphicFrameLocks noGrp="1"/>
          </p:cNvGraphicFramePr>
          <p:nvPr/>
        </p:nvGraphicFramePr>
        <p:xfrm>
          <a:off x="365760" y="3098800"/>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Confidence</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high</a:t>
                      </a:r>
                    </a:p>
                  </a:txBody>
                  <a:tcPr marL="82296" marR="82296" marT="64008" marB="64008">
                    <a:solidFill>
                      <a:srgbClr val="F1F7F7"/>
                    </a:solidFill>
                  </a:tcPr>
                </a:tc>
              </a:tr>
            </a:tbl>
          </a:graphicData>
        </a:graphic>
      </p:graphicFrame>
      <p:graphicFrame>
        <p:nvGraphicFramePr>
          <p:cNvPr id="12" name="Table 11"/>
          <p:cNvGraphicFramePr>
            <a:graphicFrameLocks noGrp="1"/>
          </p:cNvGraphicFramePr>
          <p:nvPr/>
        </p:nvGraphicFramePr>
        <p:xfrm>
          <a:off x="365760" y="3448304"/>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Role in assessment</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Supporting</a:t>
                      </a:r>
                    </a:p>
                  </a:txBody>
                  <a:tcPr marL="82296" marR="82296" marT="64008" marB="64008">
                    <a:solidFill>
                      <a:srgbClr val="FFFFFF"/>
                    </a:solidFill>
                  </a:tcPr>
                </a:tc>
              </a:tr>
            </a:tbl>
          </a:graphicData>
        </a:graphic>
      </p:graphicFrame>
      <p:graphicFrame>
        <p:nvGraphicFramePr>
          <p:cNvPr id="13" name="Table 12"/>
          <p:cNvGraphicFramePr>
            <a:graphicFrameLocks noGrp="1"/>
          </p:cNvGraphicFramePr>
          <p:nvPr/>
        </p:nvGraphicFramePr>
        <p:xfrm>
          <a:off x="365760" y="3797808"/>
          <a:ext cx="8412479" cy="755904"/>
        </p:xfrm>
        <a:graphic>
          <a:graphicData uri="http://schemas.openxmlformats.org/drawingml/2006/table">
            <a:tbl>
              <a:tblPr firstRow="1" bandRow="1">
                <a:tableStyleId>{5C22544A-7EE6-4342-B048-85BDC9FD1C3A}</a:tableStyleId>
              </a:tblPr>
              <a:tblGrid>
                <a:gridCol w="2271369"/>
                <a:gridCol w="6141110"/>
              </a:tblGrid>
              <a:tr h="755904">
                <a:tc>
                  <a:txBody>
                    <a:bodyPr wrap="none"/>
                    <a:lstStyle/>
                    <a:p>
                      <a:pPr>
                        <a:lnSpc>
                          <a:spcPts val="1600"/>
                        </a:lnSpc>
                        <a:spcAft>
                          <a:spcPts val="0"/>
                        </a:spcAft>
                        <a:defRPr sz="1200" b="0">
                          <a:solidFill>
                            <a:srgbClr val="21243A"/>
                          </a:solidFill>
                          <a:latin typeface="Arial"/>
                        </a:defRPr>
                      </a:pPr>
                      <a:r>
                        <a:t>Provider summary</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synthetic likelihood 82/100; tells: hyper-rendered specular textures on viscera,</a:t>
                      </a:r>
                    </a:p>
                    <a:p>
                      <a:pPr>
                        <a:lnSpc>
                          <a:spcPts val="1600"/>
                        </a:lnSpc>
                        <a:spcAft>
                          <a:spcPts val="0"/>
                        </a:spcAft>
                        <a:defRPr sz="1200" b="0">
                          <a:solidFill>
                            <a:srgbClr val="21243A"/>
                          </a:solidFill>
                          <a:latin typeface="Arial"/>
                        </a:defRPr>
                      </a:pPr>
                      <a:r>
                        <a:t>unnatural fusion of biological anatomical forms, stylized digital lighting and bokeh</a:t>
                      </a:r>
                    </a:p>
                    <a:p>
                      <a:pPr>
                        <a:lnSpc>
                          <a:spcPts val="1600"/>
                        </a:lnSpc>
                        <a:spcAft>
                          <a:spcPts val="0"/>
                        </a:spcAft>
                        <a:defRPr sz="1200" b="0">
                          <a:solidFill>
                            <a:srgbClr val="21243A"/>
                          </a:solidFill>
                          <a:latin typeface="Arial"/>
                        </a:defRPr>
                      </a:pPr>
                      <a:r>
                        <a:t>inconsistencies, AI-typical crisp fur detailing with odd spatial occlusion</a:t>
                      </a:r>
                    </a:p>
                  </a:txBody>
                  <a:tcPr marL="82296" marR="82296" marT="64008" marB="64008">
                    <a:solidFill>
                      <a:srgbClr val="F1F7F7"/>
                    </a:solidFill>
                  </a:tcPr>
                </a:tc>
              </a:tr>
            </a:tbl>
          </a:graphicData>
        </a:graphic>
      </p:graphicFrame>
      <p:graphicFrame>
        <p:nvGraphicFramePr>
          <p:cNvPr id="14" name="Table 13"/>
          <p:cNvGraphicFramePr>
            <a:graphicFrameLocks noGrp="1"/>
          </p:cNvGraphicFramePr>
          <p:nvPr/>
        </p:nvGraphicFramePr>
        <p:xfrm>
          <a:off x="365760" y="4553712"/>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Evidence 1</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Hyper-rendered specular textures on viscera</a:t>
                      </a:r>
                    </a:p>
                  </a:txBody>
                  <a:tcPr marL="82296" marR="82296" marT="64008" marB="64008">
                    <a:solidFill>
                      <a:srgbClr val="FFFFFF"/>
                    </a:solidFill>
                  </a:tcPr>
                </a:tc>
              </a:tr>
            </a:tbl>
          </a:graphicData>
        </a:graphic>
      </p:graphicFrame>
      <p:graphicFrame>
        <p:nvGraphicFramePr>
          <p:cNvPr id="15" name="Table 14"/>
          <p:cNvGraphicFramePr>
            <a:graphicFrameLocks noGrp="1"/>
          </p:cNvGraphicFramePr>
          <p:nvPr/>
        </p:nvGraphicFramePr>
        <p:xfrm>
          <a:off x="365760" y="4903216"/>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Evidence 2</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Unnatural fusion of biological anatomical forms</a:t>
                      </a:r>
                    </a:p>
                  </a:txBody>
                  <a:tcPr marL="82296" marR="82296" marT="64008" marB="64008">
                    <a:solidFill>
                      <a:srgbClr val="F1F7F7"/>
                    </a:solidFill>
                  </a:tcPr>
                </a:tc>
              </a:tr>
            </a:tbl>
          </a:graphicData>
        </a:graphic>
      </p:graphicFrame>
      <p:graphicFrame>
        <p:nvGraphicFramePr>
          <p:cNvPr id="16" name="Table 15"/>
          <p:cNvGraphicFramePr>
            <a:graphicFrameLocks noGrp="1"/>
          </p:cNvGraphicFramePr>
          <p:nvPr/>
        </p:nvGraphicFramePr>
        <p:xfrm>
          <a:off x="365760" y="5252720"/>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Evidence 3</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Stylized digital lighting and bokeh inconsistencies</a:t>
                      </a:r>
                    </a:p>
                  </a:txBody>
                  <a:tcPr marL="82296" marR="82296" marT="64008" marB="64008">
                    <a:solidFill>
                      <a:srgbClr val="FFFFFF"/>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412480" cy="228600"/>
          </a:xfrm>
          <a:prstGeom prst="rect">
            <a:avLst/>
          </a:prstGeom>
          <a:noFill/>
        </p:spPr>
        <p:txBody>
          <a:bodyPr wrap="square" lIns="0" rIns="0" tIns="0" bIns="0">
            <a:spAutoFit/>
          </a:bodyPr>
          <a:lstStyle/>
          <a:p>
            <a:pPr>
              <a:lnSpc>
                <a:spcPct val="115000"/>
              </a:lnSpc>
              <a:spcAft>
                <a:spcPts val="0"/>
              </a:spcAft>
              <a:defRPr sz="1100" b="1">
                <a:solidFill>
                  <a:srgbClr val="C5006A"/>
                </a:solidFill>
                <a:latin typeface="Arial"/>
              </a:defRPr>
            </a:pPr>
            <a:r>
              <a:t>SDA VISION / RESEARCH REPORT</a:t>
            </a:r>
          </a:p>
        </p:txBody>
      </p:sp>
      <p:sp>
        <p:nvSpPr>
          <p:cNvPr id="3" name="TextBox 2"/>
          <p:cNvSpPr txBox="1"/>
          <p:nvPr/>
        </p:nvSpPr>
        <p:spPr>
          <a:xfrm>
            <a:off x="365760" y="658368"/>
            <a:ext cx="8412480" cy="612648"/>
          </a:xfrm>
          <a:prstGeom prst="rect">
            <a:avLst/>
          </a:prstGeom>
          <a:noFill/>
        </p:spPr>
        <p:txBody>
          <a:bodyPr wrap="square" lIns="0" rIns="0" tIns="0" bIns="0">
            <a:spAutoFit/>
          </a:bodyPr>
          <a:lstStyle/>
          <a:p>
            <a:pPr>
              <a:lnSpc>
                <a:spcPct val="115000"/>
              </a:lnSpc>
              <a:spcAft>
                <a:spcPts val="0"/>
              </a:spcAft>
              <a:defRPr sz="2200" b="1">
                <a:solidFill>
                  <a:srgbClr val="21243A"/>
                </a:solidFill>
                <a:latin typeface="Arial"/>
              </a:defRPr>
            </a:pPr>
            <a:r>
              <a:t>Provider evidence / 3 (continued)</a:t>
            </a:r>
          </a:p>
        </p:txBody>
      </p:sp>
      <p:sp>
        <p:nvSpPr>
          <p:cNvPr id="4" name="TextBox 3"/>
          <p:cNvSpPr txBox="1"/>
          <p:nvPr/>
        </p:nvSpPr>
        <p:spPr>
          <a:xfrm>
            <a:off x="365760" y="6291072"/>
            <a:ext cx="8001000" cy="365760"/>
          </a:xfrm>
          <a:prstGeom prst="rect">
            <a:avLst/>
          </a:prstGeom>
          <a:noFill/>
        </p:spPr>
        <p:txBody>
          <a:bodyPr wrap="square" lIns="0" rIns="0" tIns="0" bIns="0">
            <a:spAutoFit/>
          </a:bodyPr>
          <a:lstStyle/>
          <a:p>
            <a:pPr>
              <a:lnSpc>
                <a:spcPct val="115000"/>
              </a:lnSpc>
              <a:spcAft>
                <a:spcPts val="0"/>
              </a:spcAft>
              <a:defRPr sz="800" b="0">
                <a:solidFill>
                  <a:srgbClr val="545B6D"/>
                </a:solidFill>
                <a:latin typeface="Arial"/>
              </a:defRPr>
            </a:pPr>
            <a:r>
              <a:t>Research assessment. Ratings are not calibrated probabilities.</a:t>
            </a:r>
          </a:p>
        </p:txBody>
      </p:sp>
      <p:sp>
        <p:nvSpPr>
          <p:cNvPr id="5" name="TextBox 4"/>
          <p:cNvSpPr txBox="1"/>
          <p:nvPr/>
        </p:nvSpPr>
        <p:spPr>
          <a:xfrm>
            <a:off x="8394192" y="6318504"/>
            <a:ext cx="365760" cy="228600"/>
          </a:xfrm>
          <a:prstGeom prst="rect">
            <a:avLst/>
          </a:prstGeom>
          <a:noFill/>
        </p:spPr>
        <p:txBody>
          <a:bodyPr wrap="square" lIns="0" rIns="0" tIns="0" bIns="0">
            <a:spAutoFit/>
          </a:bodyPr>
          <a:lstStyle/>
          <a:p>
            <a:pPr>
              <a:lnSpc>
                <a:spcPct val="115000"/>
              </a:lnSpc>
              <a:spcAft>
                <a:spcPts val="0"/>
              </a:spcAft>
              <a:defRPr sz="900" b="0">
                <a:solidFill>
                  <a:srgbClr val="545B6D"/>
                </a:solidFill>
                <a:latin typeface="Arial"/>
              </a:defRPr>
            </a:pPr>
            <a:r>
              <a:t>9</a:t>
            </a:r>
          </a:p>
        </p:txBody>
      </p:sp>
      <p:graphicFrame>
        <p:nvGraphicFramePr>
          <p:cNvPr id="6" name="Table 5"/>
          <p:cNvGraphicFramePr>
            <a:graphicFrameLocks noGrp="1"/>
          </p:cNvGraphicFramePr>
          <p:nvPr/>
        </p:nvGraphicFramePr>
        <p:xfrm>
          <a:off x="365760" y="1353312"/>
          <a:ext cx="8412479" cy="347472"/>
        </p:xfrm>
        <a:graphic>
          <a:graphicData uri="http://schemas.openxmlformats.org/drawingml/2006/table">
            <a:tbl>
              <a:tblPr firstRow="1" bandRow="1">
                <a:tableStyleId>{5C22544A-7EE6-4342-B048-85BDC9FD1C3A}</a:tableStyleId>
              </a:tblPr>
              <a:tblGrid>
                <a:gridCol w="2271369"/>
                <a:gridCol w="6141110"/>
              </a:tblGrid>
              <a:tr h="347472">
                <a:tc>
                  <a:txBody>
                    <a:bodyPr wrap="none"/>
                    <a:lstStyle/>
                    <a:p>
                      <a:pPr>
                        <a:lnSpc>
                          <a:spcPts val="1600"/>
                        </a:lnSpc>
                        <a:spcAft>
                          <a:spcPts val="0"/>
                        </a:spcAft>
                        <a:defRPr sz="1200" b="1">
                          <a:solidFill>
                            <a:srgbClr val="FFFFFF"/>
                          </a:solidFill>
                          <a:latin typeface="Arial"/>
                        </a:defRPr>
                      </a:pPr>
                      <a:r>
                        <a:t>Field</a:t>
                      </a:r>
                    </a:p>
                  </a:txBody>
                  <a:tcPr marL="82296" marR="82296" marT="64008" marB="64008">
                    <a:solidFill>
                      <a:srgbClr val="16787C"/>
                    </a:solidFill>
                  </a:tcPr>
                </a:tc>
                <a:tc>
                  <a:txBody>
                    <a:bodyPr wrap="none"/>
                    <a:lstStyle/>
                    <a:p>
                      <a:pPr>
                        <a:lnSpc>
                          <a:spcPts val="1600"/>
                        </a:lnSpc>
                        <a:spcAft>
                          <a:spcPts val="0"/>
                        </a:spcAft>
                        <a:defRPr sz="1200" b="1">
                          <a:solidFill>
                            <a:srgbClr val="FFFFFF"/>
                          </a:solidFill>
                          <a:latin typeface="Arial"/>
                        </a:defRPr>
                      </a:pPr>
                      <a:r>
                        <a:t>Recorded detail</a:t>
                      </a:r>
                    </a:p>
                  </a:txBody>
                  <a:tcPr marL="82296" marR="82296" marT="64008" marB="64008">
                    <a:solidFill>
                      <a:srgbClr val="16787C"/>
                    </a:solidFill>
                  </a:tcPr>
                </a:tc>
              </a:tr>
            </a:tbl>
          </a:graphicData>
        </a:graphic>
      </p:graphicFrame>
      <p:graphicFrame>
        <p:nvGraphicFramePr>
          <p:cNvPr id="7" name="Table 6"/>
          <p:cNvGraphicFramePr>
            <a:graphicFrameLocks noGrp="1"/>
          </p:cNvGraphicFramePr>
          <p:nvPr/>
        </p:nvGraphicFramePr>
        <p:xfrm>
          <a:off x="365760" y="1700784"/>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Evidence 4</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AI-typical crisp fur detailing with odd spatial occlusion</a:t>
                      </a:r>
                    </a:p>
                  </a:txBody>
                  <a:tcPr marL="82296" marR="82296" marT="64008" marB="64008">
                    <a:solidFill>
                      <a:srgbClr val="F1F7F7"/>
                    </a:solidFill>
                  </a:tcPr>
                </a:tc>
              </a:tr>
            </a:tbl>
          </a:graphicData>
        </a:graphic>
      </p:graphicFrame>
      <p:graphicFrame>
        <p:nvGraphicFramePr>
          <p:cNvPr id="8" name="Table 7"/>
          <p:cNvGraphicFramePr>
            <a:graphicFrameLocks noGrp="1"/>
          </p:cNvGraphicFramePr>
          <p:nvPr/>
        </p:nvGraphicFramePr>
        <p:xfrm>
          <a:off x="365760" y="2050288"/>
          <a:ext cx="8412479" cy="552704"/>
        </p:xfrm>
        <a:graphic>
          <a:graphicData uri="http://schemas.openxmlformats.org/drawingml/2006/table">
            <a:tbl>
              <a:tblPr firstRow="1" bandRow="1">
                <a:tableStyleId>{5C22544A-7EE6-4342-B048-85BDC9FD1C3A}</a:tableStyleId>
              </a:tblPr>
              <a:tblGrid>
                <a:gridCol w="2271369"/>
                <a:gridCol w="6141110"/>
              </a:tblGrid>
              <a:tr h="552704">
                <a:tc>
                  <a:txBody>
                    <a:bodyPr wrap="none"/>
                    <a:lstStyle/>
                    <a:p>
                      <a:pPr>
                        <a:lnSpc>
                          <a:spcPts val="1600"/>
                        </a:lnSpc>
                        <a:spcAft>
                          <a:spcPts val="0"/>
                        </a:spcAft>
                        <a:defRPr sz="1200" b="0">
                          <a:solidFill>
                            <a:srgbClr val="21243A"/>
                          </a:solidFill>
                          <a:latin typeface="Arial"/>
                        </a:defRPr>
                      </a:pPr>
                      <a:r>
                        <a:t>Evidence 5</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Caveat: High-end 3D CGI or professional digital compositing can mimic</a:t>
                      </a:r>
                    </a:p>
                    <a:p>
                      <a:pPr>
                        <a:lnSpc>
                          <a:spcPts val="1600"/>
                        </a:lnSpc>
                        <a:spcAft>
                          <a:spcPts val="0"/>
                        </a:spcAft>
                        <a:defRPr sz="1200" b="0">
                          <a:solidFill>
                            <a:srgbClr val="21243A"/>
                          </a:solidFill>
                          <a:latin typeface="Arial"/>
                        </a:defRPr>
                      </a:pPr>
                      <a:r>
                        <a:t>generative-AI artifacts.</a:t>
                      </a:r>
                    </a:p>
                  </a:txBody>
                  <a:tcPr marL="82296" marR="82296" marT="64008" marB="64008">
                    <a:solidFill>
                      <a:srgbClr val="FFFFFF"/>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412480" cy="228600"/>
          </a:xfrm>
          <a:prstGeom prst="rect">
            <a:avLst/>
          </a:prstGeom>
          <a:noFill/>
        </p:spPr>
        <p:txBody>
          <a:bodyPr wrap="square" lIns="0" rIns="0" tIns="0" bIns="0">
            <a:spAutoFit/>
          </a:bodyPr>
          <a:lstStyle/>
          <a:p>
            <a:pPr>
              <a:lnSpc>
                <a:spcPct val="115000"/>
              </a:lnSpc>
              <a:spcAft>
                <a:spcPts val="0"/>
              </a:spcAft>
              <a:defRPr sz="1100" b="1">
                <a:solidFill>
                  <a:srgbClr val="C5006A"/>
                </a:solidFill>
                <a:latin typeface="Arial"/>
              </a:defRPr>
            </a:pPr>
            <a:r>
              <a:t>SDA VISION / RESEARCH REPORT</a:t>
            </a:r>
          </a:p>
        </p:txBody>
      </p:sp>
      <p:sp>
        <p:nvSpPr>
          <p:cNvPr id="3" name="TextBox 2"/>
          <p:cNvSpPr txBox="1"/>
          <p:nvPr/>
        </p:nvSpPr>
        <p:spPr>
          <a:xfrm>
            <a:off x="365760" y="658368"/>
            <a:ext cx="8412480" cy="612648"/>
          </a:xfrm>
          <a:prstGeom prst="rect">
            <a:avLst/>
          </a:prstGeom>
          <a:noFill/>
        </p:spPr>
        <p:txBody>
          <a:bodyPr wrap="square" lIns="0" rIns="0" tIns="0" bIns="0">
            <a:spAutoFit/>
          </a:bodyPr>
          <a:lstStyle/>
          <a:p>
            <a:pPr>
              <a:lnSpc>
                <a:spcPct val="115000"/>
              </a:lnSpc>
              <a:spcAft>
                <a:spcPts val="0"/>
              </a:spcAft>
              <a:defRPr sz="2200" b="1">
                <a:solidFill>
                  <a:srgbClr val="21243A"/>
                </a:solidFill>
                <a:latin typeface="Arial"/>
              </a:defRPr>
            </a:pPr>
            <a:r>
              <a:t>Content Credentials / provenance</a:t>
            </a:r>
          </a:p>
        </p:txBody>
      </p:sp>
      <p:sp>
        <p:nvSpPr>
          <p:cNvPr id="4" name="TextBox 3"/>
          <p:cNvSpPr txBox="1"/>
          <p:nvPr/>
        </p:nvSpPr>
        <p:spPr>
          <a:xfrm>
            <a:off x="365760" y="6291072"/>
            <a:ext cx="8001000" cy="365760"/>
          </a:xfrm>
          <a:prstGeom prst="rect">
            <a:avLst/>
          </a:prstGeom>
          <a:noFill/>
        </p:spPr>
        <p:txBody>
          <a:bodyPr wrap="square" lIns="0" rIns="0" tIns="0" bIns="0">
            <a:spAutoFit/>
          </a:bodyPr>
          <a:lstStyle/>
          <a:p>
            <a:pPr>
              <a:lnSpc>
                <a:spcPct val="115000"/>
              </a:lnSpc>
              <a:spcAft>
                <a:spcPts val="0"/>
              </a:spcAft>
              <a:defRPr sz="800" b="0">
                <a:solidFill>
                  <a:srgbClr val="545B6D"/>
                </a:solidFill>
                <a:latin typeface="Arial"/>
              </a:defRPr>
            </a:pPr>
            <a:r>
              <a:t>Research assessment. Ratings are not calibrated probabilities.</a:t>
            </a:r>
          </a:p>
        </p:txBody>
      </p:sp>
      <p:sp>
        <p:nvSpPr>
          <p:cNvPr id="5" name="TextBox 4"/>
          <p:cNvSpPr txBox="1"/>
          <p:nvPr/>
        </p:nvSpPr>
        <p:spPr>
          <a:xfrm>
            <a:off x="8394192" y="6318504"/>
            <a:ext cx="365760" cy="228600"/>
          </a:xfrm>
          <a:prstGeom prst="rect">
            <a:avLst/>
          </a:prstGeom>
          <a:noFill/>
        </p:spPr>
        <p:txBody>
          <a:bodyPr wrap="square" lIns="0" rIns="0" tIns="0" bIns="0">
            <a:spAutoFit/>
          </a:bodyPr>
          <a:lstStyle/>
          <a:p>
            <a:pPr>
              <a:lnSpc>
                <a:spcPct val="115000"/>
              </a:lnSpc>
              <a:spcAft>
                <a:spcPts val="0"/>
              </a:spcAft>
              <a:defRPr sz="900" b="0">
                <a:solidFill>
                  <a:srgbClr val="545B6D"/>
                </a:solidFill>
                <a:latin typeface="Arial"/>
              </a:defRPr>
            </a:pPr>
            <a:r>
              <a:t>10</a:t>
            </a:r>
          </a:p>
        </p:txBody>
      </p:sp>
      <p:graphicFrame>
        <p:nvGraphicFramePr>
          <p:cNvPr id="6" name="Table 5"/>
          <p:cNvGraphicFramePr>
            <a:graphicFrameLocks noGrp="1"/>
          </p:cNvGraphicFramePr>
          <p:nvPr/>
        </p:nvGraphicFramePr>
        <p:xfrm>
          <a:off x="365760" y="1353312"/>
          <a:ext cx="8412479" cy="347472"/>
        </p:xfrm>
        <a:graphic>
          <a:graphicData uri="http://schemas.openxmlformats.org/drawingml/2006/table">
            <a:tbl>
              <a:tblPr firstRow="1" bandRow="1">
                <a:tableStyleId>{5C22544A-7EE6-4342-B048-85BDC9FD1C3A}</a:tableStyleId>
              </a:tblPr>
              <a:tblGrid>
                <a:gridCol w="2271369"/>
                <a:gridCol w="6141110"/>
              </a:tblGrid>
              <a:tr h="347472">
                <a:tc>
                  <a:txBody>
                    <a:bodyPr wrap="none"/>
                    <a:lstStyle/>
                    <a:p>
                      <a:pPr>
                        <a:lnSpc>
                          <a:spcPts val="1600"/>
                        </a:lnSpc>
                        <a:spcAft>
                          <a:spcPts val="0"/>
                        </a:spcAft>
                        <a:defRPr sz="1200" b="1">
                          <a:solidFill>
                            <a:srgbClr val="FFFFFF"/>
                          </a:solidFill>
                          <a:latin typeface="Arial"/>
                        </a:defRPr>
                      </a:pPr>
                      <a:r>
                        <a:t>Field</a:t>
                      </a:r>
                    </a:p>
                  </a:txBody>
                  <a:tcPr marL="82296" marR="82296" marT="64008" marB="64008">
                    <a:solidFill>
                      <a:srgbClr val="16787C"/>
                    </a:solidFill>
                  </a:tcPr>
                </a:tc>
                <a:tc>
                  <a:txBody>
                    <a:bodyPr wrap="none"/>
                    <a:lstStyle/>
                    <a:p>
                      <a:pPr>
                        <a:lnSpc>
                          <a:spcPts val="1600"/>
                        </a:lnSpc>
                        <a:spcAft>
                          <a:spcPts val="0"/>
                        </a:spcAft>
                        <a:defRPr sz="1200" b="1">
                          <a:solidFill>
                            <a:srgbClr val="FFFFFF"/>
                          </a:solidFill>
                          <a:latin typeface="Arial"/>
                        </a:defRPr>
                      </a:pPr>
                      <a:r>
                        <a:t>Recorded detail</a:t>
                      </a:r>
                    </a:p>
                  </a:txBody>
                  <a:tcPr marL="82296" marR="82296" marT="64008" marB="64008">
                    <a:solidFill>
                      <a:srgbClr val="16787C"/>
                    </a:solidFill>
                  </a:tcPr>
                </a:tc>
              </a:tr>
            </a:tbl>
          </a:graphicData>
        </a:graphic>
      </p:graphicFrame>
      <p:graphicFrame>
        <p:nvGraphicFramePr>
          <p:cNvPr id="7" name="Table 6"/>
          <p:cNvGraphicFramePr>
            <a:graphicFrameLocks noGrp="1"/>
          </p:cNvGraphicFramePr>
          <p:nvPr/>
        </p:nvGraphicFramePr>
        <p:xfrm>
          <a:off x="365760" y="1700784"/>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Provider</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C2PA Content Credentials</a:t>
                      </a:r>
                    </a:p>
                  </a:txBody>
                  <a:tcPr marL="82296" marR="82296" marT="64008" marB="64008">
                    <a:solidFill>
                      <a:srgbClr val="F1F7F7"/>
                    </a:solidFill>
                  </a:tcPr>
                </a:tc>
              </a:tr>
            </a:tbl>
          </a:graphicData>
        </a:graphic>
      </p:graphicFrame>
      <p:graphicFrame>
        <p:nvGraphicFramePr>
          <p:cNvPr id="8" name="Table 7"/>
          <p:cNvGraphicFramePr>
            <a:graphicFrameLocks noGrp="1"/>
          </p:cNvGraphicFramePr>
          <p:nvPr/>
        </p:nvGraphicFramePr>
        <p:xfrm>
          <a:off x="365760" y="2050288"/>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Model</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Not recorded</a:t>
                      </a:r>
                    </a:p>
                  </a:txBody>
                  <a:tcPr marL="82296" marR="82296" marT="64008" marB="64008">
                    <a:solidFill>
                      <a:srgbClr val="FFFFFF"/>
                    </a:solidFill>
                  </a:tcPr>
                </a:tc>
              </a:tr>
            </a:tbl>
          </a:graphicData>
        </a:graphic>
      </p:graphicFrame>
      <p:graphicFrame>
        <p:nvGraphicFramePr>
          <p:cNvPr id="9" name="Table 8"/>
          <p:cNvGraphicFramePr>
            <a:graphicFrameLocks noGrp="1"/>
          </p:cNvGraphicFramePr>
          <p:nvPr/>
        </p:nvGraphicFramePr>
        <p:xfrm>
          <a:off x="365760" y="2399792"/>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Status</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ok</a:t>
                      </a:r>
                    </a:p>
                  </a:txBody>
                  <a:tcPr marL="82296" marR="82296" marT="64008" marB="64008">
                    <a:solidFill>
                      <a:srgbClr val="F1F7F7"/>
                    </a:solidFill>
                  </a:tcPr>
                </a:tc>
              </a:tr>
            </a:tbl>
          </a:graphicData>
        </a:graphic>
      </p:graphicFrame>
      <p:graphicFrame>
        <p:nvGraphicFramePr>
          <p:cNvPr id="10" name="Table 9"/>
          <p:cNvGraphicFramePr>
            <a:graphicFrameLocks noGrp="1"/>
          </p:cNvGraphicFramePr>
          <p:nvPr/>
        </p:nvGraphicFramePr>
        <p:xfrm>
          <a:off x="365760" y="2749296"/>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Assessment</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inconclusive</a:t>
                      </a:r>
                    </a:p>
                  </a:txBody>
                  <a:tcPr marL="82296" marR="82296" marT="64008" marB="64008">
                    <a:solidFill>
                      <a:srgbClr val="FFFFFF"/>
                    </a:solidFill>
                  </a:tcPr>
                </a:tc>
              </a:tr>
            </a:tbl>
          </a:graphicData>
        </a:graphic>
      </p:graphicFrame>
      <p:graphicFrame>
        <p:nvGraphicFramePr>
          <p:cNvPr id="11" name="Table 10"/>
          <p:cNvGraphicFramePr>
            <a:graphicFrameLocks noGrp="1"/>
          </p:cNvGraphicFramePr>
          <p:nvPr/>
        </p:nvGraphicFramePr>
        <p:xfrm>
          <a:off x="365760" y="3098800"/>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Confidence</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Not recorded</a:t>
                      </a:r>
                    </a:p>
                  </a:txBody>
                  <a:tcPr marL="82296" marR="82296" marT="64008" marB="64008">
                    <a:solidFill>
                      <a:srgbClr val="F1F7F7"/>
                    </a:solidFill>
                  </a:tcPr>
                </a:tc>
              </a:tr>
            </a:tbl>
          </a:graphicData>
        </a:graphic>
      </p:graphicFrame>
      <p:graphicFrame>
        <p:nvGraphicFramePr>
          <p:cNvPr id="12" name="Table 11"/>
          <p:cNvGraphicFramePr>
            <a:graphicFrameLocks noGrp="1"/>
          </p:cNvGraphicFramePr>
          <p:nvPr/>
        </p:nvGraphicFramePr>
        <p:xfrm>
          <a:off x="365760" y="3448304"/>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Role in assessment</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Additional finding</a:t>
                      </a:r>
                    </a:p>
                  </a:txBody>
                  <a:tcPr marL="82296" marR="82296" marT="64008" marB="64008">
                    <a:solidFill>
                      <a:srgbClr val="FFFFFF"/>
                    </a:solidFill>
                  </a:tcPr>
                </a:tc>
              </a:tr>
            </a:tbl>
          </a:graphicData>
        </a:graphic>
      </p:graphicFrame>
      <p:graphicFrame>
        <p:nvGraphicFramePr>
          <p:cNvPr id="13" name="Table 12"/>
          <p:cNvGraphicFramePr>
            <a:graphicFrameLocks noGrp="1"/>
          </p:cNvGraphicFramePr>
          <p:nvPr/>
        </p:nvGraphicFramePr>
        <p:xfrm>
          <a:off x="365760" y="3797808"/>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Provider summary</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Embedded credentials: none found. Origin remains unresolved by this check.</a:t>
                      </a:r>
                    </a:p>
                  </a:txBody>
                  <a:tcPr marL="82296" marR="82296" marT="64008" marB="64008">
                    <a:solidFill>
                      <a:srgbClr val="F1F7F7"/>
                    </a:solidFill>
                  </a:tcPr>
                </a:tc>
              </a:tr>
            </a:tbl>
          </a:graphicData>
        </a:graphic>
      </p:graphicFrame>
      <p:graphicFrame>
        <p:nvGraphicFramePr>
          <p:cNvPr id="14" name="Table 13"/>
          <p:cNvGraphicFramePr>
            <a:graphicFrameLocks noGrp="1"/>
          </p:cNvGraphicFramePr>
          <p:nvPr/>
        </p:nvGraphicFramePr>
        <p:xfrm>
          <a:off x="365760" y="4147312"/>
          <a:ext cx="8412479" cy="552704"/>
        </p:xfrm>
        <a:graphic>
          <a:graphicData uri="http://schemas.openxmlformats.org/drawingml/2006/table">
            <a:tbl>
              <a:tblPr firstRow="1" bandRow="1">
                <a:tableStyleId>{5C22544A-7EE6-4342-B048-85BDC9FD1C3A}</a:tableStyleId>
              </a:tblPr>
              <a:tblGrid>
                <a:gridCol w="2271369"/>
                <a:gridCol w="6141110"/>
              </a:tblGrid>
              <a:tr h="552704">
                <a:tc>
                  <a:txBody>
                    <a:bodyPr wrap="none"/>
                    <a:lstStyle/>
                    <a:p>
                      <a:pPr>
                        <a:lnSpc>
                          <a:spcPts val="1600"/>
                        </a:lnSpc>
                        <a:spcAft>
                          <a:spcPts val="0"/>
                        </a:spcAft>
                        <a:defRPr sz="1200" b="0">
                          <a:solidFill>
                            <a:srgbClr val="21243A"/>
                          </a:solidFill>
                          <a:latin typeface="Arial"/>
                        </a:defRPr>
                      </a:pPr>
                      <a:r>
                        <a:t>Evidence 1</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Coverage: credentials embedded in the submitted file. External credentials were</a:t>
                      </a:r>
                    </a:p>
                    <a:p>
                      <a:pPr>
                        <a:lnSpc>
                          <a:spcPts val="1600"/>
                        </a:lnSpc>
                        <a:spcAft>
                          <a:spcPts val="0"/>
                        </a:spcAft>
                        <a:defRPr sz="1200" b="0">
                          <a:solidFill>
                            <a:srgbClr val="21243A"/>
                          </a:solidFill>
                          <a:latin typeface="Arial"/>
                        </a:defRPr>
                      </a:pPr>
                      <a:r>
                        <a:t>not retrieved.</a:t>
                      </a:r>
                    </a:p>
                  </a:txBody>
                  <a:tcPr marL="82296" marR="82296" marT="64008" marB="64008">
                    <a:solidFill>
                      <a:srgbClr val="FFFFFF"/>
                    </a:solidFill>
                  </a:tcPr>
                </a:tc>
              </a:tr>
            </a:tbl>
          </a:graphicData>
        </a:graphic>
      </p:graphicFrame>
      <p:graphicFrame>
        <p:nvGraphicFramePr>
          <p:cNvPr id="15" name="Table 14"/>
          <p:cNvGraphicFramePr>
            <a:graphicFrameLocks noGrp="1"/>
          </p:cNvGraphicFramePr>
          <p:nvPr/>
        </p:nvGraphicFramePr>
        <p:xfrm>
          <a:off x="365760" y="4700016"/>
          <a:ext cx="8412479" cy="552704"/>
        </p:xfrm>
        <a:graphic>
          <a:graphicData uri="http://schemas.openxmlformats.org/drawingml/2006/table">
            <a:tbl>
              <a:tblPr firstRow="1" bandRow="1">
                <a:tableStyleId>{5C22544A-7EE6-4342-B048-85BDC9FD1C3A}</a:tableStyleId>
              </a:tblPr>
              <a:tblGrid>
                <a:gridCol w="2271369"/>
                <a:gridCol w="6141110"/>
              </a:tblGrid>
              <a:tr h="552704">
                <a:tc>
                  <a:txBody>
                    <a:bodyPr wrap="none"/>
                    <a:lstStyle/>
                    <a:p>
                      <a:pPr>
                        <a:lnSpc>
                          <a:spcPts val="1600"/>
                        </a:lnSpc>
                        <a:spcAft>
                          <a:spcPts val="0"/>
                        </a:spcAft>
                        <a:defRPr sz="1200" b="0">
                          <a:solidFill>
                            <a:srgbClr val="21243A"/>
                          </a:solidFill>
                          <a:latin typeface="Arial"/>
                        </a:defRPr>
                      </a:pPr>
                      <a:r>
                        <a:t>Evidence 2</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Verifier: c2pa-python 0.37.12; native SDK 0.91.0; specification target 2.4; policy</a:t>
                      </a:r>
                    </a:p>
                    <a:p>
                      <a:pPr>
                        <a:lnSpc>
                          <a:spcPts val="1600"/>
                        </a:lnSpc>
                        <a:spcAft>
                          <a:spcPts val="0"/>
                        </a:spcAft>
                        <a:defRPr sz="1200" b="0">
                          <a:solidFill>
                            <a:srgbClr val="21243A"/>
                          </a:solidFill>
                          <a:latin typeface="Arial"/>
                        </a:defRPr>
                      </a:pPr>
                      <a:r>
                        <a:t>embedded-offline-reviewed-trust-v3.</a:t>
                      </a:r>
                    </a:p>
                  </a:txBody>
                  <a:tcPr marL="82296" marR="82296" marT="64008" marB="64008">
                    <a:solidFill>
                      <a:srgbClr val="F1F7F7"/>
                    </a:solidFill>
                  </a:tcPr>
                </a:tc>
              </a:tr>
            </a:tbl>
          </a:graphicData>
        </a:graphic>
      </p:graphicFrame>
      <p:graphicFrame>
        <p:nvGraphicFramePr>
          <p:cNvPr id="16" name="Table 15"/>
          <p:cNvGraphicFramePr>
            <a:graphicFrameLocks noGrp="1"/>
          </p:cNvGraphicFramePr>
          <p:nvPr/>
        </p:nvGraphicFramePr>
        <p:xfrm>
          <a:off x="365760" y="5252720"/>
          <a:ext cx="8412479" cy="552704"/>
        </p:xfrm>
        <a:graphic>
          <a:graphicData uri="http://schemas.openxmlformats.org/drawingml/2006/table">
            <a:tbl>
              <a:tblPr firstRow="1" bandRow="1">
                <a:tableStyleId>{5C22544A-7EE6-4342-B048-85BDC9FD1C3A}</a:tableStyleId>
              </a:tblPr>
              <a:tblGrid>
                <a:gridCol w="2271369"/>
                <a:gridCol w="6141110"/>
              </a:tblGrid>
              <a:tr h="552704">
                <a:tc>
                  <a:txBody>
                    <a:bodyPr wrap="none"/>
                    <a:lstStyle/>
                    <a:p>
                      <a:pPr>
                        <a:lnSpc>
                          <a:spcPts val="1600"/>
                        </a:lnSpc>
                        <a:spcAft>
                          <a:spcPts val="0"/>
                        </a:spcAft>
                        <a:defRPr sz="1200" b="0">
                          <a:solidFill>
                            <a:srgbClr val="21243A"/>
                          </a:solidFill>
                          <a:latin typeface="Arial"/>
                        </a:defRPr>
                      </a:pPr>
                      <a:r>
                        <a:t>Evidence 3</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Offline embedded-manifest verification; no network trust-list, manifest or</a:t>
                      </a:r>
                    </a:p>
                    <a:p>
                      <a:pPr>
                        <a:lnSpc>
                          <a:spcPts val="1600"/>
                        </a:lnSpc>
                        <a:spcAft>
                          <a:spcPts val="0"/>
                        </a:spcAft>
                        <a:defRPr sz="1200" b="0">
                          <a:solidFill>
                            <a:srgbClr val="21243A"/>
                          </a:solidFill>
                          <a:latin typeface="Arial"/>
                        </a:defRPr>
                      </a:pPr>
                      <a:r>
                        <a:t>revocation refresh.</a:t>
                      </a:r>
                    </a:p>
                  </a:txBody>
                  <a:tcPr marL="82296" marR="82296" marT="64008" marB="64008">
                    <a:solidFill>
                      <a:srgbClr val="FFFFF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412480" cy="228600"/>
          </a:xfrm>
          <a:prstGeom prst="rect">
            <a:avLst/>
          </a:prstGeom>
          <a:noFill/>
        </p:spPr>
        <p:txBody>
          <a:bodyPr wrap="square" lIns="0" rIns="0" tIns="0" bIns="0">
            <a:spAutoFit/>
          </a:bodyPr>
          <a:lstStyle/>
          <a:p>
            <a:pPr>
              <a:lnSpc>
                <a:spcPct val="115000"/>
              </a:lnSpc>
              <a:spcAft>
                <a:spcPts val="0"/>
              </a:spcAft>
              <a:defRPr sz="1100" b="1">
                <a:solidFill>
                  <a:srgbClr val="C5006A"/>
                </a:solidFill>
                <a:latin typeface="Arial"/>
              </a:defRPr>
            </a:pPr>
            <a:r>
              <a:t>SDA VISION / RESEARCH REPORT</a:t>
            </a:r>
          </a:p>
        </p:txBody>
      </p:sp>
      <p:sp>
        <p:nvSpPr>
          <p:cNvPr id="3" name="TextBox 2"/>
          <p:cNvSpPr txBox="1"/>
          <p:nvPr/>
        </p:nvSpPr>
        <p:spPr>
          <a:xfrm>
            <a:off x="365760" y="658368"/>
            <a:ext cx="8412480" cy="612648"/>
          </a:xfrm>
          <a:prstGeom prst="rect">
            <a:avLst/>
          </a:prstGeom>
          <a:noFill/>
        </p:spPr>
        <p:txBody>
          <a:bodyPr wrap="square" lIns="0" rIns="0" tIns="0" bIns="0">
            <a:spAutoFit/>
          </a:bodyPr>
          <a:lstStyle/>
          <a:p>
            <a:pPr>
              <a:lnSpc>
                <a:spcPct val="115000"/>
              </a:lnSpc>
              <a:spcAft>
                <a:spcPts val="0"/>
              </a:spcAft>
              <a:defRPr sz="2200" b="1">
                <a:solidFill>
                  <a:srgbClr val="21243A"/>
                </a:solidFill>
                <a:latin typeface="Arial"/>
              </a:defRPr>
            </a:pPr>
            <a:r>
              <a:t>Content Credentials / provenance (continued)</a:t>
            </a:r>
          </a:p>
        </p:txBody>
      </p:sp>
      <p:sp>
        <p:nvSpPr>
          <p:cNvPr id="4" name="TextBox 3"/>
          <p:cNvSpPr txBox="1"/>
          <p:nvPr/>
        </p:nvSpPr>
        <p:spPr>
          <a:xfrm>
            <a:off x="365760" y="6291072"/>
            <a:ext cx="8001000" cy="365760"/>
          </a:xfrm>
          <a:prstGeom prst="rect">
            <a:avLst/>
          </a:prstGeom>
          <a:noFill/>
        </p:spPr>
        <p:txBody>
          <a:bodyPr wrap="square" lIns="0" rIns="0" tIns="0" bIns="0">
            <a:spAutoFit/>
          </a:bodyPr>
          <a:lstStyle/>
          <a:p>
            <a:pPr>
              <a:lnSpc>
                <a:spcPct val="115000"/>
              </a:lnSpc>
              <a:spcAft>
                <a:spcPts val="0"/>
              </a:spcAft>
              <a:defRPr sz="800" b="0">
                <a:solidFill>
                  <a:srgbClr val="545B6D"/>
                </a:solidFill>
                <a:latin typeface="Arial"/>
              </a:defRPr>
            </a:pPr>
            <a:r>
              <a:t>Research assessment. Ratings are not calibrated probabilities.</a:t>
            </a:r>
          </a:p>
        </p:txBody>
      </p:sp>
      <p:sp>
        <p:nvSpPr>
          <p:cNvPr id="5" name="TextBox 4"/>
          <p:cNvSpPr txBox="1"/>
          <p:nvPr/>
        </p:nvSpPr>
        <p:spPr>
          <a:xfrm>
            <a:off x="8394192" y="6318504"/>
            <a:ext cx="365760" cy="228600"/>
          </a:xfrm>
          <a:prstGeom prst="rect">
            <a:avLst/>
          </a:prstGeom>
          <a:noFill/>
        </p:spPr>
        <p:txBody>
          <a:bodyPr wrap="square" lIns="0" rIns="0" tIns="0" bIns="0">
            <a:spAutoFit/>
          </a:bodyPr>
          <a:lstStyle/>
          <a:p>
            <a:pPr>
              <a:lnSpc>
                <a:spcPct val="115000"/>
              </a:lnSpc>
              <a:spcAft>
                <a:spcPts val="0"/>
              </a:spcAft>
              <a:defRPr sz="900" b="0">
                <a:solidFill>
                  <a:srgbClr val="545B6D"/>
                </a:solidFill>
                <a:latin typeface="Arial"/>
              </a:defRPr>
            </a:pPr>
            <a:r>
              <a:t>11</a:t>
            </a:r>
          </a:p>
        </p:txBody>
      </p:sp>
      <p:graphicFrame>
        <p:nvGraphicFramePr>
          <p:cNvPr id="6" name="Table 5"/>
          <p:cNvGraphicFramePr>
            <a:graphicFrameLocks noGrp="1"/>
          </p:cNvGraphicFramePr>
          <p:nvPr/>
        </p:nvGraphicFramePr>
        <p:xfrm>
          <a:off x="365760" y="1353312"/>
          <a:ext cx="8412479" cy="347472"/>
        </p:xfrm>
        <a:graphic>
          <a:graphicData uri="http://schemas.openxmlformats.org/drawingml/2006/table">
            <a:tbl>
              <a:tblPr firstRow="1" bandRow="1">
                <a:tableStyleId>{5C22544A-7EE6-4342-B048-85BDC9FD1C3A}</a:tableStyleId>
              </a:tblPr>
              <a:tblGrid>
                <a:gridCol w="2271369"/>
                <a:gridCol w="6141110"/>
              </a:tblGrid>
              <a:tr h="347472">
                <a:tc>
                  <a:txBody>
                    <a:bodyPr wrap="none"/>
                    <a:lstStyle/>
                    <a:p>
                      <a:pPr>
                        <a:lnSpc>
                          <a:spcPts val="1600"/>
                        </a:lnSpc>
                        <a:spcAft>
                          <a:spcPts val="0"/>
                        </a:spcAft>
                        <a:defRPr sz="1200" b="1">
                          <a:solidFill>
                            <a:srgbClr val="FFFFFF"/>
                          </a:solidFill>
                          <a:latin typeface="Arial"/>
                        </a:defRPr>
                      </a:pPr>
                      <a:r>
                        <a:t>Field</a:t>
                      </a:r>
                    </a:p>
                  </a:txBody>
                  <a:tcPr marL="82296" marR="82296" marT="64008" marB="64008">
                    <a:solidFill>
                      <a:srgbClr val="16787C"/>
                    </a:solidFill>
                  </a:tcPr>
                </a:tc>
                <a:tc>
                  <a:txBody>
                    <a:bodyPr wrap="none"/>
                    <a:lstStyle/>
                    <a:p>
                      <a:pPr>
                        <a:lnSpc>
                          <a:spcPts val="1600"/>
                        </a:lnSpc>
                        <a:spcAft>
                          <a:spcPts val="0"/>
                        </a:spcAft>
                        <a:defRPr sz="1200" b="1">
                          <a:solidFill>
                            <a:srgbClr val="FFFFFF"/>
                          </a:solidFill>
                          <a:latin typeface="Arial"/>
                        </a:defRPr>
                      </a:pPr>
                      <a:r>
                        <a:t>Recorded detail</a:t>
                      </a:r>
                    </a:p>
                  </a:txBody>
                  <a:tcPr marL="82296" marR="82296" marT="64008" marB="64008">
                    <a:solidFill>
                      <a:srgbClr val="16787C"/>
                    </a:solidFill>
                  </a:tcPr>
                </a:tc>
              </a:tr>
            </a:tbl>
          </a:graphicData>
        </a:graphic>
      </p:graphicFrame>
      <p:graphicFrame>
        <p:nvGraphicFramePr>
          <p:cNvPr id="7" name="Table 6"/>
          <p:cNvGraphicFramePr>
            <a:graphicFrameLocks noGrp="1"/>
          </p:cNvGraphicFramePr>
          <p:nvPr/>
        </p:nvGraphicFramePr>
        <p:xfrm>
          <a:off x="365760" y="1700784"/>
          <a:ext cx="8412479" cy="552704"/>
        </p:xfrm>
        <a:graphic>
          <a:graphicData uri="http://schemas.openxmlformats.org/drawingml/2006/table">
            <a:tbl>
              <a:tblPr firstRow="1" bandRow="1">
                <a:tableStyleId>{5C22544A-7EE6-4342-B048-85BDC9FD1C3A}</a:tableStyleId>
              </a:tblPr>
              <a:tblGrid>
                <a:gridCol w="2271369"/>
                <a:gridCol w="6141110"/>
              </a:tblGrid>
              <a:tr h="552704">
                <a:tc>
                  <a:txBody>
                    <a:bodyPr wrap="none"/>
                    <a:lstStyle/>
                    <a:p>
                      <a:pPr>
                        <a:lnSpc>
                          <a:spcPts val="1600"/>
                        </a:lnSpc>
                        <a:spcAft>
                          <a:spcPts val="0"/>
                        </a:spcAft>
                        <a:defRPr sz="1200" b="0">
                          <a:solidFill>
                            <a:srgbClr val="21243A"/>
                          </a:solidFill>
                          <a:latin typeface="Arial"/>
                        </a:defRPr>
                      </a:pPr>
                      <a:r>
                        <a:t>Evidence 4</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No reviewed local C2PA trust snapshot installed. Provenance overrides are</a:t>
                      </a:r>
                    </a:p>
                    <a:p>
                      <a:pPr>
                        <a:lnSpc>
                          <a:spcPts val="1600"/>
                        </a:lnSpc>
                        <a:spcAft>
                          <a:spcPts val="0"/>
                        </a:spcAft>
                        <a:defRPr sz="1200" b="0">
                          <a:solidFill>
                            <a:srgbClr val="21243A"/>
                          </a:solidFill>
                          <a:latin typeface="Arial"/>
                        </a:defRPr>
                      </a:pPr>
                      <a:r>
                        <a:t>disabled.</a:t>
                      </a:r>
                    </a:p>
                  </a:txBody>
                  <a:tcPr marL="82296" marR="82296" marT="64008" marB="64008">
                    <a:solidFill>
                      <a:srgbClr val="F1F7F7"/>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412480" cy="228600"/>
          </a:xfrm>
          <a:prstGeom prst="rect">
            <a:avLst/>
          </a:prstGeom>
          <a:noFill/>
        </p:spPr>
        <p:txBody>
          <a:bodyPr wrap="square" lIns="0" rIns="0" tIns="0" bIns="0">
            <a:spAutoFit/>
          </a:bodyPr>
          <a:lstStyle/>
          <a:p>
            <a:pPr>
              <a:lnSpc>
                <a:spcPct val="115000"/>
              </a:lnSpc>
              <a:spcAft>
                <a:spcPts val="0"/>
              </a:spcAft>
              <a:defRPr sz="1100" b="1">
                <a:solidFill>
                  <a:srgbClr val="C5006A"/>
                </a:solidFill>
                <a:latin typeface="Arial"/>
              </a:defRPr>
            </a:pPr>
            <a:r>
              <a:t>SDA VISION / RESEARCH REPORT</a:t>
            </a:r>
          </a:p>
        </p:txBody>
      </p:sp>
      <p:sp>
        <p:nvSpPr>
          <p:cNvPr id="3" name="TextBox 2"/>
          <p:cNvSpPr txBox="1"/>
          <p:nvPr/>
        </p:nvSpPr>
        <p:spPr>
          <a:xfrm>
            <a:off x="365760" y="658368"/>
            <a:ext cx="8412480" cy="612648"/>
          </a:xfrm>
          <a:prstGeom prst="rect">
            <a:avLst/>
          </a:prstGeom>
          <a:noFill/>
        </p:spPr>
        <p:txBody>
          <a:bodyPr wrap="square" lIns="0" rIns="0" tIns="0" bIns="0">
            <a:spAutoFit/>
          </a:bodyPr>
          <a:lstStyle/>
          <a:p>
            <a:pPr>
              <a:lnSpc>
                <a:spcPct val="115000"/>
              </a:lnSpc>
              <a:spcAft>
                <a:spcPts val="0"/>
              </a:spcAft>
              <a:defRPr sz="2200" b="1">
                <a:solidFill>
                  <a:srgbClr val="21243A"/>
                </a:solidFill>
                <a:latin typeface="Arial"/>
              </a:defRPr>
            </a:pPr>
            <a:r>
              <a:t>Provider evidence / 5</a:t>
            </a:r>
          </a:p>
        </p:txBody>
      </p:sp>
      <p:sp>
        <p:nvSpPr>
          <p:cNvPr id="4" name="TextBox 3"/>
          <p:cNvSpPr txBox="1"/>
          <p:nvPr/>
        </p:nvSpPr>
        <p:spPr>
          <a:xfrm>
            <a:off x="365760" y="6291072"/>
            <a:ext cx="8001000" cy="365760"/>
          </a:xfrm>
          <a:prstGeom prst="rect">
            <a:avLst/>
          </a:prstGeom>
          <a:noFill/>
        </p:spPr>
        <p:txBody>
          <a:bodyPr wrap="square" lIns="0" rIns="0" tIns="0" bIns="0">
            <a:spAutoFit/>
          </a:bodyPr>
          <a:lstStyle/>
          <a:p>
            <a:pPr>
              <a:lnSpc>
                <a:spcPct val="115000"/>
              </a:lnSpc>
              <a:spcAft>
                <a:spcPts val="0"/>
              </a:spcAft>
              <a:defRPr sz="800" b="0">
                <a:solidFill>
                  <a:srgbClr val="545B6D"/>
                </a:solidFill>
                <a:latin typeface="Arial"/>
              </a:defRPr>
            </a:pPr>
            <a:r>
              <a:t>Research assessment. Ratings are not calibrated probabilities.</a:t>
            </a:r>
          </a:p>
        </p:txBody>
      </p:sp>
      <p:sp>
        <p:nvSpPr>
          <p:cNvPr id="5" name="TextBox 4"/>
          <p:cNvSpPr txBox="1"/>
          <p:nvPr/>
        </p:nvSpPr>
        <p:spPr>
          <a:xfrm>
            <a:off x="8394192" y="6318504"/>
            <a:ext cx="365760" cy="228600"/>
          </a:xfrm>
          <a:prstGeom prst="rect">
            <a:avLst/>
          </a:prstGeom>
          <a:noFill/>
        </p:spPr>
        <p:txBody>
          <a:bodyPr wrap="square" lIns="0" rIns="0" tIns="0" bIns="0">
            <a:spAutoFit/>
          </a:bodyPr>
          <a:lstStyle/>
          <a:p>
            <a:pPr>
              <a:lnSpc>
                <a:spcPct val="115000"/>
              </a:lnSpc>
              <a:spcAft>
                <a:spcPts val="0"/>
              </a:spcAft>
              <a:defRPr sz="900" b="0">
                <a:solidFill>
                  <a:srgbClr val="545B6D"/>
                </a:solidFill>
                <a:latin typeface="Arial"/>
              </a:defRPr>
            </a:pPr>
            <a:r>
              <a:t>12</a:t>
            </a:r>
          </a:p>
        </p:txBody>
      </p:sp>
      <p:graphicFrame>
        <p:nvGraphicFramePr>
          <p:cNvPr id="6" name="Table 5"/>
          <p:cNvGraphicFramePr>
            <a:graphicFrameLocks noGrp="1"/>
          </p:cNvGraphicFramePr>
          <p:nvPr/>
        </p:nvGraphicFramePr>
        <p:xfrm>
          <a:off x="365760" y="1353312"/>
          <a:ext cx="8412479" cy="347472"/>
        </p:xfrm>
        <a:graphic>
          <a:graphicData uri="http://schemas.openxmlformats.org/drawingml/2006/table">
            <a:tbl>
              <a:tblPr firstRow="1" bandRow="1">
                <a:tableStyleId>{5C22544A-7EE6-4342-B048-85BDC9FD1C3A}</a:tableStyleId>
              </a:tblPr>
              <a:tblGrid>
                <a:gridCol w="2271369"/>
                <a:gridCol w="6141110"/>
              </a:tblGrid>
              <a:tr h="347472">
                <a:tc>
                  <a:txBody>
                    <a:bodyPr wrap="none"/>
                    <a:lstStyle/>
                    <a:p>
                      <a:pPr>
                        <a:lnSpc>
                          <a:spcPts val="1600"/>
                        </a:lnSpc>
                        <a:spcAft>
                          <a:spcPts val="0"/>
                        </a:spcAft>
                        <a:defRPr sz="1200" b="1">
                          <a:solidFill>
                            <a:srgbClr val="FFFFFF"/>
                          </a:solidFill>
                          <a:latin typeface="Arial"/>
                        </a:defRPr>
                      </a:pPr>
                      <a:r>
                        <a:t>Field</a:t>
                      </a:r>
                    </a:p>
                  </a:txBody>
                  <a:tcPr marL="82296" marR="82296" marT="64008" marB="64008">
                    <a:solidFill>
                      <a:srgbClr val="16787C"/>
                    </a:solidFill>
                  </a:tcPr>
                </a:tc>
                <a:tc>
                  <a:txBody>
                    <a:bodyPr wrap="none"/>
                    <a:lstStyle/>
                    <a:p>
                      <a:pPr>
                        <a:lnSpc>
                          <a:spcPts val="1600"/>
                        </a:lnSpc>
                        <a:spcAft>
                          <a:spcPts val="0"/>
                        </a:spcAft>
                        <a:defRPr sz="1200" b="1">
                          <a:solidFill>
                            <a:srgbClr val="FFFFFF"/>
                          </a:solidFill>
                          <a:latin typeface="Arial"/>
                        </a:defRPr>
                      </a:pPr>
                      <a:r>
                        <a:t>Recorded detail</a:t>
                      </a:r>
                    </a:p>
                  </a:txBody>
                  <a:tcPr marL="82296" marR="82296" marT="64008" marB="64008">
                    <a:solidFill>
                      <a:srgbClr val="16787C"/>
                    </a:solidFill>
                  </a:tcPr>
                </a:tc>
              </a:tr>
            </a:tbl>
          </a:graphicData>
        </a:graphic>
      </p:graphicFrame>
      <p:graphicFrame>
        <p:nvGraphicFramePr>
          <p:cNvPr id="7" name="Table 6"/>
          <p:cNvGraphicFramePr>
            <a:graphicFrameLocks noGrp="1"/>
          </p:cNvGraphicFramePr>
          <p:nvPr/>
        </p:nvGraphicFramePr>
        <p:xfrm>
          <a:off x="365760" y="1700784"/>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Provider</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Local forensic cues</a:t>
                      </a:r>
                    </a:p>
                  </a:txBody>
                  <a:tcPr marL="82296" marR="82296" marT="64008" marB="64008">
                    <a:solidFill>
                      <a:srgbClr val="F1F7F7"/>
                    </a:solidFill>
                  </a:tcPr>
                </a:tc>
              </a:tr>
            </a:tbl>
          </a:graphicData>
        </a:graphic>
      </p:graphicFrame>
      <p:graphicFrame>
        <p:nvGraphicFramePr>
          <p:cNvPr id="8" name="Table 7"/>
          <p:cNvGraphicFramePr>
            <a:graphicFrameLocks noGrp="1"/>
          </p:cNvGraphicFramePr>
          <p:nvPr/>
        </p:nvGraphicFramePr>
        <p:xfrm>
          <a:off x="365760" y="2050288"/>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Model</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Not recorded</a:t>
                      </a:r>
                    </a:p>
                  </a:txBody>
                  <a:tcPr marL="82296" marR="82296" marT="64008" marB="64008">
                    <a:solidFill>
                      <a:srgbClr val="FFFFFF"/>
                    </a:solidFill>
                  </a:tcPr>
                </a:tc>
              </a:tr>
            </a:tbl>
          </a:graphicData>
        </a:graphic>
      </p:graphicFrame>
      <p:graphicFrame>
        <p:nvGraphicFramePr>
          <p:cNvPr id="9" name="Table 8"/>
          <p:cNvGraphicFramePr>
            <a:graphicFrameLocks noGrp="1"/>
          </p:cNvGraphicFramePr>
          <p:nvPr/>
        </p:nvGraphicFramePr>
        <p:xfrm>
          <a:off x="365760" y="2399792"/>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Status</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ok</a:t>
                      </a:r>
                    </a:p>
                  </a:txBody>
                  <a:tcPr marL="82296" marR="82296" marT="64008" marB="64008">
                    <a:solidFill>
                      <a:srgbClr val="F1F7F7"/>
                    </a:solidFill>
                  </a:tcPr>
                </a:tc>
              </a:tr>
            </a:tbl>
          </a:graphicData>
        </a:graphic>
      </p:graphicFrame>
      <p:graphicFrame>
        <p:nvGraphicFramePr>
          <p:cNvPr id="10" name="Table 9"/>
          <p:cNvGraphicFramePr>
            <a:graphicFrameLocks noGrp="1"/>
          </p:cNvGraphicFramePr>
          <p:nvPr/>
        </p:nvGraphicFramePr>
        <p:xfrm>
          <a:off x="365760" y="2749296"/>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Assessment</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partially synthetic</a:t>
                      </a:r>
                    </a:p>
                  </a:txBody>
                  <a:tcPr marL="82296" marR="82296" marT="64008" marB="64008">
                    <a:solidFill>
                      <a:srgbClr val="FFFFFF"/>
                    </a:solidFill>
                  </a:tcPr>
                </a:tc>
              </a:tr>
            </a:tbl>
          </a:graphicData>
        </a:graphic>
      </p:graphicFrame>
      <p:graphicFrame>
        <p:nvGraphicFramePr>
          <p:cNvPr id="11" name="Table 10"/>
          <p:cNvGraphicFramePr>
            <a:graphicFrameLocks noGrp="1"/>
          </p:cNvGraphicFramePr>
          <p:nvPr/>
        </p:nvGraphicFramePr>
        <p:xfrm>
          <a:off x="365760" y="3098800"/>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Confidence</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low</a:t>
                      </a:r>
                    </a:p>
                  </a:txBody>
                  <a:tcPr marL="82296" marR="82296" marT="64008" marB="64008">
                    <a:solidFill>
                      <a:srgbClr val="F1F7F7"/>
                    </a:solidFill>
                  </a:tcPr>
                </a:tc>
              </a:tr>
            </a:tbl>
          </a:graphicData>
        </a:graphic>
      </p:graphicFrame>
      <p:graphicFrame>
        <p:nvGraphicFramePr>
          <p:cNvPr id="12" name="Table 11"/>
          <p:cNvGraphicFramePr>
            <a:graphicFrameLocks noGrp="1"/>
          </p:cNvGraphicFramePr>
          <p:nvPr/>
        </p:nvGraphicFramePr>
        <p:xfrm>
          <a:off x="365760" y="3448304"/>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Role in assessment</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Additional finding</a:t>
                      </a:r>
                    </a:p>
                  </a:txBody>
                  <a:tcPr marL="82296" marR="82296" marT="64008" marB="64008">
                    <a:solidFill>
                      <a:srgbClr val="FFFFFF"/>
                    </a:solidFill>
                  </a:tcPr>
                </a:tc>
              </a:tr>
            </a:tbl>
          </a:graphicData>
        </a:graphic>
      </p:graphicFrame>
      <p:graphicFrame>
        <p:nvGraphicFramePr>
          <p:cNvPr id="13" name="Table 12"/>
          <p:cNvGraphicFramePr>
            <a:graphicFrameLocks noGrp="1"/>
          </p:cNvGraphicFramePr>
          <p:nvPr/>
        </p:nvGraphicFramePr>
        <p:xfrm>
          <a:off x="365760" y="3797808"/>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Provider summary</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Heuristic synthetic likelihood 41/100 from metadata + pixel statistics.</a:t>
                      </a:r>
                    </a:p>
                  </a:txBody>
                  <a:tcPr marL="82296" marR="82296" marT="64008" marB="64008">
                    <a:solidFill>
                      <a:srgbClr val="F1F7F7"/>
                    </a:solidFill>
                  </a:tcPr>
                </a:tc>
              </a:tr>
            </a:tbl>
          </a:graphicData>
        </a:graphic>
      </p:graphicFrame>
      <p:graphicFrame>
        <p:nvGraphicFramePr>
          <p:cNvPr id="14" name="Table 13"/>
          <p:cNvGraphicFramePr>
            <a:graphicFrameLocks noGrp="1"/>
          </p:cNvGraphicFramePr>
          <p:nvPr/>
        </p:nvGraphicFramePr>
        <p:xfrm>
          <a:off x="365760" y="4147312"/>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Evidence 1</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No camera EXIF (common in AI exports, screenshots, and re-saves).</a:t>
                      </a:r>
                    </a:p>
                  </a:txBody>
                  <a:tcPr marL="82296" marR="82296" marT="64008" marB="64008">
                    <a:solidFill>
                      <a:srgbClr val="FFFFFF"/>
                    </a:solidFill>
                  </a:tcPr>
                </a:tc>
              </a:tr>
            </a:tbl>
          </a:graphicData>
        </a:graphic>
      </p:graphicFrame>
      <p:graphicFrame>
        <p:nvGraphicFramePr>
          <p:cNvPr id="15" name="Table 14"/>
          <p:cNvGraphicFramePr>
            <a:graphicFrameLocks noGrp="1"/>
          </p:cNvGraphicFramePr>
          <p:nvPr/>
        </p:nvGraphicFramePr>
        <p:xfrm>
          <a:off x="365760" y="4496816"/>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Evidence 2</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ELA mean 2.3, peak 74 (uniform high ELA can indicate generation/heavy edit).</a:t>
                      </a:r>
                    </a:p>
                  </a:txBody>
                  <a:tcPr marL="82296" marR="82296" marT="64008" marB="64008">
                    <a:solidFill>
                      <a:srgbClr val="F1F7F7"/>
                    </a:solidFill>
                  </a:tcPr>
                </a:tc>
              </a:tr>
            </a:tbl>
          </a:graphicData>
        </a:graphic>
      </p:graphicFrame>
      <p:graphicFrame>
        <p:nvGraphicFramePr>
          <p:cNvPr id="16" name="Table 15"/>
          <p:cNvGraphicFramePr>
            <a:graphicFrameLocks noGrp="1"/>
          </p:cNvGraphicFramePr>
          <p:nvPr/>
        </p:nvGraphicFramePr>
        <p:xfrm>
          <a:off x="365760" y="4846320"/>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Evidence 3</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High-frequency noise std 7.53 (very low/very uniform noise is a synthesis cue).</a:t>
                      </a:r>
                    </a:p>
                  </a:txBody>
                  <a:tcPr marL="82296" marR="82296" marT="64008" marB="64008">
                    <a:solidFill>
                      <a:srgbClr val="FFFFFF"/>
                    </a:solidFill>
                  </a:tcPr>
                </a:tc>
              </a:tr>
            </a:tbl>
          </a:graphicData>
        </a:graphic>
      </p:graphicFrame>
      <p:graphicFrame>
        <p:nvGraphicFramePr>
          <p:cNvPr id="17" name="Table 16"/>
          <p:cNvGraphicFramePr>
            <a:graphicFrameLocks noGrp="1"/>
          </p:cNvGraphicFramePr>
          <p:nvPr/>
        </p:nvGraphicFramePr>
        <p:xfrm>
          <a:off x="365760" y="5195824"/>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Evidence 4</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Spectral peakiness 22.81 (periodic frequency peaks can mark generated textures).</a:t>
                      </a:r>
                    </a:p>
                  </a:txBody>
                  <a:tcPr marL="82296" marR="82296" marT="64008" marB="64008">
                    <a:solidFill>
                      <a:srgbClr val="F1F7F7"/>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412480" cy="228600"/>
          </a:xfrm>
          <a:prstGeom prst="rect">
            <a:avLst/>
          </a:prstGeom>
          <a:noFill/>
        </p:spPr>
        <p:txBody>
          <a:bodyPr wrap="square" lIns="0" rIns="0" tIns="0" bIns="0">
            <a:spAutoFit/>
          </a:bodyPr>
          <a:lstStyle/>
          <a:p>
            <a:pPr>
              <a:lnSpc>
                <a:spcPct val="115000"/>
              </a:lnSpc>
              <a:spcAft>
                <a:spcPts val="0"/>
              </a:spcAft>
              <a:defRPr sz="1100" b="1">
                <a:solidFill>
                  <a:srgbClr val="C5006A"/>
                </a:solidFill>
                <a:latin typeface="Arial"/>
              </a:defRPr>
            </a:pPr>
            <a:r>
              <a:t>SDA VISION / RESEARCH REPORT</a:t>
            </a:r>
          </a:p>
        </p:txBody>
      </p:sp>
      <p:sp>
        <p:nvSpPr>
          <p:cNvPr id="3" name="TextBox 2"/>
          <p:cNvSpPr txBox="1"/>
          <p:nvPr/>
        </p:nvSpPr>
        <p:spPr>
          <a:xfrm>
            <a:off x="365760" y="658368"/>
            <a:ext cx="8412480" cy="612648"/>
          </a:xfrm>
          <a:prstGeom prst="rect">
            <a:avLst/>
          </a:prstGeom>
          <a:noFill/>
        </p:spPr>
        <p:txBody>
          <a:bodyPr wrap="square" lIns="0" rIns="0" tIns="0" bIns="0">
            <a:spAutoFit/>
          </a:bodyPr>
          <a:lstStyle/>
          <a:p>
            <a:pPr>
              <a:lnSpc>
                <a:spcPct val="115000"/>
              </a:lnSpc>
              <a:spcAft>
                <a:spcPts val="0"/>
              </a:spcAft>
              <a:defRPr sz="2200" b="1">
                <a:solidFill>
                  <a:srgbClr val="21243A"/>
                </a:solidFill>
                <a:latin typeface="Arial"/>
              </a:defRPr>
            </a:pPr>
            <a:r>
              <a:t>Evidence supporting this verdict</a:t>
            </a:r>
          </a:p>
        </p:txBody>
      </p:sp>
      <p:sp>
        <p:nvSpPr>
          <p:cNvPr id="4" name="TextBox 3"/>
          <p:cNvSpPr txBox="1"/>
          <p:nvPr/>
        </p:nvSpPr>
        <p:spPr>
          <a:xfrm>
            <a:off x="365760" y="6291072"/>
            <a:ext cx="8001000" cy="365760"/>
          </a:xfrm>
          <a:prstGeom prst="rect">
            <a:avLst/>
          </a:prstGeom>
          <a:noFill/>
        </p:spPr>
        <p:txBody>
          <a:bodyPr wrap="square" lIns="0" rIns="0" tIns="0" bIns="0">
            <a:spAutoFit/>
          </a:bodyPr>
          <a:lstStyle/>
          <a:p>
            <a:pPr>
              <a:lnSpc>
                <a:spcPct val="115000"/>
              </a:lnSpc>
              <a:spcAft>
                <a:spcPts val="0"/>
              </a:spcAft>
              <a:defRPr sz="800" b="0">
                <a:solidFill>
                  <a:srgbClr val="545B6D"/>
                </a:solidFill>
                <a:latin typeface="Arial"/>
              </a:defRPr>
            </a:pPr>
            <a:r>
              <a:t>Research assessment. Ratings are not calibrated probabilities.</a:t>
            </a:r>
          </a:p>
        </p:txBody>
      </p:sp>
      <p:sp>
        <p:nvSpPr>
          <p:cNvPr id="5" name="TextBox 4"/>
          <p:cNvSpPr txBox="1"/>
          <p:nvPr/>
        </p:nvSpPr>
        <p:spPr>
          <a:xfrm>
            <a:off x="8394192" y="6318504"/>
            <a:ext cx="365760" cy="228600"/>
          </a:xfrm>
          <a:prstGeom prst="rect">
            <a:avLst/>
          </a:prstGeom>
          <a:noFill/>
        </p:spPr>
        <p:txBody>
          <a:bodyPr wrap="square" lIns="0" rIns="0" tIns="0" bIns="0">
            <a:spAutoFit/>
          </a:bodyPr>
          <a:lstStyle/>
          <a:p>
            <a:pPr>
              <a:lnSpc>
                <a:spcPct val="115000"/>
              </a:lnSpc>
              <a:spcAft>
                <a:spcPts val="0"/>
              </a:spcAft>
              <a:defRPr sz="900" b="0">
                <a:solidFill>
                  <a:srgbClr val="545B6D"/>
                </a:solidFill>
                <a:latin typeface="Arial"/>
              </a:defRPr>
            </a:pPr>
            <a:r>
              <a:t>13</a:t>
            </a:r>
          </a:p>
        </p:txBody>
      </p:sp>
      <p:graphicFrame>
        <p:nvGraphicFramePr>
          <p:cNvPr id="6" name="Table 5"/>
          <p:cNvGraphicFramePr>
            <a:graphicFrameLocks noGrp="1"/>
          </p:cNvGraphicFramePr>
          <p:nvPr/>
        </p:nvGraphicFramePr>
        <p:xfrm>
          <a:off x="365760" y="1353312"/>
          <a:ext cx="8412479" cy="347472"/>
        </p:xfrm>
        <a:graphic>
          <a:graphicData uri="http://schemas.openxmlformats.org/drawingml/2006/table">
            <a:tbl>
              <a:tblPr firstRow="1" bandRow="1">
                <a:tableStyleId>{5C22544A-7EE6-4342-B048-85BDC9FD1C3A}</a:tableStyleId>
              </a:tblPr>
              <a:tblGrid>
                <a:gridCol w="2271369"/>
                <a:gridCol w="6141110"/>
              </a:tblGrid>
              <a:tr h="347472">
                <a:tc>
                  <a:txBody>
                    <a:bodyPr wrap="none"/>
                    <a:lstStyle/>
                    <a:p>
                      <a:pPr>
                        <a:lnSpc>
                          <a:spcPts val="1600"/>
                        </a:lnSpc>
                        <a:spcAft>
                          <a:spcPts val="0"/>
                        </a:spcAft>
                        <a:defRPr sz="1200" b="1">
                          <a:solidFill>
                            <a:srgbClr val="FFFFFF"/>
                          </a:solidFill>
                          <a:latin typeface="Arial"/>
                        </a:defRPr>
                      </a:pPr>
                      <a:r>
                        <a:t>Field</a:t>
                      </a:r>
                    </a:p>
                  </a:txBody>
                  <a:tcPr marL="82296" marR="82296" marT="64008" marB="64008">
                    <a:solidFill>
                      <a:srgbClr val="16787C"/>
                    </a:solidFill>
                  </a:tcPr>
                </a:tc>
                <a:tc>
                  <a:txBody>
                    <a:bodyPr wrap="none"/>
                    <a:lstStyle/>
                    <a:p>
                      <a:pPr>
                        <a:lnSpc>
                          <a:spcPts val="1600"/>
                        </a:lnSpc>
                        <a:spcAft>
                          <a:spcPts val="0"/>
                        </a:spcAft>
                        <a:defRPr sz="1200" b="1">
                          <a:solidFill>
                            <a:srgbClr val="FFFFFF"/>
                          </a:solidFill>
                          <a:latin typeface="Arial"/>
                        </a:defRPr>
                      </a:pPr>
                      <a:r>
                        <a:t>Recorded detail</a:t>
                      </a:r>
                    </a:p>
                  </a:txBody>
                  <a:tcPr marL="82296" marR="82296" marT="64008" marB="64008">
                    <a:solidFill>
                      <a:srgbClr val="16787C"/>
                    </a:solidFill>
                  </a:tcPr>
                </a:tc>
              </a:tr>
            </a:tbl>
          </a:graphicData>
        </a:graphic>
      </p:graphicFrame>
      <p:graphicFrame>
        <p:nvGraphicFramePr>
          <p:cNvPr id="7" name="Table 6"/>
          <p:cNvGraphicFramePr>
            <a:graphicFrameLocks noGrp="1"/>
          </p:cNvGraphicFramePr>
          <p:nvPr/>
        </p:nvGraphicFramePr>
        <p:xfrm>
          <a:off x="365760" y="1700784"/>
          <a:ext cx="8412479" cy="1162304"/>
        </p:xfrm>
        <a:graphic>
          <a:graphicData uri="http://schemas.openxmlformats.org/drawingml/2006/table">
            <a:tbl>
              <a:tblPr firstRow="1" bandRow="1">
                <a:tableStyleId>{5C22544A-7EE6-4342-B048-85BDC9FD1C3A}</a:tableStyleId>
              </a:tblPr>
              <a:tblGrid>
                <a:gridCol w="2271369"/>
                <a:gridCol w="6141110"/>
              </a:tblGrid>
              <a:tr h="1162304">
                <a:tc>
                  <a:txBody>
                    <a:bodyPr wrap="none"/>
                    <a:lstStyle/>
                    <a:p>
                      <a:pPr>
                        <a:lnSpc>
                          <a:spcPts val="1600"/>
                        </a:lnSpc>
                        <a:spcAft>
                          <a:spcPts val="0"/>
                        </a:spcAft>
                        <a:defRPr sz="1200" b="0">
                          <a:solidFill>
                            <a:srgbClr val="21243A"/>
                          </a:solidFill>
                          <a:latin typeface="Arial"/>
                        </a:defRPr>
                      </a:pPr>
                      <a:r>
                        <a:t>Claude Vision</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synthetic likelihood 93/100; tells: hyper-saturated cinematic orange/teal grading</a:t>
                      </a:r>
                    </a:p>
                    <a:p>
                      <a:pPr>
                        <a:lnSpc>
                          <a:spcPts val="1600"/>
                        </a:lnSpc>
                        <a:spcAft>
                          <a:spcPts val="0"/>
                        </a:spcAft>
                        <a:defRPr sz="1200" b="0">
                          <a:solidFill>
                            <a:srgbClr val="21243A"/>
                          </a:solidFill>
                          <a:latin typeface="Arial"/>
                        </a:defRPr>
                      </a:pPr>
                      <a:r>
                        <a:t>typical of image generators, over-sharpened, uniformly detailed rabbit fur and</a:t>
                      </a:r>
                    </a:p>
                    <a:p>
                      <a:pPr>
                        <a:lnSpc>
                          <a:spcPts val="1600"/>
                        </a:lnSpc>
                        <a:spcAft>
                          <a:spcPts val="0"/>
                        </a:spcAft>
                        <a:defRPr sz="1200" b="0">
                          <a:solidFill>
                            <a:srgbClr val="21243A"/>
                          </a:solidFill>
                          <a:latin typeface="Arial"/>
                        </a:defRPr>
                      </a:pPr>
                      <a:r>
                        <a:t>whiskers with glowing rim light, implausible scale and composition: intact rabbit</a:t>
                      </a:r>
                    </a:p>
                    <a:p>
                      <a:pPr>
                        <a:lnSpc>
                          <a:spcPts val="1600"/>
                        </a:lnSpc>
                        <a:spcAft>
                          <a:spcPts val="0"/>
                        </a:spcAft>
                        <a:defRPr sz="1200" b="0">
                          <a:solidFill>
                            <a:srgbClr val="21243A"/>
                          </a:solidFill>
                          <a:latin typeface="Arial"/>
                        </a:defRPr>
                      </a:pPr>
                      <a:r>
                        <a:t>resting directly on a mass of glossy visceral tissue, organ mass has generic,</a:t>
                      </a:r>
                    </a:p>
                    <a:p>
                      <a:pPr>
                        <a:lnSpc>
                          <a:spcPts val="1600"/>
                        </a:lnSpc>
                        <a:spcAft>
                          <a:spcPts val="0"/>
                        </a:spcAft>
                        <a:defRPr sz="1200" b="0">
                          <a:solidFill>
                            <a:srgbClr val="21243A"/>
                          </a:solidFill>
                          <a:latin typeface="Arial"/>
                        </a:defRPr>
                      </a:pPr>
                      <a:r>
                        <a:t>anatomically incoherent structure with plastic-like specular highlights</a:t>
                      </a:r>
                    </a:p>
                  </a:txBody>
                  <a:tcPr marL="82296" marR="82296" marT="64008" marB="64008">
                    <a:solidFill>
                      <a:srgbClr val="F1F7F7"/>
                    </a:solidFill>
                  </a:tcPr>
                </a:tc>
              </a:tr>
            </a:tbl>
          </a:graphicData>
        </a:graphic>
      </p:graphicFrame>
      <p:graphicFrame>
        <p:nvGraphicFramePr>
          <p:cNvPr id="8" name="Table 7"/>
          <p:cNvGraphicFramePr>
            <a:graphicFrameLocks noGrp="1"/>
          </p:cNvGraphicFramePr>
          <p:nvPr/>
        </p:nvGraphicFramePr>
        <p:xfrm>
          <a:off x="365760" y="2863088"/>
          <a:ext cx="8412479" cy="1365503"/>
        </p:xfrm>
        <a:graphic>
          <a:graphicData uri="http://schemas.openxmlformats.org/drawingml/2006/table">
            <a:tbl>
              <a:tblPr firstRow="1" bandRow="1">
                <a:tableStyleId>{5C22544A-7EE6-4342-B048-85BDC9FD1C3A}</a:tableStyleId>
              </a:tblPr>
              <a:tblGrid>
                <a:gridCol w="2271369"/>
                <a:gridCol w="6141110"/>
              </a:tblGrid>
              <a:tr h="1365503">
                <a:tc>
                  <a:txBody>
                    <a:bodyPr wrap="none"/>
                    <a:lstStyle/>
                    <a:p>
                      <a:pPr>
                        <a:lnSpc>
                          <a:spcPts val="1600"/>
                        </a:lnSpc>
                        <a:spcAft>
                          <a:spcPts val="0"/>
                        </a:spcAft>
                        <a:defRPr sz="1200" b="0">
                          <a:solidFill>
                            <a:srgbClr val="21243A"/>
                          </a:solidFill>
                          <a:latin typeface="Arial"/>
                        </a:defRPr>
                      </a:pPr>
                      <a:r>
                        <a:t>OpenAI Vision</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synthetic likelihood 94/100; tells: Syringe has unusually elaborate stacked</a:t>
                      </a:r>
                    </a:p>
                    <a:p>
                      <a:pPr>
                        <a:lnSpc>
                          <a:spcPts val="1600"/>
                        </a:lnSpc>
                        <a:spcAft>
                          <a:spcPts val="0"/>
                        </a:spcAft>
                        <a:defRPr sz="1200" b="0">
                          <a:solidFill>
                            <a:srgbClr val="21243A"/>
                          </a:solidFill>
                          <a:latin typeface="Arial"/>
                        </a:defRPr>
                      </a:pPr>
                      <a:r>
                        <a:t>connector rings and inconsistent graduation marks., Foreground organs and</a:t>
                      </a:r>
                    </a:p>
                    <a:p>
                      <a:pPr>
                        <a:lnSpc>
                          <a:spcPts val="1600"/>
                        </a:lnSpc>
                        <a:spcAft>
                          <a:spcPts val="0"/>
                        </a:spcAft>
                        <a:defRPr sz="1200" b="0">
                          <a:solidFill>
                            <a:srgbClr val="21243A"/>
                          </a:solidFill>
                          <a:latin typeface="Arial"/>
                        </a:defRPr>
                      </a:pPr>
                      <a:r>
                        <a:t>vessels merge into convoluted, highly glossy forms without clear anatomical</a:t>
                      </a:r>
                    </a:p>
                    <a:p>
                      <a:pPr>
                        <a:lnSpc>
                          <a:spcPts val="1600"/>
                        </a:lnSpc>
                        <a:spcAft>
                          <a:spcPts val="0"/>
                        </a:spcAft>
                        <a:defRPr sz="1200" b="0">
                          <a:solidFill>
                            <a:srgbClr val="21243A"/>
                          </a:solidFill>
                          <a:latin typeface="Arial"/>
                        </a:defRPr>
                      </a:pPr>
                      <a:r>
                        <a:t>boundaries., Rabbit fur and whiskers have unusually uniform sharpness and</a:t>
                      </a:r>
                    </a:p>
                    <a:p>
                      <a:pPr>
                        <a:lnSpc>
                          <a:spcPts val="1600"/>
                        </a:lnSpc>
                        <a:spcAft>
                          <a:spcPts val="0"/>
                        </a:spcAft>
                        <a:defRPr sz="1200" b="0">
                          <a:solidFill>
                            <a:srgbClr val="21243A"/>
                          </a:solidFill>
                          <a:latin typeface="Arial"/>
                        </a:defRPr>
                      </a:pPr>
                      <a:r>
                        <a:t>strong orange rim lighting., Liquid, tissue, and syringe share exaggerated</a:t>
                      </a:r>
                    </a:p>
                    <a:p>
                      <a:pPr>
                        <a:lnSpc>
                          <a:spcPts val="1600"/>
                        </a:lnSpc>
                        <a:spcAft>
                          <a:spcPts val="0"/>
                        </a:spcAft>
                        <a:defRPr sz="1200" b="0">
                          <a:solidFill>
                            <a:srgbClr val="21243A"/>
                          </a:solidFill>
                          <a:latin typeface="Arial"/>
                        </a:defRPr>
                      </a:pPr>
                      <a:r>
                        <a:t>jewel-like highlights.</a:t>
                      </a:r>
                    </a:p>
                  </a:txBody>
                  <a:tcPr marL="82296" marR="82296" marT="64008" marB="64008">
                    <a:solidFill>
                      <a:srgbClr val="FFFFFF"/>
                    </a:solidFill>
                  </a:tcPr>
                </a:tc>
              </a:tr>
            </a:tbl>
          </a:graphicData>
        </a:graphic>
      </p:graphicFrame>
      <p:graphicFrame>
        <p:nvGraphicFramePr>
          <p:cNvPr id="9" name="Table 8"/>
          <p:cNvGraphicFramePr>
            <a:graphicFrameLocks noGrp="1"/>
          </p:cNvGraphicFramePr>
          <p:nvPr/>
        </p:nvGraphicFramePr>
        <p:xfrm>
          <a:off x="365760" y="4228592"/>
          <a:ext cx="8412479" cy="755904"/>
        </p:xfrm>
        <a:graphic>
          <a:graphicData uri="http://schemas.openxmlformats.org/drawingml/2006/table">
            <a:tbl>
              <a:tblPr firstRow="1" bandRow="1">
                <a:tableStyleId>{5C22544A-7EE6-4342-B048-85BDC9FD1C3A}</a:tableStyleId>
              </a:tblPr>
              <a:tblGrid>
                <a:gridCol w="2271369"/>
                <a:gridCol w="6141110"/>
              </a:tblGrid>
              <a:tr h="755904">
                <a:tc>
                  <a:txBody>
                    <a:bodyPr wrap="none"/>
                    <a:lstStyle/>
                    <a:p>
                      <a:pPr>
                        <a:lnSpc>
                          <a:spcPts val="1600"/>
                        </a:lnSpc>
                        <a:spcAft>
                          <a:spcPts val="0"/>
                        </a:spcAft>
                        <a:defRPr sz="1200" b="0">
                          <a:solidFill>
                            <a:srgbClr val="21243A"/>
                          </a:solidFill>
                          <a:latin typeface="Arial"/>
                        </a:defRPr>
                      </a:pPr>
                      <a:r>
                        <a:t>Gemini Vision</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synthetic likelihood 82/100; tells: hyper-rendered specular textures on viscera,</a:t>
                      </a:r>
                    </a:p>
                    <a:p>
                      <a:pPr>
                        <a:lnSpc>
                          <a:spcPts val="1600"/>
                        </a:lnSpc>
                        <a:spcAft>
                          <a:spcPts val="0"/>
                        </a:spcAft>
                        <a:defRPr sz="1200" b="0">
                          <a:solidFill>
                            <a:srgbClr val="21243A"/>
                          </a:solidFill>
                          <a:latin typeface="Arial"/>
                        </a:defRPr>
                      </a:pPr>
                      <a:r>
                        <a:t>unnatural fusion of biological anatomical forms, stylized digital lighting and bokeh</a:t>
                      </a:r>
                    </a:p>
                    <a:p>
                      <a:pPr>
                        <a:lnSpc>
                          <a:spcPts val="1600"/>
                        </a:lnSpc>
                        <a:spcAft>
                          <a:spcPts val="0"/>
                        </a:spcAft>
                        <a:defRPr sz="1200" b="0">
                          <a:solidFill>
                            <a:srgbClr val="21243A"/>
                          </a:solidFill>
                          <a:latin typeface="Arial"/>
                        </a:defRPr>
                      </a:pPr>
                      <a:r>
                        <a:t>inconsistencies, AI-typical crisp fur detailing with odd spatial occlusion</a:t>
                      </a:r>
                    </a:p>
                  </a:txBody>
                  <a:tcPr marL="82296" marR="82296" marT="64008" marB="64008">
                    <a:solidFill>
                      <a:srgbClr val="F1F7F7"/>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412480" cy="228600"/>
          </a:xfrm>
          <a:prstGeom prst="rect">
            <a:avLst/>
          </a:prstGeom>
          <a:noFill/>
        </p:spPr>
        <p:txBody>
          <a:bodyPr wrap="square" lIns="0" rIns="0" tIns="0" bIns="0">
            <a:spAutoFit/>
          </a:bodyPr>
          <a:lstStyle/>
          <a:p>
            <a:pPr>
              <a:lnSpc>
                <a:spcPct val="115000"/>
              </a:lnSpc>
              <a:spcAft>
                <a:spcPts val="0"/>
              </a:spcAft>
              <a:defRPr sz="1100" b="1">
                <a:solidFill>
                  <a:srgbClr val="C5006A"/>
                </a:solidFill>
                <a:latin typeface="Arial"/>
              </a:defRPr>
            </a:pPr>
            <a:r>
              <a:t>SDA VISION / RESEARCH REPORT</a:t>
            </a:r>
          </a:p>
        </p:txBody>
      </p:sp>
      <p:sp>
        <p:nvSpPr>
          <p:cNvPr id="3" name="TextBox 2"/>
          <p:cNvSpPr txBox="1"/>
          <p:nvPr/>
        </p:nvSpPr>
        <p:spPr>
          <a:xfrm>
            <a:off x="365760" y="658368"/>
            <a:ext cx="8412480" cy="612648"/>
          </a:xfrm>
          <a:prstGeom prst="rect">
            <a:avLst/>
          </a:prstGeom>
          <a:noFill/>
        </p:spPr>
        <p:txBody>
          <a:bodyPr wrap="square" lIns="0" rIns="0" tIns="0" bIns="0">
            <a:spAutoFit/>
          </a:bodyPr>
          <a:lstStyle/>
          <a:p>
            <a:pPr>
              <a:lnSpc>
                <a:spcPct val="115000"/>
              </a:lnSpc>
              <a:spcAft>
                <a:spcPts val="0"/>
              </a:spcAft>
              <a:defRPr sz="2200" b="1">
                <a:solidFill>
                  <a:srgbClr val="21243A"/>
                </a:solidFill>
                <a:latin typeface="Arial"/>
              </a:defRPr>
            </a:pPr>
            <a:r>
              <a:t>Additional findings</a:t>
            </a:r>
          </a:p>
        </p:txBody>
      </p:sp>
      <p:sp>
        <p:nvSpPr>
          <p:cNvPr id="4" name="TextBox 3"/>
          <p:cNvSpPr txBox="1"/>
          <p:nvPr/>
        </p:nvSpPr>
        <p:spPr>
          <a:xfrm>
            <a:off x="365760" y="6291072"/>
            <a:ext cx="8001000" cy="365760"/>
          </a:xfrm>
          <a:prstGeom prst="rect">
            <a:avLst/>
          </a:prstGeom>
          <a:noFill/>
        </p:spPr>
        <p:txBody>
          <a:bodyPr wrap="square" lIns="0" rIns="0" tIns="0" bIns="0">
            <a:spAutoFit/>
          </a:bodyPr>
          <a:lstStyle/>
          <a:p>
            <a:pPr>
              <a:lnSpc>
                <a:spcPct val="115000"/>
              </a:lnSpc>
              <a:spcAft>
                <a:spcPts val="0"/>
              </a:spcAft>
              <a:defRPr sz="800" b="0">
                <a:solidFill>
                  <a:srgbClr val="545B6D"/>
                </a:solidFill>
                <a:latin typeface="Arial"/>
              </a:defRPr>
            </a:pPr>
            <a:r>
              <a:t>Research assessment. Ratings are not calibrated probabilities.</a:t>
            </a:r>
          </a:p>
        </p:txBody>
      </p:sp>
      <p:sp>
        <p:nvSpPr>
          <p:cNvPr id="5" name="TextBox 4"/>
          <p:cNvSpPr txBox="1"/>
          <p:nvPr/>
        </p:nvSpPr>
        <p:spPr>
          <a:xfrm>
            <a:off x="8394192" y="6318504"/>
            <a:ext cx="365760" cy="228600"/>
          </a:xfrm>
          <a:prstGeom prst="rect">
            <a:avLst/>
          </a:prstGeom>
          <a:noFill/>
        </p:spPr>
        <p:txBody>
          <a:bodyPr wrap="square" lIns="0" rIns="0" tIns="0" bIns="0">
            <a:spAutoFit/>
          </a:bodyPr>
          <a:lstStyle/>
          <a:p>
            <a:pPr>
              <a:lnSpc>
                <a:spcPct val="115000"/>
              </a:lnSpc>
              <a:spcAft>
                <a:spcPts val="0"/>
              </a:spcAft>
              <a:defRPr sz="900" b="0">
                <a:solidFill>
                  <a:srgbClr val="545B6D"/>
                </a:solidFill>
                <a:latin typeface="Arial"/>
              </a:defRPr>
            </a:pPr>
            <a:r>
              <a:t>14</a:t>
            </a:r>
          </a:p>
        </p:txBody>
      </p:sp>
      <p:graphicFrame>
        <p:nvGraphicFramePr>
          <p:cNvPr id="6" name="Table 5"/>
          <p:cNvGraphicFramePr>
            <a:graphicFrameLocks noGrp="1"/>
          </p:cNvGraphicFramePr>
          <p:nvPr/>
        </p:nvGraphicFramePr>
        <p:xfrm>
          <a:off x="365760" y="1353312"/>
          <a:ext cx="8412479" cy="347472"/>
        </p:xfrm>
        <a:graphic>
          <a:graphicData uri="http://schemas.openxmlformats.org/drawingml/2006/table">
            <a:tbl>
              <a:tblPr firstRow="1" bandRow="1">
                <a:tableStyleId>{5C22544A-7EE6-4342-B048-85BDC9FD1C3A}</a:tableStyleId>
              </a:tblPr>
              <a:tblGrid>
                <a:gridCol w="2271369"/>
                <a:gridCol w="6141110"/>
              </a:tblGrid>
              <a:tr h="347472">
                <a:tc>
                  <a:txBody>
                    <a:bodyPr wrap="none"/>
                    <a:lstStyle/>
                    <a:p>
                      <a:pPr>
                        <a:lnSpc>
                          <a:spcPts val="1600"/>
                        </a:lnSpc>
                        <a:spcAft>
                          <a:spcPts val="0"/>
                        </a:spcAft>
                        <a:defRPr sz="1200" b="1">
                          <a:solidFill>
                            <a:srgbClr val="FFFFFF"/>
                          </a:solidFill>
                          <a:latin typeface="Arial"/>
                        </a:defRPr>
                      </a:pPr>
                      <a:r>
                        <a:t>Field</a:t>
                      </a:r>
                    </a:p>
                  </a:txBody>
                  <a:tcPr marL="82296" marR="82296" marT="64008" marB="64008">
                    <a:solidFill>
                      <a:srgbClr val="16787C"/>
                    </a:solidFill>
                  </a:tcPr>
                </a:tc>
                <a:tc>
                  <a:txBody>
                    <a:bodyPr wrap="none"/>
                    <a:lstStyle/>
                    <a:p>
                      <a:pPr>
                        <a:lnSpc>
                          <a:spcPts val="1600"/>
                        </a:lnSpc>
                        <a:spcAft>
                          <a:spcPts val="0"/>
                        </a:spcAft>
                        <a:defRPr sz="1200" b="1">
                          <a:solidFill>
                            <a:srgbClr val="FFFFFF"/>
                          </a:solidFill>
                          <a:latin typeface="Arial"/>
                        </a:defRPr>
                      </a:pPr>
                      <a:r>
                        <a:t>Recorded detail</a:t>
                      </a:r>
                    </a:p>
                  </a:txBody>
                  <a:tcPr marL="82296" marR="82296" marT="64008" marB="64008">
                    <a:solidFill>
                      <a:srgbClr val="16787C"/>
                    </a:solidFill>
                  </a:tcPr>
                </a:tc>
              </a:tr>
            </a:tbl>
          </a:graphicData>
        </a:graphic>
      </p:graphicFrame>
      <p:graphicFrame>
        <p:nvGraphicFramePr>
          <p:cNvPr id="7" name="Table 6"/>
          <p:cNvGraphicFramePr>
            <a:graphicFrameLocks noGrp="1"/>
          </p:cNvGraphicFramePr>
          <p:nvPr/>
        </p:nvGraphicFramePr>
        <p:xfrm>
          <a:off x="365760" y="1700784"/>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Local forensic cues</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Supporting observation; considered alongside the model assessments.</a:t>
                      </a:r>
                    </a:p>
                  </a:txBody>
                  <a:tcPr marL="82296" marR="82296" marT="64008" marB="64008">
                    <a:solidFill>
                      <a:srgbClr val="F1F7F7"/>
                    </a:solidFill>
                  </a:tcPr>
                </a:tc>
              </a:tr>
            </a:tbl>
          </a:graphicData>
        </a:graphic>
      </p:graphicFrame>
      <p:graphicFrame>
        <p:nvGraphicFramePr>
          <p:cNvPr id="8" name="Table 7"/>
          <p:cNvGraphicFramePr>
            <a:graphicFrameLocks noGrp="1"/>
          </p:cNvGraphicFramePr>
          <p:nvPr/>
        </p:nvGraphicFramePr>
        <p:xfrm>
          <a:off x="365760" y="2050288"/>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C2PA Content Credentials</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Embedded credentials: none found. Origin remains unresolved by this check.</a:t>
                      </a:r>
                    </a:p>
                  </a:txBody>
                  <a:tcPr marL="82296" marR="82296" marT="64008" marB="64008">
                    <a:solidFill>
                      <a:srgbClr val="FFFFFF"/>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412480" cy="228600"/>
          </a:xfrm>
          <a:prstGeom prst="rect">
            <a:avLst/>
          </a:prstGeom>
          <a:noFill/>
        </p:spPr>
        <p:txBody>
          <a:bodyPr wrap="square" lIns="0" rIns="0" tIns="0" bIns="0">
            <a:spAutoFit/>
          </a:bodyPr>
          <a:lstStyle/>
          <a:p>
            <a:pPr>
              <a:lnSpc>
                <a:spcPct val="115000"/>
              </a:lnSpc>
              <a:spcAft>
                <a:spcPts val="0"/>
              </a:spcAft>
              <a:defRPr sz="1100" b="1">
                <a:solidFill>
                  <a:srgbClr val="C5006A"/>
                </a:solidFill>
                <a:latin typeface="Arial"/>
              </a:defRPr>
            </a:pPr>
            <a:r>
              <a:t>SDA VISION / RESEARCH REPORT</a:t>
            </a:r>
          </a:p>
        </p:txBody>
      </p:sp>
      <p:sp>
        <p:nvSpPr>
          <p:cNvPr id="3" name="TextBox 2"/>
          <p:cNvSpPr txBox="1"/>
          <p:nvPr/>
        </p:nvSpPr>
        <p:spPr>
          <a:xfrm>
            <a:off x="365760" y="658368"/>
            <a:ext cx="8412480" cy="612648"/>
          </a:xfrm>
          <a:prstGeom prst="rect">
            <a:avLst/>
          </a:prstGeom>
          <a:noFill/>
        </p:spPr>
        <p:txBody>
          <a:bodyPr wrap="square" lIns="0" rIns="0" tIns="0" bIns="0">
            <a:spAutoFit/>
          </a:bodyPr>
          <a:lstStyle/>
          <a:p>
            <a:pPr>
              <a:lnSpc>
                <a:spcPct val="115000"/>
              </a:lnSpc>
              <a:spcAft>
                <a:spcPts val="0"/>
              </a:spcAft>
              <a:defRPr sz="2200" b="1">
                <a:solidFill>
                  <a:srgbClr val="21243A"/>
                </a:solidFill>
                <a:latin typeface="Arial"/>
              </a:defRPr>
            </a:pPr>
            <a:r>
              <a:t>Visible text</a:t>
            </a:r>
          </a:p>
        </p:txBody>
      </p:sp>
      <p:sp>
        <p:nvSpPr>
          <p:cNvPr id="4" name="TextBox 3"/>
          <p:cNvSpPr txBox="1"/>
          <p:nvPr/>
        </p:nvSpPr>
        <p:spPr>
          <a:xfrm>
            <a:off x="365760" y="6291072"/>
            <a:ext cx="8001000" cy="365760"/>
          </a:xfrm>
          <a:prstGeom prst="rect">
            <a:avLst/>
          </a:prstGeom>
          <a:noFill/>
        </p:spPr>
        <p:txBody>
          <a:bodyPr wrap="square" lIns="0" rIns="0" tIns="0" bIns="0">
            <a:spAutoFit/>
          </a:bodyPr>
          <a:lstStyle/>
          <a:p>
            <a:pPr>
              <a:lnSpc>
                <a:spcPct val="115000"/>
              </a:lnSpc>
              <a:spcAft>
                <a:spcPts val="0"/>
              </a:spcAft>
              <a:defRPr sz="800" b="0">
                <a:solidFill>
                  <a:srgbClr val="545B6D"/>
                </a:solidFill>
                <a:latin typeface="Arial"/>
              </a:defRPr>
            </a:pPr>
            <a:r>
              <a:t>Research assessment. Ratings are not calibrated probabilities.</a:t>
            </a:r>
          </a:p>
        </p:txBody>
      </p:sp>
      <p:sp>
        <p:nvSpPr>
          <p:cNvPr id="5" name="TextBox 4"/>
          <p:cNvSpPr txBox="1"/>
          <p:nvPr/>
        </p:nvSpPr>
        <p:spPr>
          <a:xfrm>
            <a:off x="8394192" y="6318504"/>
            <a:ext cx="365760" cy="228600"/>
          </a:xfrm>
          <a:prstGeom prst="rect">
            <a:avLst/>
          </a:prstGeom>
          <a:noFill/>
        </p:spPr>
        <p:txBody>
          <a:bodyPr wrap="square" lIns="0" rIns="0" tIns="0" bIns="0">
            <a:spAutoFit/>
          </a:bodyPr>
          <a:lstStyle/>
          <a:p>
            <a:pPr>
              <a:lnSpc>
                <a:spcPct val="115000"/>
              </a:lnSpc>
              <a:spcAft>
                <a:spcPts val="0"/>
              </a:spcAft>
              <a:defRPr sz="900" b="0">
                <a:solidFill>
                  <a:srgbClr val="545B6D"/>
                </a:solidFill>
                <a:latin typeface="Arial"/>
              </a:defRPr>
            </a:pPr>
            <a:r>
              <a:t>15</a:t>
            </a:r>
          </a:p>
        </p:txBody>
      </p:sp>
      <p:graphicFrame>
        <p:nvGraphicFramePr>
          <p:cNvPr id="6" name="Table 5"/>
          <p:cNvGraphicFramePr>
            <a:graphicFrameLocks noGrp="1"/>
          </p:cNvGraphicFramePr>
          <p:nvPr/>
        </p:nvGraphicFramePr>
        <p:xfrm>
          <a:off x="365760" y="1353312"/>
          <a:ext cx="8412479" cy="347472"/>
        </p:xfrm>
        <a:graphic>
          <a:graphicData uri="http://schemas.openxmlformats.org/drawingml/2006/table">
            <a:tbl>
              <a:tblPr firstRow="1" bandRow="1">
                <a:tableStyleId>{5C22544A-7EE6-4342-B048-85BDC9FD1C3A}</a:tableStyleId>
              </a:tblPr>
              <a:tblGrid>
                <a:gridCol w="2271369"/>
                <a:gridCol w="6141110"/>
              </a:tblGrid>
              <a:tr h="347472">
                <a:tc>
                  <a:txBody>
                    <a:bodyPr wrap="none"/>
                    <a:lstStyle/>
                    <a:p>
                      <a:pPr>
                        <a:lnSpc>
                          <a:spcPts val="1600"/>
                        </a:lnSpc>
                        <a:spcAft>
                          <a:spcPts val="0"/>
                        </a:spcAft>
                        <a:defRPr sz="1200" b="1">
                          <a:solidFill>
                            <a:srgbClr val="FFFFFF"/>
                          </a:solidFill>
                          <a:latin typeface="Arial"/>
                        </a:defRPr>
                      </a:pPr>
                      <a:r>
                        <a:t>Field</a:t>
                      </a:r>
                    </a:p>
                  </a:txBody>
                  <a:tcPr marL="82296" marR="82296" marT="64008" marB="64008">
                    <a:solidFill>
                      <a:srgbClr val="16787C"/>
                    </a:solidFill>
                  </a:tcPr>
                </a:tc>
                <a:tc>
                  <a:txBody>
                    <a:bodyPr wrap="none"/>
                    <a:lstStyle/>
                    <a:p>
                      <a:pPr>
                        <a:lnSpc>
                          <a:spcPts val="1600"/>
                        </a:lnSpc>
                        <a:spcAft>
                          <a:spcPts val="0"/>
                        </a:spcAft>
                        <a:defRPr sz="1200" b="1">
                          <a:solidFill>
                            <a:srgbClr val="FFFFFF"/>
                          </a:solidFill>
                          <a:latin typeface="Arial"/>
                        </a:defRPr>
                      </a:pPr>
                      <a:r>
                        <a:t>Recorded detail</a:t>
                      </a:r>
                    </a:p>
                  </a:txBody>
                  <a:tcPr marL="82296" marR="82296" marT="64008" marB="64008">
                    <a:solidFill>
                      <a:srgbClr val="16787C"/>
                    </a:solidFill>
                  </a:tcPr>
                </a:tc>
              </a:tr>
            </a:tbl>
          </a:graphicData>
        </a:graphic>
      </p:graphicFrame>
      <p:graphicFrame>
        <p:nvGraphicFramePr>
          <p:cNvPr id="7" name="Table 6"/>
          <p:cNvGraphicFramePr>
            <a:graphicFrameLocks noGrp="1"/>
          </p:cNvGraphicFramePr>
          <p:nvPr/>
        </p:nvGraphicFramePr>
        <p:xfrm>
          <a:off x="365760" y="1700784"/>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Recorded text</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SHOCKING STUDY!</a:t>
                      </a:r>
                    </a:p>
                  </a:txBody>
                  <a:tcPr marL="82296" marR="82296" marT="64008" marB="64008">
                    <a:solidFill>
                      <a:srgbClr val="F1F7F7"/>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412480" cy="228600"/>
          </a:xfrm>
          <a:prstGeom prst="rect">
            <a:avLst/>
          </a:prstGeom>
          <a:noFill/>
        </p:spPr>
        <p:txBody>
          <a:bodyPr wrap="square" lIns="0" rIns="0" tIns="0" bIns="0">
            <a:spAutoFit/>
          </a:bodyPr>
          <a:lstStyle/>
          <a:p>
            <a:pPr>
              <a:lnSpc>
                <a:spcPct val="115000"/>
              </a:lnSpc>
              <a:spcAft>
                <a:spcPts val="0"/>
              </a:spcAft>
              <a:defRPr sz="1100" b="1">
                <a:solidFill>
                  <a:srgbClr val="C5006A"/>
                </a:solidFill>
                <a:latin typeface="Arial"/>
              </a:defRPr>
            </a:pPr>
            <a:r>
              <a:t>SDA VISION / RESEARCH REPORT</a:t>
            </a:r>
          </a:p>
        </p:txBody>
      </p:sp>
      <p:sp>
        <p:nvSpPr>
          <p:cNvPr id="3" name="TextBox 2"/>
          <p:cNvSpPr txBox="1"/>
          <p:nvPr/>
        </p:nvSpPr>
        <p:spPr>
          <a:xfrm>
            <a:off x="365760" y="658368"/>
            <a:ext cx="8412480" cy="612648"/>
          </a:xfrm>
          <a:prstGeom prst="rect">
            <a:avLst/>
          </a:prstGeom>
          <a:noFill/>
        </p:spPr>
        <p:txBody>
          <a:bodyPr wrap="square" lIns="0" rIns="0" tIns="0" bIns="0">
            <a:spAutoFit/>
          </a:bodyPr>
          <a:lstStyle/>
          <a:p>
            <a:pPr>
              <a:lnSpc>
                <a:spcPct val="115000"/>
              </a:lnSpc>
              <a:spcAft>
                <a:spcPts val="0"/>
              </a:spcAft>
              <a:defRPr sz="2200" b="1">
                <a:solidFill>
                  <a:srgbClr val="21243A"/>
                </a:solidFill>
                <a:latin typeface="Arial"/>
              </a:defRPr>
            </a:pPr>
            <a:r>
              <a:t>How this assessment was reached</a:t>
            </a:r>
          </a:p>
        </p:txBody>
      </p:sp>
      <p:sp>
        <p:nvSpPr>
          <p:cNvPr id="4" name="TextBox 3"/>
          <p:cNvSpPr txBox="1"/>
          <p:nvPr/>
        </p:nvSpPr>
        <p:spPr>
          <a:xfrm>
            <a:off x="365760" y="6291072"/>
            <a:ext cx="8001000" cy="365760"/>
          </a:xfrm>
          <a:prstGeom prst="rect">
            <a:avLst/>
          </a:prstGeom>
          <a:noFill/>
        </p:spPr>
        <p:txBody>
          <a:bodyPr wrap="square" lIns="0" rIns="0" tIns="0" bIns="0">
            <a:spAutoFit/>
          </a:bodyPr>
          <a:lstStyle/>
          <a:p>
            <a:pPr>
              <a:lnSpc>
                <a:spcPct val="115000"/>
              </a:lnSpc>
              <a:spcAft>
                <a:spcPts val="0"/>
              </a:spcAft>
              <a:defRPr sz="800" b="0">
                <a:solidFill>
                  <a:srgbClr val="545B6D"/>
                </a:solidFill>
                <a:latin typeface="Arial"/>
              </a:defRPr>
            </a:pPr>
            <a:r>
              <a:t>Research assessment. Ratings are not calibrated probabilities.</a:t>
            </a:r>
          </a:p>
        </p:txBody>
      </p:sp>
      <p:sp>
        <p:nvSpPr>
          <p:cNvPr id="5" name="TextBox 4"/>
          <p:cNvSpPr txBox="1"/>
          <p:nvPr/>
        </p:nvSpPr>
        <p:spPr>
          <a:xfrm>
            <a:off x="8394192" y="6318504"/>
            <a:ext cx="365760" cy="228600"/>
          </a:xfrm>
          <a:prstGeom prst="rect">
            <a:avLst/>
          </a:prstGeom>
          <a:noFill/>
        </p:spPr>
        <p:txBody>
          <a:bodyPr wrap="square" lIns="0" rIns="0" tIns="0" bIns="0">
            <a:spAutoFit/>
          </a:bodyPr>
          <a:lstStyle/>
          <a:p>
            <a:pPr>
              <a:lnSpc>
                <a:spcPct val="115000"/>
              </a:lnSpc>
              <a:spcAft>
                <a:spcPts val="0"/>
              </a:spcAft>
              <a:defRPr sz="900" b="0">
                <a:solidFill>
                  <a:srgbClr val="545B6D"/>
                </a:solidFill>
                <a:latin typeface="Arial"/>
              </a:defRPr>
            </a:pPr>
            <a:r>
              <a:t>16</a:t>
            </a:r>
          </a:p>
        </p:txBody>
      </p:sp>
      <p:graphicFrame>
        <p:nvGraphicFramePr>
          <p:cNvPr id="6" name="Table 5"/>
          <p:cNvGraphicFramePr>
            <a:graphicFrameLocks noGrp="1"/>
          </p:cNvGraphicFramePr>
          <p:nvPr/>
        </p:nvGraphicFramePr>
        <p:xfrm>
          <a:off x="365760" y="1353312"/>
          <a:ext cx="8412479" cy="347472"/>
        </p:xfrm>
        <a:graphic>
          <a:graphicData uri="http://schemas.openxmlformats.org/drawingml/2006/table">
            <a:tbl>
              <a:tblPr firstRow="1" bandRow="1">
                <a:tableStyleId>{5C22544A-7EE6-4342-B048-85BDC9FD1C3A}</a:tableStyleId>
              </a:tblPr>
              <a:tblGrid>
                <a:gridCol w="2271369"/>
                <a:gridCol w="6141110"/>
              </a:tblGrid>
              <a:tr h="347472">
                <a:tc>
                  <a:txBody>
                    <a:bodyPr wrap="none"/>
                    <a:lstStyle/>
                    <a:p>
                      <a:pPr>
                        <a:lnSpc>
                          <a:spcPts val="1600"/>
                        </a:lnSpc>
                        <a:spcAft>
                          <a:spcPts val="0"/>
                        </a:spcAft>
                        <a:defRPr sz="1200" b="1">
                          <a:solidFill>
                            <a:srgbClr val="FFFFFF"/>
                          </a:solidFill>
                          <a:latin typeface="Arial"/>
                        </a:defRPr>
                      </a:pPr>
                      <a:r>
                        <a:t>Field</a:t>
                      </a:r>
                    </a:p>
                  </a:txBody>
                  <a:tcPr marL="82296" marR="82296" marT="64008" marB="64008">
                    <a:solidFill>
                      <a:srgbClr val="16787C"/>
                    </a:solidFill>
                  </a:tcPr>
                </a:tc>
                <a:tc>
                  <a:txBody>
                    <a:bodyPr wrap="none"/>
                    <a:lstStyle/>
                    <a:p>
                      <a:pPr>
                        <a:lnSpc>
                          <a:spcPts val="1600"/>
                        </a:lnSpc>
                        <a:spcAft>
                          <a:spcPts val="0"/>
                        </a:spcAft>
                        <a:defRPr sz="1200" b="1">
                          <a:solidFill>
                            <a:srgbClr val="FFFFFF"/>
                          </a:solidFill>
                          <a:latin typeface="Arial"/>
                        </a:defRPr>
                      </a:pPr>
                      <a:r>
                        <a:t>Recorded detail</a:t>
                      </a:r>
                    </a:p>
                  </a:txBody>
                  <a:tcPr marL="82296" marR="82296" marT="64008" marB="64008">
                    <a:solidFill>
                      <a:srgbClr val="16787C"/>
                    </a:solidFill>
                  </a:tcPr>
                </a:tc>
              </a:tr>
            </a:tbl>
          </a:graphicData>
        </a:graphic>
      </p:graphicFrame>
      <p:graphicFrame>
        <p:nvGraphicFramePr>
          <p:cNvPr id="7" name="Table 6"/>
          <p:cNvGraphicFramePr>
            <a:graphicFrameLocks noGrp="1"/>
          </p:cNvGraphicFramePr>
          <p:nvPr/>
        </p:nvGraphicFramePr>
        <p:xfrm>
          <a:off x="365760" y="1700784"/>
          <a:ext cx="8412479" cy="552704"/>
        </p:xfrm>
        <a:graphic>
          <a:graphicData uri="http://schemas.openxmlformats.org/drawingml/2006/table">
            <a:tbl>
              <a:tblPr firstRow="1" bandRow="1">
                <a:tableStyleId>{5C22544A-7EE6-4342-B048-85BDC9FD1C3A}</a:tableStyleId>
              </a:tblPr>
              <a:tblGrid>
                <a:gridCol w="2271369"/>
                <a:gridCol w="6141110"/>
              </a:tblGrid>
              <a:tr h="552704">
                <a:tc>
                  <a:txBody>
                    <a:bodyPr wrap="none"/>
                    <a:lstStyle/>
                    <a:p>
                      <a:pPr>
                        <a:lnSpc>
                          <a:spcPts val="1600"/>
                        </a:lnSpc>
                        <a:spcAft>
                          <a:spcPts val="0"/>
                        </a:spcAft>
                        <a:defRPr sz="1200" b="0">
                          <a:solidFill>
                            <a:srgbClr val="21243A"/>
                          </a:solidFill>
                          <a:latin typeface="Arial"/>
                        </a:defRPr>
                      </a:pPr>
                      <a:r>
                        <a:t>1. override</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outcome=none; detail=No confirmed C2PA AI assertion or SynthID watermark.</a:t>
                      </a:r>
                    </a:p>
                    <a:p>
                      <a:pPr>
                        <a:lnSpc>
                          <a:spcPts val="1600"/>
                        </a:lnSpc>
                        <a:spcAft>
                          <a:spcPts val="0"/>
                        </a:spcAft>
                        <a:defRPr sz="1200" b="0">
                          <a:solidFill>
                            <a:srgbClr val="21243A"/>
                          </a:solidFill>
                          <a:latin typeface="Arial"/>
                        </a:defRPr>
                      </a:pPr>
                      <a:r>
                        <a:t>Origin remains unresolved by these checks.</a:t>
                      </a:r>
                    </a:p>
                  </a:txBody>
                  <a:tcPr marL="82296" marR="82296" marT="64008" marB="64008">
                    <a:solidFill>
                      <a:srgbClr val="F1F7F7"/>
                    </a:solidFill>
                  </a:tcPr>
                </a:tc>
              </a:tr>
            </a:tbl>
          </a:graphicData>
        </a:graphic>
      </p:graphicFrame>
      <p:graphicFrame>
        <p:nvGraphicFramePr>
          <p:cNvPr id="8" name="Table 7"/>
          <p:cNvGraphicFramePr>
            <a:graphicFrameLocks noGrp="1"/>
          </p:cNvGraphicFramePr>
          <p:nvPr/>
        </p:nvGraphicFramePr>
        <p:xfrm>
          <a:off x="365760" y="2253488"/>
          <a:ext cx="8412479" cy="552704"/>
        </p:xfrm>
        <a:graphic>
          <a:graphicData uri="http://schemas.openxmlformats.org/drawingml/2006/table">
            <a:tbl>
              <a:tblPr firstRow="1" bandRow="1">
                <a:tableStyleId>{5C22544A-7EE6-4342-B048-85BDC9FD1C3A}</a:tableStyleId>
              </a:tblPr>
              <a:tblGrid>
                <a:gridCol w="2271369"/>
                <a:gridCol w="6141110"/>
              </a:tblGrid>
              <a:tr h="552704">
                <a:tc>
                  <a:txBody>
                    <a:bodyPr wrap="none"/>
                    <a:lstStyle/>
                    <a:p>
                      <a:pPr>
                        <a:lnSpc>
                          <a:spcPts val="1600"/>
                        </a:lnSpc>
                        <a:spcAft>
                          <a:spcPts val="0"/>
                        </a:spcAft>
                        <a:defRPr sz="1200" b="0">
                          <a:solidFill>
                            <a:srgbClr val="21243A"/>
                          </a:solidFill>
                          <a:latin typeface="Arial"/>
                        </a:defRPr>
                      </a:pPr>
                      <a:r>
                        <a:t>2. model_agreement</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synthetic=['Claude Vision', 'OpenAI Vision', 'Gemini Vision']; authentic=[];</a:t>
                      </a:r>
                    </a:p>
                    <a:p>
                      <a:pPr>
                        <a:lnSpc>
                          <a:spcPts val="1600"/>
                        </a:lnSpc>
                        <a:spcAft>
                          <a:spcPts val="0"/>
                        </a:spcAft>
                        <a:defRPr sz="1200" b="0">
                          <a:solidFill>
                            <a:srgbClr val="21243A"/>
                          </a:solidFill>
                          <a:latin typeface="Arial"/>
                        </a:defRPr>
                      </a:pPr>
                      <a:r>
                        <a:t>uncertain=[]; forensic_supports_synthetic=False</a:t>
                      </a:r>
                    </a:p>
                  </a:txBody>
                  <a:tcPr marL="82296" marR="82296" marT="64008" marB="64008">
                    <a:solidFill>
                      <a:srgbClr val="FFFFFF"/>
                    </a:solidFill>
                  </a:tcPr>
                </a:tc>
              </a:tr>
            </a:tbl>
          </a:graphicData>
        </a:graphic>
      </p:graphicFrame>
      <p:graphicFrame>
        <p:nvGraphicFramePr>
          <p:cNvPr id="9" name="Table 8"/>
          <p:cNvGraphicFramePr>
            <a:graphicFrameLocks noGrp="1"/>
          </p:cNvGraphicFramePr>
          <p:nvPr/>
        </p:nvGraphicFramePr>
        <p:xfrm>
          <a:off x="365760" y="2806192"/>
          <a:ext cx="8412479" cy="552704"/>
        </p:xfrm>
        <a:graphic>
          <a:graphicData uri="http://schemas.openxmlformats.org/drawingml/2006/table">
            <a:tbl>
              <a:tblPr firstRow="1" bandRow="1">
                <a:tableStyleId>{5C22544A-7EE6-4342-B048-85BDC9FD1C3A}</a:tableStyleId>
              </a:tblPr>
              <a:tblGrid>
                <a:gridCol w="2271369"/>
                <a:gridCol w="6141110"/>
              </a:tblGrid>
              <a:tr h="552704">
                <a:tc>
                  <a:txBody>
                    <a:bodyPr wrap="none"/>
                    <a:lstStyle/>
                    <a:p>
                      <a:pPr>
                        <a:lnSpc>
                          <a:spcPts val="1600"/>
                        </a:lnSpc>
                        <a:spcAft>
                          <a:spcPts val="0"/>
                        </a:spcAft>
                        <a:defRPr sz="1200" b="0">
                          <a:solidFill>
                            <a:srgbClr val="21243A"/>
                          </a:solidFill>
                          <a:latin typeface="Arial"/>
                        </a:defRPr>
                      </a:pPr>
                      <a:r>
                        <a:t>3. verdict</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value=synthetic_likely; confidence=high; reason=3 models agree this is likely</a:t>
                      </a:r>
                    </a:p>
                    <a:p>
                      <a:pPr>
                        <a:lnSpc>
                          <a:spcPts val="1600"/>
                        </a:lnSpc>
                        <a:spcAft>
                          <a:spcPts val="0"/>
                        </a:spcAft>
                        <a:defRPr sz="1200" b="0">
                          <a:solidFill>
                            <a:srgbClr val="21243A"/>
                          </a:solidFill>
                          <a:latin typeface="Arial"/>
                        </a:defRPr>
                      </a:pPr>
                      <a:r>
                        <a:t>synthetic.</a:t>
                      </a:r>
                    </a:p>
                  </a:txBody>
                  <a:tcPr marL="82296" marR="82296" marT="64008" marB="64008">
                    <a:solidFill>
                      <a:srgbClr val="F1F7F7"/>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412480" cy="228600"/>
          </a:xfrm>
          <a:prstGeom prst="rect">
            <a:avLst/>
          </a:prstGeom>
          <a:noFill/>
        </p:spPr>
        <p:txBody>
          <a:bodyPr wrap="square" lIns="0" rIns="0" tIns="0" bIns="0">
            <a:spAutoFit/>
          </a:bodyPr>
          <a:lstStyle/>
          <a:p>
            <a:pPr>
              <a:lnSpc>
                <a:spcPct val="115000"/>
              </a:lnSpc>
              <a:spcAft>
                <a:spcPts val="0"/>
              </a:spcAft>
              <a:defRPr sz="1100" b="1">
                <a:solidFill>
                  <a:srgbClr val="C5006A"/>
                </a:solidFill>
                <a:latin typeface="Arial"/>
              </a:defRPr>
            </a:pPr>
            <a:r>
              <a:t>SDA VISION / RESEARCH REPORT</a:t>
            </a:r>
          </a:p>
        </p:txBody>
      </p:sp>
      <p:sp>
        <p:nvSpPr>
          <p:cNvPr id="3" name="TextBox 2"/>
          <p:cNvSpPr txBox="1"/>
          <p:nvPr/>
        </p:nvSpPr>
        <p:spPr>
          <a:xfrm>
            <a:off x="365760" y="658368"/>
            <a:ext cx="8412480" cy="612648"/>
          </a:xfrm>
          <a:prstGeom prst="rect">
            <a:avLst/>
          </a:prstGeom>
          <a:noFill/>
        </p:spPr>
        <p:txBody>
          <a:bodyPr wrap="square" lIns="0" rIns="0" tIns="0" bIns="0">
            <a:spAutoFit/>
          </a:bodyPr>
          <a:lstStyle/>
          <a:p>
            <a:pPr>
              <a:lnSpc>
                <a:spcPct val="115000"/>
              </a:lnSpc>
              <a:spcAft>
                <a:spcPts val="0"/>
              </a:spcAft>
              <a:defRPr sz="2200" b="1">
                <a:solidFill>
                  <a:srgbClr val="21243A"/>
                </a:solidFill>
                <a:latin typeface="Arial"/>
              </a:defRPr>
            </a:pPr>
            <a:r>
              <a:t>File and analysis record</a:t>
            </a:r>
          </a:p>
        </p:txBody>
      </p:sp>
      <p:sp>
        <p:nvSpPr>
          <p:cNvPr id="4" name="TextBox 3"/>
          <p:cNvSpPr txBox="1"/>
          <p:nvPr/>
        </p:nvSpPr>
        <p:spPr>
          <a:xfrm>
            <a:off x="365760" y="6291072"/>
            <a:ext cx="8001000" cy="365760"/>
          </a:xfrm>
          <a:prstGeom prst="rect">
            <a:avLst/>
          </a:prstGeom>
          <a:noFill/>
        </p:spPr>
        <p:txBody>
          <a:bodyPr wrap="square" lIns="0" rIns="0" tIns="0" bIns="0">
            <a:spAutoFit/>
          </a:bodyPr>
          <a:lstStyle/>
          <a:p>
            <a:pPr>
              <a:lnSpc>
                <a:spcPct val="115000"/>
              </a:lnSpc>
              <a:spcAft>
                <a:spcPts val="0"/>
              </a:spcAft>
              <a:defRPr sz="800" b="0">
                <a:solidFill>
                  <a:srgbClr val="545B6D"/>
                </a:solidFill>
                <a:latin typeface="Arial"/>
              </a:defRPr>
            </a:pPr>
            <a:r>
              <a:t>Research assessment. Ratings are not calibrated probabilities.</a:t>
            </a:r>
          </a:p>
        </p:txBody>
      </p:sp>
      <p:sp>
        <p:nvSpPr>
          <p:cNvPr id="5" name="TextBox 4"/>
          <p:cNvSpPr txBox="1"/>
          <p:nvPr/>
        </p:nvSpPr>
        <p:spPr>
          <a:xfrm>
            <a:off x="8394192" y="6318504"/>
            <a:ext cx="365760" cy="228600"/>
          </a:xfrm>
          <a:prstGeom prst="rect">
            <a:avLst/>
          </a:prstGeom>
          <a:noFill/>
        </p:spPr>
        <p:txBody>
          <a:bodyPr wrap="square" lIns="0" rIns="0" tIns="0" bIns="0">
            <a:spAutoFit/>
          </a:bodyPr>
          <a:lstStyle/>
          <a:p>
            <a:pPr>
              <a:lnSpc>
                <a:spcPct val="115000"/>
              </a:lnSpc>
              <a:spcAft>
                <a:spcPts val="0"/>
              </a:spcAft>
              <a:defRPr sz="900" b="0">
                <a:solidFill>
                  <a:srgbClr val="545B6D"/>
                </a:solidFill>
                <a:latin typeface="Arial"/>
              </a:defRPr>
            </a:pPr>
            <a:r>
              <a:t>17</a:t>
            </a:r>
          </a:p>
        </p:txBody>
      </p:sp>
      <p:graphicFrame>
        <p:nvGraphicFramePr>
          <p:cNvPr id="6" name="Table 5"/>
          <p:cNvGraphicFramePr>
            <a:graphicFrameLocks noGrp="1"/>
          </p:cNvGraphicFramePr>
          <p:nvPr/>
        </p:nvGraphicFramePr>
        <p:xfrm>
          <a:off x="365760" y="1353312"/>
          <a:ext cx="8412479" cy="347472"/>
        </p:xfrm>
        <a:graphic>
          <a:graphicData uri="http://schemas.openxmlformats.org/drawingml/2006/table">
            <a:tbl>
              <a:tblPr firstRow="1" bandRow="1">
                <a:tableStyleId>{5C22544A-7EE6-4342-B048-85BDC9FD1C3A}</a:tableStyleId>
              </a:tblPr>
              <a:tblGrid>
                <a:gridCol w="2271369"/>
                <a:gridCol w="6141110"/>
              </a:tblGrid>
              <a:tr h="347472">
                <a:tc>
                  <a:txBody>
                    <a:bodyPr wrap="none"/>
                    <a:lstStyle/>
                    <a:p>
                      <a:pPr>
                        <a:lnSpc>
                          <a:spcPts val="1600"/>
                        </a:lnSpc>
                        <a:spcAft>
                          <a:spcPts val="0"/>
                        </a:spcAft>
                        <a:defRPr sz="1200" b="1">
                          <a:solidFill>
                            <a:srgbClr val="FFFFFF"/>
                          </a:solidFill>
                          <a:latin typeface="Arial"/>
                        </a:defRPr>
                      </a:pPr>
                      <a:r>
                        <a:t>Field</a:t>
                      </a:r>
                    </a:p>
                  </a:txBody>
                  <a:tcPr marL="82296" marR="82296" marT="64008" marB="64008">
                    <a:solidFill>
                      <a:srgbClr val="16787C"/>
                    </a:solidFill>
                  </a:tcPr>
                </a:tc>
                <a:tc>
                  <a:txBody>
                    <a:bodyPr wrap="none"/>
                    <a:lstStyle/>
                    <a:p>
                      <a:pPr>
                        <a:lnSpc>
                          <a:spcPts val="1600"/>
                        </a:lnSpc>
                        <a:spcAft>
                          <a:spcPts val="0"/>
                        </a:spcAft>
                        <a:defRPr sz="1200" b="1">
                          <a:solidFill>
                            <a:srgbClr val="FFFFFF"/>
                          </a:solidFill>
                          <a:latin typeface="Arial"/>
                        </a:defRPr>
                      </a:pPr>
                      <a:r>
                        <a:t>Recorded detail</a:t>
                      </a:r>
                    </a:p>
                  </a:txBody>
                  <a:tcPr marL="82296" marR="82296" marT="64008" marB="64008">
                    <a:solidFill>
                      <a:srgbClr val="16787C"/>
                    </a:solidFill>
                  </a:tcPr>
                </a:tc>
              </a:tr>
            </a:tbl>
          </a:graphicData>
        </a:graphic>
      </p:graphicFrame>
      <p:graphicFrame>
        <p:nvGraphicFramePr>
          <p:cNvPr id="7" name="Table 6"/>
          <p:cNvGraphicFramePr>
            <a:graphicFrameLocks noGrp="1"/>
          </p:cNvGraphicFramePr>
          <p:nvPr/>
        </p:nvGraphicFramePr>
        <p:xfrm>
          <a:off x="365760" y="1700784"/>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File</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social-media-image.png</a:t>
                      </a:r>
                    </a:p>
                  </a:txBody>
                  <a:tcPr marL="82296" marR="82296" marT="64008" marB="64008">
                    <a:solidFill>
                      <a:srgbClr val="F1F7F7"/>
                    </a:solidFill>
                  </a:tcPr>
                </a:tc>
              </a:tr>
            </a:tbl>
          </a:graphicData>
        </a:graphic>
      </p:graphicFrame>
      <p:graphicFrame>
        <p:nvGraphicFramePr>
          <p:cNvPr id="8" name="Table 7"/>
          <p:cNvGraphicFramePr>
            <a:graphicFrameLocks noGrp="1"/>
          </p:cNvGraphicFramePr>
          <p:nvPr/>
        </p:nvGraphicFramePr>
        <p:xfrm>
          <a:off x="365760" y="2050288"/>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Analysis ID</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19e08bec-290f-4eef-bc04-a35798496852</a:t>
                      </a:r>
                    </a:p>
                  </a:txBody>
                  <a:tcPr marL="82296" marR="82296" marT="64008" marB="64008">
                    <a:solidFill>
                      <a:srgbClr val="FFFFFF"/>
                    </a:solidFill>
                  </a:tcPr>
                </a:tc>
              </a:tr>
            </a:tbl>
          </a:graphicData>
        </a:graphic>
      </p:graphicFrame>
      <p:graphicFrame>
        <p:nvGraphicFramePr>
          <p:cNvPr id="9" name="Table 8"/>
          <p:cNvGraphicFramePr>
            <a:graphicFrameLocks noGrp="1"/>
          </p:cNvGraphicFramePr>
          <p:nvPr/>
        </p:nvGraphicFramePr>
        <p:xfrm>
          <a:off x="365760" y="2399792"/>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Generated</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2026-09-26T22:31:29+00:00</a:t>
                      </a:r>
                    </a:p>
                  </a:txBody>
                  <a:tcPr marL="82296" marR="82296" marT="64008" marB="64008">
                    <a:solidFill>
                      <a:srgbClr val="F1F7F7"/>
                    </a:solidFill>
                  </a:tcPr>
                </a:tc>
              </a:tr>
            </a:tbl>
          </a:graphicData>
        </a:graphic>
      </p:graphicFrame>
      <p:graphicFrame>
        <p:nvGraphicFramePr>
          <p:cNvPr id="10" name="Table 9"/>
          <p:cNvGraphicFramePr>
            <a:graphicFrameLocks noGrp="1"/>
          </p:cNvGraphicFramePr>
          <p:nvPr/>
        </p:nvGraphicFramePr>
        <p:xfrm>
          <a:off x="365760" y="2749296"/>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Tool</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SDA Vision 0.1.0</a:t>
                      </a:r>
                    </a:p>
                  </a:txBody>
                  <a:tcPr marL="82296" marR="82296" marT="64008" marB="64008">
                    <a:solidFill>
                      <a:srgbClr val="FFFFFF"/>
                    </a:solidFill>
                  </a:tcPr>
                </a:tc>
              </a:tr>
            </a:tbl>
          </a:graphicData>
        </a:graphic>
      </p:graphicFrame>
      <p:graphicFrame>
        <p:nvGraphicFramePr>
          <p:cNvPr id="11" name="Table 10"/>
          <p:cNvGraphicFramePr>
            <a:graphicFrameLocks noGrp="1"/>
          </p:cNvGraphicFramePr>
          <p:nvPr/>
        </p:nvGraphicFramePr>
        <p:xfrm>
          <a:off x="365760" y="3098800"/>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Models</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claude-opus-5-5, gemini-3.8-flash, gpt-6-astra</a:t>
                      </a:r>
                    </a:p>
                  </a:txBody>
                  <a:tcPr marL="82296" marR="82296" marT="64008" marB="64008">
                    <a:solidFill>
                      <a:srgbClr val="F1F7F7"/>
                    </a:solidFill>
                  </a:tcPr>
                </a:tc>
              </a:tr>
            </a:tbl>
          </a:graphicData>
        </a:graphic>
      </p:graphicFrame>
      <p:graphicFrame>
        <p:nvGraphicFramePr>
          <p:cNvPr id="12" name="Table 11"/>
          <p:cNvGraphicFramePr>
            <a:graphicFrameLocks noGrp="1"/>
          </p:cNvGraphicFramePr>
          <p:nvPr/>
        </p:nvGraphicFramePr>
        <p:xfrm>
          <a:off x="365760" y="3448304"/>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Method version</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pdf-preparation-2026-09-26.1</a:t>
                      </a:r>
                    </a:p>
                  </a:txBody>
                  <a:tcPr marL="82296" marR="82296" marT="64008" marB="64008">
                    <a:solidFill>
                      <a:srgbClr val="FFFFFF"/>
                    </a:solidFill>
                  </a:tcPr>
                </a:tc>
              </a:tr>
            </a:tbl>
          </a:graphicData>
        </a:graphic>
      </p:graphicFrame>
      <p:graphicFrame>
        <p:nvGraphicFramePr>
          <p:cNvPr id="13" name="Table 12"/>
          <p:cNvGraphicFramePr>
            <a:graphicFrameLocks noGrp="1"/>
          </p:cNvGraphicFramePr>
          <p:nvPr/>
        </p:nvGraphicFramePr>
        <p:xfrm>
          <a:off x="365760" y="3797808"/>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Analysis lens</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general</a:t>
                      </a:r>
                    </a:p>
                  </a:txBody>
                  <a:tcPr marL="82296" marR="82296" marT="64008" marB="64008">
                    <a:solidFill>
                      <a:srgbClr val="F1F7F7"/>
                    </a:solidFill>
                  </a:tcPr>
                </a:tc>
              </a:tr>
            </a:tbl>
          </a:graphicData>
        </a:graphic>
      </p:graphicFrame>
      <p:graphicFrame>
        <p:nvGraphicFramePr>
          <p:cNvPr id="14" name="Table 13"/>
          <p:cNvGraphicFramePr>
            <a:graphicFrameLocks noGrp="1"/>
          </p:cNvGraphicFramePr>
          <p:nvPr/>
        </p:nvGraphicFramePr>
        <p:xfrm>
          <a:off x="365760" y="4147312"/>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Original SHA-256</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f849e223762889e4d091fdf09caae3de19bff4cdc6e0024b50379276318f9fe7</a:t>
                      </a:r>
                    </a:p>
                  </a:txBody>
                  <a:tcPr marL="82296" marR="82296" marT="64008" marB="64008">
                    <a:solidFill>
                      <a:srgbClr val="FFFFFF"/>
                    </a:solidFill>
                  </a:tcPr>
                </a:tc>
              </a:tr>
            </a:tbl>
          </a:graphicData>
        </a:graphic>
      </p:graphicFrame>
      <p:graphicFrame>
        <p:nvGraphicFramePr>
          <p:cNvPr id="15" name="Table 14"/>
          <p:cNvGraphicFramePr>
            <a:graphicFrameLocks noGrp="1"/>
          </p:cNvGraphicFramePr>
          <p:nvPr/>
        </p:nvGraphicFramePr>
        <p:xfrm>
          <a:off x="365760" y="4496816"/>
          <a:ext cx="8412479" cy="552704"/>
        </p:xfrm>
        <a:graphic>
          <a:graphicData uri="http://schemas.openxmlformats.org/drawingml/2006/table">
            <a:tbl>
              <a:tblPr firstRow="1" bandRow="1">
                <a:tableStyleId>{5C22544A-7EE6-4342-B048-85BDC9FD1C3A}</a:tableStyleId>
              </a:tblPr>
              <a:tblGrid>
                <a:gridCol w="2271369"/>
                <a:gridCol w="6141110"/>
              </a:tblGrid>
              <a:tr h="552704">
                <a:tc>
                  <a:txBody>
                    <a:bodyPr wrap="none"/>
                    <a:lstStyle/>
                    <a:p>
                      <a:pPr>
                        <a:lnSpc>
                          <a:spcPts val="1600"/>
                        </a:lnSpc>
                        <a:spcAft>
                          <a:spcPts val="0"/>
                        </a:spcAft>
                        <a:defRPr sz="1200" b="0">
                          <a:solidFill>
                            <a:srgbClr val="21243A"/>
                          </a:solidFill>
                          <a:latin typeface="Arial"/>
                        </a:defRPr>
                      </a:pPr>
                      <a:r>
                        <a:t>Ingestion note 1</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Fresh provider replies acquired for eleven-examples-refresh-20260926-r1; report</a:t>
                      </a:r>
                    </a:p>
                    <a:p>
                      <a:pPr>
                        <a:lnSpc>
                          <a:spcPts val="1600"/>
                        </a:lnSpc>
                        <a:spcAft>
                          <a:spcPts val="0"/>
                        </a:spcAft>
                        <a:defRPr sz="1200" b="0">
                          <a:solidFill>
                            <a:srgbClr val="21243A"/>
                          </a:solidFill>
                          <a:latin typeface="Arial"/>
                        </a:defRPr>
                      </a:pPr>
                      <a:r>
                        <a:t>assembled locally from the saved responses without further API calls.</a:t>
                      </a:r>
                    </a:p>
                  </a:txBody>
                  <a:tcPr marL="82296" marR="82296" marT="64008" marB="64008">
                    <a:solidFill>
                      <a:srgbClr val="F1F7F7"/>
                    </a:solidFill>
                  </a:tcPr>
                </a:tc>
              </a:tr>
            </a:tbl>
          </a:graphicData>
        </a:graphic>
      </p:graphicFrame>
      <p:graphicFrame>
        <p:nvGraphicFramePr>
          <p:cNvPr id="16" name="Table 15"/>
          <p:cNvGraphicFramePr>
            <a:graphicFrameLocks noGrp="1"/>
          </p:cNvGraphicFramePr>
          <p:nvPr/>
        </p:nvGraphicFramePr>
        <p:xfrm>
          <a:off x="365760" y="5049520"/>
          <a:ext cx="8412479" cy="755904"/>
        </p:xfrm>
        <a:graphic>
          <a:graphicData uri="http://schemas.openxmlformats.org/drawingml/2006/table">
            <a:tbl>
              <a:tblPr firstRow="1" bandRow="1">
                <a:tableStyleId>{5C22544A-7EE6-4342-B048-85BDC9FD1C3A}</a:tableStyleId>
              </a:tblPr>
              <a:tblGrid>
                <a:gridCol w="2271369"/>
                <a:gridCol w="6141110"/>
              </a:tblGrid>
              <a:tr h="755904">
                <a:tc>
                  <a:txBody>
                    <a:bodyPr wrap="none"/>
                    <a:lstStyle/>
                    <a:p>
                      <a:pPr>
                        <a:lnSpc>
                          <a:spcPts val="1600"/>
                        </a:lnSpc>
                        <a:spcAft>
                          <a:spcPts val="0"/>
                        </a:spcAft>
                        <a:defRPr sz="1200" b="0">
                          <a:solidFill>
                            <a:srgbClr val="21243A"/>
                          </a:solidFill>
                          <a:latin typeface="Arial"/>
                        </a:defRPr>
                      </a:pPr>
                      <a:r>
                        <a:t>Ingestion note 2</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Provider latency values are restored from the acquisition receipts (maximum</a:t>
                      </a:r>
                    </a:p>
                    <a:p>
                      <a:pPr>
                        <a:lnSpc>
                          <a:spcPts val="1600"/>
                        </a:lnSpc>
                        <a:spcAft>
                          <a:spcPts val="0"/>
                        </a:spcAft>
                        <a:defRPr sz="1200" b="0">
                          <a:solidFill>
                            <a:srgbClr val="21243A"/>
                          </a:solidFill>
                          <a:latin typeface="Arial"/>
                        </a:defRPr>
                      </a:pPr>
                      <a:r>
                        <a:t>sampled-frame latency per provider); raw replies and assessment results are</a:t>
                      </a:r>
                    </a:p>
                    <a:p>
                      <a:pPr>
                        <a:lnSpc>
                          <a:spcPts val="1600"/>
                        </a:lnSpc>
                        <a:spcAft>
                          <a:spcPts val="0"/>
                        </a:spcAft>
                        <a:defRPr sz="1200" b="0">
                          <a:solidFill>
                            <a:srgbClr val="21243A"/>
                          </a:solidFill>
                          <a:latin typeface="Arial"/>
                        </a:defRPr>
                      </a:pPr>
                      <a:r>
                        <a:t>unchanged by this bookkeeping step.</a:t>
                      </a:r>
                    </a:p>
                  </a:txBody>
                  <a:tcPr marL="82296" marR="82296" marT="64008" marB="64008">
                    <a:solidFill>
                      <a:srgbClr val="FFFF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SDA Vision: Analysis report</dc:title>
  <dc:subject>Research assessment export</dc:subject>
  <dc:creator>SDA Vision</dc:creator>
  <cp:keywords/>
  <dc:description/>
  <cp:lastModifiedBy>SDA Vision</cp:lastModifiedBy>
  <cp:revision>1</cp:revision>
  <dcterms:created xsi:type="dcterms:W3CDTF">2026-10-16T06:37:15Z</dcterms:created>
  <dcterms:modified xsi:type="dcterms:W3CDTF">2026-10-16T06:37:15Z</dcterms:modified>
  <cp:category/>
</cp:coreProperties>
</file>