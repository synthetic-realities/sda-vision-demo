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illustration-1.png</a:t>
            </a:r>
          </a:p>
          <a:p>
            <a:r>
              <a:t>illustration-1.png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illustration-1.png</a:t>
            </a:r>
          </a:p>
          <a:p>
            <a:r>
              <a:t>Assessment summary</a:t>
            </a:r>
          </a:p>
          <a:p>
            <a:r>
              <a:t>Finding | Leaning synthetic</a:t>
            </a:r>
          </a:p>
          <a:p>
            <a:r>
              <a:t>Recorded verdict | synthetic likely</a:t>
            </a:r>
          </a:p>
          <a:p>
            <a:r>
              <a:t>Confidence | high</a:t>
            </a:r>
          </a:p>
          <a:p>
            <a:r>
              <a:t>Indicative rating | 78/100</a:t>
            </a:r>
          </a:p>
          <a:p>
            <a:r>
              <a:t>Rating basis | median of available model ratings; not a calibrated probability</a:t>
            </a:r>
          </a:p>
          <a:p>
            <a:r>
              <a:t>Explanation | 3 models agree this is likely synthetic.</a:t>
            </a:r>
          </a:p>
          <a:p>
            <a:r>
              <a:t>Coverage | image - 1 frame(s) analysed</a:t>
            </a:r>
          </a:p>
          <a:p>
            <a:r>
              <a:t>Review context | Research assessment. Review alongside source information and context. When credentials are missing, origin remains unresolved by this check. Use these findings to inform a documented human review.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illustration-1.png</a:t>
            </a:r>
          </a:p>
          <a:p>
            <a:r>
              <a:t>Provider overview</a:t>
            </a:r>
          </a:p>
          <a:p>
            <a:r>
              <a:t>Claude Vision | vision / ok | synthetic likely | 82/100</a:t>
            </a:r>
          </a:p>
          <a:p>
            <a:r>
              <a:t>OpenAI Vision | vision / ok | synthetic likely | 78/100</a:t>
            </a:r>
          </a:p>
          <a:p>
            <a:r>
              <a:t>Gemini Vision | vision / ok | synthetic likely | 72/100</a:t>
            </a:r>
          </a:p>
          <a:p>
            <a:r>
              <a:t>C2PA Content Credentials | provenance / ok | inconclusive | n/a</a:t>
            </a:r>
          </a:p>
          <a:p>
            <a:r>
              <a:t>Local forensic cues | forensic / ok | partially synthetic | 41/100</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illustration-1.png</a:t>
            </a:r>
          </a:p>
          <a:p>
            <a:r>
              <a:t>Provider evidence / 1</a:t>
            </a:r>
          </a:p>
          <a:p>
            <a:r>
              <a:t>Provider | Claude Vision</a:t>
            </a:r>
          </a:p>
          <a:p>
            <a:r>
              <a:t>Model | claude-opus-5-5</a:t>
            </a:r>
          </a:p>
          <a:p>
            <a:r>
              <a:t>Status | ok</a:t>
            </a:r>
          </a:p>
          <a:p>
            <a:r>
              <a:t>Assessment | synthetic likely</a:t>
            </a:r>
          </a:p>
          <a:p>
            <a:r>
              <a:t>Confidence | medium</a:t>
            </a:r>
          </a:p>
          <a:p>
            <a:r>
              <a:t>Role in assessment | Supporting</a:t>
            </a:r>
          </a:p>
          <a:p>
            <a:r>
              <a:t>Provider summary | synthetic likelihood 82/100; tells: not a camera photo: digital illustration in a uniform, polished comic/ink-and-colour style typical of current image generators, hyper-consistent line weight and cel shading across all figures with no stroke variation or construction marks, noisy, fragmented texture in the grey curly hair, resembling generator detail artifacts rather than deliberate strokes, tablet screen shows an indistinct garden/playground scene with smeared, non-specific detail</a:t>
            </a:r>
          </a:p>
          <a:p>
            <a:r>
              <a:t>Evidence 1 | Not a camera photo: digital illustration in a uniform, polished comic/ink-and-colour style typical of current image generators</a:t>
            </a:r>
          </a:p>
          <a:p>
            <a:r>
              <a:t>Evidence 2 | Hyper-consistent line weight and cel shading across all figures with no stroke variation or construction marks</a:t>
            </a:r>
          </a:p>
          <a:p>
            <a:r>
              <a:t>Evidence 3 | Noisy, fragmented texture in the grey curly hair, resembling generator detail artifacts rather than deliberate strokes</a:t>
            </a:r>
          </a:p>
          <a:p>
            <a:r>
              <a:t>Evidence 4 | Tablet screen shows an indistinct garden/playground scene with smeared, non-specific detail</a:t>
            </a:r>
          </a:p>
          <a:p>
            <a:r>
              <a:t>Evidence 5 | Wheelchair spokes and frame are mostly plausible but slightly irregular in spacing and junctions</a:t>
            </a:r>
          </a:p>
          <a:p>
            <a:r>
              <a:t>Evidence 6 | Hands are well formed overall, which lowers but does not remove suspicion</a:t>
            </a:r>
          </a:p>
          <a:p>
            <a:r>
              <a:t>Evidence 7 | Stock-style composition, clean white background, no signature, no watermark</a:t>
            </a:r>
          </a:p>
          <a:p>
            <a:r>
              <a:t>Evidence 8 | Caveat: Skilled human digital illustrators can produce this polished style, and the hands and anatomy are largely coherent. Style cues alone cannot confirm AI origin, so check file metadata/C2PA, the artist's source, or reverse image search.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illustration-1.png</a:t>
            </a:r>
          </a:p>
          <a:p>
            <a:r>
              <a:t>Provider evidence / 1</a:t>
            </a:r>
          </a:p>
          <a:p>
            <a:r>
              <a:t>Provider | Claude Vision</a:t>
            </a:r>
          </a:p>
          <a:p>
            <a:r>
              <a:t>Model | claude-opus-5-5</a:t>
            </a:r>
          </a:p>
          <a:p>
            <a:r>
              <a:t>Status | ok</a:t>
            </a:r>
          </a:p>
          <a:p>
            <a:r>
              <a:t>Assessment | synthetic likely</a:t>
            </a:r>
          </a:p>
          <a:p>
            <a:r>
              <a:t>Confidence | medium</a:t>
            </a:r>
          </a:p>
          <a:p>
            <a:r>
              <a:t>Role in assessment | Supporting</a:t>
            </a:r>
          </a:p>
          <a:p>
            <a:r>
              <a:t>Provider summary | synthetic likelihood 82/100; tells: not a camera photo: digital illustration in a uniform, polished comic/ink-and-colour style typical of current image generators, hyper-consistent line weight and cel shading across all figures with no stroke variation or construction marks, noisy, fragmented texture in the grey curly hair, resembling generator detail artifacts rather than deliberate strokes, tablet screen shows an indistinct garden/playground scene with smeared, non-specific detail</a:t>
            </a:r>
          </a:p>
          <a:p>
            <a:r>
              <a:t>Evidence 1 | Not a camera photo: digital illustration in a uniform, polished comic/ink-and-colour style typical of current image generators</a:t>
            </a:r>
          </a:p>
          <a:p>
            <a:r>
              <a:t>Evidence 2 | Hyper-consistent line weight and cel shading across all figures with no stroke variation or construction marks</a:t>
            </a:r>
          </a:p>
          <a:p>
            <a:r>
              <a:t>Evidence 3 | Noisy, fragmented texture in the grey curly hair, resembling generator detail artifacts rather than deliberate strokes</a:t>
            </a:r>
          </a:p>
          <a:p>
            <a:r>
              <a:t>Evidence 4 | Tablet screen shows an indistinct garden/playground scene with smeared, non-specific detail</a:t>
            </a:r>
          </a:p>
          <a:p>
            <a:r>
              <a:t>Evidence 5 | Wheelchair spokes and frame are mostly plausible but slightly irregular in spacing and junctions</a:t>
            </a:r>
          </a:p>
          <a:p>
            <a:r>
              <a:t>Evidence 6 | Hands are well formed overall, which lowers but does not remove suspicion</a:t>
            </a:r>
          </a:p>
          <a:p>
            <a:r>
              <a:t>Evidence 7 | Stock-style composition, clean white background, no signature, no watermark</a:t>
            </a:r>
          </a:p>
          <a:p>
            <a:r>
              <a:t>Evidence 8 | Caveat: Skilled human digital illustrators can produce this polished style, and the hands and anatomy are largely coherent. Style cues alone cannot confirm AI origin, so check file metadata/C2PA, the artist's source, or reverse image search.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illustration-1.png</a:t>
            </a:r>
          </a:p>
          <a:p>
            <a:r>
              <a:t>Provider evidence / 2</a:t>
            </a:r>
          </a:p>
          <a:p>
            <a:r>
              <a:t>Provider | OpenAI Vision</a:t>
            </a:r>
          </a:p>
          <a:p>
            <a:r>
              <a:t>Model | gpt-6-astra</a:t>
            </a:r>
          </a:p>
          <a:p>
            <a:r>
              <a:t>Status | ok</a:t>
            </a:r>
          </a:p>
          <a:p>
            <a:r>
              <a:t>Assessment | synthetic likely</a:t>
            </a:r>
          </a:p>
          <a:p>
            <a:r>
              <a:t>Confidence | medium</a:t>
            </a:r>
          </a:p>
          <a:p>
            <a:r>
              <a:t>Role in assessment | Supporting</a:t>
            </a:r>
          </a:p>
          <a:p>
            <a:r>
              <a:t>Provider summary | synthetic likelihood 78/100; tells: Older woman's gray hair contains tangled, ribbon-like shapes inconsistent with the other hair rendering., Wheelchair spokes and lower frame tubes form irregular junctions and ambiguous connections., Gesturing hands have uneven finger separation and merged-looking contours., Tablet garden has noticeably softer, less defined detail than the surrounding outlined illustration.</a:t>
            </a:r>
          </a:p>
          <a:p>
            <a:r>
              <a:t>Evidence 1 | Older woman's gray hair contains tangled, ribbon-like shapes inconsistent with the other hair rendering.</a:t>
            </a:r>
          </a:p>
          <a:p>
            <a:r>
              <a:t>Evidence 2 | Wheelchair spokes and lower frame tubes form irregular junctions and ambiguous connections.</a:t>
            </a:r>
          </a:p>
          <a:p>
            <a:r>
              <a:t>Evidence 3 | Gesturing hands have uneven finger separation and merged-looking contours.</a:t>
            </a:r>
          </a:p>
          <a:p>
            <a:r>
              <a:t>Evidence 4 | Tablet garden has noticeably softer, less defined detail than the surrounding outlined illustration.</a:t>
            </a:r>
          </a:p>
          <a:p>
            <a:r>
              <a:t>Evidence 5 | Caveat: This is a digital illustration, not a photograph; stylized drawing errors alone cannot establish AI origin without provenance.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illustration-1.png</a:t>
            </a:r>
          </a:p>
          <a:p>
            <a:r>
              <a:t>Provider evidence / 2</a:t>
            </a:r>
          </a:p>
          <a:p>
            <a:r>
              <a:t>Provider | OpenAI Vision</a:t>
            </a:r>
          </a:p>
          <a:p>
            <a:r>
              <a:t>Model | gpt-6-astra</a:t>
            </a:r>
          </a:p>
          <a:p>
            <a:r>
              <a:t>Status | ok</a:t>
            </a:r>
          </a:p>
          <a:p>
            <a:r>
              <a:t>Assessment | synthetic likely</a:t>
            </a:r>
          </a:p>
          <a:p>
            <a:r>
              <a:t>Confidence | medium</a:t>
            </a:r>
          </a:p>
          <a:p>
            <a:r>
              <a:t>Role in assessment | Supporting</a:t>
            </a:r>
          </a:p>
          <a:p>
            <a:r>
              <a:t>Provider summary | synthetic likelihood 78/100; tells: Older woman's gray hair contains tangled, ribbon-like shapes inconsistent with the other hair rendering., Wheelchair spokes and lower frame tubes form irregular junctions and ambiguous connections., Gesturing hands have uneven finger separation and merged-looking contours., Tablet garden has noticeably softer, less defined detail than the surrounding outlined illustration.</a:t>
            </a:r>
          </a:p>
          <a:p>
            <a:r>
              <a:t>Evidence 1 | Older woman's gray hair contains tangled, ribbon-like shapes inconsistent with the other hair rendering.</a:t>
            </a:r>
          </a:p>
          <a:p>
            <a:r>
              <a:t>Evidence 2 | Wheelchair spokes and lower frame tubes form irregular junctions and ambiguous connections.</a:t>
            </a:r>
          </a:p>
          <a:p>
            <a:r>
              <a:t>Evidence 3 | Gesturing hands have uneven finger separation and merged-looking contours.</a:t>
            </a:r>
          </a:p>
          <a:p>
            <a:r>
              <a:t>Evidence 4 | Tablet garden has noticeably softer, less defined detail than the surrounding outlined illustration.</a:t>
            </a:r>
          </a:p>
          <a:p>
            <a:r>
              <a:t>Evidence 5 | Caveat: This is a digital illustration, not a photograph; stylized drawing errors alone cannot establish AI origin without provenance.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illustration-1.png</a:t>
            </a:r>
          </a:p>
          <a:p>
            <a:r>
              <a:t>Provider evidence / 3</a:t>
            </a:r>
          </a:p>
          <a:p>
            <a:r>
              <a:t>Provider | Gemini Vision</a:t>
            </a:r>
          </a:p>
          <a:p>
            <a:r>
              <a:t>Model | gemini-3.8-flash</a:t>
            </a:r>
          </a:p>
          <a:p>
            <a:r>
              <a:t>Status | ok</a:t>
            </a:r>
          </a:p>
          <a:p>
            <a:r>
              <a:t>Assessment | synthetic likely</a:t>
            </a:r>
          </a:p>
          <a:p>
            <a:r>
              <a:t>Confidence | medium</a:t>
            </a:r>
          </a:p>
          <a:p>
            <a:r>
              <a:t>Role in assessment | Supporting</a:t>
            </a:r>
          </a:p>
          <a:p>
            <a:r>
              <a:t>Provider summary | synthetic likelihood 72/100; tells: stylized digital line art with subtle AI generative markers, irregular finger proportions and geometry, overly smooth shading gradients typical of generative models, inconsistent perspective on wheelchair spokes</a:t>
            </a:r>
          </a:p>
          <a:p>
            <a:r>
              <a:t>Evidence 1 | Stylized digital line art with subtle AI generative markers</a:t>
            </a:r>
          </a:p>
          <a:p>
            <a:r>
              <a:t>Evidence 2 | Irregular finger proportions and geometry</a:t>
            </a:r>
          </a:p>
          <a:p>
            <a:r>
              <a:t>Evidence 3 | Overly smooth shading gradients typical of generative models</a:t>
            </a:r>
          </a:p>
          <a:p>
            <a:r>
              <a:t>Evidence 4 | Inconsistent perspective on wheelchair spokes</a:t>
            </a:r>
          </a:p>
          <a:p>
            <a:r>
              <a:t>Evidence 5 | Caveat: High-quality human digital vector/raster illustrations often closely resemble generative 2D art styles.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illustration-1.png</a:t>
            </a:r>
          </a:p>
          <a:p>
            <a:r>
              <a:t>Provider evidence / 3</a:t>
            </a:r>
          </a:p>
          <a:p>
            <a:r>
              <a:t>Provider | Gemini Vision</a:t>
            </a:r>
          </a:p>
          <a:p>
            <a:r>
              <a:t>Model | gemini-3.8-flash</a:t>
            </a:r>
          </a:p>
          <a:p>
            <a:r>
              <a:t>Status | ok</a:t>
            </a:r>
          </a:p>
          <a:p>
            <a:r>
              <a:t>Assessment | synthetic likely</a:t>
            </a:r>
          </a:p>
          <a:p>
            <a:r>
              <a:t>Confidence | medium</a:t>
            </a:r>
          </a:p>
          <a:p>
            <a:r>
              <a:t>Role in assessment | Supporting</a:t>
            </a:r>
          </a:p>
          <a:p>
            <a:r>
              <a:t>Provider summary | synthetic likelihood 72/100; tells: stylized digital line art with subtle AI generative markers, irregular finger proportions and geometry, overly smooth shading gradients typical of generative models, inconsistent perspective on wheelchair spokes</a:t>
            </a:r>
          </a:p>
          <a:p>
            <a:r>
              <a:t>Evidence 1 | Stylized digital line art with subtle AI generative markers</a:t>
            </a:r>
          </a:p>
          <a:p>
            <a:r>
              <a:t>Evidence 2 | Irregular finger proportions and geometry</a:t>
            </a:r>
          </a:p>
          <a:p>
            <a:r>
              <a:t>Evidence 3 | Overly smooth shading gradients typical of generative models</a:t>
            </a:r>
          </a:p>
          <a:p>
            <a:r>
              <a:t>Evidence 4 | Inconsistent perspective on wheelchair spokes</a:t>
            </a:r>
          </a:p>
          <a:p>
            <a:r>
              <a:t>Evidence 5 | Caveat: High-quality human digital vector/raster illustrations often closely resemble generative 2D art styles.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illustration-1.png</a:t>
            </a:r>
          </a:p>
          <a:p>
            <a:r>
              <a:t>Content Credentials / provenance</a:t>
            </a:r>
          </a:p>
          <a:p>
            <a:r>
              <a:t>Provider | C2PA Content Credentials</a:t>
            </a:r>
          </a:p>
          <a:p>
            <a:r>
              <a:t>Model | Not recorded</a:t>
            </a:r>
          </a:p>
          <a:p>
            <a:r>
              <a:t>Status | ok</a:t>
            </a:r>
          </a:p>
          <a:p>
            <a:r>
              <a:t>Assessment | inconclusive</a:t>
            </a:r>
          </a:p>
          <a:p>
            <a:r>
              <a:t>Confidence | Not recorded</a:t>
            </a:r>
          </a:p>
          <a:p>
            <a:r>
              <a:t>Role in assessment | Additional finding</a:t>
            </a:r>
          </a:p>
          <a:p>
            <a:r>
              <a:t>Provider summary | File integrity: validated. Signer trust: unresolved under the current local policy. The recorded declarations remain available for review and are not used as a decisive provenance finding. Manifest declares AI-generated content.</a:t>
            </a:r>
          </a:p>
          <a:p>
            <a:r>
              <a:t>Evidence 1 | Credentials: embedded manifest found.</a:t>
            </a:r>
          </a:p>
          <a:p>
            <a:r>
              <a:t>Evidence 2 | Integrity: valid (SDK validation).</a:t>
            </a:r>
          </a:p>
          <a:p>
            <a:r>
              <a:t>Evidence 3 | Signer trust: untrusted under the configured verifier.</a:t>
            </a:r>
          </a:p>
          <a:p>
            <a:r>
              <a:t>Evidence 4 | Active manifest: Manifest declares AI-generated content.</a:t>
            </a:r>
          </a:p>
          <a:p>
            <a:r>
              <a:t>Evidence 5 | Claim generator (declared tool): OpenAI Media Service API</a:t>
            </a:r>
          </a:p>
          <a:p>
            <a:r>
              <a:t>Evidence 6 | Declared signer: OpenAI OpCo, LLC</a:t>
            </a:r>
          </a:p>
          <a:p>
            <a:r>
              <a:t>Evidence 7 | Declared source type: http://cv.iptc.org/newscodes/digitalsourcetype/trainedalgorithmicmedia</a:t>
            </a:r>
          </a:p>
          <a:p>
            <a:r>
              <a:t>Evidence 8 | Active record - declared tool: OpenAI Media Service API; actions: c2pa.created, c2pa.converted, c2pa.watermarked.unbound.</a:t>
            </a:r>
          </a:p>
          <a:p>
            <a:r>
              <a:t>Evidence 9 | Active record - all actions recorded (signer's declaration): no.</a:t>
            </a:r>
          </a:p>
          <a:p>
            <a:r>
              <a:t>Evidence 10 | Validation outcome: signingCredential.untrusted</a:t>
            </a:r>
          </a:p>
          <a:p>
            <a:r>
              <a:t>Evidence 11 | Validation outcome: timeStamp.validated</a:t>
            </a:r>
          </a:p>
          <a:p>
            <a:r>
              <a:t>Evidence 12 | Validation outcome: claimSignature.insideValidity</a:t>
            </a:r>
          </a:p>
          <a:p>
            <a:r>
              <a:t>Evidence 13 | Validation outcome: claimSignature.validated</a:t>
            </a:r>
          </a:p>
          <a:p>
            <a:r>
              <a:t>Evidence 14 | Validation outcome: assertion.hashedURI.match</a:t>
            </a:r>
          </a:p>
          <a:p>
            <a:r>
              <a:t>Evidence 15 | Validation outcome: assertion.dataHash.match</a:t>
            </a:r>
          </a:p>
          <a:p>
            <a:r>
              <a:t>Evidence 16 | Validation outcome: timeStamp.untrusted</a:t>
            </a:r>
          </a:p>
          <a:p>
            <a:r>
              <a:t>Evidence 17 | Verifier: c2pa-python 0.37.12; native SDK 0.91.0; specification target 2.4; policy embedded-offline-reviewed-trust-v3.</a:t>
            </a:r>
          </a:p>
          <a:p>
            <a:r>
              <a:t>Evidence 18 | Offline embedded-manifest verification; no network trust-list, manifest or revocation refresh.</a:t>
            </a:r>
          </a:p>
          <a:p>
            <a:r>
              <a:t>Evidence 19 | No reviewed local C2PA trust snapshot installed. Provenance overrides are disabled.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illustration-1.png</a:t>
            </a:r>
          </a:p>
          <a:p>
            <a:r>
              <a:t>Content Credentials / provenance</a:t>
            </a:r>
          </a:p>
          <a:p>
            <a:r>
              <a:t>Provider | C2PA Content Credentials</a:t>
            </a:r>
          </a:p>
          <a:p>
            <a:r>
              <a:t>Model | Not recorded</a:t>
            </a:r>
          </a:p>
          <a:p>
            <a:r>
              <a:t>Status | ok</a:t>
            </a:r>
          </a:p>
          <a:p>
            <a:r>
              <a:t>Assessment | inconclusive</a:t>
            </a:r>
          </a:p>
          <a:p>
            <a:r>
              <a:t>Confidence | Not recorded</a:t>
            </a:r>
          </a:p>
          <a:p>
            <a:r>
              <a:t>Role in assessment | Additional finding</a:t>
            </a:r>
          </a:p>
          <a:p>
            <a:r>
              <a:t>Provider summary | File integrity: validated. Signer trust: unresolved under the current local policy. The recorded declarations remain available for review and are not used as a decisive provenance finding. Manifest declares AI-generated content.</a:t>
            </a:r>
          </a:p>
          <a:p>
            <a:r>
              <a:t>Evidence 1 | Credentials: embedded manifest found.</a:t>
            </a:r>
          </a:p>
          <a:p>
            <a:r>
              <a:t>Evidence 2 | Integrity: valid (SDK validation).</a:t>
            </a:r>
          </a:p>
          <a:p>
            <a:r>
              <a:t>Evidence 3 | Signer trust: untrusted under the configured verifier.</a:t>
            </a:r>
          </a:p>
          <a:p>
            <a:r>
              <a:t>Evidence 4 | Active manifest: Manifest declares AI-generated content.</a:t>
            </a:r>
          </a:p>
          <a:p>
            <a:r>
              <a:t>Evidence 5 | Claim generator (declared tool): OpenAI Media Service API</a:t>
            </a:r>
          </a:p>
          <a:p>
            <a:r>
              <a:t>Evidence 6 | Declared signer: OpenAI OpCo, LLC</a:t>
            </a:r>
          </a:p>
          <a:p>
            <a:r>
              <a:t>Evidence 7 | Declared source type: http://cv.iptc.org/newscodes/digitalsourcetype/trainedalgorithmicmedia</a:t>
            </a:r>
          </a:p>
          <a:p>
            <a:r>
              <a:t>Evidence 8 | Active record - declared tool: OpenAI Media Service API; actions: c2pa.created, c2pa.converted, c2pa.watermarked.unbound.</a:t>
            </a:r>
          </a:p>
          <a:p>
            <a:r>
              <a:t>Evidence 9 | Active record - all actions recorded (signer's declaration): no.</a:t>
            </a:r>
          </a:p>
          <a:p>
            <a:r>
              <a:t>Evidence 10 | Validation outcome: signingCredential.untrusted</a:t>
            </a:r>
          </a:p>
          <a:p>
            <a:r>
              <a:t>Evidence 11 | Validation outcome: timeStamp.validated</a:t>
            </a:r>
          </a:p>
          <a:p>
            <a:r>
              <a:t>Evidence 12 | Validation outcome: claimSignature.insideValidity</a:t>
            </a:r>
          </a:p>
          <a:p>
            <a:r>
              <a:t>Evidence 13 | Validation outcome: claimSignature.validated</a:t>
            </a:r>
          </a:p>
          <a:p>
            <a:r>
              <a:t>Evidence 14 | Validation outcome: assertion.hashedURI.match</a:t>
            </a:r>
          </a:p>
          <a:p>
            <a:r>
              <a:t>Evidence 15 | Validation outcome: assertion.dataHash.match</a:t>
            </a:r>
          </a:p>
          <a:p>
            <a:r>
              <a:t>Evidence 16 | Validation outcome: timeStamp.untrusted</a:t>
            </a:r>
          </a:p>
          <a:p>
            <a:r>
              <a:t>Evidence 17 | Verifier: c2pa-python 0.37.12; native SDK 0.91.0; specification target 2.4; policy embedded-offline-reviewed-trust-v3.</a:t>
            </a:r>
          </a:p>
          <a:p>
            <a:r>
              <a:t>Evidence 18 | Offline embedded-manifest verification; no network trust-list, manifest or revocation refresh.</a:t>
            </a:r>
          </a:p>
          <a:p>
            <a:r>
              <a:t>Evidence 19 | No reviewed local C2PA trust snapshot installed. Provenance overrides are disabled.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illustration-1.png</a:t>
            </a:r>
          </a:p>
          <a:p>
            <a:r>
              <a:t>Content Credentials / provenance</a:t>
            </a:r>
          </a:p>
          <a:p>
            <a:r>
              <a:t>Provider | C2PA Content Credentials</a:t>
            </a:r>
          </a:p>
          <a:p>
            <a:r>
              <a:t>Model | Not recorded</a:t>
            </a:r>
          </a:p>
          <a:p>
            <a:r>
              <a:t>Status | ok</a:t>
            </a:r>
          </a:p>
          <a:p>
            <a:r>
              <a:t>Assessment | inconclusive</a:t>
            </a:r>
          </a:p>
          <a:p>
            <a:r>
              <a:t>Confidence | Not recorded</a:t>
            </a:r>
          </a:p>
          <a:p>
            <a:r>
              <a:t>Role in assessment | Additional finding</a:t>
            </a:r>
          </a:p>
          <a:p>
            <a:r>
              <a:t>Provider summary | File integrity: validated. Signer trust: unresolved under the current local policy. The recorded declarations remain available for review and are not used as a decisive provenance finding. Manifest declares AI-generated content.</a:t>
            </a:r>
          </a:p>
          <a:p>
            <a:r>
              <a:t>Evidence 1 | Credentials: embedded manifest found.</a:t>
            </a:r>
          </a:p>
          <a:p>
            <a:r>
              <a:t>Evidence 2 | Integrity: valid (SDK validation).</a:t>
            </a:r>
          </a:p>
          <a:p>
            <a:r>
              <a:t>Evidence 3 | Signer trust: untrusted under the configured verifier.</a:t>
            </a:r>
          </a:p>
          <a:p>
            <a:r>
              <a:t>Evidence 4 | Active manifest: Manifest declares AI-generated content.</a:t>
            </a:r>
          </a:p>
          <a:p>
            <a:r>
              <a:t>Evidence 5 | Claim generator (declared tool): OpenAI Media Service API</a:t>
            </a:r>
          </a:p>
          <a:p>
            <a:r>
              <a:t>Evidence 6 | Declared signer: OpenAI OpCo, LLC</a:t>
            </a:r>
          </a:p>
          <a:p>
            <a:r>
              <a:t>Evidence 7 | Declared source type: http://cv.iptc.org/newscodes/digitalsourcetype/trainedalgorithmicmedia</a:t>
            </a:r>
          </a:p>
          <a:p>
            <a:r>
              <a:t>Evidence 8 | Active record - declared tool: OpenAI Media Service API; actions: c2pa.created, c2pa.converted, c2pa.watermarked.unbound.</a:t>
            </a:r>
          </a:p>
          <a:p>
            <a:r>
              <a:t>Evidence 9 | Active record - all actions recorded (signer's declaration): no.</a:t>
            </a:r>
          </a:p>
          <a:p>
            <a:r>
              <a:t>Evidence 10 | Validation outcome: signingCredential.untrusted</a:t>
            </a:r>
          </a:p>
          <a:p>
            <a:r>
              <a:t>Evidence 11 | Validation outcome: timeStamp.validated</a:t>
            </a:r>
          </a:p>
          <a:p>
            <a:r>
              <a:t>Evidence 12 | Validation outcome: claimSignature.insideValidity</a:t>
            </a:r>
          </a:p>
          <a:p>
            <a:r>
              <a:t>Evidence 13 | Validation outcome: claimSignature.validated</a:t>
            </a:r>
          </a:p>
          <a:p>
            <a:r>
              <a:t>Evidence 14 | Validation outcome: assertion.hashedURI.match</a:t>
            </a:r>
          </a:p>
          <a:p>
            <a:r>
              <a:t>Evidence 15 | Validation outcome: assertion.dataHash.match</a:t>
            </a:r>
          </a:p>
          <a:p>
            <a:r>
              <a:t>Evidence 16 | Validation outcome: timeStamp.untrusted</a:t>
            </a:r>
          </a:p>
          <a:p>
            <a:r>
              <a:t>Evidence 17 | Verifier: c2pa-python 0.37.12; native SDK 0.91.0; specification target 2.4; policy embedded-offline-reviewed-trust-v3.</a:t>
            </a:r>
          </a:p>
          <a:p>
            <a:r>
              <a:t>Evidence 18 | Offline embedded-manifest verification; no network trust-list, manifest or revocation refresh.</a:t>
            </a:r>
          </a:p>
          <a:p>
            <a:r>
              <a:t>Evidence 19 | No reviewed local C2PA trust snapshot installed. Provenance overrides are disabled.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illustration-1.png</a:t>
            </a:r>
          </a:p>
          <a:p>
            <a:r>
              <a:t>Provider evidence / 5</a:t>
            </a:r>
          </a:p>
          <a:p>
            <a:r>
              <a:t>Provider | Local forensic cues</a:t>
            </a:r>
          </a:p>
          <a:p>
            <a:r>
              <a:t>Model | Not recorded</a:t>
            </a:r>
          </a:p>
          <a:p>
            <a:r>
              <a:t>Status | ok</a:t>
            </a:r>
          </a:p>
          <a:p>
            <a:r>
              <a:t>Assessment | partially synthetic</a:t>
            </a:r>
          </a:p>
          <a:p>
            <a:r>
              <a:t>Confidence | low</a:t>
            </a:r>
          </a:p>
          <a:p>
            <a:r>
              <a:t>Role in assessment | Additional finding</a:t>
            </a:r>
          </a:p>
          <a:p>
            <a:r>
              <a:t>Provider summary | Heuristic synthetic likelihood 41/100 from metadata + pixel statistics.</a:t>
            </a:r>
          </a:p>
          <a:p>
            <a:r>
              <a:t>Evidence 1 | No camera EXIF (common in AI exports, screenshots, and re-saves).</a:t>
            </a:r>
          </a:p>
          <a:p>
            <a:r>
              <a:t>Evidence 2 | ELA mean 1.9, peak 96 (uniform high ELA can indicate generation/heavy edit).</a:t>
            </a:r>
          </a:p>
          <a:p>
            <a:r>
              <a:t>Evidence 3 | High-frequency noise std 11.51 (very low/very uniform noise is a synthesis cue).</a:t>
            </a:r>
          </a:p>
          <a:p>
            <a:r>
              <a:t>Evidence 4 | Spectral peakiness 21.99 (periodic frequency peaks can mark generated textures).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illustration-1.png</a:t>
            </a:r>
          </a:p>
          <a:p>
            <a:r>
              <a:t>Evidence supporting this verdict</a:t>
            </a:r>
          </a:p>
          <a:p>
            <a:r>
              <a:t>Claude Vision | synthetic likelihood 82/100; tells: not a camera photo: digital illustration in a uniform, polished comic/ink-and-colour style typical of current image generators, hyper-consistent line weight and cel shading across all figures with no stroke variation or construction marks, noisy, fragmented texture in the grey curly hair, resembling generator detail artifacts rather than deliberate strokes, tablet screen shows an indistinct garden/playground scene with smeared, non-specific detail</a:t>
            </a:r>
          </a:p>
          <a:p>
            <a:r>
              <a:t>OpenAI Vision | synthetic likelihood 78/100; tells: Older woman's gray hair contains tangled, ribbon-like shapes inconsistent with the other hair rendering., Wheelchair spokes and lower frame tubes form irregular junctions and ambiguous connections., Gesturing hands have uneven finger separation and merged-looking contours., Tablet garden has noticeably softer, less defined detail than the surrounding outlined illustration.</a:t>
            </a:r>
          </a:p>
          <a:p>
            <a:r>
              <a:t>Gemini Vision | synthetic likelihood 72/100; tells: stylized digital line art with subtle AI generative markers, irregular finger proportions and geometry, overly smooth shading gradients typical of generative models, inconsistent perspective on wheelchair spokes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illustration-1.png</a:t>
            </a:r>
          </a:p>
          <a:p>
            <a:r>
              <a:t>Additional findings</a:t>
            </a:r>
          </a:p>
          <a:p>
            <a:r>
              <a:t>Local forensic cues | Supporting observation; considered alongside the model assessments.</a:t>
            </a:r>
          </a:p>
          <a:p>
            <a:r>
              <a:t>C2PA Content Credentials | File integrity: validated. Signer trust: unresolved under the current local policy. The recorded declarations remain available for review and are not used as a decisive provenance finding. Manifest declares AI-generated content.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illustration-1.png</a:t>
            </a:r>
          </a:p>
          <a:p>
            <a:r>
              <a:t>How this assessment was reached</a:t>
            </a:r>
          </a:p>
          <a:p>
            <a:r>
              <a:t>1. override | outcome=none; detail=No confirmed C2PA AI assertion or SynthID watermark. Origin remains unresolved by these checks.</a:t>
            </a:r>
          </a:p>
          <a:p>
            <a:r>
              <a:t>2. model_agreement | synthetic=['Claude Vision', 'OpenAI Vision', 'Gemini Vision']; authentic=[]; uncertain=[]; forensic_supports_synthetic=False</a:t>
            </a:r>
          </a:p>
          <a:p>
            <a:r>
              <a:t>3. verdict | value=synthetic_likely; confidence=high; reason=3 models agree this is likely synthetic.</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illustration-1.png</a:t>
            </a:r>
          </a:p>
          <a:p>
            <a:r>
              <a:t>File and analysis record</a:t>
            </a:r>
          </a:p>
          <a:p>
            <a:r>
              <a:t>File | illustration-1.png</a:t>
            </a:r>
          </a:p>
          <a:p>
            <a:r>
              <a:t>Analysis ID | b5b0ad60-55ee-4036-9903-631bccce3d5b</a:t>
            </a:r>
          </a:p>
          <a:p>
            <a:r>
              <a:t>Generated | 2026-09-26T22:31:03+00:00</a:t>
            </a:r>
          </a:p>
          <a:p>
            <a:r>
              <a:t>Tool | SDA Vision 0.1.0</a:t>
            </a:r>
          </a:p>
          <a:p>
            <a:r>
              <a:t>Models | claude-opus-5-5, gemini-3.8-flash, gpt-6-astra</a:t>
            </a:r>
          </a:p>
          <a:p>
            <a:r>
              <a:t>Method version | pdf-preparation-2026-09-26.1</a:t>
            </a:r>
          </a:p>
          <a:p>
            <a:r>
              <a:t>Analysis lens | general</a:t>
            </a:r>
          </a:p>
          <a:p>
            <a:r>
              <a:t>Original SHA-256 | 137f1b7c292c882be741e1a6c881ab4a2082c7dd6ab2181d63304000a0d92252</a:t>
            </a:r>
          </a:p>
          <a:p>
            <a:r>
              <a:t>Ingestion note 1 | Fresh provider replies acquired for eleven-examples-refresh-20260926-r1; report assembled locally from the saved responses without further API calls.</a:t>
            </a:r>
          </a:p>
          <a:p>
            <a:r>
              <a:t>Ingestion note 2 | Provider latency values are restored from the acquisition receipts (maximum sampled-frame latency per provider); raw replies and assessment results are unchanged by this bookkeeping step.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Analysed item</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1</a:t>
            </a:r>
          </a:p>
        </p:txBody>
      </p:sp>
      <p:pic>
        <p:nvPicPr>
          <p:cNvPr id="6" name="Picture 5" descr="image.jpg"/>
          <p:cNvPicPr>
            <a:picLocks noChangeAspect="1"/>
          </p:cNvPicPr>
          <p:nvPr/>
        </p:nvPicPr>
        <p:blipFill>
          <a:blip r:embed="rId3"/>
          <a:stretch>
            <a:fillRect/>
          </a:stretch>
        </p:blipFill>
        <p:spPr>
          <a:xfrm>
            <a:off x="1485900" y="1353312"/>
            <a:ext cx="6172200" cy="4114800"/>
          </a:xfrm>
          <a:prstGeom prst="rect">
            <a:avLst/>
          </a:prstGeom>
        </p:spPr>
      </p:pic>
      <p:sp>
        <p:nvSpPr>
          <p:cNvPr id="7" name="TextBox 6"/>
          <p:cNvSpPr txBox="1"/>
          <p:nvPr/>
        </p:nvSpPr>
        <p:spPr>
          <a:xfrm>
            <a:off x="365760" y="5532120"/>
            <a:ext cx="8412480" cy="594360"/>
          </a:xfrm>
          <a:prstGeom prst="rect">
            <a:avLst/>
          </a:prstGeom>
          <a:noFill/>
        </p:spPr>
        <p:txBody>
          <a:bodyPr wrap="square" lIns="0" rIns="0" tIns="0" bIns="0">
            <a:spAutoFit/>
          </a:bodyPr>
          <a:lstStyle/>
          <a:p>
            <a:pPr>
              <a:lnSpc>
                <a:spcPct val="115000"/>
              </a:lnSpc>
              <a:spcAft>
                <a:spcPts val="0"/>
              </a:spcAft>
              <a:defRPr sz="1100" b="0">
                <a:solidFill>
                  <a:srgbClr val="21243A"/>
                </a:solidFill>
                <a:latin typeface="Arial"/>
              </a:defRPr>
            </a:pPr>
            <a:r>
              <a:t>illustration-1.png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Assessment summary</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2</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Finding</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Leaning synthetic</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205028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Recorded verdict</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synthetic likely</a:t>
                      </a:r>
                    </a:p>
                  </a:txBody>
                  <a:tcPr marL="82296" marR="82296" marT="64008" marB="64008">
                    <a:solidFill>
                      <a:srgbClr val="FFFFFF"/>
                    </a:solidFill>
                  </a:tcPr>
                </a:tc>
              </a:tr>
            </a:tbl>
          </a:graphicData>
        </a:graphic>
      </p:graphicFrame>
      <p:graphicFrame>
        <p:nvGraphicFramePr>
          <p:cNvPr id="9" name="Table 8"/>
          <p:cNvGraphicFramePr>
            <a:graphicFrameLocks noGrp="1"/>
          </p:cNvGraphicFramePr>
          <p:nvPr/>
        </p:nvGraphicFramePr>
        <p:xfrm>
          <a:off x="365760" y="239979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Confidence</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high</a:t>
                      </a:r>
                    </a:p>
                  </a:txBody>
                  <a:tcPr marL="82296" marR="82296" marT="64008" marB="64008">
                    <a:solidFill>
                      <a:srgbClr val="F1F7F7"/>
                    </a:solidFill>
                  </a:tcPr>
                </a:tc>
              </a:tr>
            </a:tbl>
          </a:graphicData>
        </a:graphic>
      </p:graphicFrame>
      <p:graphicFrame>
        <p:nvGraphicFramePr>
          <p:cNvPr id="10" name="Table 9"/>
          <p:cNvGraphicFramePr>
            <a:graphicFrameLocks noGrp="1"/>
          </p:cNvGraphicFramePr>
          <p:nvPr/>
        </p:nvGraphicFramePr>
        <p:xfrm>
          <a:off x="365760" y="2749296"/>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Indicative rating</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78/100</a:t>
                      </a:r>
                    </a:p>
                  </a:txBody>
                  <a:tcPr marL="82296" marR="82296" marT="64008" marB="64008">
                    <a:solidFill>
                      <a:srgbClr val="FFFFFF"/>
                    </a:solidFill>
                  </a:tcPr>
                </a:tc>
              </a:tr>
            </a:tbl>
          </a:graphicData>
        </a:graphic>
      </p:graphicFrame>
      <p:graphicFrame>
        <p:nvGraphicFramePr>
          <p:cNvPr id="11" name="Table 10"/>
          <p:cNvGraphicFramePr>
            <a:graphicFrameLocks noGrp="1"/>
          </p:cNvGraphicFramePr>
          <p:nvPr/>
        </p:nvGraphicFramePr>
        <p:xfrm>
          <a:off x="365760" y="3098800"/>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Rating basis</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median of available model ratings; not a calibrated probability</a:t>
                      </a:r>
                    </a:p>
                  </a:txBody>
                  <a:tcPr marL="82296" marR="82296" marT="64008" marB="64008">
                    <a:solidFill>
                      <a:srgbClr val="F1F7F7"/>
                    </a:solidFill>
                  </a:tcPr>
                </a:tc>
              </a:tr>
            </a:tbl>
          </a:graphicData>
        </a:graphic>
      </p:graphicFrame>
      <p:graphicFrame>
        <p:nvGraphicFramePr>
          <p:cNvPr id="12" name="Table 11"/>
          <p:cNvGraphicFramePr>
            <a:graphicFrameLocks noGrp="1"/>
          </p:cNvGraphicFramePr>
          <p:nvPr/>
        </p:nvGraphicFramePr>
        <p:xfrm>
          <a:off x="365760" y="344830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Explanation</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3 models agree this is likely synthetic.</a:t>
                      </a:r>
                    </a:p>
                  </a:txBody>
                  <a:tcPr marL="82296" marR="82296" marT="64008" marB="64008">
                    <a:solidFill>
                      <a:srgbClr val="FFFFFF"/>
                    </a:solidFill>
                  </a:tcPr>
                </a:tc>
              </a:tr>
            </a:tbl>
          </a:graphicData>
        </a:graphic>
      </p:graphicFrame>
      <p:graphicFrame>
        <p:nvGraphicFramePr>
          <p:cNvPr id="13" name="Table 12"/>
          <p:cNvGraphicFramePr>
            <a:graphicFrameLocks noGrp="1"/>
          </p:cNvGraphicFramePr>
          <p:nvPr/>
        </p:nvGraphicFramePr>
        <p:xfrm>
          <a:off x="365760" y="379780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Coverage</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image - 1 frame(s) analysed</a:t>
                      </a:r>
                    </a:p>
                  </a:txBody>
                  <a:tcPr marL="82296" marR="82296" marT="64008" marB="64008">
                    <a:solidFill>
                      <a:srgbClr val="F1F7F7"/>
                    </a:solidFill>
                  </a:tcPr>
                </a:tc>
              </a:tr>
            </a:tbl>
          </a:graphicData>
        </a:graphic>
      </p:graphicFrame>
      <p:graphicFrame>
        <p:nvGraphicFramePr>
          <p:cNvPr id="14" name="Table 13"/>
          <p:cNvGraphicFramePr>
            <a:graphicFrameLocks noGrp="1"/>
          </p:cNvGraphicFramePr>
          <p:nvPr/>
        </p:nvGraphicFramePr>
        <p:xfrm>
          <a:off x="365760" y="4147312"/>
          <a:ext cx="8412479" cy="755904"/>
        </p:xfrm>
        <a:graphic>
          <a:graphicData uri="http://schemas.openxmlformats.org/drawingml/2006/table">
            <a:tbl>
              <a:tblPr firstRow="1" bandRow="1">
                <a:tableStyleId>{5C22544A-7EE6-4342-B048-85BDC9FD1C3A}</a:tableStyleId>
              </a:tblPr>
              <a:tblGrid>
                <a:gridCol w="2271369"/>
                <a:gridCol w="6141110"/>
              </a:tblGrid>
              <a:tr h="755904">
                <a:tc>
                  <a:txBody>
                    <a:bodyPr wrap="none"/>
                    <a:lstStyle/>
                    <a:p>
                      <a:pPr>
                        <a:lnSpc>
                          <a:spcPts val="1600"/>
                        </a:lnSpc>
                        <a:spcAft>
                          <a:spcPts val="0"/>
                        </a:spcAft>
                        <a:defRPr sz="1200" b="0">
                          <a:solidFill>
                            <a:srgbClr val="21243A"/>
                          </a:solidFill>
                          <a:latin typeface="Arial"/>
                        </a:defRPr>
                      </a:pPr>
                      <a:r>
                        <a:t>Review context</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Research assessment. Review alongside source information and context. When</a:t>
                      </a:r>
                    </a:p>
                    <a:p>
                      <a:pPr>
                        <a:lnSpc>
                          <a:spcPts val="1600"/>
                        </a:lnSpc>
                        <a:spcAft>
                          <a:spcPts val="0"/>
                        </a:spcAft>
                        <a:defRPr sz="1200" b="0">
                          <a:solidFill>
                            <a:srgbClr val="21243A"/>
                          </a:solidFill>
                          <a:latin typeface="Arial"/>
                        </a:defRPr>
                      </a:pPr>
                      <a:r>
                        <a:t>credentials are missing, origin remains unresolved by this check. Use these</a:t>
                      </a:r>
                    </a:p>
                    <a:p>
                      <a:pPr>
                        <a:lnSpc>
                          <a:spcPts val="1600"/>
                        </a:lnSpc>
                        <a:spcAft>
                          <a:spcPts val="0"/>
                        </a:spcAft>
                        <a:defRPr sz="1200" b="0">
                          <a:solidFill>
                            <a:srgbClr val="21243A"/>
                          </a:solidFill>
                          <a:latin typeface="Arial"/>
                        </a:defRPr>
                      </a:pPr>
                      <a:r>
                        <a:t>findings to inform a documented human review.</a:t>
                      </a:r>
                    </a:p>
                  </a:txBody>
                  <a:tcPr marL="82296" marR="82296" marT="64008" marB="6400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Provider overview</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3</a:t>
            </a:r>
          </a:p>
        </p:txBody>
      </p:sp>
      <p:graphicFrame>
        <p:nvGraphicFramePr>
          <p:cNvPr id="6" name="Table 5"/>
          <p:cNvGraphicFramePr>
            <a:graphicFrameLocks noGrp="1"/>
          </p:cNvGraphicFramePr>
          <p:nvPr/>
        </p:nvGraphicFramePr>
        <p:xfrm>
          <a:off x="365760" y="1353312"/>
          <a:ext cx="8412478" cy="347472"/>
        </p:xfrm>
        <a:graphic>
          <a:graphicData uri="http://schemas.openxmlformats.org/drawingml/2006/table">
            <a:tbl>
              <a:tblPr firstRow="1" bandRow="1">
                <a:tableStyleId>{5C22544A-7EE6-4342-B048-85BDC9FD1C3A}</a:tableStyleId>
              </a:tblPr>
              <a:tblGrid>
                <a:gridCol w="2691993"/>
                <a:gridCol w="1850745"/>
                <a:gridCol w="2523744"/>
                <a:gridCol w="1345996"/>
              </a:tblGrid>
              <a:tr h="347472">
                <a:tc>
                  <a:txBody>
                    <a:bodyPr wrap="none"/>
                    <a:lstStyle/>
                    <a:p>
                      <a:pPr>
                        <a:lnSpc>
                          <a:spcPts val="1600"/>
                        </a:lnSpc>
                        <a:spcAft>
                          <a:spcPts val="0"/>
                        </a:spcAft>
                        <a:defRPr sz="1200" b="1">
                          <a:solidFill>
                            <a:srgbClr val="FFFFFF"/>
                          </a:solidFill>
                          <a:latin typeface="Arial"/>
                        </a:defRPr>
                      </a:pPr>
                      <a:r>
                        <a:t>Provider</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Type / status</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Assessment</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Rating</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8" cy="349504"/>
        </p:xfrm>
        <a:graphic>
          <a:graphicData uri="http://schemas.openxmlformats.org/drawingml/2006/table">
            <a:tbl>
              <a:tblPr firstRow="1" bandRow="1">
                <a:tableStyleId>{5C22544A-7EE6-4342-B048-85BDC9FD1C3A}</a:tableStyleId>
              </a:tblPr>
              <a:tblGrid>
                <a:gridCol w="2691993"/>
                <a:gridCol w="1850745"/>
                <a:gridCol w="2523744"/>
                <a:gridCol w="1345996"/>
              </a:tblGrid>
              <a:tr h="349504">
                <a:tc>
                  <a:txBody>
                    <a:bodyPr wrap="none"/>
                    <a:lstStyle/>
                    <a:p>
                      <a:pPr>
                        <a:lnSpc>
                          <a:spcPts val="1600"/>
                        </a:lnSpc>
                        <a:spcAft>
                          <a:spcPts val="0"/>
                        </a:spcAft>
                        <a:defRPr sz="1200" b="0">
                          <a:solidFill>
                            <a:srgbClr val="21243A"/>
                          </a:solidFill>
                          <a:latin typeface="Arial"/>
                        </a:defRPr>
                      </a:pPr>
                      <a:r>
                        <a:t>Claude Vision</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vision / ok</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synthetic likely</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82/100</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2050288"/>
          <a:ext cx="8412478" cy="349504"/>
        </p:xfrm>
        <a:graphic>
          <a:graphicData uri="http://schemas.openxmlformats.org/drawingml/2006/table">
            <a:tbl>
              <a:tblPr firstRow="1" bandRow="1">
                <a:tableStyleId>{5C22544A-7EE6-4342-B048-85BDC9FD1C3A}</a:tableStyleId>
              </a:tblPr>
              <a:tblGrid>
                <a:gridCol w="2691993"/>
                <a:gridCol w="1850745"/>
                <a:gridCol w="2523744"/>
                <a:gridCol w="1345996"/>
              </a:tblGrid>
              <a:tr h="349504">
                <a:tc>
                  <a:txBody>
                    <a:bodyPr wrap="none"/>
                    <a:lstStyle/>
                    <a:p>
                      <a:pPr>
                        <a:lnSpc>
                          <a:spcPts val="1600"/>
                        </a:lnSpc>
                        <a:spcAft>
                          <a:spcPts val="0"/>
                        </a:spcAft>
                        <a:defRPr sz="1200" b="0">
                          <a:solidFill>
                            <a:srgbClr val="21243A"/>
                          </a:solidFill>
                          <a:latin typeface="Arial"/>
                        </a:defRPr>
                      </a:pPr>
                      <a:r>
                        <a:t>OpenAI Vision</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vision / ok</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synthetic likely</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78/100</a:t>
                      </a:r>
                    </a:p>
                  </a:txBody>
                  <a:tcPr marL="82296" marR="82296" marT="64008" marB="64008">
                    <a:solidFill>
                      <a:srgbClr val="FFFFFF"/>
                    </a:solidFill>
                  </a:tcPr>
                </a:tc>
              </a:tr>
            </a:tbl>
          </a:graphicData>
        </a:graphic>
      </p:graphicFrame>
      <p:graphicFrame>
        <p:nvGraphicFramePr>
          <p:cNvPr id="9" name="Table 8"/>
          <p:cNvGraphicFramePr>
            <a:graphicFrameLocks noGrp="1"/>
          </p:cNvGraphicFramePr>
          <p:nvPr/>
        </p:nvGraphicFramePr>
        <p:xfrm>
          <a:off x="365760" y="2399792"/>
          <a:ext cx="8412478" cy="349504"/>
        </p:xfrm>
        <a:graphic>
          <a:graphicData uri="http://schemas.openxmlformats.org/drawingml/2006/table">
            <a:tbl>
              <a:tblPr firstRow="1" bandRow="1">
                <a:tableStyleId>{5C22544A-7EE6-4342-B048-85BDC9FD1C3A}</a:tableStyleId>
              </a:tblPr>
              <a:tblGrid>
                <a:gridCol w="2691993"/>
                <a:gridCol w="1850745"/>
                <a:gridCol w="2523744"/>
                <a:gridCol w="1345996"/>
              </a:tblGrid>
              <a:tr h="349504">
                <a:tc>
                  <a:txBody>
                    <a:bodyPr wrap="none"/>
                    <a:lstStyle/>
                    <a:p>
                      <a:pPr>
                        <a:lnSpc>
                          <a:spcPts val="1600"/>
                        </a:lnSpc>
                        <a:spcAft>
                          <a:spcPts val="0"/>
                        </a:spcAft>
                        <a:defRPr sz="1200" b="0">
                          <a:solidFill>
                            <a:srgbClr val="21243A"/>
                          </a:solidFill>
                          <a:latin typeface="Arial"/>
                        </a:defRPr>
                      </a:pPr>
                      <a:r>
                        <a:t>Gemini Vision</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vision / ok</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synthetic likely</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72/100</a:t>
                      </a:r>
                    </a:p>
                  </a:txBody>
                  <a:tcPr marL="82296" marR="82296" marT="64008" marB="64008">
                    <a:solidFill>
                      <a:srgbClr val="F1F7F7"/>
                    </a:solidFill>
                  </a:tcPr>
                </a:tc>
              </a:tr>
            </a:tbl>
          </a:graphicData>
        </a:graphic>
      </p:graphicFrame>
      <p:graphicFrame>
        <p:nvGraphicFramePr>
          <p:cNvPr id="10" name="Table 9"/>
          <p:cNvGraphicFramePr>
            <a:graphicFrameLocks noGrp="1"/>
          </p:cNvGraphicFramePr>
          <p:nvPr/>
        </p:nvGraphicFramePr>
        <p:xfrm>
          <a:off x="365760" y="2749296"/>
          <a:ext cx="8412478" cy="349504"/>
        </p:xfrm>
        <a:graphic>
          <a:graphicData uri="http://schemas.openxmlformats.org/drawingml/2006/table">
            <a:tbl>
              <a:tblPr firstRow="1" bandRow="1">
                <a:tableStyleId>{5C22544A-7EE6-4342-B048-85BDC9FD1C3A}</a:tableStyleId>
              </a:tblPr>
              <a:tblGrid>
                <a:gridCol w="2691993"/>
                <a:gridCol w="1850745"/>
                <a:gridCol w="2523744"/>
                <a:gridCol w="1345996"/>
              </a:tblGrid>
              <a:tr h="349504">
                <a:tc>
                  <a:txBody>
                    <a:bodyPr wrap="none"/>
                    <a:lstStyle/>
                    <a:p>
                      <a:pPr>
                        <a:lnSpc>
                          <a:spcPts val="1600"/>
                        </a:lnSpc>
                        <a:spcAft>
                          <a:spcPts val="0"/>
                        </a:spcAft>
                        <a:defRPr sz="1200" b="0">
                          <a:solidFill>
                            <a:srgbClr val="21243A"/>
                          </a:solidFill>
                          <a:latin typeface="Arial"/>
                        </a:defRPr>
                      </a:pPr>
                      <a:r>
                        <a:t>C2PA Content Credentials</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provenance / ok</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inconclusive</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n/a</a:t>
                      </a:r>
                    </a:p>
                  </a:txBody>
                  <a:tcPr marL="82296" marR="82296" marT="64008" marB="64008">
                    <a:solidFill>
                      <a:srgbClr val="FFFFFF"/>
                    </a:solidFill>
                  </a:tcPr>
                </a:tc>
              </a:tr>
            </a:tbl>
          </a:graphicData>
        </a:graphic>
      </p:graphicFrame>
      <p:graphicFrame>
        <p:nvGraphicFramePr>
          <p:cNvPr id="11" name="Table 10"/>
          <p:cNvGraphicFramePr>
            <a:graphicFrameLocks noGrp="1"/>
          </p:cNvGraphicFramePr>
          <p:nvPr/>
        </p:nvGraphicFramePr>
        <p:xfrm>
          <a:off x="365760" y="3098800"/>
          <a:ext cx="8412478" cy="349504"/>
        </p:xfrm>
        <a:graphic>
          <a:graphicData uri="http://schemas.openxmlformats.org/drawingml/2006/table">
            <a:tbl>
              <a:tblPr firstRow="1" bandRow="1">
                <a:tableStyleId>{5C22544A-7EE6-4342-B048-85BDC9FD1C3A}</a:tableStyleId>
              </a:tblPr>
              <a:tblGrid>
                <a:gridCol w="2691993"/>
                <a:gridCol w="1850745"/>
                <a:gridCol w="2523744"/>
                <a:gridCol w="1345996"/>
              </a:tblGrid>
              <a:tr h="349504">
                <a:tc>
                  <a:txBody>
                    <a:bodyPr wrap="none"/>
                    <a:lstStyle/>
                    <a:p>
                      <a:pPr>
                        <a:lnSpc>
                          <a:spcPts val="1600"/>
                        </a:lnSpc>
                        <a:spcAft>
                          <a:spcPts val="0"/>
                        </a:spcAft>
                        <a:defRPr sz="1200" b="0">
                          <a:solidFill>
                            <a:srgbClr val="21243A"/>
                          </a:solidFill>
                          <a:latin typeface="Arial"/>
                        </a:defRPr>
                      </a:pPr>
                      <a:r>
                        <a:t>Local forensic cues</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forensic / ok</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partially synthetic</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41/100</a:t>
                      </a:r>
                    </a:p>
                  </a:txBody>
                  <a:tcPr marL="82296" marR="82296" marT="64008" marB="64008">
                    <a:solidFill>
                      <a:srgbClr val="F1F7F7"/>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Provider evidence / 1</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4</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Provider</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Claude Vision</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205028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Model</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claude-opus-5-5</a:t>
                      </a:r>
                    </a:p>
                  </a:txBody>
                  <a:tcPr marL="82296" marR="82296" marT="64008" marB="64008">
                    <a:solidFill>
                      <a:srgbClr val="FFFFFF"/>
                    </a:solidFill>
                  </a:tcPr>
                </a:tc>
              </a:tr>
            </a:tbl>
          </a:graphicData>
        </a:graphic>
      </p:graphicFrame>
      <p:graphicFrame>
        <p:nvGraphicFramePr>
          <p:cNvPr id="9" name="Table 8"/>
          <p:cNvGraphicFramePr>
            <a:graphicFrameLocks noGrp="1"/>
          </p:cNvGraphicFramePr>
          <p:nvPr/>
        </p:nvGraphicFramePr>
        <p:xfrm>
          <a:off x="365760" y="239979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Status</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ok</a:t>
                      </a:r>
                    </a:p>
                  </a:txBody>
                  <a:tcPr marL="82296" marR="82296" marT="64008" marB="64008">
                    <a:solidFill>
                      <a:srgbClr val="F1F7F7"/>
                    </a:solidFill>
                  </a:tcPr>
                </a:tc>
              </a:tr>
            </a:tbl>
          </a:graphicData>
        </a:graphic>
      </p:graphicFrame>
      <p:graphicFrame>
        <p:nvGraphicFramePr>
          <p:cNvPr id="10" name="Table 9"/>
          <p:cNvGraphicFramePr>
            <a:graphicFrameLocks noGrp="1"/>
          </p:cNvGraphicFramePr>
          <p:nvPr/>
        </p:nvGraphicFramePr>
        <p:xfrm>
          <a:off x="365760" y="2749296"/>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Assessment</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synthetic likely</a:t>
                      </a:r>
                    </a:p>
                  </a:txBody>
                  <a:tcPr marL="82296" marR="82296" marT="64008" marB="64008">
                    <a:solidFill>
                      <a:srgbClr val="FFFFFF"/>
                    </a:solidFill>
                  </a:tcPr>
                </a:tc>
              </a:tr>
            </a:tbl>
          </a:graphicData>
        </a:graphic>
      </p:graphicFrame>
      <p:graphicFrame>
        <p:nvGraphicFramePr>
          <p:cNvPr id="11" name="Table 10"/>
          <p:cNvGraphicFramePr>
            <a:graphicFrameLocks noGrp="1"/>
          </p:cNvGraphicFramePr>
          <p:nvPr/>
        </p:nvGraphicFramePr>
        <p:xfrm>
          <a:off x="365760" y="3098800"/>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Confidence</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medium</a:t>
                      </a:r>
                    </a:p>
                  </a:txBody>
                  <a:tcPr marL="82296" marR="82296" marT="64008" marB="64008">
                    <a:solidFill>
                      <a:srgbClr val="F1F7F7"/>
                    </a:solidFill>
                  </a:tcPr>
                </a:tc>
              </a:tr>
            </a:tbl>
          </a:graphicData>
        </a:graphic>
      </p:graphicFrame>
      <p:graphicFrame>
        <p:nvGraphicFramePr>
          <p:cNvPr id="12" name="Table 11"/>
          <p:cNvGraphicFramePr>
            <a:graphicFrameLocks noGrp="1"/>
          </p:cNvGraphicFramePr>
          <p:nvPr/>
        </p:nvGraphicFramePr>
        <p:xfrm>
          <a:off x="365760" y="344830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Role in assessment</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Supporting</a:t>
                      </a:r>
                    </a:p>
                  </a:txBody>
                  <a:tcPr marL="82296" marR="82296" marT="64008" marB="64008">
                    <a:solidFill>
                      <a:srgbClr val="FFFFFF"/>
                    </a:solidFill>
                  </a:tcPr>
                </a:tc>
              </a:tr>
            </a:tbl>
          </a:graphicData>
        </a:graphic>
      </p:graphicFrame>
      <p:graphicFrame>
        <p:nvGraphicFramePr>
          <p:cNvPr id="13" name="Table 12"/>
          <p:cNvGraphicFramePr>
            <a:graphicFrameLocks noGrp="1"/>
          </p:cNvGraphicFramePr>
          <p:nvPr/>
        </p:nvGraphicFramePr>
        <p:xfrm>
          <a:off x="365760" y="3797808"/>
          <a:ext cx="8412479" cy="1365503"/>
        </p:xfrm>
        <a:graphic>
          <a:graphicData uri="http://schemas.openxmlformats.org/drawingml/2006/table">
            <a:tbl>
              <a:tblPr firstRow="1" bandRow="1">
                <a:tableStyleId>{5C22544A-7EE6-4342-B048-85BDC9FD1C3A}</a:tableStyleId>
              </a:tblPr>
              <a:tblGrid>
                <a:gridCol w="2271369"/>
                <a:gridCol w="6141110"/>
              </a:tblGrid>
              <a:tr h="1365503">
                <a:tc>
                  <a:txBody>
                    <a:bodyPr wrap="none"/>
                    <a:lstStyle/>
                    <a:p>
                      <a:pPr>
                        <a:lnSpc>
                          <a:spcPts val="1600"/>
                        </a:lnSpc>
                        <a:spcAft>
                          <a:spcPts val="0"/>
                        </a:spcAft>
                        <a:defRPr sz="1200" b="0">
                          <a:solidFill>
                            <a:srgbClr val="21243A"/>
                          </a:solidFill>
                          <a:latin typeface="Arial"/>
                        </a:defRPr>
                      </a:pPr>
                      <a:r>
                        <a:t>Provider summary</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synthetic likelihood 82/100; tells: not a camera photo: digital illustration in a</a:t>
                      </a:r>
                    </a:p>
                    <a:p>
                      <a:pPr>
                        <a:lnSpc>
                          <a:spcPts val="1600"/>
                        </a:lnSpc>
                        <a:spcAft>
                          <a:spcPts val="0"/>
                        </a:spcAft>
                        <a:defRPr sz="1200" b="0">
                          <a:solidFill>
                            <a:srgbClr val="21243A"/>
                          </a:solidFill>
                          <a:latin typeface="Arial"/>
                        </a:defRPr>
                      </a:pPr>
                      <a:r>
                        <a:t>uniform, polished comic/ink-and-colour style typical of current image generators,</a:t>
                      </a:r>
                    </a:p>
                    <a:p>
                      <a:pPr>
                        <a:lnSpc>
                          <a:spcPts val="1600"/>
                        </a:lnSpc>
                        <a:spcAft>
                          <a:spcPts val="0"/>
                        </a:spcAft>
                        <a:defRPr sz="1200" b="0">
                          <a:solidFill>
                            <a:srgbClr val="21243A"/>
                          </a:solidFill>
                          <a:latin typeface="Arial"/>
                        </a:defRPr>
                      </a:pPr>
                      <a:r>
                        <a:t>hyper-consistent line weight and cel shading across all figures with no stroke</a:t>
                      </a:r>
                    </a:p>
                    <a:p>
                      <a:pPr>
                        <a:lnSpc>
                          <a:spcPts val="1600"/>
                        </a:lnSpc>
                        <a:spcAft>
                          <a:spcPts val="0"/>
                        </a:spcAft>
                        <a:defRPr sz="1200" b="0">
                          <a:solidFill>
                            <a:srgbClr val="21243A"/>
                          </a:solidFill>
                          <a:latin typeface="Arial"/>
                        </a:defRPr>
                      </a:pPr>
                      <a:r>
                        <a:t>variation or construction marks, noisy, fragmented texture in the grey curly hair,</a:t>
                      </a:r>
                    </a:p>
                    <a:p>
                      <a:pPr>
                        <a:lnSpc>
                          <a:spcPts val="1600"/>
                        </a:lnSpc>
                        <a:spcAft>
                          <a:spcPts val="0"/>
                        </a:spcAft>
                        <a:defRPr sz="1200" b="0">
                          <a:solidFill>
                            <a:srgbClr val="21243A"/>
                          </a:solidFill>
                          <a:latin typeface="Arial"/>
                        </a:defRPr>
                      </a:pPr>
                      <a:r>
                        <a:t>resembling generator detail artifacts rather than deliberate strokes, tablet screen</a:t>
                      </a:r>
                    </a:p>
                    <a:p>
                      <a:pPr>
                        <a:lnSpc>
                          <a:spcPts val="1600"/>
                        </a:lnSpc>
                        <a:spcAft>
                          <a:spcPts val="0"/>
                        </a:spcAft>
                        <a:defRPr sz="1200" b="0">
                          <a:solidFill>
                            <a:srgbClr val="21243A"/>
                          </a:solidFill>
                          <a:latin typeface="Arial"/>
                        </a:defRPr>
                      </a:pPr>
                      <a:r>
                        <a:t>shows an indistinct garden/playground scene with smeared, non-specific detail</a:t>
                      </a:r>
                    </a:p>
                  </a:txBody>
                  <a:tcPr marL="82296" marR="82296" marT="64008" marB="64008">
                    <a:solidFill>
                      <a:srgbClr val="F1F7F7"/>
                    </a:solidFill>
                  </a:tcPr>
                </a:tc>
              </a:tr>
            </a:tbl>
          </a:graphicData>
        </a:graphic>
      </p:graphicFrame>
      <p:graphicFrame>
        <p:nvGraphicFramePr>
          <p:cNvPr id="14" name="Table 13"/>
          <p:cNvGraphicFramePr>
            <a:graphicFrameLocks noGrp="1"/>
          </p:cNvGraphicFramePr>
          <p:nvPr/>
        </p:nvGraphicFramePr>
        <p:xfrm>
          <a:off x="365760" y="5163312"/>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1</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Not a camera photo: digital illustration in a uniform, polished</a:t>
                      </a:r>
                    </a:p>
                    <a:p>
                      <a:pPr>
                        <a:lnSpc>
                          <a:spcPts val="1600"/>
                        </a:lnSpc>
                        <a:spcAft>
                          <a:spcPts val="0"/>
                        </a:spcAft>
                        <a:defRPr sz="1200" b="0">
                          <a:solidFill>
                            <a:srgbClr val="21243A"/>
                          </a:solidFill>
                          <a:latin typeface="Arial"/>
                        </a:defRPr>
                      </a:pPr>
                      <a:r>
                        <a:t>comic/ink-and-colour style typical of current image generators</a:t>
                      </a:r>
                    </a:p>
                  </a:txBody>
                  <a:tcPr marL="82296" marR="82296" marT="64008" marB="64008">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Provider evidence / 1 (continued)</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5</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2</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Hyper-consistent line weight and cel shading across all figures with no stroke</a:t>
                      </a:r>
                    </a:p>
                    <a:p>
                      <a:pPr>
                        <a:lnSpc>
                          <a:spcPts val="1600"/>
                        </a:lnSpc>
                        <a:spcAft>
                          <a:spcPts val="0"/>
                        </a:spcAft>
                        <a:defRPr sz="1200" b="0">
                          <a:solidFill>
                            <a:srgbClr val="21243A"/>
                          </a:solidFill>
                          <a:latin typeface="Arial"/>
                        </a:defRPr>
                      </a:pPr>
                      <a:r>
                        <a:t>variation or construction marks</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2253488"/>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3</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Noisy, fragmented texture in the grey curly hair, resembling generator detail</a:t>
                      </a:r>
                    </a:p>
                    <a:p>
                      <a:pPr>
                        <a:lnSpc>
                          <a:spcPts val="1600"/>
                        </a:lnSpc>
                        <a:spcAft>
                          <a:spcPts val="0"/>
                        </a:spcAft>
                        <a:defRPr sz="1200" b="0">
                          <a:solidFill>
                            <a:srgbClr val="21243A"/>
                          </a:solidFill>
                          <a:latin typeface="Arial"/>
                        </a:defRPr>
                      </a:pPr>
                      <a:r>
                        <a:t>artifacts rather than deliberate strokes</a:t>
                      </a:r>
                    </a:p>
                  </a:txBody>
                  <a:tcPr marL="82296" marR="82296" marT="64008" marB="64008">
                    <a:solidFill>
                      <a:srgbClr val="FFFFFF"/>
                    </a:solidFill>
                  </a:tcPr>
                </a:tc>
              </a:tr>
            </a:tbl>
          </a:graphicData>
        </a:graphic>
      </p:graphicFrame>
      <p:graphicFrame>
        <p:nvGraphicFramePr>
          <p:cNvPr id="9" name="Table 8"/>
          <p:cNvGraphicFramePr>
            <a:graphicFrameLocks noGrp="1"/>
          </p:cNvGraphicFramePr>
          <p:nvPr/>
        </p:nvGraphicFramePr>
        <p:xfrm>
          <a:off x="365760" y="2806192"/>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4</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Tablet screen shows an indistinct garden/playground scene with smeared,</a:t>
                      </a:r>
                    </a:p>
                    <a:p>
                      <a:pPr>
                        <a:lnSpc>
                          <a:spcPts val="1600"/>
                        </a:lnSpc>
                        <a:spcAft>
                          <a:spcPts val="0"/>
                        </a:spcAft>
                        <a:defRPr sz="1200" b="0">
                          <a:solidFill>
                            <a:srgbClr val="21243A"/>
                          </a:solidFill>
                          <a:latin typeface="Arial"/>
                        </a:defRPr>
                      </a:pPr>
                      <a:r>
                        <a:t>non-specific detail</a:t>
                      </a:r>
                    </a:p>
                  </a:txBody>
                  <a:tcPr marL="82296" marR="82296" marT="64008" marB="64008">
                    <a:solidFill>
                      <a:srgbClr val="F1F7F7"/>
                    </a:solidFill>
                  </a:tcPr>
                </a:tc>
              </a:tr>
            </a:tbl>
          </a:graphicData>
        </a:graphic>
      </p:graphicFrame>
      <p:graphicFrame>
        <p:nvGraphicFramePr>
          <p:cNvPr id="10" name="Table 9"/>
          <p:cNvGraphicFramePr>
            <a:graphicFrameLocks noGrp="1"/>
          </p:cNvGraphicFramePr>
          <p:nvPr/>
        </p:nvGraphicFramePr>
        <p:xfrm>
          <a:off x="365760" y="3358896"/>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5</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Wheelchair spokes and frame are mostly plausible but slightly irregular in spacing</a:t>
                      </a:r>
                    </a:p>
                    <a:p>
                      <a:pPr>
                        <a:lnSpc>
                          <a:spcPts val="1600"/>
                        </a:lnSpc>
                        <a:spcAft>
                          <a:spcPts val="0"/>
                        </a:spcAft>
                        <a:defRPr sz="1200" b="0">
                          <a:solidFill>
                            <a:srgbClr val="21243A"/>
                          </a:solidFill>
                          <a:latin typeface="Arial"/>
                        </a:defRPr>
                      </a:pPr>
                      <a:r>
                        <a:t>and junctions</a:t>
                      </a:r>
                    </a:p>
                  </a:txBody>
                  <a:tcPr marL="82296" marR="82296" marT="64008" marB="64008">
                    <a:solidFill>
                      <a:srgbClr val="FFFFFF"/>
                    </a:solidFill>
                  </a:tcPr>
                </a:tc>
              </a:tr>
            </a:tbl>
          </a:graphicData>
        </a:graphic>
      </p:graphicFrame>
      <p:graphicFrame>
        <p:nvGraphicFramePr>
          <p:cNvPr id="11" name="Table 10"/>
          <p:cNvGraphicFramePr>
            <a:graphicFrameLocks noGrp="1"/>
          </p:cNvGraphicFramePr>
          <p:nvPr/>
        </p:nvGraphicFramePr>
        <p:xfrm>
          <a:off x="365760" y="3911600"/>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6</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Hands are well formed overall, which lowers but does not remove suspicion</a:t>
                      </a:r>
                    </a:p>
                  </a:txBody>
                  <a:tcPr marL="82296" marR="82296" marT="64008" marB="64008">
                    <a:solidFill>
                      <a:srgbClr val="F1F7F7"/>
                    </a:solidFill>
                  </a:tcPr>
                </a:tc>
              </a:tr>
            </a:tbl>
          </a:graphicData>
        </a:graphic>
      </p:graphicFrame>
      <p:graphicFrame>
        <p:nvGraphicFramePr>
          <p:cNvPr id="12" name="Table 11"/>
          <p:cNvGraphicFramePr>
            <a:graphicFrameLocks noGrp="1"/>
          </p:cNvGraphicFramePr>
          <p:nvPr/>
        </p:nvGraphicFramePr>
        <p:xfrm>
          <a:off x="365760" y="426110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7</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Stock-style composition, clean white background, no signature, no watermark</a:t>
                      </a:r>
                    </a:p>
                  </a:txBody>
                  <a:tcPr marL="82296" marR="82296" marT="64008" marB="64008">
                    <a:solidFill>
                      <a:srgbClr val="FFFFFF"/>
                    </a:solidFill>
                  </a:tcPr>
                </a:tc>
              </a:tr>
            </a:tbl>
          </a:graphicData>
        </a:graphic>
      </p:graphicFrame>
      <p:graphicFrame>
        <p:nvGraphicFramePr>
          <p:cNvPr id="13" name="Table 12"/>
          <p:cNvGraphicFramePr>
            <a:graphicFrameLocks noGrp="1"/>
          </p:cNvGraphicFramePr>
          <p:nvPr/>
        </p:nvGraphicFramePr>
        <p:xfrm>
          <a:off x="365760" y="4610608"/>
          <a:ext cx="8412479" cy="755904"/>
        </p:xfrm>
        <a:graphic>
          <a:graphicData uri="http://schemas.openxmlformats.org/drawingml/2006/table">
            <a:tbl>
              <a:tblPr firstRow="1" bandRow="1">
                <a:tableStyleId>{5C22544A-7EE6-4342-B048-85BDC9FD1C3A}</a:tableStyleId>
              </a:tblPr>
              <a:tblGrid>
                <a:gridCol w="2271369"/>
                <a:gridCol w="6141110"/>
              </a:tblGrid>
              <a:tr h="755904">
                <a:tc>
                  <a:txBody>
                    <a:bodyPr wrap="none"/>
                    <a:lstStyle/>
                    <a:p>
                      <a:pPr>
                        <a:lnSpc>
                          <a:spcPts val="1600"/>
                        </a:lnSpc>
                        <a:spcAft>
                          <a:spcPts val="0"/>
                        </a:spcAft>
                        <a:defRPr sz="1200" b="0">
                          <a:solidFill>
                            <a:srgbClr val="21243A"/>
                          </a:solidFill>
                          <a:latin typeface="Arial"/>
                        </a:defRPr>
                      </a:pPr>
                      <a:r>
                        <a:t>Evidence 8</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Caveat: Skilled human digital illustrators can produce this polished style, and the</a:t>
                      </a:r>
                    </a:p>
                    <a:p>
                      <a:pPr>
                        <a:lnSpc>
                          <a:spcPts val="1600"/>
                        </a:lnSpc>
                        <a:spcAft>
                          <a:spcPts val="0"/>
                        </a:spcAft>
                        <a:defRPr sz="1200" b="0">
                          <a:solidFill>
                            <a:srgbClr val="21243A"/>
                          </a:solidFill>
                          <a:latin typeface="Arial"/>
                        </a:defRPr>
                      </a:pPr>
                      <a:r>
                        <a:t>hands and anatomy are largely coherent. Style cues alone cannot confirm AI</a:t>
                      </a:r>
                    </a:p>
                    <a:p>
                      <a:pPr>
                        <a:lnSpc>
                          <a:spcPts val="1600"/>
                        </a:lnSpc>
                        <a:spcAft>
                          <a:spcPts val="0"/>
                        </a:spcAft>
                        <a:defRPr sz="1200" b="0">
                          <a:solidFill>
                            <a:srgbClr val="21243A"/>
                          </a:solidFill>
                          <a:latin typeface="Arial"/>
                        </a:defRPr>
                      </a:pPr>
                      <a:r>
                        <a:t>origin, so check file metadata/C2PA, the artist's source, or reverse image search.</a:t>
                      </a:r>
                    </a:p>
                  </a:txBody>
                  <a:tcPr marL="82296" marR="82296" marT="64008" marB="64008">
                    <a:solidFill>
                      <a:srgbClr val="F1F7F7"/>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Provider evidence / 2</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6</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Provider</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OpenAI Vision</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205028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Model</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gpt-6-astra</a:t>
                      </a:r>
                    </a:p>
                  </a:txBody>
                  <a:tcPr marL="82296" marR="82296" marT="64008" marB="64008">
                    <a:solidFill>
                      <a:srgbClr val="FFFFFF"/>
                    </a:solidFill>
                  </a:tcPr>
                </a:tc>
              </a:tr>
            </a:tbl>
          </a:graphicData>
        </a:graphic>
      </p:graphicFrame>
      <p:graphicFrame>
        <p:nvGraphicFramePr>
          <p:cNvPr id="9" name="Table 8"/>
          <p:cNvGraphicFramePr>
            <a:graphicFrameLocks noGrp="1"/>
          </p:cNvGraphicFramePr>
          <p:nvPr/>
        </p:nvGraphicFramePr>
        <p:xfrm>
          <a:off x="365760" y="239979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Status</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ok</a:t>
                      </a:r>
                    </a:p>
                  </a:txBody>
                  <a:tcPr marL="82296" marR="82296" marT="64008" marB="64008">
                    <a:solidFill>
                      <a:srgbClr val="F1F7F7"/>
                    </a:solidFill>
                  </a:tcPr>
                </a:tc>
              </a:tr>
            </a:tbl>
          </a:graphicData>
        </a:graphic>
      </p:graphicFrame>
      <p:graphicFrame>
        <p:nvGraphicFramePr>
          <p:cNvPr id="10" name="Table 9"/>
          <p:cNvGraphicFramePr>
            <a:graphicFrameLocks noGrp="1"/>
          </p:cNvGraphicFramePr>
          <p:nvPr/>
        </p:nvGraphicFramePr>
        <p:xfrm>
          <a:off x="365760" y="2749296"/>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Assessment</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synthetic likely</a:t>
                      </a:r>
                    </a:p>
                  </a:txBody>
                  <a:tcPr marL="82296" marR="82296" marT="64008" marB="64008">
                    <a:solidFill>
                      <a:srgbClr val="FFFFFF"/>
                    </a:solidFill>
                  </a:tcPr>
                </a:tc>
              </a:tr>
            </a:tbl>
          </a:graphicData>
        </a:graphic>
      </p:graphicFrame>
      <p:graphicFrame>
        <p:nvGraphicFramePr>
          <p:cNvPr id="11" name="Table 10"/>
          <p:cNvGraphicFramePr>
            <a:graphicFrameLocks noGrp="1"/>
          </p:cNvGraphicFramePr>
          <p:nvPr/>
        </p:nvGraphicFramePr>
        <p:xfrm>
          <a:off x="365760" y="3098800"/>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Confidence</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medium</a:t>
                      </a:r>
                    </a:p>
                  </a:txBody>
                  <a:tcPr marL="82296" marR="82296" marT="64008" marB="64008">
                    <a:solidFill>
                      <a:srgbClr val="F1F7F7"/>
                    </a:solidFill>
                  </a:tcPr>
                </a:tc>
              </a:tr>
            </a:tbl>
          </a:graphicData>
        </a:graphic>
      </p:graphicFrame>
      <p:graphicFrame>
        <p:nvGraphicFramePr>
          <p:cNvPr id="12" name="Table 11"/>
          <p:cNvGraphicFramePr>
            <a:graphicFrameLocks noGrp="1"/>
          </p:cNvGraphicFramePr>
          <p:nvPr/>
        </p:nvGraphicFramePr>
        <p:xfrm>
          <a:off x="365760" y="344830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Role in assessment</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Supporting</a:t>
                      </a:r>
                    </a:p>
                  </a:txBody>
                  <a:tcPr marL="82296" marR="82296" marT="64008" marB="64008">
                    <a:solidFill>
                      <a:srgbClr val="FFFFFF"/>
                    </a:solidFill>
                  </a:tcPr>
                </a:tc>
              </a:tr>
            </a:tbl>
          </a:graphicData>
        </a:graphic>
      </p:graphicFrame>
      <p:graphicFrame>
        <p:nvGraphicFramePr>
          <p:cNvPr id="13" name="Table 12"/>
          <p:cNvGraphicFramePr>
            <a:graphicFrameLocks noGrp="1"/>
          </p:cNvGraphicFramePr>
          <p:nvPr/>
        </p:nvGraphicFramePr>
        <p:xfrm>
          <a:off x="365760" y="3797808"/>
          <a:ext cx="8412479" cy="1365503"/>
        </p:xfrm>
        <a:graphic>
          <a:graphicData uri="http://schemas.openxmlformats.org/drawingml/2006/table">
            <a:tbl>
              <a:tblPr firstRow="1" bandRow="1">
                <a:tableStyleId>{5C22544A-7EE6-4342-B048-85BDC9FD1C3A}</a:tableStyleId>
              </a:tblPr>
              <a:tblGrid>
                <a:gridCol w="2271369"/>
                <a:gridCol w="6141110"/>
              </a:tblGrid>
              <a:tr h="1365503">
                <a:tc>
                  <a:txBody>
                    <a:bodyPr wrap="none"/>
                    <a:lstStyle/>
                    <a:p>
                      <a:pPr>
                        <a:lnSpc>
                          <a:spcPts val="1600"/>
                        </a:lnSpc>
                        <a:spcAft>
                          <a:spcPts val="0"/>
                        </a:spcAft>
                        <a:defRPr sz="1200" b="0">
                          <a:solidFill>
                            <a:srgbClr val="21243A"/>
                          </a:solidFill>
                          <a:latin typeface="Arial"/>
                        </a:defRPr>
                      </a:pPr>
                      <a:r>
                        <a:t>Provider summary</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synthetic likelihood 78/100; tells: Older woman's gray hair contains tangled,</a:t>
                      </a:r>
                    </a:p>
                    <a:p>
                      <a:pPr>
                        <a:lnSpc>
                          <a:spcPts val="1600"/>
                        </a:lnSpc>
                        <a:spcAft>
                          <a:spcPts val="0"/>
                        </a:spcAft>
                        <a:defRPr sz="1200" b="0">
                          <a:solidFill>
                            <a:srgbClr val="21243A"/>
                          </a:solidFill>
                          <a:latin typeface="Arial"/>
                        </a:defRPr>
                      </a:pPr>
                      <a:r>
                        <a:t>ribbon-like shapes inconsistent with the other hair rendering., Wheelchair spokes</a:t>
                      </a:r>
                    </a:p>
                    <a:p>
                      <a:pPr>
                        <a:lnSpc>
                          <a:spcPts val="1600"/>
                        </a:lnSpc>
                        <a:spcAft>
                          <a:spcPts val="0"/>
                        </a:spcAft>
                        <a:defRPr sz="1200" b="0">
                          <a:solidFill>
                            <a:srgbClr val="21243A"/>
                          </a:solidFill>
                          <a:latin typeface="Arial"/>
                        </a:defRPr>
                      </a:pPr>
                      <a:r>
                        <a:t>and lower frame tubes form irregular junctions and ambiguous connections.,</a:t>
                      </a:r>
                    </a:p>
                    <a:p>
                      <a:pPr>
                        <a:lnSpc>
                          <a:spcPts val="1600"/>
                        </a:lnSpc>
                        <a:spcAft>
                          <a:spcPts val="0"/>
                        </a:spcAft>
                        <a:defRPr sz="1200" b="0">
                          <a:solidFill>
                            <a:srgbClr val="21243A"/>
                          </a:solidFill>
                          <a:latin typeface="Arial"/>
                        </a:defRPr>
                      </a:pPr>
                      <a:r>
                        <a:t>Gesturing hands have uneven finger separation and merged-looking contours.,</a:t>
                      </a:r>
                    </a:p>
                    <a:p>
                      <a:pPr>
                        <a:lnSpc>
                          <a:spcPts val="1600"/>
                        </a:lnSpc>
                        <a:spcAft>
                          <a:spcPts val="0"/>
                        </a:spcAft>
                        <a:defRPr sz="1200" b="0">
                          <a:solidFill>
                            <a:srgbClr val="21243A"/>
                          </a:solidFill>
                          <a:latin typeface="Arial"/>
                        </a:defRPr>
                      </a:pPr>
                      <a:r>
                        <a:t>Tablet garden has noticeably softer, less defined detail than the surrounding</a:t>
                      </a:r>
                    </a:p>
                    <a:p>
                      <a:pPr>
                        <a:lnSpc>
                          <a:spcPts val="1600"/>
                        </a:lnSpc>
                        <a:spcAft>
                          <a:spcPts val="0"/>
                        </a:spcAft>
                        <a:defRPr sz="1200" b="0">
                          <a:solidFill>
                            <a:srgbClr val="21243A"/>
                          </a:solidFill>
                          <a:latin typeface="Arial"/>
                        </a:defRPr>
                      </a:pPr>
                      <a:r>
                        <a:t>outlined illustration.</a:t>
                      </a:r>
                    </a:p>
                  </a:txBody>
                  <a:tcPr marL="82296" marR="82296" marT="64008" marB="64008">
                    <a:solidFill>
                      <a:srgbClr val="F1F7F7"/>
                    </a:solidFill>
                  </a:tcPr>
                </a:tc>
              </a:tr>
            </a:tbl>
          </a:graphicData>
        </a:graphic>
      </p:graphicFrame>
      <p:graphicFrame>
        <p:nvGraphicFramePr>
          <p:cNvPr id="14" name="Table 13"/>
          <p:cNvGraphicFramePr>
            <a:graphicFrameLocks noGrp="1"/>
          </p:cNvGraphicFramePr>
          <p:nvPr/>
        </p:nvGraphicFramePr>
        <p:xfrm>
          <a:off x="365760" y="5163312"/>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1</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Older woman's gray hair contains tangled, ribbon-like shapes inconsistent with</a:t>
                      </a:r>
                    </a:p>
                    <a:p>
                      <a:pPr>
                        <a:lnSpc>
                          <a:spcPts val="1600"/>
                        </a:lnSpc>
                        <a:spcAft>
                          <a:spcPts val="0"/>
                        </a:spcAft>
                        <a:defRPr sz="1200" b="0">
                          <a:solidFill>
                            <a:srgbClr val="21243A"/>
                          </a:solidFill>
                          <a:latin typeface="Arial"/>
                        </a:defRPr>
                      </a:pPr>
                      <a:r>
                        <a:t>the other hair rendering.</a:t>
                      </a:r>
                    </a:p>
                  </a:txBody>
                  <a:tcPr marL="82296" marR="82296" marT="64008" marB="64008">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Provider evidence / 2 (continued)</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7</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2</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Wheelchair spokes and lower frame tubes form irregular junctions and</a:t>
                      </a:r>
                    </a:p>
                    <a:p>
                      <a:pPr>
                        <a:lnSpc>
                          <a:spcPts val="1600"/>
                        </a:lnSpc>
                        <a:spcAft>
                          <a:spcPts val="0"/>
                        </a:spcAft>
                        <a:defRPr sz="1200" b="0">
                          <a:solidFill>
                            <a:srgbClr val="21243A"/>
                          </a:solidFill>
                          <a:latin typeface="Arial"/>
                        </a:defRPr>
                      </a:pPr>
                      <a:r>
                        <a:t>ambiguous connections.</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225348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3</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Gesturing hands have uneven finger separation and merged-looking contours.</a:t>
                      </a:r>
                    </a:p>
                  </a:txBody>
                  <a:tcPr marL="82296" marR="82296" marT="64008" marB="64008">
                    <a:solidFill>
                      <a:srgbClr val="FFFFFF"/>
                    </a:solidFill>
                  </a:tcPr>
                </a:tc>
              </a:tr>
            </a:tbl>
          </a:graphicData>
        </a:graphic>
      </p:graphicFrame>
      <p:graphicFrame>
        <p:nvGraphicFramePr>
          <p:cNvPr id="9" name="Table 8"/>
          <p:cNvGraphicFramePr>
            <a:graphicFrameLocks noGrp="1"/>
          </p:cNvGraphicFramePr>
          <p:nvPr/>
        </p:nvGraphicFramePr>
        <p:xfrm>
          <a:off x="365760" y="2602992"/>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4</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Tablet garden has noticeably softer, less defined detail than the surrounding</a:t>
                      </a:r>
                    </a:p>
                    <a:p>
                      <a:pPr>
                        <a:lnSpc>
                          <a:spcPts val="1600"/>
                        </a:lnSpc>
                        <a:spcAft>
                          <a:spcPts val="0"/>
                        </a:spcAft>
                        <a:defRPr sz="1200" b="0">
                          <a:solidFill>
                            <a:srgbClr val="21243A"/>
                          </a:solidFill>
                          <a:latin typeface="Arial"/>
                        </a:defRPr>
                      </a:pPr>
                      <a:r>
                        <a:t>outlined illustration.</a:t>
                      </a:r>
                    </a:p>
                  </a:txBody>
                  <a:tcPr marL="82296" marR="82296" marT="64008" marB="64008">
                    <a:solidFill>
                      <a:srgbClr val="F1F7F7"/>
                    </a:solidFill>
                  </a:tcPr>
                </a:tc>
              </a:tr>
            </a:tbl>
          </a:graphicData>
        </a:graphic>
      </p:graphicFrame>
      <p:graphicFrame>
        <p:nvGraphicFramePr>
          <p:cNvPr id="10" name="Table 9"/>
          <p:cNvGraphicFramePr>
            <a:graphicFrameLocks noGrp="1"/>
          </p:cNvGraphicFramePr>
          <p:nvPr/>
        </p:nvGraphicFramePr>
        <p:xfrm>
          <a:off x="365760" y="3155696"/>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5</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Caveat: This is a digital illustration, not a photograph; stylized drawing errors</a:t>
                      </a:r>
                    </a:p>
                    <a:p>
                      <a:pPr>
                        <a:lnSpc>
                          <a:spcPts val="1600"/>
                        </a:lnSpc>
                        <a:spcAft>
                          <a:spcPts val="0"/>
                        </a:spcAft>
                        <a:defRPr sz="1200" b="0">
                          <a:solidFill>
                            <a:srgbClr val="21243A"/>
                          </a:solidFill>
                          <a:latin typeface="Arial"/>
                        </a:defRPr>
                      </a:pPr>
                      <a:r>
                        <a:t>alone cannot establish AI origin without provenance.</a:t>
                      </a:r>
                    </a:p>
                  </a:txBody>
                  <a:tcPr marL="82296" marR="82296" marT="64008" marB="64008">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Provider evidence / 3</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8</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Provider</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Gemini Vision</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205028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Model</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gemini-3.8-flash</a:t>
                      </a:r>
                    </a:p>
                  </a:txBody>
                  <a:tcPr marL="82296" marR="82296" marT="64008" marB="64008">
                    <a:solidFill>
                      <a:srgbClr val="FFFFFF"/>
                    </a:solidFill>
                  </a:tcPr>
                </a:tc>
              </a:tr>
            </a:tbl>
          </a:graphicData>
        </a:graphic>
      </p:graphicFrame>
      <p:graphicFrame>
        <p:nvGraphicFramePr>
          <p:cNvPr id="9" name="Table 8"/>
          <p:cNvGraphicFramePr>
            <a:graphicFrameLocks noGrp="1"/>
          </p:cNvGraphicFramePr>
          <p:nvPr/>
        </p:nvGraphicFramePr>
        <p:xfrm>
          <a:off x="365760" y="239979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Status</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ok</a:t>
                      </a:r>
                    </a:p>
                  </a:txBody>
                  <a:tcPr marL="82296" marR="82296" marT="64008" marB="64008">
                    <a:solidFill>
                      <a:srgbClr val="F1F7F7"/>
                    </a:solidFill>
                  </a:tcPr>
                </a:tc>
              </a:tr>
            </a:tbl>
          </a:graphicData>
        </a:graphic>
      </p:graphicFrame>
      <p:graphicFrame>
        <p:nvGraphicFramePr>
          <p:cNvPr id="10" name="Table 9"/>
          <p:cNvGraphicFramePr>
            <a:graphicFrameLocks noGrp="1"/>
          </p:cNvGraphicFramePr>
          <p:nvPr/>
        </p:nvGraphicFramePr>
        <p:xfrm>
          <a:off x="365760" y="2749296"/>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Assessment</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synthetic likely</a:t>
                      </a:r>
                    </a:p>
                  </a:txBody>
                  <a:tcPr marL="82296" marR="82296" marT="64008" marB="64008">
                    <a:solidFill>
                      <a:srgbClr val="FFFFFF"/>
                    </a:solidFill>
                  </a:tcPr>
                </a:tc>
              </a:tr>
            </a:tbl>
          </a:graphicData>
        </a:graphic>
      </p:graphicFrame>
      <p:graphicFrame>
        <p:nvGraphicFramePr>
          <p:cNvPr id="11" name="Table 10"/>
          <p:cNvGraphicFramePr>
            <a:graphicFrameLocks noGrp="1"/>
          </p:cNvGraphicFramePr>
          <p:nvPr/>
        </p:nvGraphicFramePr>
        <p:xfrm>
          <a:off x="365760" y="3098800"/>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Confidence</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medium</a:t>
                      </a:r>
                    </a:p>
                  </a:txBody>
                  <a:tcPr marL="82296" marR="82296" marT="64008" marB="64008">
                    <a:solidFill>
                      <a:srgbClr val="F1F7F7"/>
                    </a:solidFill>
                  </a:tcPr>
                </a:tc>
              </a:tr>
            </a:tbl>
          </a:graphicData>
        </a:graphic>
      </p:graphicFrame>
      <p:graphicFrame>
        <p:nvGraphicFramePr>
          <p:cNvPr id="12" name="Table 11"/>
          <p:cNvGraphicFramePr>
            <a:graphicFrameLocks noGrp="1"/>
          </p:cNvGraphicFramePr>
          <p:nvPr/>
        </p:nvGraphicFramePr>
        <p:xfrm>
          <a:off x="365760" y="344830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Role in assessment</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Supporting</a:t>
                      </a:r>
                    </a:p>
                  </a:txBody>
                  <a:tcPr marL="82296" marR="82296" marT="64008" marB="64008">
                    <a:solidFill>
                      <a:srgbClr val="FFFFFF"/>
                    </a:solidFill>
                  </a:tcPr>
                </a:tc>
              </a:tr>
            </a:tbl>
          </a:graphicData>
        </a:graphic>
      </p:graphicFrame>
      <p:graphicFrame>
        <p:nvGraphicFramePr>
          <p:cNvPr id="13" name="Table 12"/>
          <p:cNvGraphicFramePr>
            <a:graphicFrameLocks noGrp="1"/>
          </p:cNvGraphicFramePr>
          <p:nvPr/>
        </p:nvGraphicFramePr>
        <p:xfrm>
          <a:off x="365760" y="3797808"/>
          <a:ext cx="8412479" cy="959103"/>
        </p:xfrm>
        <a:graphic>
          <a:graphicData uri="http://schemas.openxmlformats.org/drawingml/2006/table">
            <a:tbl>
              <a:tblPr firstRow="1" bandRow="1">
                <a:tableStyleId>{5C22544A-7EE6-4342-B048-85BDC9FD1C3A}</a:tableStyleId>
              </a:tblPr>
              <a:tblGrid>
                <a:gridCol w="2271369"/>
                <a:gridCol w="6141110"/>
              </a:tblGrid>
              <a:tr h="959103">
                <a:tc>
                  <a:txBody>
                    <a:bodyPr wrap="none"/>
                    <a:lstStyle/>
                    <a:p>
                      <a:pPr>
                        <a:lnSpc>
                          <a:spcPts val="1600"/>
                        </a:lnSpc>
                        <a:spcAft>
                          <a:spcPts val="0"/>
                        </a:spcAft>
                        <a:defRPr sz="1200" b="0">
                          <a:solidFill>
                            <a:srgbClr val="21243A"/>
                          </a:solidFill>
                          <a:latin typeface="Arial"/>
                        </a:defRPr>
                      </a:pPr>
                      <a:r>
                        <a:t>Provider summary</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synthetic likelihood 72/100; tells: stylized digital line art with subtle AI generative</a:t>
                      </a:r>
                    </a:p>
                    <a:p>
                      <a:pPr>
                        <a:lnSpc>
                          <a:spcPts val="1600"/>
                        </a:lnSpc>
                        <a:spcAft>
                          <a:spcPts val="0"/>
                        </a:spcAft>
                        <a:defRPr sz="1200" b="0">
                          <a:solidFill>
                            <a:srgbClr val="21243A"/>
                          </a:solidFill>
                          <a:latin typeface="Arial"/>
                        </a:defRPr>
                      </a:pPr>
                      <a:r>
                        <a:t>markers, irregular finger proportions and geometry, overly smooth shading</a:t>
                      </a:r>
                    </a:p>
                    <a:p>
                      <a:pPr>
                        <a:lnSpc>
                          <a:spcPts val="1600"/>
                        </a:lnSpc>
                        <a:spcAft>
                          <a:spcPts val="0"/>
                        </a:spcAft>
                        <a:defRPr sz="1200" b="0">
                          <a:solidFill>
                            <a:srgbClr val="21243A"/>
                          </a:solidFill>
                          <a:latin typeface="Arial"/>
                        </a:defRPr>
                      </a:pPr>
                      <a:r>
                        <a:t>gradients typical of generative models, inconsistent perspective on wheelchair</a:t>
                      </a:r>
                    </a:p>
                    <a:p>
                      <a:pPr>
                        <a:lnSpc>
                          <a:spcPts val="1600"/>
                        </a:lnSpc>
                        <a:spcAft>
                          <a:spcPts val="0"/>
                        </a:spcAft>
                        <a:defRPr sz="1200" b="0">
                          <a:solidFill>
                            <a:srgbClr val="21243A"/>
                          </a:solidFill>
                          <a:latin typeface="Arial"/>
                        </a:defRPr>
                      </a:pPr>
                      <a:r>
                        <a:t>spokes</a:t>
                      </a:r>
                    </a:p>
                  </a:txBody>
                  <a:tcPr marL="82296" marR="82296" marT="64008" marB="64008">
                    <a:solidFill>
                      <a:srgbClr val="F1F7F7"/>
                    </a:solidFill>
                  </a:tcPr>
                </a:tc>
              </a:tr>
            </a:tbl>
          </a:graphicData>
        </a:graphic>
      </p:graphicFrame>
      <p:graphicFrame>
        <p:nvGraphicFramePr>
          <p:cNvPr id="14" name="Table 13"/>
          <p:cNvGraphicFramePr>
            <a:graphicFrameLocks noGrp="1"/>
          </p:cNvGraphicFramePr>
          <p:nvPr/>
        </p:nvGraphicFramePr>
        <p:xfrm>
          <a:off x="365760" y="475691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1</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Stylized digital line art with subtle AI generative markers</a:t>
                      </a:r>
                    </a:p>
                  </a:txBody>
                  <a:tcPr marL="82296" marR="82296" marT="64008" marB="64008">
                    <a:solidFill>
                      <a:srgbClr val="FFFFFF"/>
                    </a:solidFill>
                  </a:tcPr>
                </a:tc>
              </a:tr>
            </a:tbl>
          </a:graphicData>
        </a:graphic>
      </p:graphicFrame>
      <p:graphicFrame>
        <p:nvGraphicFramePr>
          <p:cNvPr id="15" name="Table 14"/>
          <p:cNvGraphicFramePr>
            <a:graphicFrameLocks noGrp="1"/>
          </p:cNvGraphicFramePr>
          <p:nvPr/>
        </p:nvGraphicFramePr>
        <p:xfrm>
          <a:off x="365760" y="5106416"/>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2</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Irregular finger proportions and geometry</a:t>
                      </a:r>
                    </a:p>
                  </a:txBody>
                  <a:tcPr marL="82296" marR="82296" marT="64008" marB="64008">
                    <a:solidFill>
                      <a:srgbClr val="F1F7F7"/>
                    </a:solidFill>
                  </a:tcPr>
                </a:tc>
              </a:tr>
            </a:tbl>
          </a:graphicData>
        </a:graphic>
      </p:graphicFrame>
      <p:graphicFrame>
        <p:nvGraphicFramePr>
          <p:cNvPr id="16" name="Table 15"/>
          <p:cNvGraphicFramePr>
            <a:graphicFrameLocks noGrp="1"/>
          </p:cNvGraphicFramePr>
          <p:nvPr/>
        </p:nvGraphicFramePr>
        <p:xfrm>
          <a:off x="365760" y="5455920"/>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3</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Overly smooth shading gradients typical of generative models</a:t>
                      </a:r>
                    </a:p>
                  </a:txBody>
                  <a:tcPr marL="82296" marR="82296" marT="64008" marB="64008">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Provider evidence / 3 (continued)</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9</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4</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Inconsistent perspective on wheelchair spokes</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2050288"/>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5</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Caveat: High-quality human digital vector/raster illustrations often closely</a:t>
                      </a:r>
                    </a:p>
                    <a:p>
                      <a:pPr>
                        <a:lnSpc>
                          <a:spcPts val="1600"/>
                        </a:lnSpc>
                        <a:spcAft>
                          <a:spcPts val="0"/>
                        </a:spcAft>
                        <a:defRPr sz="1200" b="0">
                          <a:solidFill>
                            <a:srgbClr val="21243A"/>
                          </a:solidFill>
                          <a:latin typeface="Arial"/>
                        </a:defRPr>
                      </a:pPr>
                      <a:r>
                        <a:t>resemble generative 2D art styles.</a:t>
                      </a:r>
                    </a:p>
                  </a:txBody>
                  <a:tcPr marL="82296" marR="82296" marT="64008" marB="64008">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Content Credentials / provenance</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10</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Provider</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C2PA Content Credentials</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205028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Model</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Not recorded</a:t>
                      </a:r>
                    </a:p>
                  </a:txBody>
                  <a:tcPr marL="82296" marR="82296" marT="64008" marB="64008">
                    <a:solidFill>
                      <a:srgbClr val="FFFFFF"/>
                    </a:solidFill>
                  </a:tcPr>
                </a:tc>
              </a:tr>
            </a:tbl>
          </a:graphicData>
        </a:graphic>
      </p:graphicFrame>
      <p:graphicFrame>
        <p:nvGraphicFramePr>
          <p:cNvPr id="9" name="Table 8"/>
          <p:cNvGraphicFramePr>
            <a:graphicFrameLocks noGrp="1"/>
          </p:cNvGraphicFramePr>
          <p:nvPr/>
        </p:nvGraphicFramePr>
        <p:xfrm>
          <a:off x="365760" y="239979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Status</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ok</a:t>
                      </a:r>
                    </a:p>
                  </a:txBody>
                  <a:tcPr marL="82296" marR="82296" marT="64008" marB="64008">
                    <a:solidFill>
                      <a:srgbClr val="F1F7F7"/>
                    </a:solidFill>
                  </a:tcPr>
                </a:tc>
              </a:tr>
            </a:tbl>
          </a:graphicData>
        </a:graphic>
      </p:graphicFrame>
      <p:graphicFrame>
        <p:nvGraphicFramePr>
          <p:cNvPr id="10" name="Table 9"/>
          <p:cNvGraphicFramePr>
            <a:graphicFrameLocks noGrp="1"/>
          </p:cNvGraphicFramePr>
          <p:nvPr/>
        </p:nvGraphicFramePr>
        <p:xfrm>
          <a:off x="365760" y="2749296"/>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Assessment</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inconclusive</a:t>
                      </a:r>
                    </a:p>
                  </a:txBody>
                  <a:tcPr marL="82296" marR="82296" marT="64008" marB="64008">
                    <a:solidFill>
                      <a:srgbClr val="FFFFFF"/>
                    </a:solidFill>
                  </a:tcPr>
                </a:tc>
              </a:tr>
            </a:tbl>
          </a:graphicData>
        </a:graphic>
      </p:graphicFrame>
      <p:graphicFrame>
        <p:nvGraphicFramePr>
          <p:cNvPr id="11" name="Table 10"/>
          <p:cNvGraphicFramePr>
            <a:graphicFrameLocks noGrp="1"/>
          </p:cNvGraphicFramePr>
          <p:nvPr/>
        </p:nvGraphicFramePr>
        <p:xfrm>
          <a:off x="365760" y="3098800"/>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Confidence</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Not recorded</a:t>
                      </a:r>
                    </a:p>
                  </a:txBody>
                  <a:tcPr marL="82296" marR="82296" marT="64008" marB="64008">
                    <a:solidFill>
                      <a:srgbClr val="F1F7F7"/>
                    </a:solidFill>
                  </a:tcPr>
                </a:tc>
              </a:tr>
            </a:tbl>
          </a:graphicData>
        </a:graphic>
      </p:graphicFrame>
      <p:graphicFrame>
        <p:nvGraphicFramePr>
          <p:cNvPr id="12" name="Table 11"/>
          <p:cNvGraphicFramePr>
            <a:graphicFrameLocks noGrp="1"/>
          </p:cNvGraphicFramePr>
          <p:nvPr/>
        </p:nvGraphicFramePr>
        <p:xfrm>
          <a:off x="365760" y="344830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Role in assessment</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Additional finding</a:t>
                      </a:r>
                    </a:p>
                  </a:txBody>
                  <a:tcPr marL="82296" marR="82296" marT="64008" marB="64008">
                    <a:solidFill>
                      <a:srgbClr val="FFFFFF"/>
                    </a:solidFill>
                  </a:tcPr>
                </a:tc>
              </a:tr>
            </a:tbl>
          </a:graphicData>
        </a:graphic>
      </p:graphicFrame>
      <p:graphicFrame>
        <p:nvGraphicFramePr>
          <p:cNvPr id="13" name="Table 12"/>
          <p:cNvGraphicFramePr>
            <a:graphicFrameLocks noGrp="1"/>
          </p:cNvGraphicFramePr>
          <p:nvPr/>
        </p:nvGraphicFramePr>
        <p:xfrm>
          <a:off x="365760" y="3797808"/>
          <a:ext cx="8412479" cy="755904"/>
        </p:xfrm>
        <a:graphic>
          <a:graphicData uri="http://schemas.openxmlformats.org/drawingml/2006/table">
            <a:tbl>
              <a:tblPr firstRow="1" bandRow="1">
                <a:tableStyleId>{5C22544A-7EE6-4342-B048-85BDC9FD1C3A}</a:tableStyleId>
              </a:tblPr>
              <a:tblGrid>
                <a:gridCol w="2271369"/>
                <a:gridCol w="6141110"/>
              </a:tblGrid>
              <a:tr h="755904">
                <a:tc>
                  <a:txBody>
                    <a:bodyPr wrap="none"/>
                    <a:lstStyle/>
                    <a:p>
                      <a:pPr>
                        <a:lnSpc>
                          <a:spcPts val="1600"/>
                        </a:lnSpc>
                        <a:spcAft>
                          <a:spcPts val="0"/>
                        </a:spcAft>
                        <a:defRPr sz="1200" b="0">
                          <a:solidFill>
                            <a:srgbClr val="21243A"/>
                          </a:solidFill>
                          <a:latin typeface="Arial"/>
                        </a:defRPr>
                      </a:pPr>
                      <a:r>
                        <a:t>Provider summary</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File integrity: validated. Signer trust: unresolved under the current local policy.</a:t>
                      </a:r>
                    </a:p>
                    <a:p>
                      <a:pPr>
                        <a:lnSpc>
                          <a:spcPts val="1600"/>
                        </a:lnSpc>
                        <a:spcAft>
                          <a:spcPts val="0"/>
                        </a:spcAft>
                        <a:defRPr sz="1200" b="0">
                          <a:solidFill>
                            <a:srgbClr val="21243A"/>
                          </a:solidFill>
                          <a:latin typeface="Arial"/>
                        </a:defRPr>
                      </a:pPr>
                      <a:r>
                        <a:t>The recorded declarations remain available for review and are not used as a</a:t>
                      </a:r>
                    </a:p>
                    <a:p>
                      <a:pPr>
                        <a:lnSpc>
                          <a:spcPts val="1600"/>
                        </a:lnSpc>
                        <a:spcAft>
                          <a:spcPts val="0"/>
                        </a:spcAft>
                        <a:defRPr sz="1200" b="0">
                          <a:solidFill>
                            <a:srgbClr val="21243A"/>
                          </a:solidFill>
                          <a:latin typeface="Arial"/>
                        </a:defRPr>
                      </a:pPr>
                      <a:r>
                        <a:t>decisive provenance finding. Manifest declares AI-generated content.</a:t>
                      </a:r>
                    </a:p>
                  </a:txBody>
                  <a:tcPr marL="82296" marR="82296" marT="64008" marB="64008">
                    <a:solidFill>
                      <a:srgbClr val="F1F7F7"/>
                    </a:solidFill>
                  </a:tcPr>
                </a:tc>
              </a:tr>
            </a:tbl>
          </a:graphicData>
        </a:graphic>
      </p:graphicFrame>
      <p:graphicFrame>
        <p:nvGraphicFramePr>
          <p:cNvPr id="14" name="Table 13"/>
          <p:cNvGraphicFramePr>
            <a:graphicFrameLocks noGrp="1"/>
          </p:cNvGraphicFramePr>
          <p:nvPr/>
        </p:nvGraphicFramePr>
        <p:xfrm>
          <a:off x="365760" y="455371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1</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Credentials: embedded manifest found.</a:t>
                      </a:r>
                    </a:p>
                  </a:txBody>
                  <a:tcPr marL="82296" marR="82296" marT="64008" marB="64008">
                    <a:solidFill>
                      <a:srgbClr val="FFFFFF"/>
                    </a:solidFill>
                  </a:tcPr>
                </a:tc>
              </a:tr>
            </a:tbl>
          </a:graphicData>
        </a:graphic>
      </p:graphicFrame>
      <p:graphicFrame>
        <p:nvGraphicFramePr>
          <p:cNvPr id="15" name="Table 14"/>
          <p:cNvGraphicFramePr>
            <a:graphicFrameLocks noGrp="1"/>
          </p:cNvGraphicFramePr>
          <p:nvPr/>
        </p:nvGraphicFramePr>
        <p:xfrm>
          <a:off x="365760" y="4903216"/>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2</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Integrity: valid (SDK validation).</a:t>
                      </a:r>
                    </a:p>
                  </a:txBody>
                  <a:tcPr marL="82296" marR="82296" marT="64008" marB="64008">
                    <a:solidFill>
                      <a:srgbClr val="F1F7F7"/>
                    </a:solidFill>
                  </a:tcPr>
                </a:tc>
              </a:tr>
            </a:tbl>
          </a:graphicData>
        </a:graphic>
      </p:graphicFrame>
      <p:graphicFrame>
        <p:nvGraphicFramePr>
          <p:cNvPr id="16" name="Table 15"/>
          <p:cNvGraphicFramePr>
            <a:graphicFrameLocks noGrp="1"/>
          </p:cNvGraphicFramePr>
          <p:nvPr/>
        </p:nvGraphicFramePr>
        <p:xfrm>
          <a:off x="365760" y="5252720"/>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3</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Signer trust: untrusted under the configured verifier.</a:t>
                      </a:r>
                    </a:p>
                  </a:txBody>
                  <a:tcPr marL="82296" marR="82296" marT="64008" marB="64008">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Content Credentials / provenance (continued)</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11</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4</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Active manifest: Manifest declares AI-generated content.</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205028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5</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Claim generator (declared tool): OpenAI Media Service API</a:t>
                      </a:r>
                    </a:p>
                  </a:txBody>
                  <a:tcPr marL="82296" marR="82296" marT="64008" marB="64008">
                    <a:solidFill>
                      <a:srgbClr val="FFFFFF"/>
                    </a:solidFill>
                  </a:tcPr>
                </a:tc>
              </a:tr>
            </a:tbl>
          </a:graphicData>
        </a:graphic>
      </p:graphicFrame>
      <p:graphicFrame>
        <p:nvGraphicFramePr>
          <p:cNvPr id="9" name="Table 8"/>
          <p:cNvGraphicFramePr>
            <a:graphicFrameLocks noGrp="1"/>
          </p:cNvGraphicFramePr>
          <p:nvPr/>
        </p:nvGraphicFramePr>
        <p:xfrm>
          <a:off x="365760" y="239979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6</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Declared signer: OpenAI OpCo, LLC</a:t>
                      </a:r>
                    </a:p>
                  </a:txBody>
                  <a:tcPr marL="82296" marR="82296" marT="64008" marB="64008">
                    <a:solidFill>
                      <a:srgbClr val="F1F7F7"/>
                    </a:solidFill>
                  </a:tcPr>
                </a:tc>
              </a:tr>
            </a:tbl>
          </a:graphicData>
        </a:graphic>
      </p:graphicFrame>
      <p:graphicFrame>
        <p:nvGraphicFramePr>
          <p:cNvPr id="10" name="Table 9"/>
          <p:cNvGraphicFramePr>
            <a:graphicFrameLocks noGrp="1"/>
          </p:cNvGraphicFramePr>
          <p:nvPr/>
        </p:nvGraphicFramePr>
        <p:xfrm>
          <a:off x="365760" y="2749296"/>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7</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Declared source type:</a:t>
                      </a:r>
                    </a:p>
                    <a:p>
                      <a:pPr>
                        <a:lnSpc>
                          <a:spcPts val="1600"/>
                        </a:lnSpc>
                        <a:spcAft>
                          <a:spcPts val="0"/>
                        </a:spcAft>
                        <a:defRPr sz="1200" b="0">
                          <a:solidFill>
                            <a:srgbClr val="21243A"/>
                          </a:solidFill>
                          <a:latin typeface="Arial"/>
                        </a:defRPr>
                      </a:pPr>
                      <a:r>
                        <a:t>http://cv.iptc.org/newscodes/digitalsourcetype/trainedalgorithmicmedia</a:t>
                      </a:r>
                    </a:p>
                  </a:txBody>
                  <a:tcPr marL="82296" marR="82296" marT="64008" marB="64008">
                    <a:solidFill>
                      <a:srgbClr val="FFFFFF"/>
                    </a:solidFill>
                  </a:tcPr>
                </a:tc>
              </a:tr>
            </a:tbl>
          </a:graphicData>
        </a:graphic>
      </p:graphicFrame>
      <p:graphicFrame>
        <p:nvGraphicFramePr>
          <p:cNvPr id="11" name="Table 10"/>
          <p:cNvGraphicFramePr>
            <a:graphicFrameLocks noGrp="1"/>
          </p:cNvGraphicFramePr>
          <p:nvPr/>
        </p:nvGraphicFramePr>
        <p:xfrm>
          <a:off x="365760" y="3302000"/>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8</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Active record - declared tool: OpenAI Media Service API; actions: c2pa.created,</a:t>
                      </a:r>
                    </a:p>
                    <a:p>
                      <a:pPr>
                        <a:lnSpc>
                          <a:spcPts val="1600"/>
                        </a:lnSpc>
                        <a:spcAft>
                          <a:spcPts val="0"/>
                        </a:spcAft>
                        <a:defRPr sz="1200" b="0">
                          <a:solidFill>
                            <a:srgbClr val="21243A"/>
                          </a:solidFill>
                          <a:latin typeface="Arial"/>
                        </a:defRPr>
                      </a:pPr>
                      <a:r>
                        <a:t>c2pa.converted, c2pa.watermarked.unbound.</a:t>
                      </a:r>
                    </a:p>
                  </a:txBody>
                  <a:tcPr marL="82296" marR="82296" marT="64008" marB="64008">
                    <a:solidFill>
                      <a:srgbClr val="F1F7F7"/>
                    </a:solidFill>
                  </a:tcPr>
                </a:tc>
              </a:tr>
            </a:tbl>
          </a:graphicData>
        </a:graphic>
      </p:graphicFrame>
      <p:graphicFrame>
        <p:nvGraphicFramePr>
          <p:cNvPr id="12" name="Table 11"/>
          <p:cNvGraphicFramePr>
            <a:graphicFrameLocks noGrp="1"/>
          </p:cNvGraphicFramePr>
          <p:nvPr/>
        </p:nvGraphicFramePr>
        <p:xfrm>
          <a:off x="365760" y="385470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9</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Active record - all actions recorded (signer's declaration): no.</a:t>
                      </a:r>
                    </a:p>
                  </a:txBody>
                  <a:tcPr marL="82296" marR="82296" marT="64008" marB="64008">
                    <a:solidFill>
                      <a:srgbClr val="FFFFFF"/>
                    </a:solidFill>
                  </a:tcPr>
                </a:tc>
              </a:tr>
            </a:tbl>
          </a:graphicData>
        </a:graphic>
      </p:graphicFrame>
      <p:graphicFrame>
        <p:nvGraphicFramePr>
          <p:cNvPr id="13" name="Table 12"/>
          <p:cNvGraphicFramePr>
            <a:graphicFrameLocks noGrp="1"/>
          </p:cNvGraphicFramePr>
          <p:nvPr/>
        </p:nvGraphicFramePr>
        <p:xfrm>
          <a:off x="365760" y="420420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10</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Validation outcome: signingCredential.untrusted</a:t>
                      </a:r>
                    </a:p>
                  </a:txBody>
                  <a:tcPr marL="82296" marR="82296" marT="64008" marB="64008">
                    <a:solidFill>
                      <a:srgbClr val="F1F7F7"/>
                    </a:solidFill>
                  </a:tcPr>
                </a:tc>
              </a:tr>
            </a:tbl>
          </a:graphicData>
        </a:graphic>
      </p:graphicFrame>
      <p:graphicFrame>
        <p:nvGraphicFramePr>
          <p:cNvPr id="14" name="Table 13"/>
          <p:cNvGraphicFramePr>
            <a:graphicFrameLocks noGrp="1"/>
          </p:cNvGraphicFramePr>
          <p:nvPr/>
        </p:nvGraphicFramePr>
        <p:xfrm>
          <a:off x="365760" y="455371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11</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Validation outcome: timeStamp.validated</a:t>
                      </a:r>
                    </a:p>
                  </a:txBody>
                  <a:tcPr marL="82296" marR="82296" marT="64008" marB="64008">
                    <a:solidFill>
                      <a:srgbClr val="FFFFFF"/>
                    </a:solidFill>
                  </a:tcPr>
                </a:tc>
              </a:tr>
            </a:tbl>
          </a:graphicData>
        </a:graphic>
      </p:graphicFrame>
      <p:graphicFrame>
        <p:nvGraphicFramePr>
          <p:cNvPr id="15" name="Table 14"/>
          <p:cNvGraphicFramePr>
            <a:graphicFrameLocks noGrp="1"/>
          </p:cNvGraphicFramePr>
          <p:nvPr/>
        </p:nvGraphicFramePr>
        <p:xfrm>
          <a:off x="365760" y="4903216"/>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12</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Validation outcome: claimSignature.insideValidity</a:t>
                      </a:r>
                    </a:p>
                  </a:txBody>
                  <a:tcPr marL="82296" marR="82296" marT="64008" marB="64008">
                    <a:solidFill>
                      <a:srgbClr val="F1F7F7"/>
                    </a:solidFill>
                  </a:tcPr>
                </a:tc>
              </a:tr>
            </a:tbl>
          </a:graphicData>
        </a:graphic>
      </p:graphicFrame>
      <p:graphicFrame>
        <p:nvGraphicFramePr>
          <p:cNvPr id="16" name="Table 15"/>
          <p:cNvGraphicFramePr>
            <a:graphicFrameLocks noGrp="1"/>
          </p:cNvGraphicFramePr>
          <p:nvPr/>
        </p:nvGraphicFramePr>
        <p:xfrm>
          <a:off x="365760" y="5252720"/>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13</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Validation outcome: claimSignature.validated</a:t>
                      </a:r>
                    </a:p>
                  </a:txBody>
                  <a:tcPr marL="82296" marR="82296" marT="64008" marB="64008">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Content Credentials / provenance (continued)</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12</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14</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Validation outcome: assertion.hashedURI.match</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205028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15</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Validation outcome: assertion.dataHash.match</a:t>
                      </a:r>
                    </a:p>
                  </a:txBody>
                  <a:tcPr marL="82296" marR="82296" marT="64008" marB="64008">
                    <a:solidFill>
                      <a:srgbClr val="FFFFFF"/>
                    </a:solidFill>
                  </a:tcPr>
                </a:tc>
              </a:tr>
            </a:tbl>
          </a:graphicData>
        </a:graphic>
      </p:graphicFrame>
      <p:graphicFrame>
        <p:nvGraphicFramePr>
          <p:cNvPr id="9" name="Table 8"/>
          <p:cNvGraphicFramePr>
            <a:graphicFrameLocks noGrp="1"/>
          </p:cNvGraphicFramePr>
          <p:nvPr/>
        </p:nvGraphicFramePr>
        <p:xfrm>
          <a:off x="365760" y="239979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16</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Validation outcome: timeStamp.untrusted</a:t>
                      </a:r>
                    </a:p>
                  </a:txBody>
                  <a:tcPr marL="82296" marR="82296" marT="64008" marB="64008">
                    <a:solidFill>
                      <a:srgbClr val="F1F7F7"/>
                    </a:solidFill>
                  </a:tcPr>
                </a:tc>
              </a:tr>
            </a:tbl>
          </a:graphicData>
        </a:graphic>
      </p:graphicFrame>
      <p:graphicFrame>
        <p:nvGraphicFramePr>
          <p:cNvPr id="10" name="Table 9"/>
          <p:cNvGraphicFramePr>
            <a:graphicFrameLocks noGrp="1"/>
          </p:cNvGraphicFramePr>
          <p:nvPr/>
        </p:nvGraphicFramePr>
        <p:xfrm>
          <a:off x="365760" y="2749296"/>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17</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Verifier: c2pa-python 0.37.12; native SDK 0.91.0; specification target 2.4; policy</a:t>
                      </a:r>
                    </a:p>
                    <a:p>
                      <a:pPr>
                        <a:lnSpc>
                          <a:spcPts val="1600"/>
                        </a:lnSpc>
                        <a:spcAft>
                          <a:spcPts val="0"/>
                        </a:spcAft>
                        <a:defRPr sz="1200" b="0">
                          <a:solidFill>
                            <a:srgbClr val="21243A"/>
                          </a:solidFill>
                          <a:latin typeface="Arial"/>
                        </a:defRPr>
                      </a:pPr>
                      <a:r>
                        <a:t>embedded-offline-reviewed-trust-v3.</a:t>
                      </a:r>
                    </a:p>
                  </a:txBody>
                  <a:tcPr marL="82296" marR="82296" marT="64008" marB="64008">
                    <a:solidFill>
                      <a:srgbClr val="FFFFFF"/>
                    </a:solidFill>
                  </a:tcPr>
                </a:tc>
              </a:tr>
            </a:tbl>
          </a:graphicData>
        </a:graphic>
      </p:graphicFrame>
      <p:graphicFrame>
        <p:nvGraphicFramePr>
          <p:cNvPr id="11" name="Table 10"/>
          <p:cNvGraphicFramePr>
            <a:graphicFrameLocks noGrp="1"/>
          </p:cNvGraphicFramePr>
          <p:nvPr/>
        </p:nvGraphicFramePr>
        <p:xfrm>
          <a:off x="365760" y="3302000"/>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18</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Offline embedded-manifest verification; no network trust-list, manifest or</a:t>
                      </a:r>
                    </a:p>
                    <a:p>
                      <a:pPr>
                        <a:lnSpc>
                          <a:spcPts val="1600"/>
                        </a:lnSpc>
                        <a:spcAft>
                          <a:spcPts val="0"/>
                        </a:spcAft>
                        <a:defRPr sz="1200" b="0">
                          <a:solidFill>
                            <a:srgbClr val="21243A"/>
                          </a:solidFill>
                          <a:latin typeface="Arial"/>
                        </a:defRPr>
                      </a:pPr>
                      <a:r>
                        <a:t>revocation refresh.</a:t>
                      </a:r>
                    </a:p>
                  </a:txBody>
                  <a:tcPr marL="82296" marR="82296" marT="64008" marB="64008">
                    <a:solidFill>
                      <a:srgbClr val="F1F7F7"/>
                    </a:solidFill>
                  </a:tcPr>
                </a:tc>
              </a:tr>
            </a:tbl>
          </a:graphicData>
        </a:graphic>
      </p:graphicFrame>
      <p:graphicFrame>
        <p:nvGraphicFramePr>
          <p:cNvPr id="12" name="Table 11"/>
          <p:cNvGraphicFramePr>
            <a:graphicFrameLocks noGrp="1"/>
          </p:cNvGraphicFramePr>
          <p:nvPr/>
        </p:nvGraphicFramePr>
        <p:xfrm>
          <a:off x="365760" y="3854704"/>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19</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No reviewed local C2PA trust snapshot installed. Provenance overrides are</a:t>
                      </a:r>
                    </a:p>
                    <a:p>
                      <a:pPr>
                        <a:lnSpc>
                          <a:spcPts val="1600"/>
                        </a:lnSpc>
                        <a:spcAft>
                          <a:spcPts val="0"/>
                        </a:spcAft>
                        <a:defRPr sz="1200" b="0">
                          <a:solidFill>
                            <a:srgbClr val="21243A"/>
                          </a:solidFill>
                          <a:latin typeface="Arial"/>
                        </a:defRPr>
                      </a:pPr>
                      <a:r>
                        <a:t>disabled.</a:t>
                      </a:r>
                    </a:p>
                  </a:txBody>
                  <a:tcPr marL="82296" marR="82296" marT="64008" marB="64008">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Provider evidence / 5</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13</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Provider</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Local forensic cues</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205028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Model</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Not recorded</a:t>
                      </a:r>
                    </a:p>
                  </a:txBody>
                  <a:tcPr marL="82296" marR="82296" marT="64008" marB="64008">
                    <a:solidFill>
                      <a:srgbClr val="FFFFFF"/>
                    </a:solidFill>
                  </a:tcPr>
                </a:tc>
              </a:tr>
            </a:tbl>
          </a:graphicData>
        </a:graphic>
      </p:graphicFrame>
      <p:graphicFrame>
        <p:nvGraphicFramePr>
          <p:cNvPr id="9" name="Table 8"/>
          <p:cNvGraphicFramePr>
            <a:graphicFrameLocks noGrp="1"/>
          </p:cNvGraphicFramePr>
          <p:nvPr/>
        </p:nvGraphicFramePr>
        <p:xfrm>
          <a:off x="365760" y="239979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Status</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ok</a:t>
                      </a:r>
                    </a:p>
                  </a:txBody>
                  <a:tcPr marL="82296" marR="82296" marT="64008" marB="64008">
                    <a:solidFill>
                      <a:srgbClr val="F1F7F7"/>
                    </a:solidFill>
                  </a:tcPr>
                </a:tc>
              </a:tr>
            </a:tbl>
          </a:graphicData>
        </a:graphic>
      </p:graphicFrame>
      <p:graphicFrame>
        <p:nvGraphicFramePr>
          <p:cNvPr id="10" name="Table 9"/>
          <p:cNvGraphicFramePr>
            <a:graphicFrameLocks noGrp="1"/>
          </p:cNvGraphicFramePr>
          <p:nvPr/>
        </p:nvGraphicFramePr>
        <p:xfrm>
          <a:off x="365760" y="2749296"/>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Assessment</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partially synthetic</a:t>
                      </a:r>
                    </a:p>
                  </a:txBody>
                  <a:tcPr marL="82296" marR="82296" marT="64008" marB="64008">
                    <a:solidFill>
                      <a:srgbClr val="FFFFFF"/>
                    </a:solidFill>
                  </a:tcPr>
                </a:tc>
              </a:tr>
            </a:tbl>
          </a:graphicData>
        </a:graphic>
      </p:graphicFrame>
      <p:graphicFrame>
        <p:nvGraphicFramePr>
          <p:cNvPr id="11" name="Table 10"/>
          <p:cNvGraphicFramePr>
            <a:graphicFrameLocks noGrp="1"/>
          </p:cNvGraphicFramePr>
          <p:nvPr/>
        </p:nvGraphicFramePr>
        <p:xfrm>
          <a:off x="365760" y="3098800"/>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Confidence</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low</a:t>
                      </a:r>
                    </a:p>
                  </a:txBody>
                  <a:tcPr marL="82296" marR="82296" marT="64008" marB="64008">
                    <a:solidFill>
                      <a:srgbClr val="F1F7F7"/>
                    </a:solidFill>
                  </a:tcPr>
                </a:tc>
              </a:tr>
            </a:tbl>
          </a:graphicData>
        </a:graphic>
      </p:graphicFrame>
      <p:graphicFrame>
        <p:nvGraphicFramePr>
          <p:cNvPr id="12" name="Table 11"/>
          <p:cNvGraphicFramePr>
            <a:graphicFrameLocks noGrp="1"/>
          </p:cNvGraphicFramePr>
          <p:nvPr/>
        </p:nvGraphicFramePr>
        <p:xfrm>
          <a:off x="365760" y="344830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Role in assessment</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Additional finding</a:t>
                      </a:r>
                    </a:p>
                  </a:txBody>
                  <a:tcPr marL="82296" marR="82296" marT="64008" marB="64008">
                    <a:solidFill>
                      <a:srgbClr val="FFFFFF"/>
                    </a:solidFill>
                  </a:tcPr>
                </a:tc>
              </a:tr>
            </a:tbl>
          </a:graphicData>
        </a:graphic>
      </p:graphicFrame>
      <p:graphicFrame>
        <p:nvGraphicFramePr>
          <p:cNvPr id="13" name="Table 12"/>
          <p:cNvGraphicFramePr>
            <a:graphicFrameLocks noGrp="1"/>
          </p:cNvGraphicFramePr>
          <p:nvPr/>
        </p:nvGraphicFramePr>
        <p:xfrm>
          <a:off x="365760" y="379780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Provider summary</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Heuristic synthetic likelihood 41/100 from metadata + pixel statistics.</a:t>
                      </a:r>
                    </a:p>
                  </a:txBody>
                  <a:tcPr marL="82296" marR="82296" marT="64008" marB="64008">
                    <a:solidFill>
                      <a:srgbClr val="F1F7F7"/>
                    </a:solidFill>
                  </a:tcPr>
                </a:tc>
              </a:tr>
            </a:tbl>
          </a:graphicData>
        </a:graphic>
      </p:graphicFrame>
      <p:graphicFrame>
        <p:nvGraphicFramePr>
          <p:cNvPr id="14" name="Table 13"/>
          <p:cNvGraphicFramePr>
            <a:graphicFrameLocks noGrp="1"/>
          </p:cNvGraphicFramePr>
          <p:nvPr/>
        </p:nvGraphicFramePr>
        <p:xfrm>
          <a:off x="365760" y="414731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1</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No camera EXIF (common in AI exports, screenshots, and re-saves).</a:t>
                      </a:r>
                    </a:p>
                  </a:txBody>
                  <a:tcPr marL="82296" marR="82296" marT="64008" marB="64008">
                    <a:solidFill>
                      <a:srgbClr val="FFFFFF"/>
                    </a:solidFill>
                  </a:tcPr>
                </a:tc>
              </a:tr>
            </a:tbl>
          </a:graphicData>
        </a:graphic>
      </p:graphicFrame>
      <p:graphicFrame>
        <p:nvGraphicFramePr>
          <p:cNvPr id="15" name="Table 14"/>
          <p:cNvGraphicFramePr>
            <a:graphicFrameLocks noGrp="1"/>
          </p:cNvGraphicFramePr>
          <p:nvPr/>
        </p:nvGraphicFramePr>
        <p:xfrm>
          <a:off x="365760" y="4496816"/>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2</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ELA mean 1.9, peak 96 (uniform high ELA can indicate generation/heavy edit).</a:t>
                      </a:r>
                    </a:p>
                  </a:txBody>
                  <a:tcPr marL="82296" marR="82296" marT="64008" marB="64008">
                    <a:solidFill>
                      <a:srgbClr val="F1F7F7"/>
                    </a:solidFill>
                  </a:tcPr>
                </a:tc>
              </a:tr>
            </a:tbl>
          </a:graphicData>
        </a:graphic>
      </p:graphicFrame>
      <p:graphicFrame>
        <p:nvGraphicFramePr>
          <p:cNvPr id="16" name="Table 15"/>
          <p:cNvGraphicFramePr>
            <a:graphicFrameLocks noGrp="1"/>
          </p:cNvGraphicFramePr>
          <p:nvPr/>
        </p:nvGraphicFramePr>
        <p:xfrm>
          <a:off x="365760" y="4846320"/>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3</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High-frequency noise std 11.51 (very low/very uniform noise is a synthesis cue).</a:t>
                      </a:r>
                    </a:p>
                  </a:txBody>
                  <a:tcPr marL="82296" marR="82296" marT="64008" marB="64008">
                    <a:solidFill>
                      <a:srgbClr val="FFFFFF"/>
                    </a:solidFill>
                  </a:tcPr>
                </a:tc>
              </a:tr>
            </a:tbl>
          </a:graphicData>
        </a:graphic>
      </p:graphicFrame>
      <p:graphicFrame>
        <p:nvGraphicFramePr>
          <p:cNvPr id="17" name="Table 16"/>
          <p:cNvGraphicFramePr>
            <a:graphicFrameLocks noGrp="1"/>
          </p:cNvGraphicFramePr>
          <p:nvPr/>
        </p:nvGraphicFramePr>
        <p:xfrm>
          <a:off x="365760" y="519582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4</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Spectral peakiness 21.99 (periodic frequency peaks can mark generated textures).</a:t>
                      </a:r>
                    </a:p>
                  </a:txBody>
                  <a:tcPr marL="82296" marR="82296" marT="64008" marB="64008">
                    <a:solidFill>
                      <a:srgbClr val="F1F7F7"/>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Evidence supporting this verdict</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14</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1365503"/>
        </p:xfrm>
        <a:graphic>
          <a:graphicData uri="http://schemas.openxmlformats.org/drawingml/2006/table">
            <a:tbl>
              <a:tblPr firstRow="1" bandRow="1">
                <a:tableStyleId>{5C22544A-7EE6-4342-B048-85BDC9FD1C3A}</a:tableStyleId>
              </a:tblPr>
              <a:tblGrid>
                <a:gridCol w="2271369"/>
                <a:gridCol w="6141110"/>
              </a:tblGrid>
              <a:tr h="1365503">
                <a:tc>
                  <a:txBody>
                    <a:bodyPr wrap="none"/>
                    <a:lstStyle/>
                    <a:p>
                      <a:pPr>
                        <a:lnSpc>
                          <a:spcPts val="1600"/>
                        </a:lnSpc>
                        <a:spcAft>
                          <a:spcPts val="0"/>
                        </a:spcAft>
                        <a:defRPr sz="1200" b="0">
                          <a:solidFill>
                            <a:srgbClr val="21243A"/>
                          </a:solidFill>
                          <a:latin typeface="Arial"/>
                        </a:defRPr>
                      </a:pPr>
                      <a:r>
                        <a:t>Claude Vision</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synthetic likelihood 82/100; tells: not a camera photo: digital illustration in a</a:t>
                      </a:r>
                    </a:p>
                    <a:p>
                      <a:pPr>
                        <a:lnSpc>
                          <a:spcPts val="1600"/>
                        </a:lnSpc>
                        <a:spcAft>
                          <a:spcPts val="0"/>
                        </a:spcAft>
                        <a:defRPr sz="1200" b="0">
                          <a:solidFill>
                            <a:srgbClr val="21243A"/>
                          </a:solidFill>
                          <a:latin typeface="Arial"/>
                        </a:defRPr>
                      </a:pPr>
                      <a:r>
                        <a:t>uniform, polished comic/ink-and-colour style typical of current image generators,</a:t>
                      </a:r>
                    </a:p>
                    <a:p>
                      <a:pPr>
                        <a:lnSpc>
                          <a:spcPts val="1600"/>
                        </a:lnSpc>
                        <a:spcAft>
                          <a:spcPts val="0"/>
                        </a:spcAft>
                        <a:defRPr sz="1200" b="0">
                          <a:solidFill>
                            <a:srgbClr val="21243A"/>
                          </a:solidFill>
                          <a:latin typeface="Arial"/>
                        </a:defRPr>
                      </a:pPr>
                      <a:r>
                        <a:t>hyper-consistent line weight and cel shading across all figures with no stroke</a:t>
                      </a:r>
                    </a:p>
                    <a:p>
                      <a:pPr>
                        <a:lnSpc>
                          <a:spcPts val="1600"/>
                        </a:lnSpc>
                        <a:spcAft>
                          <a:spcPts val="0"/>
                        </a:spcAft>
                        <a:defRPr sz="1200" b="0">
                          <a:solidFill>
                            <a:srgbClr val="21243A"/>
                          </a:solidFill>
                          <a:latin typeface="Arial"/>
                        </a:defRPr>
                      </a:pPr>
                      <a:r>
                        <a:t>variation or construction marks, noisy, fragmented texture in the grey curly hair,</a:t>
                      </a:r>
                    </a:p>
                    <a:p>
                      <a:pPr>
                        <a:lnSpc>
                          <a:spcPts val="1600"/>
                        </a:lnSpc>
                        <a:spcAft>
                          <a:spcPts val="0"/>
                        </a:spcAft>
                        <a:defRPr sz="1200" b="0">
                          <a:solidFill>
                            <a:srgbClr val="21243A"/>
                          </a:solidFill>
                          <a:latin typeface="Arial"/>
                        </a:defRPr>
                      </a:pPr>
                      <a:r>
                        <a:t>resembling generator detail artifacts rather than deliberate strokes, tablet screen</a:t>
                      </a:r>
                    </a:p>
                    <a:p>
                      <a:pPr>
                        <a:lnSpc>
                          <a:spcPts val="1600"/>
                        </a:lnSpc>
                        <a:spcAft>
                          <a:spcPts val="0"/>
                        </a:spcAft>
                        <a:defRPr sz="1200" b="0">
                          <a:solidFill>
                            <a:srgbClr val="21243A"/>
                          </a:solidFill>
                          <a:latin typeface="Arial"/>
                        </a:defRPr>
                      </a:pPr>
                      <a:r>
                        <a:t>shows an indistinct garden/playground scene with smeared, non-specific detail</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3066288"/>
          <a:ext cx="8412479" cy="1365503"/>
        </p:xfrm>
        <a:graphic>
          <a:graphicData uri="http://schemas.openxmlformats.org/drawingml/2006/table">
            <a:tbl>
              <a:tblPr firstRow="1" bandRow="1">
                <a:tableStyleId>{5C22544A-7EE6-4342-B048-85BDC9FD1C3A}</a:tableStyleId>
              </a:tblPr>
              <a:tblGrid>
                <a:gridCol w="2271369"/>
                <a:gridCol w="6141110"/>
              </a:tblGrid>
              <a:tr h="1365503">
                <a:tc>
                  <a:txBody>
                    <a:bodyPr wrap="none"/>
                    <a:lstStyle/>
                    <a:p>
                      <a:pPr>
                        <a:lnSpc>
                          <a:spcPts val="1600"/>
                        </a:lnSpc>
                        <a:spcAft>
                          <a:spcPts val="0"/>
                        </a:spcAft>
                        <a:defRPr sz="1200" b="0">
                          <a:solidFill>
                            <a:srgbClr val="21243A"/>
                          </a:solidFill>
                          <a:latin typeface="Arial"/>
                        </a:defRPr>
                      </a:pPr>
                      <a:r>
                        <a:t>OpenAI Vision</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synthetic likelihood 78/100; tells: Older woman's gray hair contains tangled,</a:t>
                      </a:r>
                    </a:p>
                    <a:p>
                      <a:pPr>
                        <a:lnSpc>
                          <a:spcPts val="1600"/>
                        </a:lnSpc>
                        <a:spcAft>
                          <a:spcPts val="0"/>
                        </a:spcAft>
                        <a:defRPr sz="1200" b="0">
                          <a:solidFill>
                            <a:srgbClr val="21243A"/>
                          </a:solidFill>
                          <a:latin typeface="Arial"/>
                        </a:defRPr>
                      </a:pPr>
                      <a:r>
                        <a:t>ribbon-like shapes inconsistent with the other hair rendering., Wheelchair spokes</a:t>
                      </a:r>
                    </a:p>
                    <a:p>
                      <a:pPr>
                        <a:lnSpc>
                          <a:spcPts val="1600"/>
                        </a:lnSpc>
                        <a:spcAft>
                          <a:spcPts val="0"/>
                        </a:spcAft>
                        <a:defRPr sz="1200" b="0">
                          <a:solidFill>
                            <a:srgbClr val="21243A"/>
                          </a:solidFill>
                          <a:latin typeface="Arial"/>
                        </a:defRPr>
                      </a:pPr>
                      <a:r>
                        <a:t>and lower frame tubes form irregular junctions and ambiguous connections.,</a:t>
                      </a:r>
                    </a:p>
                    <a:p>
                      <a:pPr>
                        <a:lnSpc>
                          <a:spcPts val="1600"/>
                        </a:lnSpc>
                        <a:spcAft>
                          <a:spcPts val="0"/>
                        </a:spcAft>
                        <a:defRPr sz="1200" b="0">
                          <a:solidFill>
                            <a:srgbClr val="21243A"/>
                          </a:solidFill>
                          <a:latin typeface="Arial"/>
                        </a:defRPr>
                      </a:pPr>
                      <a:r>
                        <a:t>Gesturing hands have uneven finger separation and merged-looking contours.,</a:t>
                      </a:r>
                    </a:p>
                    <a:p>
                      <a:pPr>
                        <a:lnSpc>
                          <a:spcPts val="1600"/>
                        </a:lnSpc>
                        <a:spcAft>
                          <a:spcPts val="0"/>
                        </a:spcAft>
                        <a:defRPr sz="1200" b="0">
                          <a:solidFill>
                            <a:srgbClr val="21243A"/>
                          </a:solidFill>
                          <a:latin typeface="Arial"/>
                        </a:defRPr>
                      </a:pPr>
                      <a:r>
                        <a:t>Tablet garden has noticeably softer, less defined detail than the surrounding</a:t>
                      </a:r>
                    </a:p>
                    <a:p>
                      <a:pPr>
                        <a:lnSpc>
                          <a:spcPts val="1600"/>
                        </a:lnSpc>
                        <a:spcAft>
                          <a:spcPts val="0"/>
                        </a:spcAft>
                        <a:defRPr sz="1200" b="0">
                          <a:solidFill>
                            <a:srgbClr val="21243A"/>
                          </a:solidFill>
                          <a:latin typeface="Arial"/>
                        </a:defRPr>
                      </a:pPr>
                      <a:r>
                        <a:t>outlined illustration.</a:t>
                      </a:r>
                    </a:p>
                  </a:txBody>
                  <a:tcPr marL="82296" marR="82296" marT="64008" marB="64008">
                    <a:solidFill>
                      <a:srgbClr val="FFFFFF"/>
                    </a:solidFill>
                  </a:tcPr>
                </a:tc>
              </a:tr>
            </a:tbl>
          </a:graphicData>
        </a:graphic>
      </p:graphicFrame>
      <p:graphicFrame>
        <p:nvGraphicFramePr>
          <p:cNvPr id="9" name="Table 8"/>
          <p:cNvGraphicFramePr>
            <a:graphicFrameLocks noGrp="1"/>
          </p:cNvGraphicFramePr>
          <p:nvPr/>
        </p:nvGraphicFramePr>
        <p:xfrm>
          <a:off x="365760" y="4431792"/>
          <a:ext cx="8412479" cy="959103"/>
        </p:xfrm>
        <a:graphic>
          <a:graphicData uri="http://schemas.openxmlformats.org/drawingml/2006/table">
            <a:tbl>
              <a:tblPr firstRow="1" bandRow="1">
                <a:tableStyleId>{5C22544A-7EE6-4342-B048-85BDC9FD1C3A}</a:tableStyleId>
              </a:tblPr>
              <a:tblGrid>
                <a:gridCol w="2271369"/>
                <a:gridCol w="6141110"/>
              </a:tblGrid>
              <a:tr h="959103">
                <a:tc>
                  <a:txBody>
                    <a:bodyPr wrap="none"/>
                    <a:lstStyle/>
                    <a:p>
                      <a:pPr>
                        <a:lnSpc>
                          <a:spcPts val="1600"/>
                        </a:lnSpc>
                        <a:spcAft>
                          <a:spcPts val="0"/>
                        </a:spcAft>
                        <a:defRPr sz="1200" b="0">
                          <a:solidFill>
                            <a:srgbClr val="21243A"/>
                          </a:solidFill>
                          <a:latin typeface="Arial"/>
                        </a:defRPr>
                      </a:pPr>
                      <a:r>
                        <a:t>Gemini Vision</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synthetic likelihood 72/100; tells: stylized digital line art with subtle AI generative</a:t>
                      </a:r>
                    </a:p>
                    <a:p>
                      <a:pPr>
                        <a:lnSpc>
                          <a:spcPts val="1600"/>
                        </a:lnSpc>
                        <a:spcAft>
                          <a:spcPts val="0"/>
                        </a:spcAft>
                        <a:defRPr sz="1200" b="0">
                          <a:solidFill>
                            <a:srgbClr val="21243A"/>
                          </a:solidFill>
                          <a:latin typeface="Arial"/>
                        </a:defRPr>
                      </a:pPr>
                      <a:r>
                        <a:t>markers, irregular finger proportions and geometry, overly smooth shading</a:t>
                      </a:r>
                    </a:p>
                    <a:p>
                      <a:pPr>
                        <a:lnSpc>
                          <a:spcPts val="1600"/>
                        </a:lnSpc>
                        <a:spcAft>
                          <a:spcPts val="0"/>
                        </a:spcAft>
                        <a:defRPr sz="1200" b="0">
                          <a:solidFill>
                            <a:srgbClr val="21243A"/>
                          </a:solidFill>
                          <a:latin typeface="Arial"/>
                        </a:defRPr>
                      </a:pPr>
                      <a:r>
                        <a:t>gradients typical of generative models, inconsistent perspective on wheelchair</a:t>
                      </a:r>
                    </a:p>
                    <a:p>
                      <a:pPr>
                        <a:lnSpc>
                          <a:spcPts val="1600"/>
                        </a:lnSpc>
                        <a:spcAft>
                          <a:spcPts val="0"/>
                        </a:spcAft>
                        <a:defRPr sz="1200" b="0">
                          <a:solidFill>
                            <a:srgbClr val="21243A"/>
                          </a:solidFill>
                          <a:latin typeface="Arial"/>
                        </a:defRPr>
                      </a:pPr>
                      <a:r>
                        <a:t>spokes</a:t>
                      </a:r>
                    </a:p>
                  </a:txBody>
                  <a:tcPr marL="82296" marR="82296" marT="64008" marB="64008">
                    <a:solidFill>
                      <a:srgbClr val="F1F7F7"/>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Additional findings</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15</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Local forensic cues</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Supporting observation; considered alongside the model assessments.</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2050288"/>
          <a:ext cx="8412479" cy="755904"/>
        </p:xfrm>
        <a:graphic>
          <a:graphicData uri="http://schemas.openxmlformats.org/drawingml/2006/table">
            <a:tbl>
              <a:tblPr firstRow="1" bandRow="1">
                <a:tableStyleId>{5C22544A-7EE6-4342-B048-85BDC9FD1C3A}</a:tableStyleId>
              </a:tblPr>
              <a:tblGrid>
                <a:gridCol w="2271369"/>
                <a:gridCol w="6141110"/>
              </a:tblGrid>
              <a:tr h="755904">
                <a:tc>
                  <a:txBody>
                    <a:bodyPr wrap="none"/>
                    <a:lstStyle/>
                    <a:p>
                      <a:pPr>
                        <a:lnSpc>
                          <a:spcPts val="1600"/>
                        </a:lnSpc>
                        <a:spcAft>
                          <a:spcPts val="0"/>
                        </a:spcAft>
                        <a:defRPr sz="1200" b="0">
                          <a:solidFill>
                            <a:srgbClr val="21243A"/>
                          </a:solidFill>
                          <a:latin typeface="Arial"/>
                        </a:defRPr>
                      </a:pPr>
                      <a:r>
                        <a:t>C2PA Content Credentials</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File integrity: validated. Signer trust: unresolved under the current local policy.</a:t>
                      </a:r>
                    </a:p>
                    <a:p>
                      <a:pPr>
                        <a:lnSpc>
                          <a:spcPts val="1600"/>
                        </a:lnSpc>
                        <a:spcAft>
                          <a:spcPts val="0"/>
                        </a:spcAft>
                        <a:defRPr sz="1200" b="0">
                          <a:solidFill>
                            <a:srgbClr val="21243A"/>
                          </a:solidFill>
                          <a:latin typeface="Arial"/>
                        </a:defRPr>
                      </a:pPr>
                      <a:r>
                        <a:t>The recorded declarations remain available for review and are not used as a</a:t>
                      </a:r>
                    </a:p>
                    <a:p>
                      <a:pPr>
                        <a:lnSpc>
                          <a:spcPts val="1600"/>
                        </a:lnSpc>
                        <a:spcAft>
                          <a:spcPts val="0"/>
                        </a:spcAft>
                        <a:defRPr sz="1200" b="0">
                          <a:solidFill>
                            <a:srgbClr val="21243A"/>
                          </a:solidFill>
                          <a:latin typeface="Arial"/>
                        </a:defRPr>
                      </a:pPr>
                      <a:r>
                        <a:t>decisive provenance finding. Manifest declares AI-generated content.</a:t>
                      </a:r>
                    </a:p>
                  </a:txBody>
                  <a:tcPr marL="82296" marR="82296" marT="64008" marB="64008">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How this assessment was reached</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16</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1. override</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outcome=none; detail=No confirmed C2PA AI assertion or SynthID watermark.</a:t>
                      </a:r>
                    </a:p>
                    <a:p>
                      <a:pPr>
                        <a:lnSpc>
                          <a:spcPts val="1600"/>
                        </a:lnSpc>
                        <a:spcAft>
                          <a:spcPts val="0"/>
                        </a:spcAft>
                        <a:defRPr sz="1200" b="0">
                          <a:solidFill>
                            <a:srgbClr val="21243A"/>
                          </a:solidFill>
                          <a:latin typeface="Arial"/>
                        </a:defRPr>
                      </a:pPr>
                      <a:r>
                        <a:t>Origin remains unresolved by these checks.</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2253488"/>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2. model_agreement</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synthetic=['Claude Vision', 'OpenAI Vision', 'Gemini Vision']; authentic=[];</a:t>
                      </a:r>
                    </a:p>
                    <a:p>
                      <a:pPr>
                        <a:lnSpc>
                          <a:spcPts val="1600"/>
                        </a:lnSpc>
                        <a:spcAft>
                          <a:spcPts val="0"/>
                        </a:spcAft>
                        <a:defRPr sz="1200" b="0">
                          <a:solidFill>
                            <a:srgbClr val="21243A"/>
                          </a:solidFill>
                          <a:latin typeface="Arial"/>
                        </a:defRPr>
                      </a:pPr>
                      <a:r>
                        <a:t>uncertain=[]; forensic_supports_synthetic=False</a:t>
                      </a:r>
                    </a:p>
                  </a:txBody>
                  <a:tcPr marL="82296" marR="82296" marT="64008" marB="64008">
                    <a:solidFill>
                      <a:srgbClr val="FFFFFF"/>
                    </a:solidFill>
                  </a:tcPr>
                </a:tc>
              </a:tr>
            </a:tbl>
          </a:graphicData>
        </a:graphic>
      </p:graphicFrame>
      <p:graphicFrame>
        <p:nvGraphicFramePr>
          <p:cNvPr id="9" name="Table 8"/>
          <p:cNvGraphicFramePr>
            <a:graphicFrameLocks noGrp="1"/>
          </p:cNvGraphicFramePr>
          <p:nvPr/>
        </p:nvGraphicFramePr>
        <p:xfrm>
          <a:off x="365760" y="2806192"/>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3. verdict</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value=synthetic_likely; confidence=high; reason=3 models agree this is likely</a:t>
                      </a:r>
                    </a:p>
                    <a:p>
                      <a:pPr>
                        <a:lnSpc>
                          <a:spcPts val="1600"/>
                        </a:lnSpc>
                        <a:spcAft>
                          <a:spcPts val="0"/>
                        </a:spcAft>
                        <a:defRPr sz="1200" b="0">
                          <a:solidFill>
                            <a:srgbClr val="21243A"/>
                          </a:solidFill>
                          <a:latin typeface="Arial"/>
                        </a:defRPr>
                      </a:pPr>
                      <a:r>
                        <a:t>synthetic.</a:t>
                      </a:r>
                    </a:p>
                  </a:txBody>
                  <a:tcPr marL="82296" marR="82296" marT="64008" marB="64008">
                    <a:solidFill>
                      <a:srgbClr val="F1F7F7"/>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File and analysis record</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17</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File</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illustration-1.png</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205028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Analysis ID</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b5b0ad60-55ee-4036-9903-631bccce3d5b</a:t>
                      </a:r>
                    </a:p>
                  </a:txBody>
                  <a:tcPr marL="82296" marR="82296" marT="64008" marB="64008">
                    <a:solidFill>
                      <a:srgbClr val="FFFFFF"/>
                    </a:solidFill>
                  </a:tcPr>
                </a:tc>
              </a:tr>
            </a:tbl>
          </a:graphicData>
        </a:graphic>
      </p:graphicFrame>
      <p:graphicFrame>
        <p:nvGraphicFramePr>
          <p:cNvPr id="9" name="Table 8"/>
          <p:cNvGraphicFramePr>
            <a:graphicFrameLocks noGrp="1"/>
          </p:cNvGraphicFramePr>
          <p:nvPr/>
        </p:nvGraphicFramePr>
        <p:xfrm>
          <a:off x="365760" y="239979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Generated</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2026-09-26T22:31:03+00:00</a:t>
                      </a:r>
                    </a:p>
                  </a:txBody>
                  <a:tcPr marL="82296" marR="82296" marT="64008" marB="64008">
                    <a:solidFill>
                      <a:srgbClr val="F1F7F7"/>
                    </a:solidFill>
                  </a:tcPr>
                </a:tc>
              </a:tr>
            </a:tbl>
          </a:graphicData>
        </a:graphic>
      </p:graphicFrame>
      <p:graphicFrame>
        <p:nvGraphicFramePr>
          <p:cNvPr id="10" name="Table 9"/>
          <p:cNvGraphicFramePr>
            <a:graphicFrameLocks noGrp="1"/>
          </p:cNvGraphicFramePr>
          <p:nvPr/>
        </p:nvGraphicFramePr>
        <p:xfrm>
          <a:off x="365760" y="2749296"/>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Tool</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SDA Vision 0.1.0</a:t>
                      </a:r>
                    </a:p>
                  </a:txBody>
                  <a:tcPr marL="82296" marR="82296" marT="64008" marB="64008">
                    <a:solidFill>
                      <a:srgbClr val="FFFFFF"/>
                    </a:solidFill>
                  </a:tcPr>
                </a:tc>
              </a:tr>
            </a:tbl>
          </a:graphicData>
        </a:graphic>
      </p:graphicFrame>
      <p:graphicFrame>
        <p:nvGraphicFramePr>
          <p:cNvPr id="11" name="Table 10"/>
          <p:cNvGraphicFramePr>
            <a:graphicFrameLocks noGrp="1"/>
          </p:cNvGraphicFramePr>
          <p:nvPr/>
        </p:nvGraphicFramePr>
        <p:xfrm>
          <a:off x="365760" y="3098800"/>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Models</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claude-opus-5-5, gemini-3.8-flash, gpt-6-astra</a:t>
                      </a:r>
                    </a:p>
                  </a:txBody>
                  <a:tcPr marL="82296" marR="82296" marT="64008" marB="64008">
                    <a:solidFill>
                      <a:srgbClr val="F1F7F7"/>
                    </a:solidFill>
                  </a:tcPr>
                </a:tc>
              </a:tr>
            </a:tbl>
          </a:graphicData>
        </a:graphic>
      </p:graphicFrame>
      <p:graphicFrame>
        <p:nvGraphicFramePr>
          <p:cNvPr id="12" name="Table 11"/>
          <p:cNvGraphicFramePr>
            <a:graphicFrameLocks noGrp="1"/>
          </p:cNvGraphicFramePr>
          <p:nvPr/>
        </p:nvGraphicFramePr>
        <p:xfrm>
          <a:off x="365760" y="344830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Method version</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pdf-preparation-2026-09-26.1</a:t>
                      </a:r>
                    </a:p>
                  </a:txBody>
                  <a:tcPr marL="82296" marR="82296" marT="64008" marB="64008">
                    <a:solidFill>
                      <a:srgbClr val="FFFFFF"/>
                    </a:solidFill>
                  </a:tcPr>
                </a:tc>
              </a:tr>
            </a:tbl>
          </a:graphicData>
        </a:graphic>
      </p:graphicFrame>
      <p:graphicFrame>
        <p:nvGraphicFramePr>
          <p:cNvPr id="13" name="Table 12"/>
          <p:cNvGraphicFramePr>
            <a:graphicFrameLocks noGrp="1"/>
          </p:cNvGraphicFramePr>
          <p:nvPr/>
        </p:nvGraphicFramePr>
        <p:xfrm>
          <a:off x="365760" y="379780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Analysis lens</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general</a:t>
                      </a:r>
                    </a:p>
                  </a:txBody>
                  <a:tcPr marL="82296" marR="82296" marT="64008" marB="64008">
                    <a:solidFill>
                      <a:srgbClr val="F1F7F7"/>
                    </a:solidFill>
                  </a:tcPr>
                </a:tc>
              </a:tr>
            </a:tbl>
          </a:graphicData>
        </a:graphic>
      </p:graphicFrame>
      <p:graphicFrame>
        <p:nvGraphicFramePr>
          <p:cNvPr id="14" name="Table 13"/>
          <p:cNvGraphicFramePr>
            <a:graphicFrameLocks noGrp="1"/>
          </p:cNvGraphicFramePr>
          <p:nvPr/>
        </p:nvGraphicFramePr>
        <p:xfrm>
          <a:off x="365760" y="414731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Original SHA-256</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137f1b7c292c882be741e1a6c881ab4a2082c7dd6ab2181d63304000a0d92252</a:t>
                      </a:r>
                    </a:p>
                  </a:txBody>
                  <a:tcPr marL="82296" marR="82296" marT="64008" marB="64008">
                    <a:solidFill>
                      <a:srgbClr val="FFFFFF"/>
                    </a:solidFill>
                  </a:tcPr>
                </a:tc>
              </a:tr>
            </a:tbl>
          </a:graphicData>
        </a:graphic>
      </p:graphicFrame>
      <p:graphicFrame>
        <p:nvGraphicFramePr>
          <p:cNvPr id="15" name="Table 14"/>
          <p:cNvGraphicFramePr>
            <a:graphicFrameLocks noGrp="1"/>
          </p:cNvGraphicFramePr>
          <p:nvPr/>
        </p:nvGraphicFramePr>
        <p:xfrm>
          <a:off x="365760" y="4496816"/>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Ingestion note 1</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Fresh provider replies acquired for eleven-examples-refresh-20260926-r1; report</a:t>
                      </a:r>
                    </a:p>
                    <a:p>
                      <a:pPr>
                        <a:lnSpc>
                          <a:spcPts val="1600"/>
                        </a:lnSpc>
                        <a:spcAft>
                          <a:spcPts val="0"/>
                        </a:spcAft>
                        <a:defRPr sz="1200" b="0">
                          <a:solidFill>
                            <a:srgbClr val="21243A"/>
                          </a:solidFill>
                          <a:latin typeface="Arial"/>
                        </a:defRPr>
                      </a:pPr>
                      <a:r>
                        <a:t>assembled locally from the saved responses without further API calls.</a:t>
                      </a:r>
                    </a:p>
                  </a:txBody>
                  <a:tcPr marL="82296" marR="82296" marT="64008" marB="64008">
                    <a:solidFill>
                      <a:srgbClr val="F1F7F7"/>
                    </a:solidFill>
                  </a:tcPr>
                </a:tc>
              </a:tr>
            </a:tbl>
          </a:graphicData>
        </a:graphic>
      </p:graphicFrame>
      <p:graphicFrame>
        <p:nvGraphicFramePr>
          <p:cNvPr id="16" name="Table 15"/>
          <p:cNvGraphicFramePr>
            <a:graphicFrameLocks noGrp="1"/>
          </p:cNvGraphicFramePr>
          <p:nvPr/>
        </p:nvGraphicFramePr>
        <p:xfrm>
          <a:off x="365760" y="5049520"/>
          <a:ext cx="8412479" cy="755904"/>
        </p:xfrm>
        <a:graphic>
          <a:graphicData uri="http://schemas.openxmlformats.org/drawingml/2006/table">
            <a:tbl>
              <a:tblPr firstRow="1" bandRow="1">
                <a:tableStyleId>{5C22544A-7EE6-4342-B048-85BDC9FD1C3A}</a:tableStyleId>
              </a:tblPr>
              <a:tblGrid>
                <a:gridCol w="2271369"/>
                <a:gridCol w="6141110"/>
              </a:tblGrid>
              <a:tr h="755904">
                <a:tc>
                  <a:txBody>
                    <a:bodyPr wrap="none"/>
                    <a:lstStyle/>
                    <a:p>
                      <a:pPr>
                        <a:lnSpc>
                          <a:spcPts val="1600"/>
                        </a:lnSpc>
                        <a:spcAft>
                          <a:spcPts val="0"/>
                        </a:spcAft>
                        <a:defRPr sz="1200" b="0">
                          <a:solidFill>
                            <a:srgbClr val="21243A"/>
                          </a:solidFill>
                          <a:latin typeface="Arial"/>
                        </a:defRPr>
                      </a:pPr>
                      <a:r>
                        <a:t>Ingestion note 2</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Provider latency values are restored from the acquisition receipts (maximum</a:t>
                      </a:r>
                    </a:p>
                    <a:p>
                      <a:pPr>
                        <a:lnSpc>
                          <a:spcPts val="1600"/>
                        </a:lnSpc>
                        <a:spcAft>
                          <a:spcPts val="0"/>
                        </a:spcAft>
                        <a:defRPr sz="1200" b="0">
                          <a:solidFill>
                            <a:srgbClr val="21243A"/>
                          </a:solidFill>
                          <a:latin typeface="Arial"/>
                        </a:defRPr>
                      </a:pPr>
                      <a:r>
                        <a:t>sampled-frame latency per provider); raw replies and assessment results are</a:t>
                      </a:r>
                    </a:p>
                    <a:p>
                      <a:pPr>
                        <a:lnSpc>
                          <a:spcPts val="1600"/>
                        </a:lnSpc>
                        <a:spcAft>
                          <a:spcPts val="0"/>
                        </a:spcAft>
                        <a:defRPr sz="1200" b="0">
                          <a:solidFill>
                            <a:srgbClr val="21243A"/>
                          </a:solidFill>
                          <a:latin typeface="Arial"/>
                        </a:defRPr>
                      </a:pPr>
                      <a:r>
                        <a:t>unchanged by this bookkeeping step.</a:t>
                      </a:r>
                    </a:p>
                  </a:txBody>
                  <a:tcPr marL="82296" marR="82296" marT="64008" marB="64008">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SDA Vision: Analysis report</dc:title>
  <dc:subject>Research assessment export</dc:subject>
  <dc:creator>SDA Vision</dc:creator>
  <cp:keywords/>
  <dc:description/>
  <cp:lastModifiedBy>SDA Vision</cp:lastModifiedBy>
  <cp:revision>1</cp:revision>
  <dcterms:created xsi:type="dcterms:W3CDTF">2026-10-16T06:37:15Z</dcterms:created>
  <dcterms:modified xsi:type="dcterms:W3CDTF">2026-10-16T06:37:15Z</dcterms:modified>
  <cp:category/>
</cp:coreProperties>
</file>