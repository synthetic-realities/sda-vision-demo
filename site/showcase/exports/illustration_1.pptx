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illustration-1.png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Assessment summary</a:t>
            </a:r>
          </a:p>
          <a:p>
            <a:r>
              <a:t>Finding | Leaning synthetic</a:t>
            </a:r>
          </a:p>
          <a:p>
            <a:r>
              <a:t>Recorded verdict | synthetic likely</a:t>
            </a:r>
          </a:p>
          <a:p>
            <a:r>
              <a:t>Confidence | high</a:t>
            </a:r>
          </a:p>
          <a:p>
            <a:r>
              <a:t>Indicative rating | 78/100</a:t>
            </a:r>
          </a:p>
          <a:p>
            <a:r>
              <a:t>Rating basis | median of available model ratings; not a calibrated probability</a:t>
            </a:r>
          </a:p>
          <a:p>
            <a:r>
              <a:t>Explanation | 3 models agree this is likely synthetic.</a:t>
            </a:r>
          </a:p>
          <a:p>
            <a:r>
              <a:t>Coverage | image - 1 frame(s) analysed</a:t>
            </a:r>
          </a:p>
          <a:p>
            <a:r>
              <a:t>Review context | Research assessment. Review alongside source information and context. When credentials are missing, origin remains unresolved by this check. Use these findings to inform a documented human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overview</a:t>
            </a:r>
          </a:p>
          <a:p>
            <a:r>
              <a:t>Claude Vision | vision / ok | synthetic likely | 85/100</a:t>
            </a:r>
          </a:p>
          <a:p>
            <a:r>
              <a:t>OpenAI Vision | vision / ok | synthetic likely | 78/100</a:t>
            </a:r>
          </a:p>
          <a:p>
            <a:r>
              <a:t>Gemini Vision | vision / ok | synthetic likely | 72/100</a:t>
            </a:r>
          </a:p>
          <a:p>
            <a:r>
              <a:t>C2PA Content Credentials | provenance / ok | inconclusive | n/a</a:t>
            </a:r>
          </a:p>
          <a:p>
            <a:r>
              <a:t>Local forensic cues | forensic / ok | partially synthetic | 41/100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85/100; tells: uniform digital-illustration style with inked outlines and painterly shading typical of current image generators, over-regular stippled texture in grey curly hair, wheelchair spoke and frame geometry inconsistent between wheels, with spokes merging and fading, tablet screen shows a generic, softly detailed garden scene with no UI elements</a:t>
            </a:r>
          </a:p>
          <a:p>
            <a:r>
              <a:t>Evidence 1 | Uniform digital-illustration style with inked outlines and painterly shading typical of current image generators</a:t>
            </a:r>
          </a:p>
          <a:p>
            <a:r>
              <a:t>Evidence 2 | Over-regular stippled texture in grey curly hair</a:t>
            </a:r>
          </a:p>
          <a:p>
            <a:r>
              <a:t>Evidence 3 | Wheelchair spoke and frame geometry inconsistent between wheels, with spokes merging and fading</a:t>
            </a:r>
          </a:p>
          <a:p>
            <a:r>
              <a:t>Evidence 4 | Tablet screen shows a generic, softly detailed garden scene with no UI elements</a:t>
            </a:r>
          </a:p>
          <a:p>
            <a:r>
              <a:t>Evidence 5 | Hands plausible but slightly smoothed, with simplified finger joints</a:t>
            </a:r>
          </a:p>
          <a:p>
            <a:r>
              <a:t>Evidence 6 | Wheelchair and basketball rendered at high detail while the table base is very simple</a:t>
            </a:r>
          </a:p>
          <a:p>
            <a:r>
              <a:t>Evidence 7 | Clean white background with slight halo/edge fringing around figures</a:t>
            </a:r>
          </a:p>
          <a:p>
            <a:r>
              <a:t>Evidence 8 | No camera signals (not a photograph), so lens/noise analysis not applicable</a:t>
            </a:r>
          </a:p>
          <a:p>
            <a:r>
              <a:t>Evidence 9 | Caveat: This is an illustration, not a photo, so the rating reflects stylistic generator tells versus human digital artwork. Skilled human illustrators can produce similar results, so provenance metadata or the source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1</a:t>
            </a:r>
          </a:p>
          <a:p>
            <a:r>
              <a:t>Provider | Claude Vision</a:t>
            </a:r>
          </a:p>
          <a:p>
            <a:r>
              <a:t>Model | claude-opus-5-5</a:t>
            </a:r>
          </a:p>
          <a:p>
            <a:r>
              <a:t>Status | ok</a:t>
            </a:r>
          </a:p>
          <a:p>
            <a:r>
              <a:t>Assessment | synthetic likely</a:t>
            </a:r>
          </a:p>
          <a:p>
            <a:r>
              <a:t>Confidence | medium</a:t>
            </a:r>
          </a:p>
          <a:p>
            <a:r>
              <a:t>Role in assessment | Supporting</a:t>
            </a:r>
          </a:p>
          <a:p>
            <a:r>
              <a:t>Provider summary | synthetic likelihood 85/100; tells: uniform digital-illustration style with inked outlines and painterly shading typical of current image generators, over-regular stippled texture in grey curly hair, wheelchair spoke and frame geometry inconsistent between wheels, with spokes merging and fading, tablet screen shows a generic, softly detailed garden scene with no UI elements</a:t>
            </a:r>
          </a:p>
          <a:p>
            <a:r>
              <a:t>Evidence 1 | Uniform digital-illustration style with inked outlines and painterly shading typical of current image generators</a:t>
            </a:r>
          </a:p>
          <a:p>
            <a:r>
              <a:t>Evidence 2 | Over-regular stippled texture in grey curly hair</a:t>
            </a:r>
          </a:p>
          <a:p>
            <a:r>
              <a:t>Evidence 3 | Wheelchair spoke and frame geometry inconsistent between wheels, with spokes merging and fading</a:t>
            </a:r>
          </a:p>
          <a:p>
            <a:r>
              <a:t>Evidence 4 | Tablet screen shows a generic, softly detailed garden scene with no UI elements</a:t>
            </a:r>
          </a:p>
          <a:p>
            <a:r>
              <a:t>Evidence 5 | Hands plausible but slightly smoothed, with simplified finger joints</a:t>
            </a:r>
          </a:p>
          <a:p>
            <a:r>
              <a:t>Evidence 6 | Wheelchair and basketball rendered at high detail while the table base is very simple</a:t>
            </a:r>
          </a:p>
          <a:p>
            <a:r>
              <a:t>Evidence 7 | Clean white background with slight halo/edge fringing around figures</a:t>
            </a:r>
          </a:p>
          <a:p>
            <a:r>
              <a:t>Evidence 8 | No camera signals (not a photograph), so lens/noise analysis not applicable</a:t>
            </a:r>
          </a:p>
          <a:p>
            <a:r>
              <a:t>Evidence 9 | Caveat: This is an illustration, not a photo, so the rating reflects stylistic generator tells versus human digital artwork. Skilled human illustrators can produce similar results, so provenance metadata or the source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Gray hair contains tangled, ribbon-like shapes inconsistent with the other hair rendering., Wheelchair spokes and frame supports intersect in mechanically ambiguous ways., Gesturing hands have uneven finger separation and awkward contours., Illustrated outlines and smooth shading throughout; no photographic base is evident.</a:t>
            </a:r>
          </a:p>
          <a:p>
            <a:r>
              <a:t>Evidence 1 | Gray hair contains tangled, ribbon-like shapes inconsistent with the other hair rendering.</a:t>
            </a:r>
          </a:p>
          <a:p>
            <a:r>
              <a:t>Evidence 2 | Wheelchair spokes and frame supports intersect in mechanically ambiguous ways.</a:t>
            </a:r>
          </a:p>
          <a:p>
            <a:r>
              <a:t>Evidence 3 | Gesturing hands have uneven finger separation and awkward contours.</a:t>
            </a:r>
          </a:p>
          <a:p>
            <a:r>
              <a:t>Evidence 4 | Illustrated outlines and smooth shading throughout; no photographic base is evident.</a:t>
            </a:r>
          </a:p>
          <a:p>
            <a:r>
              <a:t>Evidence 5 | Caveat: This is a stylized illustration; human-drawn or stock artwork can share these irregularities, so source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2</a:t>
            </a:r>
          </a:p>
          <a:p>
            <a:r>
              <a:t>Provider | OpenAI Vision</a:t>
            </a:r>
          </a:p>
          <a:p>
            <a:r>
              <a:t>Model | gpt-6-astra</a:t>
            </a:r>
          </a:p>
          <a:p>
            <a:r>
              <a:t>Status | ok</a:t>
            </a:r>
          </a:p>
          <a:p>
            <a:r>
              <a:t>Assessment | synthetic likely</a:t>
            </a:r>
          </a:p>
          <a:p>
            <a:r>
              <a:t>Confidence | medium</a:t>
            </a:r>
          </a:p>
          <a:p>
            <a:r>
              <a:t>Role in assessment | Supporting</a:t>
            </a:r>
          </a:p>
          <a:p>
            <a:r>
              <a:t>Provider summary | synthetic likelihood 78/100; tells: Gray hair contains tangled, ribbon-like shapes inconsistent with the other hair rendering., Wheelchair spokes and frame supports intersect in mechanically ambiguous ways., Gesturing hands have uneven finger separation and awkward contours., Illustrated outlines and smooth shading throughout; no photographic base is evident.</a:t>
            </a:r>
          </a:p>
          <a:p>
            <a:r>
              <a:t>Evidence 1 | Gray hair contains tangled, ribbon-like shapes inconsistent with the other hair rendering.</a:t>
            </a:r>
          </a:p>
          <a:p>
            <a:r>
              <a:t>Evidence 2 | Wheelchair spokes and frame supports intersect in mechanically ambiguous ways.</a:t>
            </a:r>
          </a:p>
          <a:p>
            <a:r>
              <a:t>Evidence 3 | Gesturing hands have uneven finger separation and awkward contours.</a:t>
            </a:r>
          </a:p>
          <a:p>
            <a:r>
              <a:t>Evidence 4 | Illustrated outlines and smooth shading throughout; no photographic base is evident.</a:t>
            </a:r>
          </a:p>
          <a:p>
            <a:r>
              <a:t>Evidence 5 | Caveat: This is a stylized illustration; human-drawn or stock artwork can share these irregularities, so source provenance should be checked.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digital illustration style with hyper-clean lines, typical diffusion model character rendering features, slight anatomical inconsistencies in hands and fingers, unusual blending around tablet screen integration</a:t>
            </a:r>
          </a:p>
          <a:p>
            <a:r>
              <a:t>Evidence 1 | Digital illustration style with hyper-clean lines</a:t>
            </a:r>
          </a:p>
          <a:p>
            <a:r>
              <a:t>Evidence 2 | Typical diffusion model character rendering features</a:t>
            </a:r>
          </a:p>
          <a:p>
            <a:r>
              <a:t>Evidence 3 | Slight anatomical inconsistencies in hands and fingers</a:t>
            </a:r>
          </a:p>
          <a:p>
            <a:r>
              <a:t>Evidence 4 | Unusual blending around tablet screen integration</a:t>
            </a:r>
          </a:p>
          <a:p>
            <a:r>
              <a:t>Evidence 5 | Caveat: Vector or digital human art can closely mimic generative cartoon styles.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3</a:t>
            </a:r>
          </a:p>
          <a:p>
            <a:r>
              <a:t>Provider | Gemini Vision</a:t>
            </a:r>
          </a:p>
          <a:p>
            <a:r>
              <a:t>Model | gemini-3.8-flash</a:t>
            </a:r>
          </a:p>
          <a:p>
            <a:r>
              <a:t>Status | ok</a:t>
            </a:r>
          </a:p>
          <a:p>
            <a:r>
              <a:t>Assessment | synthetic likely</a:t>
            </a:r>
          </a:p>
          <a:p>
            <a:r>
              <a:t>Confidence | medium</a:t>
            </a:r>
          </a:p>
          <a:p>
            <a:r>
              <a:t>Role in assessment | Supporting</a:t>
            </a:r>
          </a:p>
          <a:p>
            <a:r>
              <a:t>Provider summary | synthetic likelihood 72/100; tells: digital illustration style with hyper-clean lines, typical diffusion model character rendering features, slight anatomical inconsistencies in hands and fingers, unusual blending around tablet screen integration</a:t>
            </a:r>
          </a:p>
          <a:p>
            <a:r>
              <a:t>Evidence 1 | Digital illustration style with hyper-clean lines</a:t>
            </a:r>
          </a:p>
          <a:p>
            <a:r>
              <a:t>Evidence 2 | Typical diffusion model character rendering features</a:t>
            </a:r>
          </a:p>
          <a:p>
            <a:r>
              <a:t>Evidence 3 | Slight anatomical inconsistencies in hands and fingers</a:t>
            </a:r>
          </a:p>
          <a:p>
            <a:r>
              <a:t>Evidence 4 | Unusual blending around tablet screen integration</a:t>
            </a:r>
          </a:p>
          <a:p>
            <a:r>
              <a:t>Evidence 5 | Caveat: Vector or digital human art can closely mimic generative cartoon styles.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Content Credentials / provenance</a:t>
            </a:r>
          </a:p>
          <a:p>
            <a:r>
              <a:t>Provider | C2PA Content Credentials</a:t>
            </a:r>
          </a:p>
          <a:p>
            <a:r>
              <a:t>Model | Not recorded</a:t>
            </a:r>
          </a:p>
          <a:p>
            <a:r>
              <a:t>Status | ok</a:t>
            </a:r>
          </a:p>
          <a:p>
            <a:r>
              <a:t>Assessment | inconclusive</a:t>
            </a:r>
          </a:p>
          <a:p>
            <a:r>
              <a:t>Confidence | Not recorded</a:t>
            </a:r>
          </a:p>
          <a:p>
            <a:r>
              <a:t>Role in assessment | Additional finding</a:t>
            </a:r>
          </a:p>
          <a:p>
            <a:r>
              <a:t>Provider summary | File integrity: validated. Signer trust: unresolved under the current local policy. The recorded declarations remain available for review and are not used as a decisive provenance finding. Manifest declares AI-generated content.</a:t>
            </a:r>
          </a:p>
          <a:p>
            <a:r>
              <a:t>Evidence 1 | Credentials: embedded manifest found.</a:t>
            </a:r>
          </a:p>
          <a:p>
            <a:r>
              <a:t>Evidence 2 | Integrity: valid (SDK validation).</a:t>
            </a:r>
          </a:p>
          <a:p>
            <a:r>
              <a:t>Evidence 3 | Signer trust: untrusted under the configured verifier.</a:t>
            </a:r>
          </a:p>
          <a:p>
            <a:r>
              <a:t>Evidence 4 | Active manifest: Manifest declares AI-generated content.</a:t>
            </a:r>
          </a:p>
          <a:p>
            <a:r>
              <a:t>Evidence 5 | Claim generator (declared tool): OpenAI Media Service API</a:t>
            </a:r>
          </a:p>
          <a:p>
            <a:r>
              <a:t>Evidence 6 | Declared signer: OpenAI OpCo, LLC</a:t>
            </a:r>
          </a:p>
          <a:p>
            <a:r>
              <a:t>Evidence 7 | Declared source type: http://cv.iptc.org/newscodes/digitalsourcetype/trainedalgorithmicmedia</a:t>
            </a:r>
          </a:p>
          <a:p>
            <a:r>
              <a:t>Evidence 8 | Active record - declared tool: OpenAI Media Service API; actions: c2pa.created, c2pa.converted, c2pa.watermarked.unbound.</a:t>
            </a:r>
          </a:p>
          <a:p>
            <a:r>
              <a:t>Evidence 9 | Active record - all actions recorded (signer's declaration): no.</a:t>
            </a:r>
          </a:p>
          <a:p>
            <a:r>
              <a:t>Evidence 10 | Validation outcome: signingCredential.untrusted</a:t>
            </a:r>
          </a:p>
          <a:p>
            <a:r>
              <a:t>Evidence 11 | Validation outcome: timeStamp.validated</a:t>
            </a:r>
          </a:p>
          <a:p>
            <a:r>
              <a:t>Evidence 12 | Validation outcome: claimSignature.insideValidity</a:t>
            </a:r>
          </a:p>
          <a:p>
            <a:r>
              <a:t>Evidence 13 | Validation outcome: claimSignature.validated</a:t>
            </a:r>
          </a:p>
          <a:p>
            <a:r>
              <a:t>Evidence 14 | Validation outcome: assertion.hashedURI.match</a:t>
            </a:r>
          </a:p>
          <a:p>
            <a:r>
              <a:t>Evidence 15 | Validation outcome: assertion.dataHash.match</a:t>
            </a:r>
          </a:p>
          <a:p>
            <a:r>
              <a:t>Evidence 16 | Validation outcome: timeStamp.untrusted</a:t>
            </a:r>
          </a:p>
          <a:p>
            <a:r>
              <a:t>Evidence 17 | Verifier: c2pa-python 0.37.12; native SDK 0.91.0; specification target 2.4; policy embedded-offline-reviewed-trust-v3.</a:t>
            </a:r>
          </a:p>
          <a:p>
            <a:r>
              <a:t>Evidence 18 | Offline embedded-manifest verification; no network trust-list, manifest or revocation refresh.</a:t>
            </a:r>
          </a:p>
          <a:p>
            <a:r>
              <a:t>Evidence 19 | No reviewed local C2PA trust snapshot installed. Provenance overrides are disabled.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Provider evidence / 5</a:t>
            </a:r>
          </a:p>
          <a:p>
            <a:r>
              <a:t>Provider | Local forensic cues</a:t>
            </a:r>
          </a:p>
          <a:p>
            <a:r>
              <a:t>Model | Not recorded</a:t>
            </a:r>
          </a:p>
          <a:p>
            <a:r>
              <a:t>Status | ok</a:t>
            </a:r>
          </a:p>
          <a:p>
            <a:r>
              <a:t>Assessment | partially synthetic</a:t>
            </a:r>
          </a:p>
          <a:p>
            <a:r>
              <a:t>Confidence | low</a:t>
            </a:r>
          </a:p>
          <a:p>
            <a:r>
              <a:t>Role in assessment | Additional finding</a:t>
            </a:r>
          </a:p>
          <a:p>
            <a:r>
              <a:t>Provider summary | Heuristic synthetic likelihood 41/100 from metadata + pixel statistics.</a:t>
            </a:r>
          </a:p>
          <a:p>
            <a:r>
              <a:t>Evidence 1 | No camera EXIF (common in AI exports, screenshots, and re-saves).</a:t>
            </a:r>
          </a:p>
          <a:p>
            <a:r>
              <a:t>Evidence 2 | ELA mean 1.9, peak 96 (uniform high ELA can indicate generation/heavy edit).</a:t>
            </a:r>
          </a:p>
          <a:p>
            <a:r>
              <a:t>Evidence 3 | High-frequency noise std 11.51 (very low/very uniform noise is a synthesis cue).</a:t>
            </a:r>
          </a:p>
          <a:p>
            <a:r>
              <a:t>Evidence 4 | Spectral peakiness 21.99 (periodic frequency peaks can mark generated textures).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Evidence supporting this verdict</a:t>
            </a:r>
          </a:p>
          <a:p>
            <a:r>
              <a:t>Claude Vision | synthetic likelihood 85/100; tells: uniform digital-illustration style with inked outlines and painterly shading typical of current image generators, over-regular stippled texture in grey curly hair, wheelchair spoke and frame geometry inconsistent between wheels, with spokes merging and fading, tablet screen shows a generic, softly detailed garden scene with no UI elements</a:t>
            </a:r>
          </a:p>
          <a:p>
            <a:r>
              <a:t>OpenAI Vision | synthetic likelihood 78/100; tells: Gray hair contains tangled, ribbon-like shapes inconsistent with the other hair rendering., Wheelchair spokes and frame supports intersect in mechanically ambiguous ways., Gesturing hands have uneven finger separation and awkward contours., Illustrated outlines and smooth shading throughout; no photographic base is evident.</a:t>
            </a:r>
          </a:p>
          <a:p>
            <a:r>
              <a:t>Gemini Vision | synthetic likelihood 72/100; tells: digital illustration style with hyper-clean lines, typical diffusion model character rendering features, slight anatomical inconsistencies in hands and fingers, unusual blending around tablet screen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Additional findings</a:t>
            </a:r>
          </a:p>
          <a:p>
            <a:r>
              <a:t>Local forensic cues | Supporting observation; considered alongside the model assessments.</a:t>
            </a:r>
          </a:p>
          <a:p>
            <a:r>
              <a:t>C2PA Content Credentials | File integrity: validated. Signer trust: unresolved under the current local policy. The recorded declarations remain available for review and are not used as a decisive provenance finding. Manifest declares AI-generated content.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How this assessment was reached</a:t>
            </a:r>
          </a:p>
          <a:p>
            <a:r>
              <a:t>1. override | outcome=none; detail=No confirmed C2PA AI assertion or SynthID watermark. Origin remains unresolved by these checks.</a:t>
            </a:r>
          </a:p>
          <a:p>
            <a:r>
              <a:t>2. model_agreement | synthetic=['Claude Vision', 'OpenAI Vision', 'Gemini Vision']; authentic=[]; uncertain=[]; forensic_supports_synthetic=False</a:t>
            </a:r>
          </a:p>
          <a:p>
            <a:r>
              <a:t>3. verdict | value=synthetic_likely; confidence=high; reason=3 models agree this is likely synthetic.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File and analysis record</a:t>
            </a:r>
          </a:p>
          <a:p>
            <a:r>
              <a:t>File | illustration-1.png</a:t>
            </a:r>
          </a:p>
          <a:p>
            <a:r>
              <a:t>Analysis ID | e2d54768-0627-4b09-8e9c-bab7b58c211f</a:t>
            </a:r>
          </a:p>
          <a:p>
            <a:r>
              <a:t>Generated | 2026-09-26T17:54:47+00:00</a:t>
            </a:r>
          </a:p>
          <a:p>
            <a:r>
              <a:t>Tool | SDA Vision 0.1.0</a:t>
            </a:r>
          </a:p>
          <a:p>
            <a:r>
              <a:t>Models | claude-opus-5-5, gemini-3.8-flash, gpt-6-astra</a:t>
            </a:r>
          </a:p>
          <a:p>
            <a:r>
              <a:t>Method version | verdict-consistency-2026-09-26.1</a:t>
            </a:r>
          </a:p>
          <a:p>
            <a:r>
              <a:t>Analysis lens | general</a:t>
            </a:r>
          </a:p>
          <a:p>
            <a:r>
              <a:t>Original SHA-256 | 137f1b7c292c882be741e1a6c881ab4a2082c7dd6ab2181d63304000a0d92252</a:t>
            </a:r>
          </a:p>
          <a:p>
            <a:r>
              <a:t>Ingestion note 1 | Recomputed locally from the same saved provider replies acquired under run five-examples-20260926-r1. No new provider requests. Original report 6ed01bd6-3868-4680-ba90-536492d5c7ff was generated at 2026-09-26T17:38:40+00:00 under method publication-repair-2026-09-24.3; that report is preserved.</a:t>
            </a:r>
          </a:p>
          <a:p>
            <a:r>
              <a:t>Ingestion note 2 | Method verdict-consistency-2026-09-26.1: directional model votes require matching explicit verdicts and rating thresholds. Inconclusive replies retain their ratings and remain undecided observations.</a:t>
            </a:r>
          </a:p>
          <a:p>
            <a:r>
              <a:t>Ingestion note 3 | Presentation copy of saved report 6faeca61-589d-4810-8b3a-aec00dfb18e5. The descriptive filename replaces the earlier example ID for navigation. Original analysis dates, provider replies, scores and acquisition context are retained; no new model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illustration-1.png</a:t>
            </a:r>
          </a:p>
          <a:p>
            <a:r>
              <a:t>File and analysis record</a:t>
            </a:r>
          </a:p>
          <a:p>
            <a:r>
              <a:t>File | illustration-1.png</a:t>
            </a:r>
          </a:p>
          <a:p>
            <a:r>
              <a:t>Analysis ID | e2d54768-0627-4b09-8e9c-bab7b58c211f</a:t>
            </a:r>
          </a:p>
          <a:p>
            <a:r>
              <a:t>Generated | 2026-09-26T17:54:47+00:00</a:t>
            </a:r>
          </a:p>
          <a:p>
            <a:r>
              <a:t>Tool | SDA Vision 0.1.0</a:t>
            </a:r>
          </a:p>
          <a:p>
            <a:r>
              <a:t>Models | claude-opus-5-5, gemini-3.8-flash, gpt-6-astra</a:t>
            </a:r>
          </a:p>
          <a:p>
            <a:r>
              <a:t>Method version | verdict-consistency-2026-09-26.1</a:t>
            </a:r>
          </a:p>
          <a:p>
            <a:r>
              <a:t>Analysis lens | general</a:t>
            </a:r>
          </a:p>
          <a:p>
            <a:r>
              <a:t>Original SHA-256 | 137f1b7c292c882be741e1a6c881ab4a2082c7dd6ab2181d63304000a0d92252</a:t>
            </a:r>
          </a:p>
          <a:p>
            <a:r>
              <a:t>Ingestion note 1 | Recomputed locally from the same saved provider replies acquired under run five-examples-20260926-r1. No new provider requests. Original report 6ed01bd6-3868-4680-ba90-536492d5c7ff was generated at 2026-09-26T17:38:40+00:00 under method publication-repair-2026-09-24.3; that report is preserved.</a:t>
            </a:r>
          </a:p>
          <a:p>
            <a:r>
              <a:t>Ingestion note 2 | Method verdict-consistency-2026-09-26.1: directional model votes require matching explicit verdicts and rating thresholds. Inconclusive replies retain their ratings and remain undecided observations.</a:t>
            </a:r>
          </a:p>
          <a:p>
            <a:r>
              <a:t>Ingestion note 3 | Presentation copy of saved report 6faeca61-589d-4810-8b3a-aec00dfb18e5. The descriptive filename replaces the earlier example ID for navigation. Original analysis dates, provider replies, scores and acquisition context are retained; no new model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Analysed item</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a:t>
            </a:r>
          </a:p>
        </p:txBody>
      </p:sp>
      <p:pic>
        <p:nvPicPr>
          <p:cNvPr id="6" name="Picture 5" descr="image.jpg"/>
          <p:cNvPicPr>
            <a:picLocks noChangeAspect="1"/>
          </p:cNvPicPr>
          <p:nvPr/>
        </p:nvPicPr>
        <p:blipFill>
          <a:blip r:embed="rId3"/>
          <a:stretch>
            <a:fillRect/>
          </a:stretch>
        </p:blipFill>
        <p:spPr>
          <a:xfrm>
            <a:off x="1485900" y="1353312"/>
            <a:ext cx="6172200" cy="4114800"/>
          </a:xfrm>
          <a:prstGeom prst="rect">
            <a:avLst/>
          </a:prstGeom>
        </p:spPr>
      </p:pic>
      <p:sp>
        <p:nvSpPr>
          <p:cNvPr id="7" name="TextBox 6"/>
          <p:cNvSpPr txBox="1"/>
          <p:nvPr/>
        </p:nvSpPr>
        <p:spPr>
          <a:xfrm>
            <a:off x="365760" y="5532120"/>
            <a:ext cx="8412480" cy="594360"/>
          </a:xfrm>
          <a:prstGeom prst="rect">
            <a:avLst/>
          </a:prstGeom>
          <a:noFill/>
        </p:spPr>
        <p:txBody>
          <a:bodyPr wrap="square" lIns="0" rIns="0" tIns="0" bIns="0">
            <a:spAutoFit/>
          </a:bodyPr>
          <a:lstStyle/>
          <a:p>
            <a:pPr>
              <a:lnSpc>
                <a:spcPct val="115000"/>
              </a:lnSpc>
              <a:spcAft>
                <a:spcPts val="0"/>
              </a:spcAft>
              <a:defRPr sz="1100" b="0">
                <a:solidFill>
                  <a:srgbClr val="21243A"/>
                </a:solidFill>
                <a:latin typeface="Arial"/>
              </a:defRPr>
            </a:pPr>
            <a:r>
              <a:t>illustration-1.png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Assessment summary</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Finding</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Leaning synthetic</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Recorded verdict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high</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Indicative rating</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Rating basis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median of available model ratings; not a calibrated probability</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Explanation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3 models agree this is likely synthetic.</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Coverage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image - 1 frame(s) analysed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Review context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Research assessment. Review alongside source information and context. When</a:t>
                      </a:r>
                    </a:p>
                    <a:p>
                      <a:pPr>
                        <a:lnSpc>
                          <a:spcPts val="1600"/>
                        </a:lnSpc>
                        <a:spcAft>
                          <a:spcPts val="0"/>
                        </a:spcAft>
                        <a:defRPr sz="1200" b="0">
                          <a:solidFill>
                            <a:srgbClr val="21243A"/>
                          </a:solidFill>
                          <a:latin typeface="Arial"/>
                        </a:defRPr>
                      </a:pPr>
                      <a:r>
                        <a:t>credentials are missing, origin remains unresolved by this check. Use these</a:t>
                      </a:r>
                    </a:p>
                    <a:p>
                      <a:pPr>
                        <a:lnSpc>
                          <a:spcPts val="1600"/>
                        </a:lnSpc>
                        <a:spcAft>
                          <a:spcPts val="0"/>
                        </a:spcAft>
                        <a:defRPr sz="1200" b="0">
                          <a:solidFill>
                            <a:srgbClr val="21243A"/>
                          </a:solidFill>
                          <a:latin typeface="Arial"/>
                        </a:defRPr>
                      </a:pPr>
                      <a:r>
                        <a:t>findings to inform a documented human review.</a:t>
                      </a:r>
                    </a:p>
                  </a:txBody>
                  <a:tcPr marL="82296" marR="82296" marT="64008" marB="64008">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overview</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3</a:t>
            </a:r>
          </a:p>
        </p:txBody>
      </p:sp>
      <p:graphicFrame>
        <p:nvGraphicFramePr>
          <p:cNvPr id="6" name="Table 5"/>
          <p:cNvGraphicFramePr>
            <a:graphicFrameLocks noGrp="1"/>
          </p:cNvGraphicFramePr>
          <p:nvPr/>
        </p:nvGraphicFramePr>
        <p:xfrm>
          <a:off x="365760" y="1353312"/>
          <a:ext cx="8412478" cy="347472"/>
        </p:xfrm>
        <a:graphic>
          <a:graphicData uri="http://schemas.openxmlformats.org/drawingml/2006/table">
            <a:tbl>
              <a:tblPr firstRow="1" bandRow="1">
                <a:tableStyleId>{5C22544A-7EE6-4342-B048-85BDC9FD1C3A}</a:tableStyleId>
              </a:tblPr>
              <a:tblGrid>
                <a:gridCol w="2691993"/>
                <a:gridCol w="1850745"/>
                <a:gridCol w="2523744"/>
                <a:gridCol w="1345996"/>
              </a:tblGrid>
              <a:tr h="347472">
                <a:tc>
                  <a:txBody>
                    <a:bodyPr wrap="none"/>
                    <a:lstStyle/>
                    <a:p>
                      <a:pPr>
                        <a:lnSpc>
                          <a:spcPts val="1600"/>
                        </a:lnSpc>
                        <a:spcAft>
                          <a:spcPts val="0"/>
                        </a:spcAft>
                        <a:defRPr sz="1200" b="1">
                          <a:solidFill>
                            <a:srgbClr val="FFFFFF"/>
                          </a:solidFill>
                          <a:latin typeface="Arial"/>
                        </a:defRPr>
                      </a:pPr>
                      <a:r>
                        <a:t>Provider</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Type / status</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Assessment</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Rating</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85/100</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78/100</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vision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72/100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provenance / ok</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8" cy="349504"/>
        </p:xfrm>
        <a:graphic>
          <a:graphicData uri="http://schemas.openxmlformats.org/drawingml/2006/table">
            <a:tbl>
              <a:tblPr firstRow="1" bandRow="1">
                <a:tableStyleId>{5C22544A-7EE6-4342-B048-85BDC9FD1C3A}</a:tableStyleId>
              </a:tblPr>
              <a:tblGrid>
                <a:gridCol w="2691993"/>
                <a:gridCol w="1850745"/>
                <a:gridCol w="2523744"/>
                <a:gridCol w="1345996"/>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forensic / ok</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41/100</a:t>
                      </a:r>
                    </a:p>
                  </a:txBody>
                  <a:tcPr marL="82296" marR="82296" marT="64008" marB="64008">
                    <a:solidFill>
                      <a:srgbClr val="F1F7F7"/>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claude-opus-5-5</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85/100; tells: uniform digital-illustration style with inked</a:t>
                      </a:r>
                    </a:p>
                    <a:p>
                      <a:pPr>
                        <a:lnSpc>
                          <a:spcPts val="1600"/>
                        </a:lnSpc>
                        <a:spcAft>
                          <a:spcPts val="0"/>
                        </a:spcAft>
                        <a:defRPr sz="1200" b="0">
                          <a:solidFill>
                            <a:srgbClr val="21243A"/>
                          </a:solidFill>
                          <a:latin typeface="Arial"/>
                        </a:defRPr>
                      </a:pPr>
                      <a:r>
                        <a:t>outlines and painterly shading typical of current image generators, over-regular</a:t>
                      </a:r>
                    </a:p>
                    <a:p>
                      <a:pPr>
                        <a:lnSpc>
                          <a:spcPts val="1600"/>
                        </a:lnSpc>
                        <a:spcAft>
                          <a:spcPts val="0"/>
                        </a:spcAft>
                        <a:defRPr sz="1200" b="0">
                          <a:solidFill>
                            <a:srgbClr val="21243A"/>
                          </a:solidFill>
                          <a:latin typeface="Arial"/>
                        </a:defRPr>
                      </a:pPr>
                      <a:r>
                        <a:t>stippled texture in grey curly hair, wheelchair spoke and frame geometry</a:t>
                      </a:r>
                    </a:p>
                    <a:p>
                      <a:pPr>
                        <a:lnSpc>
                          <a:spcPts val="1600"/>
                        </a:lnSpc>
                        <a:spcAft>
                          <a:spcPts val="0"/>
                        </a:spcAft>
                        <a:defRPr sz="1200" b="0">
                          <a:solidFill>
                            <a:srgbClr val="21243A"/>
                          </a:solidFill>
                          <a:latin typeface="Arial"/>
                        </a:defRPr>
                      </a:pPr>
                      <a:r>
                        <a:t>inconsistent between wheels, with spokes merging and fading, tablet screen</a:t>
                      </a:r>
                    </a:p>
                    <a:p>
                      <a:pPr>
                        <a:lnSpc>
                          <a:spcPts val="1600"/>
                        </a:lnSpc>
                        <a:spcAft>
                          <a:spcPts val="0"/>
                        </a:spcAft>
                        <a:defRPr sz="1200" b="0">
                          <a:solidFill>
                            <a:srgbClr val="21243A"/>
                          </a:solidFill>
                          <a:latin typeface="Arial"/>
                        </a:defRPr>
                      </a:pPr>
                      <a:r>
                        <a:t>shows a generic, softly detailed garden scene with no UI elements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Uniform digital-illustration style with inked outlines and painterly shading typical</a:t>
                      </a:r>
                    </a:p>
                    <a:p>
                      <a:pPr>
                        <a:lnSpc>
                          <a:spcPts val="1600"/>
                        </a:lnSpc>
                        <a:spcAft>
                          <a:spcPts val="0"/>
                        </a:spcAft>
                        <a:defRPr sz="1200" b="0">
                          <a:solidFill>
                            <a:srgbClr val="21243A"/>
                          </a:solidFill>
                          <a:latin typeface="Arial"/>
                        </a:defRPr>
                      </a:pPr>
                      <a:r>
                        <a:t>of current image generators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Over-regular stippled texture in grey curly hair</a:t>
                      </a:r>
                    </a:p>
                  </a:txBody>
                  <a:tcPr marL="82296" marR="82296" marT="64008" marB="64008">
                    <a:solidFill>
                      <a:srgbClr val="F1F7F7"/>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1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Wheelchair spoke and frame geometry inconsistent between wheels, with spokes</a:t>
                      </a:r>
                    </a:p>
                    <a:p>
                      <a:pPr>
                        <a:lnSpc>
                          <a:spcPts val="1600"/>
                        </a:lnSpc>
                        <a:spcAft>
                          <a:spcPts val="0"/>
                        </a:spcAft>
                        <a:defRPr sz="1200" b="0">
                          <a:solidFill>
                            <a:srgbClr val="21243A"/>
                          </a:solidFill>
                          <a:latin typeface="Arial"/>
                        </a:defRPr>
                      </a:pPr>
                      <a:r>
                        <a:t>merging and fading</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2534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Tablet screen shows a generic, softly detailed garden scene with no UI elements</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Hands plausible but slightly smoothed, with simplified finger joints</a:t>
                      </a:r>
                    </a:p>
                  </a:txBody>
                  <a:tcPr marL="82296" marR="82296" marT="64008" marB="64008">
                    <a:solidFill>
                      <a:srgbClr val="FFFFFF"/>
                    </a:solidFill>
                  </a:tcPr>
                </a:tc>
              </a:tr>
            </a:tbl>
          </a:graphicData>
        </a:graphic>
      </p:graphicFrame>
      <p:graphicFrame>
        <p:nvGraphicFramePr>
          <p:cNvPr id="10" name="Table 9"/>
          <p:cNvGraphicFramePr>
            <a:graphicFrameLocks noGrp="1"/>
          </p:cNvGraphicFramePr>
          <p:nvPr/>
        </p:nvGraphicFramePr>
        <p:xfrm>
          <a:off x="365760" y="29524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Wheelchair and basketball rendered at high detail while the table base is very</a:t>
                      </a:r>
                    </a:p>
                    <a:p>
                      <a:pPr>
                        <a:lnSpc>
                          <a:spcPts val="1600"/>
                        </a:lnSpc>
                        <a:spcAft>
                          <a:spcPts val="0"/>
                        </a:spcAft>
                        <a:defRPr sz="1200" b="0">
                          <a:solidFill>
                            <a:srgbClr val="21243A"/>
                          </a:solidFill>
                          <a:latin typeface="Arial"/>
                        </a:defRPr>
                      </a:pPr>
                      <a:r>
                        <a:t>simple</a:t>
                      </a:r>
                    </a:p>
                  </a:txBody>
                  <a:tcPr marL="82296" marR="82296" marT="64008" marB="64008">
                    <a:solidFill>
                      <a:srgbClr val="F1F7F7"/>
                    </a:solidFill>
                  </a:tcPr>
                </a:tc>
              </a:tr>
            </a:tbl>
          </a:graphicData>
        </a:graphic>
      </p:graphicFrame>
      <p:graphicFrame>
        <p:nvGraphicFramePr>
          <p:cNvPr id="11" name="Table 10"/>
          <p:cNvGraphicFramePr>
            <a:graphicFrameLocks noGrp="1"/>
          </p:cNvGraphicFramePr>
          <p:nvPr/>
        </p:nvGraphicFramePr>
        <p:xfrm>
          <a:off x="365760" y="35052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Clean white background with slight halo/edge fringing around figures</a:t>
                      </a:r>
                    </a:p>
                  </a:txBody>
                  <a:tcPr marL="82296" marR="82296" marT="64008" marB="64008">
                    <a:solidFill>
                      <a:srgbClr val="FFFFFF"/>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 camera signals (not a photograph), so lens/noise analysis not applicable</a:t>
                      </a:r>
                    </a:p>
                  </a:txBody>
                  <a:tcPr marL="82296" marR="82296" marT="64008" marB="64008">
                    <a:solidFill>
                      <a:srgbClr val="F1F7F7"/>
                    </a:solidFill>
                  </a:tcPr>
                </a:tc>
              </a:tr>
            </a:tbl>
          </a:graphicData>
        </a:graphic>
      </p:graphicFrame>
      <p:graphicFrame>
        <p:nvGraphicFramePr>
          <p:cNvPr id="13" name="Table 12"/>
          <p:cNvGraphicFramePr>
            <a:graphicFrameLocks noGrp="1"/>
          </p:cNvGraphicFramePr>
          <p:nvPr/>
        </p:nvGraphicFramePr>
        <p:xfrm>
          <a:off x="365760" y="42042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an illustration, not a photo, so the rating reflects stylistic generator</a:t>
                      </a:r>
                    </a:p>
                    <a:p>
                      <a:pPr>
                        <a:lnSpc>
                          <a:spcPts val="1600"/>
                        </a:lnSpc>
                        <a:spcAft>
                          <a:spcPts val="0"/>
                        </a:spcAft>
                        <a:defRPr sz="1200" b="0">
                          <a:solidFill>
                            <a:srgbClr val="21243A"/>
                          </a:solidFill>
                          <a:latin typeface="Arial"/>
                        </a:defRPr>
                      </a:pPr>
                      <a:r>
                        <a:t>tells versus human digital artwork. Skilled human illustrators can produce similar</a:t>
                      </a:r>
                    </a:p>
                    <a:p>
                      <a:pPr>
                        <a:lnSpc>
                          <a:spcPts val="1600"/>
                        </a:lnSpc>
                        <a:spcAft>
                          <a:spcPts val="0"/>
                        </a:spcAft>
                        <a:defRPr sz="1200" b="0">
                          <a:solidFill>
                            <a:srgbClr val="21243A"/>
                          </a:solidFill>
                          <a:latin typeface="Arial"/>
                        </a:defRPr>
                      </a:pPr>
                      <a:r>
                        <a:t>results, so provenance metadata or the source should be checked.</a:t>
                      </a:r>
                    </a:p>
                  </a:txBody>
                  <a:tcPr marL="82296" marR="82296" marT="64008" marB="64008">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gpt-6-astra</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78/100; tells: Gray hair contains tangled, ribbon-like shapes</a:t>
                      </a:r>
                    </a:p>
                    <a:p>
                      <a:pPr>
                        <a:lnSpc>
                          <a:spcPts val="1600"/>
                        </a:lnSpc>
                        <a:spcAft>
                          <a:spcPts val="0"/>
                        </a:spcAft>
                        <a:defRPr sz="1200" b="0">
                          <a:solidFill>
                            <a:srgbClr val="21243A"/>
                          </a:solidFill>
                          <a:latin typeface="Arial"/>
                        </a:defRPr>
                      </a:pPr>
                      <a:r>
                        <a:t>inconsistent with the other hair rendering., Wheelchair spokes and frame</a:t>
                      </a:r>
                    </a:p>
                    <a:p>
                      <a:pPr>
                        <a:lnSpc>
                          <a:spcPts val="1600"/>
                        </a:lnSpc>
                        <a:spcAft>
                          <a:spcPts val="0"/>
                        </a:spcAft>
                        <a:defRPr sz="1200" b="0">
                          <a:solidFill>
                            <a:srgbClr val="21243A"/>
                          </a:solidFill>
                          <a:latin typeface="Arial"/>
                        </a:defRPr>
                      </a:pPr>
                      <a:r>
                        <a:t>supports intersect in mechanically ambiguous ways., Gesturing hands have</a:t>
                      </a:r>
                    </a:p>
                    <a:p>
                      <a:pPr>
                        <a:lnSpc>
                          <a:spcPts val="1600"/>
                        </a:lnSpc>
                        <a:spcAft>
                          <a:spcPts val="0"/>
                        </a:spcAft>
                        <a:defRPr sz="1200" b="0">
                          <a:solidFill>
                            <a:srgbClr val="21243A"/>
                          </a:solidFill>
                          <a:latin typeface="Arial"/>
                        </a:defRPr>
                      </a:pPr>
                      <a:r>
                        <a:t>uneven finger separation and awkward contours., Illustrated outlines and smooth</a:t>
                      </a:r>
                    </a:p>
                    <a:p>
                      <a:pPr>
                        <a:lnSpc>
                          <a:spcPts val="1600"/>
                        </a:lnSpc>
                        <a:spcAft>
                          <a:spcPts val="0"/>
                        </a:spcAft>
                        <a:defRPr sz="1200" b="0">
                          <a:solidFill>
                            <a:srgbClr val="21243A"/>
                          </a:solidFill>
                          <a:latin typeface="Arial"/>
                        </a:defRPr>
                      </a:pPr>
                      <a:r>
                        <a:t>shading throughout; no photographic base is evident.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96011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Gray hair contains tangled, ribbon-like shapes inconsistent with the other hair</a:t>
                      </a:r>
                    </a:p>
                    <a:p>
                      <a:pPr>
                        <a:lnSpc>
                          <a:spcPts val="1600"/>
                        </a:lnSpc>
                        <a:spcAft>
                          <a:spcPts val="0"/>
                        </a:spcAft>
                        <a:defRPr sz="1200" b="0">
                          <a:solidFill>
                            <a:srgbClr val="21243A"/>
                          </a:solidFill>
                          <a:latin typeface="Arial"/>
                        </a:defRPr>
                      </a:pPr>
                      <a:r>
                        <a:t>rendering.</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512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Wheelchair spokes and frame supports intersect in mechanically ambiguous ways.</a:t>
                      </a:r>
                    </a:p>
                  </a:txBody>
                  <a:tcPr marL="82296" marR="82296" marT="64008" marB="64008">
                    <a:solidFill>
                      <a:srgbClr val="F1F7F7"/>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2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Gesturing hands have uneven finger separation and awkward contours.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0502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Illustrated outlines and smooth shading throughout; no photographic base is</a:t>
                      </a:r>
                    </a:p>
                    <a:p>
                      <a:pPr>
                        <a:lnSpc>
                          <a:spcPts val="1600"/>
                        </a:lnSpc>
                        <a:spcAft>
                          <a:spcPts val="0"/>
                        </a:spcAft>
                        <a:defRPr sz="1200" b="0">
                          <a:solidFill>
                            <a:srgbClr val="21243A"/>
                          </a:solidFill>
                          <a:latin typeface="Arial"/>
                        </a:defRPr>
                      </a:pPr>
                      <a:r>
                        <a:t>evident.</a:t>
                      </a:r>
                    </a:p>
                  </a:txBody>
                  <a:tcPr marL="82296" marR="82296" marT="64008" marB="64008">
                    <a:solidFill>
                      <a:srgbClr val="F1F7F7"/>
                    </a:solidFill>
                  </a:tcPr>
                </a:tc>
              </a:tr>
            </a:tbl>
          </a:graphicData>
        </a:graphic>
      </p:graphicFrame>
      <p:graphicFrame>
        <p:nvGraphicFramePr>
          <p:cNvPr id="9" name="Table 8"/>
          <p:cNvGraphicFramePr>
            <a:graphicFrameLocks noGrp="1"/>
          </p:cNvGraphicFramePr>
          <p:nvPr/>
        </p:nvGraphicFramePr>
        <p:xfrm>
          <a:off x="365760" y="26029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This is a stylized illustration; human-drawn or stock artwork can share</a:t>
                      </a:r>
                    </a:p>
                    <a:p>
                      <a:pPr>
                        <a:lnSpc>
                          <a:spcPts val="1600"/>
                        </a:lnSpc>
                        <a:spcAft>
                          <a:spcPts val="0"/>
                        </a:spcAft>
                        <a:defRPr sz="1200" b="0">
                          <a:solidFill>
                            <a:srgbClr val="21243A"/>
                          </a:solidFill>
                          <a:latin typeface="Arial"/>
                        </a:defRPr>
                      </a:pPr>
                      <a:r>
                        <a:t>these irregularities, so source provenance should be checked.</a:t>
                      </a:r>
                    </a:p>
                  </a:txBody>
                  <a:tcPr marL="82296" marR="82296" marT="64008" marB="64008">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gemini-3.8-flash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likely</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medium</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Supporting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digital illustration style with hyper-clean lines,</a:t>
                      </a:r>
                    </a:p>
                    <a:p>
                      <a:pPr>
                        <a:lnSpc>
                          <a:spcPts val="1600"/>
                        </a:lnSpc>
                        <a:spcAft>
                          <a:spcPts val="0"/>
                        </a:spcAft>
                        <a:defRPr sz="1200" b="0">
                          <a:solidFill>
                            <a:srgbClr val="21243A"/>
                          </a:solidFill>
                          <a:latin typeface="Arial"/>
                        </a:defRPr>
                      </a:pPr>
                      <a:r>
                        <a:t>typical diffusion model character rendering features, slight anatomical</a:t>
                      </a:r>
                    </a:p>
                    <a:p>
                      <a:pPr>
                        <a:lnSpc>
                          <a:spcPts val="1600"/>
                        </a:lnSpc>
                        <a:spcAft>
                          <a:spcPts val="0"/>
                        </a:spcAft>
                        <a:defRPr sz="1200" b="0">
                          <a:solidFill>
                            <a:srgbClr val="21243A"/>
                          </a:solidFill>
                          <a:latin typeface="Arial"/>
                        </a:defRPr>
                      </a:pPr>
                      <a:r>
                        <a:t>inconsistencies in hands and fingers, unusual blending around tablet screen</a:t>
                      </a:r>
                    </a:p>
                    <a:p>
                      <a:pPr>
                        <a:lnSpc>
                          <a:spcPts val="1600"/>
                        </a:lnSpc>
                        <a:spcAft>
                          <a:spcPts val="0"/>
                        </a:spcAft>
                        <a:defRPr sz="1200" b="0">
                          <a:solidFill>
                            <a:srgbClr val="21243A"/>
                          </a:solidFill>
                          <a:latin typeface="Arial"/>
                        </a:defRPr>
                      </a:pPr>
                      <a:r>
                        <a:t>integration</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7569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Digital illustration style with hyper-clean lines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51064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Typical diffusion model character rendering features</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4559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Slight anatomical inconsistencies in hands and fingers</a:t>
                      </a:r>
                    </a:p>
                  </a:txBody>
                  <a:tcPr marL="82296" marR="82296" marT="64008" marB="64008">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3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9</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Unusual blending around tablet screen integration</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Caveat: Vector or digital human art can closely mimic generative cartoon styles.</a:t>
                      </a:r>
                    </a:p>
                  </a:txBody>
                  <a:tcPr marL="82296" marR="82296" marT="64008" marB="64008">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10</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inconclusive</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Credentials: embedded manifest found.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Integrity: valid (SDK validation).</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Signer trust: untrusted under the configured verifier.</a:t>
                      </a:r>
                    </a:p>
                  </a:txBody>
                  <a:tcPr marL="82296" marR="82296" marT="64008" marB="64008">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11</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manifest: Manifest declares AI-generated content.</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Claim generator (declared tool): OpenAI Media Service API</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Declared signer: OpenAI OpCo, LLC</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Declared source type:</a:t>
                      </a:r>
                    </a:p>
                    <a:p>
                      <a:pPr>
                        <a:lnSpc>
                          <a:spcPts val="1600"/>
                        </a:lnSpc>
                        <a:spcAft>
                          <a:spcPts val="0"/>
                        </a:spcAft>
                        <a:defRPr sz="1200" b="0">
                          <a:solidFill>
                            <a:srgbClr val="21243A"/>
                          </a:solidFill>
                          <a:latin typeface="Arial"/>
                        </a:defRPr>
                      </a:pPr>
                      <a:r>
                        <a:t>http://cv.iptc.org/newscodes/digitalsourcetype/trainedalgorithmicmedia</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Active record - declared tool: OpenAI Media Service API; actions: c2pa.created,</a:t>
                      </a:r>
                    </a:p>
                    <a:p>
                      <a:pPr>
                        <a:lnSpc>
                          <a:spcPts val="1600"/>
                        </a:lnSpc>
                        <a:spcAft>
                          <a:spcPts val="0"/>
                        </a:spcAft>
                        <a:defRPr sz="1200" b="0">
                          <a:solidFill>
                            <a:srgbClr val="21243A"/>
                          </a:solidFill>
                          <a:latin typeface="Arial"/>
                        </a:defRPr>
                      </a:pPr>
                      <a:r>
                        <a:t>c2pa.converted, c2pa.watermarked.unbound.</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Active record - all actions recorded (signer's declaration): no.</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42042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10</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signingCredential.untrusted</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5537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timeStamp.validated</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9032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claimSignature.insideValidity</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52527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claimSignature.validated</a:t>
                      </a:r>
                    </a:p>
                  </a:txBody>
                  <a:tcPr marL="82296" marR="82296" marT="64008" marB="64008">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Content Credentials / provenance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12</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assertion.hashedURI.match</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15</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Validation outcome: assertion.dataHash.match</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16</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Validation outcome: timeStamp.untrusted</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17</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Verifier: c2pa-python 0.37.12; native SDK 0.91.0; specification target 2.4; policy</a:t>
                      </a:r>
                    </a:p>
                    <a:p>
                      <a:pPr>
                        <a:lnSpc>
                          <a:spcPts val="1600"/>
                        </a:lnSpc>
                        <a:spcAft>
                          <a:spcPts val="0"/>
                        </a:spcAft>
                        <a:defRPr sz="1200" b="0">
                          <a:solidFill>
                            <a:srgbClr val="21243A"/>
                          </a:solidFill>
                          <a:latin typeface="Arial"/>
                        </a:defRPr>
                      </a:pPr>
                      <a:r>
                        <a:t>embedded-offline-reviewed-trust-v3.</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302000"/>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18</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Offline embedded-manifest verification; no network trust-list, manifest or</a:t>
                      </a:r>
                    </a:p>
                    <a:p>
                      <a:pPr>
                        <a:lnSpc>
                          <a:spcPts val="1600"/>
                        </a:lnSpc>
                        <a:spcAft>
                          <a:spcPts val="0"/>
                        </a:spcAft>
                        <a:defRPr sz="1200" b="0">
                          <a:solidFill>
                            <a:srgbClr val="21243A"/>
                          </a:solidFill>
                          <a:latin typeface="Arial"/>
                        </a:defRPr>
                      </a:pPr>
                      <a:r>
                        <a:t>revocation refresh.</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85470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Evidence 19</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reviewed local C2PA trust snapshot installed. Provenance overrides are</a:t>
                      </a:r>
                    </a:p>
                    <a:p>
                      <a:pPr>
                        <a:lnSpc>
                          <a:spcPts val="1600"/>
                        </a:lnSpc>
                        <a:spcAft>
                          <a:spcPts val="0"/>
                        </a:spcAft>
                        <a:defRPr sz="1200" b="0">
                          <a:solidFill>
                            <a:srgbClr val="21243A"/>
                          </a:solidFill>
                          <a:latin typeface="Arial"/>
                        </a:defRPr>
                      </a:pPr>
                      <a:r>
                        <a:t>disabled.</a:t>
                      </a:r>
                    </a:p>
                  </a:txBody>
                  <a:tcPr marL="82296" marR="82296" marT="64008" marB="64008">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Provider evidence / 5</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13</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Not recorded</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Status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ok</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partially synthetic</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Confidence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low</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Role in assessment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Additional finding</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Provider summary</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Heuristic synthetic likelihood 41/100 from metadata + pixel statistics.</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1</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No camera EXIF (common in AI exports, screenshots, and re-saves).</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2</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ELA mean 1.9, peak 96 (uniform high ELA can indicate generation/heavy edit).</a:t>
                      </a:r>
                    </a:p>
                  </a:txBody>
                  <a:tcPr marL="82296" marR="82296" marT="64008" marB="64008">
                    <a:solidFill>
                      <a:srgbClr val="F1F7F7"/>
                    </a:solidFill>
                  </a:tcPr>
                </a:tc>
              </a:tr>
            </a:tbl>
          </a:graphicData>
        </a:graphic>
      </p:graphicFrame>
      <p:graphicFrame>
        <p:nvGraphicFramePr>
          <p:cNvPr id="16" name="Table 15"/>
          <p:cNvGraphicFramePr>
            <a:graphicFrameLocks noGrp="1"/>
          </p:cNvGraphicFramePr>
          <p:nvPr/>
        </p:nvGraphicFramePr>
        <p:xfrm>
          <a:off x="365760" y="484632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3</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High-frequency noise std 11.51 (very low/very uniform noise is a synthesis cue).</a:t>
                      </a:r>
                    </a:p>
                  </a:txBody>
                  <a:tcPr marL="82296" marR="82296" marT="64008" marB="64008">
                    <a:solidFill>
                      <a:srgbClr val="FFFFFF"/>
                    </a:solidFill>
                  </a:tcPr>
                </a:tc>
              </a:tr>
            </a:tbl>
          </a:graphicData>
        </a:graphic>
      </p:graphicFrame>
      <p:graphicFrame>
        <p:nvGraphicFramePr>
          <p:cNvPr id="17" name="Table 16"/>
          <p:cNvGraphicFramePr>
            <a:graphicFrameLocks noGrp="1"/>
          </p:cNvGraphicFramePr>
          <p:nvPr/>
        </p:nvGraphicFramePr>
        <p:xfrm>
          <a:off x="365760" y="519582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Evidence 4</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Spectral peakiness 21.99 (periodic frequency peaks can mark generated textures).</a:t>
                      </a:r>
                    </a:p>
                  </a:txBody>
                  <a:tcPr marL="82296" marR="82296" marT="64008" marB="64008">
                    <a:solidFill>
                      <a:srgbClr val="F1F7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Evidence supporting this verdict</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14</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Claude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85/100; tells: uniform digital-illustration style with inked</a:t>
                      </a:r>
                    </a:p>
                    <a:p>
                      <a:pPr>
                        <a:lnSpc>
                          <a:spcPts val="1600"/>
                        </a:lnSpc>
                        <a:spcAft>
                          <a:spcPts val="0"/>
                        </a:spcAft>
                        <a:defRPr sz="1200" b="0">
                          <a:solidFill>
                            <a:srgbClr val="21243A"/>
                          </a:solidFill>
                          <a:latin typeface="Arial"/>
                        </a:defRPr>
                      </a:pPr>
                      <a:r>
                        <a:t>outlines and painterly shading typical of current image generators, over-regular</a:t>
                      </a:r>
                    </a:p>
                    <a:p>
                      <a:pPr>
                        <a:lnSpc>
                          <a:spcPts val="1600"/>
                        </a:lnSpc>
                        <a:spcAft>
                          <a:spcPts val="0"/>
                        </a:spcAft>
                        <a:defRPr sz="1200" b="0">
                          <a:solidFill>
                            <a:srgbClr val="21243A"/>
                          </a:solidFill>
                          <a:latin typeface="Arial"/>
                        </a:defRPr>
                      </a:pPr>
                      <a:r>
                        <a:t>stippled texture in grey curly hair, wheelchair spoke and frame geometry</a:t>
                      </a:r>
                    </a:p>
                    <a:p>
                      <a:pPr>
                        <a:lnSpc>
                          <a:spcPts val="1600"/>
                        </a:lnSpc>
                        <a:spcAft>
                          <a:spcPts val="0"/>
                        </a:spcAft>
                        <a:defRPr sz="1200" b="0">
                          <a:solidFill>
                            <a:srgbClr val="21243A"/>
                          </a:solidFill>
                          <a:latin typeface="Arial"/>
                        </a:defRPr>
                      </a:pPr>
                      <a:r>
                        <a:t>inconsistent between wheels, with spokes merging and fading, tablet screen</a:t>
                      </a:r>
                    </a:p>
                    <a:p>
                      <a:pPr>
                        <a:lnSpc>
                          <a:spcPts val="1600"/>
                        </a:lnSpc>
                        <a:spcAft>
                          <a:spcPts val="0"/>
                        </a:spcAft>
                        <a:defRPr sz="1200" b="0">
                          <a:solidFill>
                            <a:srgbClr val="21243A"/>
                          </a:solidFill>
                          <a:latin typeface="Arial"/>
                        </a:defRPr>
                      </a:pPr>
                      <a:r>
                        <a:t>shows a generic, softly detailed garden scene with no UI elements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863088"/>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OpenAI Vision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 likelihood 78/100; tells: Gray hair contains tangled, ribbon-like shapes</a:t>
                      </a:r>
                    </a:p>
                    <a:p>
                      <a:pPr>
                        <a:lnSpc>
                          <a:spcPts val="1600"/>
                        </a:lnSpc>
                        <a:spcAft>
                          <a:spcPts val="0"/>
                        </a:spcAft>
                        <a:defRPr sz="1200" b="0">
                          <a:solidFill>
                            <a:srgbClr val="21243A"/>
                          </a:solidFill>
                          <a:latin typeface="Arial"/>
                        </a:defRPr>
                      </a:pPr>
                      <a:r>
                        <a:t>inconsistent with the other hair rendering., Wheelchair spokes and frame</a:t>
                      </a:r>
                    </a:p>
                    <a:p>
                      <a:pPr>
                        <a:lnSpc>
                          <a:spcPts val="1600"/>
                        </a:lnSpc>
                        <a:spcAft>
                          <a:spcPts val="0"/>
                        </a:spcAft>
                        <a:defRPr sz="1200" b="0">
                          <a:solidFill>
                            <a:srgbClr val="21243A"/>
                          </a:solidFill>
                          <a:latin typeface="Arial"/>
                        </a:defRPr>
                      </a:pPr>
                      <a:r>
                        <a:t>supports intersect in mechanically ambiguous ways., Gesturing hands have</a:t>
                      </a:r>
                    </a:p>
                    <a:p>
                      <a:pPr>
                        <a:lnSpc>
                          <a:spcPts val="1600"/>
                        </a:lnSpc>
                        <a:spcAft>
                          <a:spcPts val="0"/>
                        </a:spcAft>
                        <a:defRPr sz="1200" b="0">
                          <a:solidFill>
                            <a:srgbClr val="21243A"/>
                          </a:solidFill>
                          <a:latin typeface="Arial"/>
                        </a:defRPr>
                      </a:pPr>
                      <a:r>
                        <a:t>uneven finger separation and awkward contours., Illustrated outlines and smooth</a:t>
                      </a:r>
                    </a:p>
                    <a:p>
                      <a:pPr>
                        <a:lnSpc>
                          <a:spcPts val="1600"/>
                        </a:lnSpc>
                        <a:spcAft>
                          <a:spcPts val="0"/>
                        </a:spcAft>
                        <a:defRPr sz="1200" b="0">
                          <a:solidFill>
                            <a:srgbClr val="21243A"/>
                          </a:solidFill>
                          <a:latin typeface="Arial"/>
                        </a:defRPr>
                      </a:pPr>
                      <a:r>
                        <a:t>shading throughout; no photographic base is evident.</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4025392"/>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Gemini Vision</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synthetic likelihood 72/100; tells: digital illustration style with hyper-clean lines,</a:t>
                      </a:r>
                    </a:p>
                    <a:p>
                      <a:pPr>
                        <a:lnSpc>
                          <a:spcPts val="1600"/>
                        </a:lnSpc>
                        <a:spcAft>
                          <a:spcPts val="0"/>
                        </a:spcAft>
                        <a:defRPr sz="1200" b="0">
                          <a:solidFill>
                            <a:srgbClr val="21243A"/>
                          </a:solidFill>
                          <a:latin typeface="Arial"/>
                        </a:defRPr>
                      </a:pPr>
                      <a:r>
                        <a:t>typical diffusion model character rendering features, slight anatomical</a:t>
                      </a:r>
                    </a:p>
                    <a:p>
                      <a:pPr>
                        <a:lnSpc>
                          <a:spcPts val="1600"/>
                        </a:lnSpc>
                        <a:spcAft>
                          <a:spcPts val="0"/>
                        </a:spcAft>
                        <a:defRPr sz="1200" b="0">
                          <a:solidFill>
                            <a:srgbClr val="21243A"/>
                          </a:solidFill>
                          <a:latin typeface="Arial"/>
                        </a:defRPr>
                      </a:pPr>
                      <a:r>
                        <a:t>inconsistencies in hands and fingers, unusual blending around tablet screen</a:t>
                      </a:r>
                    </a:p>
                    <a:p>
                      <a:pPr>
                        <a:lnSpc>
                          <a:spcPts val="1600"/>
                        </a:lnSpc>
                        <a:spcAft>
                          <a:spcPts val="0"/>
                        </a:spcAft>
                        <a:defRPr sz="1200" b="0">
                          <a:solidFill>
                            <a:srgbClr val="21243A"/>
                          </a:solidFill>
                          <a:latin typeface="Arial"/>
                        </a:defRPr>
                      </a:pPr>
                      <a:r>
                        <a:t>integration</a:t>
                      </a:r>
                    </a:p>
                  </a:txBody>
                  <a:tcPr marL="82296" marR="82296" marT="64008" marB="64008">
                    <a:solidFill>
                      <a:srgbClr val="F1F7F7"/>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Additional findings</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15</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Local forensic cues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Supporting observation; considered alongside the model assessments.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C2PA Content Credentials</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File integrity: validated. Signer trust: unresolved under the current local policy.</a:t>
                      </a:r>
                    </a:p>
                    <a:p>
                      <a:pPr>
                        <a:lnSpc>
                          <a:spcPts val="1600"/>
                        </a:lnSpc>
                        <a:spcAft>
                          <a:spcPts val="0"/>
                        </a:spcAft>
                        <a:defRPr sz="1200" b="0">
                          <a:solidFill>
                            <a:srgbClr val="21243A"/>
                          </a:solidFill>
                          <a:latin typeface="Arial"/>
                        </a:defRPr>
                      </a:pPr>
                      <a:r>
                        <a:t>The recorded declarations remain available for review and are not used as a</a:t>
                      </a:r>
                    </a:p>
                    <a:p>
                      <a:pPr>
                        <a:lnSpc>
                          <a:spcPts val="1600"/>
                        </a:lnSpc>
                        <a:spcAft>
                          <a:spcPts val="0"/>
                        </a:spcAft>
                        <a:defRPr sz="1200" b="0">
                          <a:solidFill>
                            <a:srgbClr val="21243A"/>
                          </a:solidFill>
                          <a:latin typeface="Arial"/>
                        </a:defRPr>
                      </a:pPr>
                      <a:r>
                        <a:t>decisive provenance finding. Manifest declares AI-generated content.</a:t>
                      </a:r>
                    </a:p>
                  </a:txBody>
                  <a:tcPr marL="82296" marR="82296" marT="64008" marB="6400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How this assessment was reached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16</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1. override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outcome=none; detail=No confirmed C2PA AI assertion or SynthID watermark.</a:t>
                      </a:r>
                    </a:p>
                    <a:p>
                      <a:pPr>
                        <a:lnSpc>
                          <a:spcPts val="1600"/>
                        </a:lnSpc>
                        <a:spcAft>
                          <a:spcPts val="0"/>
                        </a:spcAft>
                        <a:defRPr sz="1200" b="0">
                          <a:solidFill>
                            <a:srgbClr val="21243A"/>
                          </a:solidFill>
                          <a:latin typeface="Arial"/>
                        </a:defRPr>
                      </a:pPr>
                      <a:r>
                        <a:t>Origin remains unresolved by these checks.</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253488"/>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2. model_agreement</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synthetic=['Claude Vision', 'OpenAI Vision', 'Gemini Vision']; authentic=[];</a:t>
                      </a:r>
                    </a:p>
                    <a:p>
                      <a:pPr>
                        <a:lnSpc>
                          <a:spcPts val="1600"/>
                        </a:lnSpc>
                        <a:spcAft>
                          <a:spcPts val="0"/>
                        </a:spcAft>
                        <a:defRPr sz="1200" b="0">
                          <a:solidFill>
                            <a:srgbClr val="21243A"/>
                          </a:solidFill>
                          <a:latin typeface="Arial"/>
                        </a:defRPr>
                      </a:pPr>
                      <a:r>
                        <a:t>uncertain=[]; forensic_supports_synthetic=False</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806192"/>
          <a:ext cx="8412479" cy="552704"/>
        </p:xfrm>
        <a:graphic>
          <a:graphicData uri="http://schemas.openxmlformats.org/drawingml/2006/table">
            <a:tbl>
              <a:tblPr firstRow="1" bandRow="1">
                <a:tableStyleId>{5C22544A-7EE6-4342-B048-85BDC9FD1C3A}</a:tableStyleId>
              </a:tblPr>
              <a:tblGrid>
                <a:gridCol w="2271369"/>
                <a:gridCol w="6141110"/>
              </a:tblGrid>
              <a:tr h="552704">
                <a:tc>
                  <a:txBody>
                    <a:bodyPr wrap="none"/>
                    <a:lstStyle/>
                    <a:p>
                      <a:pPr>
                        <a:lnSpc>
                          <a:spcPts val="1600"/>
                        </a:lnSpc>
                        <a:spcAft>
                          <a:spcPts val="0"/>
                        </a:spcAft>
                        <a:defRPr sz="1200" b="0">
                          <a:solidFill>
                            <a:srgbClr val="21243A"/>
                          </a:solidFill>
                          <a:latin typeface="Arial"/>
                        </a:defRPr>
                      </a:pPr>
                      <a:r>
                        <a:t>3. verdict</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value=synthetic_likely; confidence=high; reason=3 models agree this is likely</a:t>
                      </a:r>
                    </a:p>
                    <a:p>
                      <a:pPr>
                        <a:lnSpc>
                          <a:spcPts val="1600"/>
                        </a:lnSpc>
                        <a:spcAft>
                          <a:spcPts val="0"/>
                        </a:spcAft>
                        <a:defRPr sz="1200" b="0">
                          <a:solidFill>
                            <a:srgbClr val="21243A"/>
                          </a:solidFill>
                          <a:latin typeface="Arial"/>
                        </a:defRPr>
                      </a:pPr>
                      <a:r>
                        <a:t>synthetic.</a:t>
                      </a:r>
                    </a:p>
                  </a:txBody>
                  <a:tcPr marL="82296" marR="82296" marT="64008" marB="64008">
                    <a:solidFill>
                      <a:srgbClr val="F1F7F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17</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File</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illustration-1.png</a:t>
                      </a:r>
                    </a:p>
                  </a:txBody>
                  <a:tcPr marL="82296" marR="82296" marT="64008" marB="64008">
                    <a:solidFill>
                      <a:srgbClr val="F1F7F7"/>
                    </a:solidFill>
                  </a:tcPr>
                </a:tc>
              </a:tr>
            </a:tbl>
          </a:graphicData>
        </a:graphic>
      </p:graphicFrame>
      <p:graphicFrame>
        <p:nvGraphicFramePr>
          <p:cNvPr id="8" name="Table 7"/>
          <p:cNvGraphicFramePr>
            <a:graphicFrameLocks noGrp="1"/>
          </p:cNvGraphicFramePr>
          <p:nvPr/>
        </p:nvGraphicFramePr>
        <p:xfrm>
          <a:off x="365760" y="205028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ID</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e2d54768-0627-4b09-8e9c-bab7b58c211f</a:t>
                      </a:r>
                    </a:p>
                  </a:txBody>
                  <a:tcPr marL="82296" marR="82296" marT="64008" marB="64008">
                    <a:solidFill>
                      <a:srgbClr val="FFFFFF"/>
                    </a:solidFill>
                  </a:tcPr>
                </a:tc>
              </a:tr>
            </a:tbl>
          </a:graphicData>
        </a:graphic>
      </p:graphicFrame>
      <p:graphicFrame>
        <p:nvGraphicFramePr>
          <p:cNvPr id="9" name="Table 8"/>
          <p:cNvGraphicFramePr>
            <a:graphicFrameLocks noGrp="1"/>
          </p:cNvGraphicFramePr>
          <p:nvPr/>
        </p:nvGraphicFramePr>
        <p:xfrm>
          <a:off x="365760" y="239979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Generated</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2026-09-26T17:54:47+00:00</a:t>
                      </a:r>
                    </a:p>
                  </a:txBody>
                  <a:tcPr marL="82296" marR="82296" marT="64008" marB="64008">
                    <a:solidFill>
                      <a:srgbClr val="F1F7F7"/>
                    </a:solidFill>
                  </a:tcPr>
                </a:tc>
              </a:tr>
            </a:tbl>
          </a:graphicData>
        </a:graphic>
      </p:graphicFrame>
      <p:graphicFrame>
        <p:nvGraphicFramePr>
          <p:cNvPr id="10" name="Table 9"/>
          <p:cNvGraphicFramePr>
            <a:graphicFrameLocks noGrp="1"/>
          </p:cNvGraphicFramePr>
          <p:nvPr/>
        </p:nvGraphicFramePr>
        <p:xfrm>
          <a:off x="365760" y="2749296"/>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Tool</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SDA Vision 0.1.0</a:t>
                      </a:r>
                    </a:p>
                  </a:txBody>
                  <a:tcPr marL="82296" marR="82296" marT="64008" marB="64008">
                    <a:solidFill>
                      <a:srgbClr val="FFFFFF"/>
                    </a:solidFill>
                  </a:tcPr>
                </a:tc>
              </a:tr>
            </a:tbl>
          </a:graphicData>
        </a:graphic>
      </p:graphicFrame>
      <p:graphicFrame>
        <p:nvGraphicFramePr>
          <p:cNvPr id="11" name="Table 10"/>
          <p:cNvGraphicFramePr>
            <a:graphicFrameLocks noGrp="1"/>
          </p:cNvGraphicFramePr>
          <p:nvPr/>
        </p:nvGraphicFramePr>
        <p:xfrm>
          <a:off x="365760" y="3098800"/>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Models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claude-opus-5-5, gemini-3.8-flash, gpt-6-astra</a:t>
                      </a:r>
                    </a:p>
                  </a:txBody>
                  <a:tcPr marL="82296" marR="82296" marT="64008" marB="64008">
                    <a:solidFill>
                      <a:srgbClr val="F1F7F7"/>
                    </a:solidFill>
                  </a:tcPr>
                </a:tc>
              </a:tr>
            </a:tbl>
          </a:graphicData>
        </a:graphic>
      </p:graphicFrame>
      <p:graphicFrame>
        <p:nvGraphicFramePr>
          <p:cNvPr id="12" name="Table 11"/>
          <p:cNvGraphicFramePr>
            <a:graphicFrameLocks noGrp="1"/>
          </p:cNvGraphicFramePr>
          <p:nvPr/>
        </p:nvGraphicFramePr>
        <p:xfrm>
          <a:off x="365760" y="3448304"/>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Method version</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verdict-consistency-2026-09-26.1</a:t>
                      </a:r>
                    </a:p>
                  </a:txBody>
                  <a:tcPr marL="82296" marR="82296" marT="64008" marB="64008">
                    <a:solidFill>
                      <a:srgbClr val="FFFFFF"/>
                    </a:solidFill>
                  </a:tcPr>
                </a:tc>
              </a:tr>
            </a:tbl>
          </a:graphicData>
        </a:graphic>
      </p:graphicFrame>
      <p:graphicFrame>
        <p:nvGraphicFramePr>
          <p:cNvPr id="13" name="Table 12"/>
          <p:cNvGraphicFramePr>
            <a:graphicFrameLocks noGrp="1"/>
          </p:cNvGraphicFramePr>
          <p:nvPr/>
        </p:nvGraphicFramePr>
        <p:xfrm>
          <a:off x="365760" y="3797808"/>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Analysis lens</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general</a:t>
                      </a:r>
                    </a:p>
                  </a:txBody>
                  <a:tcPr marL="82296" marR="82296" marT="64008" marB="64008">
                    <a:solidFill>
                      <a:srgbClr val="F1F7F7"/>
                    </a:solidFill>
                  </a:tcPr>
                </a:tc>
              </a:tr>
            </a:tbl>
          </a:graphicData>
        </a:graphic>
      </p:graphicFrame>
      <p:graphicFrame>
        <p:nvGraphicFramePr>
          <p:cNvPr id="14" name="Table 13"/>
          <p:cNvGraphicFramePr>
            <a:graphicFrameLocks noGrp="1"/>
          </p:cNvGraphicFramePr>
          <p:nvPr/>
        </p:nvGraphicFramePr>
        <p:xfrm>
          <a:off x="365760" y="4147312"/>
          <a:ext cx="8412479" cy="349504"/>
        </p:xfrm>
        <a:graphic>
          <a:graphicData uri="http://schemas.openxmlformats.org/drawingml/2006/table">
            <a:tbl>
              <a:tblPr firstRow="1" bandRow="1">
                <a:tableStyleId>{5C22544A-7EE6-4342-B048-85BDC9FD1C3A}</a:tableStyleId>
              </a:tblPr>
              <a:tblGrid>
                <a:gridCol w="2271369"/>
                <a:gridCol w="6141110"/>
              </a:tblGrid>
              <a:tr h="349504">
                <a:tc>
                  <a:txBody>
                    <a:bodyPr wrap="none"/>
                    <a:lstStyle/>
                    <a:p>
                      <a:pPr>
                        <a:lnSpc>
                          <a:spcPts val="1600"/>
                        </a:lnSpc>
                        <a:spcAft>
                          <a:spcPts val="0"/>
                        </a:spcAft>
                        <a:defRPr sz="1200" b="0">
                          <a:solidFill>
                            <a:srgbClr val="21243A"/>
                          </a:solidFill>
                          <a:latin typeface="Arial"/>
                        </a:defRPr>
                      </a:pPr>
                      <a:r>
                        <a:t>Original SHA-256</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137f1b7c292c882be741e1a6c881ab4a2082c7dd6ab2181d63304000a0d92252</a:t>
                      </a:r>
                    </a:p>
                  </a:txBody>
                  <a:tcPr marL="82296" marR="82296" marT="64008" marB="64008">
                    <a:solidFill>
                      <a:srgbClr val="FFFFFF"/>
                    </a:solidFill>
                  </a:tcPr>
                </a:tc>
              </a:tr>
            </a:tbl>
          </a:graphicData>
        </a:graphic>
      </p:graphicFrame>
      <p:graphicFrame>
        <p:nvGraphicFramePr>
          <p:cNvPr id="15" name="Table 14"/>
          <p:cNvGraphicFramePr>
            <a:graphicFrameLocks noGrp="1"/>
          </p:cNvGraphicFramePr>
          <p:nvPr/>
        </p:nvGraphicFramePr>
        <p:xfrm>
          <a:off x="365760" y="4496816"/>
          <a:ext cx="8412479" cy="1162304"/>
        </p:xfrm>
        <a:graphic>
          <a:graphicData uri="http://schemas.openxmlformats.org/drawingml/2006/table">
            <a:tbl>
              <a:tblPr firstRow="1" bandRow="1">
                <a:tableStyleId>{5C22544A-7EE6-4342-B048-85BDC9FD1C3A}</a:tableStyleId>
              </a:tblPr>
              <a:tblGrid>
                <a:gridCol w="2271369"/>
                <a:gridCol w="6141110"/>
              </a:tblGrid>
              <a:tr h="1162304">
                <a:tc>
                  <a:txBody>
                    <a:bodyPr wrap="none"/>
                    <a:lstStyle/>
                    <a:p>
                      <a:pPr>
                        <a:lnSpc>
                          <a:spcPts val="1600"/>
                        </a:lnSpc>
                        <a:spcAft>
                          <a:spcPts val="0"/>
                        </a:spcAft>
                        <a:defRPr sz="1200" b="0">
                          <a:solidFill>
                            <a:srgbClr val="21243A"/>
                          </a:solidFill>
                          <a:latin typeface="Arial"/>
                        </a:defRPr>
                      </a:pPr>
                      <a:r>
                        <a:t>Ingestion note 1</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Recomputed locally from the same saved provider replies acquired under run</a:t>
                      </a:r>
                    </a:p>
                    <a:p>
                      <a:pPr>
                        <a:lnSpc>
                          <a:spcPts val="1600"/>
                        </a:lnSpc>
                        <a:spcAft>
                          <a:spcPts val="0"/>
                        </a:spcAft>
                        <a:defRPr sz="1200" b="0">
                          <a:solidFill>
                            <a:srgbClr val="21243A"/>
                          </a:solidFill>
                          <a:latin typeface="Arial"/>
                        </a:defRPr>
                      </a:pPr>
                      <a:r>
                        <a:t>five-examples-20260926-r1. No new provider requests. Original report</a:t>
                      </a:r>
                    </a:p>
                    <a:p>
                      <a:pPr>
                        <a:lnSpc>
                          <a:spcPts val="1600"/>
                        </a:lnSpc>
                        <a:spcAft>
                          <a:spcPts val="0"/>
                        </a:spcAft>
                        <a:defRPr sz="1200" b="0">
                          <a:solidFill>
                            <a:srgbClr val="21243A"/>
                          </a:solidFill>
                          <a:latin typeface="Arial"/>
                        </a:defRPr>
                      </a:pPr>
                      <a:r>
                        <a:t>6ed01bd6-3868-4680-ba90-536492d5c7ff was generated at</a:t>
                      </a:r>
                    </a:p>
                    <a:p>
                      <a:pPr>
                        <a:lnSpc>
                          <a:spcPts val="1600"/>
                        </a:lnSpc>
                        <a:spcAft>
                          <a:spcPts val="0"/>
                        </a:spcAft>
                        <a:defRPr sz="1200" b="0">
                          <a:solidFill>
                            <a:srgbClr val="21243A"/>
                          </a:solidFill>
                          <a:latin typeface="Arial"/>
                        </a:defRPr>
                      </a:pPr>
                      <a:r>
                        <a:t>2026-09-26T17:38:40+00:00 under method publication-repair-2026-09-24.3; that</a:t>
                      </a:r>
                    </a:p>
                    <a:p>
                      <a:pPr>
                        <a:lnSpc>
                          <a:spcPts val="1600"/>
                        </a:lnSpc>
                        <a:spcAft>
                          <a:spcPts val="0"/>
                        </a:spcAft>
                        <a:defRPr sz="1200" b="0">
                          <a:solidFill>
                            <a:srgbClr val="21243A"/>
                          </a:solidFill>
                          <a:latin typeface="Arial"/>
                        </a:defRPr>
                      </a:pPr>
                      <a:r>
                        <a:t>report is preserved.</a:t>
                      </a:r>
                    </a:p>
                  </a:txBody>
                  <a:tcPr marL="82296" marR="82296" marT="64008" marB="64008">
                    <a:solidFill>
                      <a:srgbClr val="F1F7F7"/>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219456"/>
            <a:ext cx="8412480" cy="228600"/>
          </a:xfrm>
          <a:prstGeom prst="rect">
            <a:avLst/>
          </a:prstGeom>
          <a:noFill/>
        </p:spPr>
        <p:txBody>
          <a:bodyPr wrap="square" lIns="0" rIns="0" tIns="0" bIns="0">
            <a:spAutoFit/>
          </a:bodyPr>
          <a:lstStyle/>
          <a:p>
            <a:pPr>
              <a:lnSpc>
                <a:spcPct val="115000"/>
              </a:lnSpc>
              <a:spcAft>
                <a:spcPts val="0"/>
              </a:spcAft>
              <a:defRPr sz="1100" b="1">
                <a:solidFill>
                  <a:srgbClr val="C5006A"/>
                </a:solidFill>
                <a:latin typeface="Arial"/>
              </a:defRPr>
            </a:pPr>
            <a:r>
              <a:t>SDA VISION / RESEARCH REPORT</a:t>
            </a:r>
          </a:p>
        </p:txBody>
      </p:sp>
      <p:sp>
        <p:nvSpPr>
          <p:cNvPr id="3" name="TextBox 2"/>
          <p:cNvSpPr txBox="1"/>
          <p:nvPr/>
        </p:nvSpPr>
        <p:spPr>
          <a:xfrm>
            <a:off x="365760" y="658368"/>
            <a:ext cx="8412480" cy="612648"/>
          </a:xfrm>
          <a:prstGeom prst="rect">
            <a:avLst/>
          </a:prstGeom>
          <a:noFill/>
        </p:spPr>
        <p:txBody>
          <a:bodyPr wrap="square" lIns="0" rIns="0" tIns="0" bIns="0">
            <a:spAutoFit/>
          </a:bodyPr>
          <a:lstStyle/>
          <a:p>
            <a:pPr>
              <a:lnSpc>
                <a:spcPct val="115000"/>
              </a:lnSpc>
              <a:spcAft>
                <a:spcPts val="0"/>
              </a:spcAft>
              <a:defRPr sz="2200" b="1">
                <a:solidFill>
                  <a:srgbClr val="21243A"/>
                </a:solidFill>
                <a:latin typeface="Arial"/>
              </a:defRPr>
            </a:pPr>
            <a:r>
              <a:t>File and analysis record (continued)</a:t>
            </a:r>
          </a:p>
        </p:txBody>
      </p:sp>
      <p:sp>
        <p:nvSpPr>
          <p:cNvPr id="4" name="TextBox 3"/>
          <p:cNvSpPr txBox="1"/>
          <p:nvPr/>
        </p:nvSpPr>
        <p:spPr>
          <a:xfrm>
            <a:off x="365760" y="6291072"/>
            <a:ext cx="8001000" cy="365760"/>
          </a:xfrm>
          <a:prstGeom prst="rect">
            <a:avLst/>
          </a:prstGeom>
          <a:noFill/>
        </p:spPr>
        <p:txBody>
          <a:bodyPr wrap="square" lIns="0" rIns="0" tIns="0" bIns="0">
            <a:spAutoFit/>
          </a:bodyPr>
          <a:lstStyle/>
          <a:p>
            <a:pPr>
              <a:lnSpc>
                <a:spcPct val="115000"/>
              </a:lnSpc>
              <a:spcAft>
                <a:spcPts val="0"/>
              </a:spcAft>
              <a:defRPr sz="800" b="0">
                <a:solidFill>
                  <a:srgbClr val="545B6D"/>
                </a:solidFill>
                <a:latin typeface="Arial"/>
              </a:defRPr>
            </a:pPr>
            <a:r>
              <a:t>Research assessment. Ratings are not calibrated probabilities.</a:t>
            </a:r>
          </a:p>
        </p:txBody>
      </p:sp>
      <p:sp>
        <p:nvSpPr>
          <p:cNvPr id="5" name="TextBox 4"/>
          <p:cNvSpPr txBox="1"/>
          <p:nvPr/>
        </p:nvSpPr>
        <p:spPr>
          <a:xfrm>
            <a:off x="8394192" y="6318504"/>
            <a:ext cx="365760" cy="228600"/>
          </a:xfrm>
          <a:prstGeom prst="rect">
            <a:avLst/>
          </a:prstGeom>
          <a:noFill/>
        </p:spPr>
        <p:txBody>
          <a:bodyPr wrap="square" lIns="0" rIns="0" tIns="0" bIns="0">
            <a:spAutoFit/>
          </a:bodyPr>
          <a:lstStyle/>
          <a:p>
            <a:pPr>
              <a:lnSpc>
                <a:spcPct val="115000"/>
              </a:lnSpc>
              <a:spcAft>
                <a:spcPts val="0"/>
              </a:spcAft>
              <a:defRPr sz="900" b="0">
                <a:solidFill>
                  <a:srgbClr val="545B6D"/>
                </a:solidFill>
                <a:latin typeface="Arial"/>
              </a:defRPr>
            </a:pPr>
            <a:r>
              <a:t>18</a:t>
            </a:r>
          </a:p>
        </p:txBody>
      </p:sp>
      <p:graphicFrame>
        <p:nvGraphicFramePr>
          <p:cNvPr id="6" name="Table 5"/>
          <p:cNvGraphicFramePr>
            <a:graphicFrameLocks noGrp="1"/>
          </p:cNvGraphicFramePr>
          <p:nvPr/>
        </p:nvGraphicFramePr>
        <p:xfrm>
          <a:off x="365760" y="1353312"/>
          <a:ext cx="8412479" cy="347472"/>
        </p:xfrm>
        <a:graphic>
          <a:graphicData uri="http://schemas.openxmlformats.org/drawingml/2006/table">
            <a:tbl>
              <a:tblPr firstRow="1" bandRow="1">
                <a:tableStyleId>{5C22544A-7EE6-4342-B048-85BDC9FD1C3A}</a:tableStyleId>
              </a:tblPr>
              <a:tblGrid>
                <a:gridCol w="2271369"/>
                <a:gridCol w="6141110"/>
              </a:tblGrid>
              <a:tr h="347472">
                <a:tc>
                  <a:txBody>
                    <a:bodyPr wrap="none"/>
                    <a:lstStyle/>
                    <a:p>
                      <a:pPr>
                        <a:lnSpc>
                          <a:spcPts val="1600"/>
                        </a:lnSpc>
                        <a:spcAft>
                          <a:spcPts val="0"/>
                        </a:spcAft>
                        <a:defRPr sz="1200" b="1">
                          <a:solidFill>
                            <a:srgbClr val="FFFFFF"/>
                          </a:solidFill>
                          <a:latin typeface="Arial"/>
                        </a:defRPr>
                      </a:pPr>
                      <a:r>
                        <a:t>Field</a:t>
                      </a:r>
                    </a:p>
                  </a:txBody>
                  <a:tcPr marL="82296" marR="82296" marT="64008" marB="64008">
                    <a:solidFill>
                      <a:srgbClr val="16787C"/>
                    </a:solidFill>
                  </a:tcPr>
                </a:tc>
                <a:tc>
                  <a:txBody>
                    <a:bodyPr wrap="none"/>
                    <a:lstStyle/>
                    <a:p>
                      <a:pPr>
                        <a:lnSpc>
                          <a:spcPts val="1600"/>
                        </a:lnSpc>
                        <a:spcAft>
                          <a:spcPts val="0"/>
                        </a:spcAft>
                        <a:defRPr sz="1200" b="1">
                          <a:solidFill>
                            <a:srgbClr val="FFFFFF"/>
                          </a:solidFill>
                          <a:latin typeface="Arial"/>
                        </a:defRPr>
                      </a:pPr>
                      <a:r>
                        <a:t>Recorded detail</a:t>
                      </a:r>
                    </a:p>
                  </a:txBody>
                  <a:tcPr marL="82296" marR="82296" marT="64008" marB="64008">
                    <a:solidFill>
                      <a:srgbClr val="16787C"/>
                    </a:solidFill>
                  </a:tcPr>
                </a:tc>
              </a:tr>
            </a:tbl>
          </a:graphicData>
        </a:graphic>
      </p:graphicFrame>
      <p:graphicFrame>
        <p:nvGraphicFramePr>
          <p:cNvPr id="7" name="Table 6"/>
          <p:cNvGraphicFramePr>
            <a:graphicFrameLocks noGrp="1"/>
          </p:cNvGraphicFramePr>
          <p:nvPr/>
        </p:nvGraphicFramePr>
        <p:xfrm>
          <a:off x="365760" y="1700784"/>
          <a:ext cx="8412479" cy="755904"/>
        </p:xfrm>
        <a:graphic>
          <a:graphicData uri="http://schemas.openxmlformats.org/drawingml/2006/table">
            <a:tbl>
              <a:tblPr firstRow="1" bandRow="1">
                <a:tableStyleId>{5C22544A-7EE6-4342-B048-85BDC9FD1C3A}</a:tableStyleId>
              </a:tblPr>
              <a:tblGrid>
                <a:gridCol w="2271369"/>
                <a:gridCol w="6141110"/>
              </a:tblGrid>
              <a:tr h="755904">
                <a:tc>
                  <a:txBody>
                    <a:bodyPr wrap="none"/>
                    <a:lstStyle/>
                    <a:p>
                      <a:pPr>
                        <a:lnSpc>
                          <a:spcPts val="1600"/>
                        </a:lnSpc>
                        <a:spcAft>
                          <a:spcPts val="0"/>
                        </a:spcAft>
                        <a:defRPr sz="1200" b="0">
                          <a:solidFill>
                            <a:srgbClr val="21243A"/>
                          </a:solidFill>
                          <a:latin typeface="Arial"/>
                        </a:defRPr>
                      </a:pPr>
                      <a:r>
                        <a:t>Ingestion note 2</a:t>
                      </a:r>
                    </a:p>
                  </a:txBody>
                  <a:tcPr marL="82296" marR="82296" marT="64008" marB="64008">
                    <a:solidFill>
                      <a:srgbClr val="FFFFFF"/>
                    </a:solidFill>
                  </a:tcPr>
                </a:tc>
                <a:tc>
                  <a:txBody>
                    <a:bodyPr wrap="none"/>
                    <a:lstStyle/>
                    <a:p>
                      <a:pPr>
                        <a:lnSpc>
                          <a:spcPts val="1600"/>
                        </a:lnSpc>
                        <a:spcAft>
                          <a:spcPts val="0"/>
                        </a:spcAft>
                        <a:defRPr sz="1200" b="0">
                          <a:solidFill>
                            <a:srgbClr val="21243A"/>
                          </a:solidFill>
                          <a:latin typeface="Arial"/>
                        </a:defRPr>
                      </a:pPr>
                      <a:r>
                        <a:t>Method verdict-consistency-2026-09-26.1: directional model votes require</a:t>
                      </a:r>
                    </a:p>
                    <a:p>
                      <a:pPr>
                        <a:lnSpc>
                          <a:spcPts val="1600"/>
                        </a:lnSpc>
                        <a:spcAft>
                          <a:spcPts val="0"/>
                        </a:spcAft>
                        <a:defRPr sz="1200" b="0">
                          <a:solidFill>
                            <a:srgbClr val="21243A"/>
                          </a:solidFill>
                          <a:latin typeface="Arial"/>
                        </a:defRPr>
                      </a:pPr>
                      <a:r>
                        <a:t>matching explicit verdicts and rating thresholds. Inconclusive replies retain their</a:t>
                      </a:r>
                    </a:p>
                    <a:p>
                      <a:pPr>
                        <a:lnSpc>
                          <a:spcPts val="1600"/>
                        </a:lnSpc>
                        <a:spcAft>
                          <a:spcPts val="0"/>
                        </a:spcAft>
                        <a:defRPr sz="1200" b="0">
                          <a:solidFill>
                            <a:srgbClr val="21243A"/>
                          </a:solidFill>
                          <a:latin typeface="Arial"/>
                        </a:defRPr>
                      </a:pPr>
                      <a:r>
                        <a:t>ratings and remain undecided observations.</a:t>
                      </a:r>
                    </a:p>
                  </a:txBody>
                  <a:tcPr marL="82296" marR="82296" marT="64008" marB="64008">
                    <a:solidFill>
                      <a:srgbClr val="FFFFFF"/>
                    </a:solidFill>
                  </a:tcPr>
                </a:tc>
              </a:tr>
            </a:tbl>
          </a:graphicData>
        </a:graphic>
      </p:graphicFrame>
      <p:graphicFrame>
        <p:nvGraphicFramePr>
          <p:cNvPr id="8" name="Table 7"/>
          <p:cNvGraphicFramePr>
            <a:graphicFrameLocks noGrp="1"/>
          </p:cNvGraphicFramePr>
          <p:nvPr/>
        </p:nvGraphicFramePr>
        <p:xfrm>
          <a:off x="365760" y="2456688"/>
          <a:ext cx="8412479" cy="959103"/>
        </p:xfrm>
        <a:graphic>
          <a:graphicData uri="http://schemas.openxmlformats.org/drawingml/2006/table">
            <a:tbl>
              <a:tblPr firstRow="1" bandRow="1">
                <a:tableStyleId>{5C22544A-7EE6-4342-B048-85BDC9FD1C3A}</a:tableStyleId>
              </a:tblPr>
              <a:tblGrid>
                <a:gridCol w="2271369"/>
                <a:gridCol w="6141110"/>
              </a:tblGrid>
              <a:tr h="959103">
                <a:tc>
                  <a:txBody>
                    <a:bodyPr wrap="none"/>
                    <a:lstStyle/>
                    <a:p>
                      <a:pPr>
                        <a:lnSpc>
                          <a:spcPts val="1600"/>
                        </a:lnSpc>
                        <a:spcAft>
                          <a:spcPts val="0"/>
                        </a:spcAft>
                        <a:defRPr sz="1200" b="0">
                          <a:solidFill>
                            <a:srgbClr val="21243A"/>
                          </a:solidFill>
                          <a:latin typeface="Arial"/>
                        </a:defRPr>
                      </a:pPr>
                      <a:r>
                        <a:t>Ingestion note 3</a:t>
                      </a:r>
                    </a:p>
                  </a:txBody>
                  <a:tcPr marL="82296" marR="82296" marT="64008" marB="64008">
                    <a:solidFill>
                      <a:srgbClr val="F1F7F7"/>
                    </a:solidFill>
                  </a:tcPr>
                </a:tc>
                <a:tc>
                  <a:txBody>
                    <a:bodyPr wrap="none"/>
                    <a:lstStyle/>
                    <a:p>
                      <a:pPr>
                        <a:lnSpc>
                          <a:spcPts val="1600"/>
                        </a:lnSpc>
                        <a:spcAft>
                          <a:spcPts val="0"/>
                        </a:spcAft>
                        <a:defRPr sz="1200" b="0">
                          <a:solidFill>
                            <a:srgbClr val="21243A"/>
                          </a:solidFill>
                          <a:latin typeface="Arial"/>
                        </a:defRPr>
                      </a:pPr>
                      <a:r>
                        <a:t>Presentation copy of saved report 6faeca61-589d-4810-8b3a-aec00dfb18e5. The</a:t>
                      </a:r>
                    </a:p>
                    <a:p>
                      <a:pPr>
                        <a:lnSpc>
                          <a:spcPts val="1600"/>
                        </a:lnSpc>
                        <a:spcAft>
                          <a:spcPts val="0"/>
                        </a:spcAft>
                        <a:defRPr sz="1200" b="0">
                          <a:solidFill>
                            <a:srgbClr val="21243A"/>
                          </a:solidFill>
                          <a:latin typeface="Arial"/>
                        </a:defRPr>
                      </a:pPr>
                      <a:r>
                        <a:t>descriptive filename replaces the earlier example ID for navigation. Original</a:t>
                      </a:r>
                    </a:p>
                    <a:p>
                      <a:pPr>
                        <a:lnSpc>
                          <a:spcPts val="1600"/>
                        </a:lnSpc>
                        <a:spcAft>
                          <a:spcPts val="0"/>
                        </a:spcAft>
                        <a:defRPr sz="1200" b="0">
                          <a:solidFill>
                            <a:srgbClr val="21243A"/>
                          </a:solidFill>
                          <a:latin typeface="Arial"/>
                        </a:defRPr>
                      </a:pPr>
                      <a:r>
                        <a:t>analysis dates, provider replies, scores and acquisition context are retained; no</a:t>
                      </a:r>
                    </a:p>
                    <a:p>
                      <a:pPr>
                        <a:lnSpc>
                          <a:spcPts val="1600"/>
                        </a:lnSpc>
                        <a:spcAft>
                          <a:spcPts val="0"/>
                        </a:spcAft>
                        <a:defRPr sz="1200" b="0">
                          <a:solidFill>
                            <a:srgbClr val="21243A"/>
                          </a:solidFill>
                          <a:latin typeface="Arial"/>
                        </a:defRPr>
                      </a:pPr>
                      <a:r>
                        <a:t>new model analysis.</a:t>
                      </a:r>
                    </a:p>
                  </a:txBody>
                  <a:tcPr marL="82296" marR="82296" marT="64008" marB="64008">
                    <a:solidFill>
                      <a:srgbClr val="F1F7F7"/>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