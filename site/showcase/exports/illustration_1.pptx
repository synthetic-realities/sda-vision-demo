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illustration-1.png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Assessment summary</a:t>
            </a:r>
          </a:p>
          <a:p>
            <a:r>
              <a:t>Finding | Leaning synthetic</a:t>
            </a:r>
          </a:p>
          <a:p>
            <a:r>
              <a:t>Recorded verdict | synthetic likely</a:t>
            </a:r>
          </a:p>
          <a:p>
            <a:r>
              <a:t>Confidence | high</a:t>
            </a:r>
          </a:p>
          <a:p>
            <a:r>
              <a:t>Indicative rating | 78/100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overview</a:t>
            </a:r>
          </a:p>
          <a:p>
            <a:r>
              <a:t>Claude Vision | vision / ok | synthetic likely | 82/100</a:t>
            </a:r>
          </a:p>
          <a:p>
            <a:r>
              <a:t>OpenAI Vision | vision / ok | synthetic likely | 78/100</a:t>
            </a:r>
          </a:p>
          <a:p>
            <a:r>
              <a:t>Gemini Vision | vision / ok | synthetic likely | 72/100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82/100; tells: not a camera photo: digital illustration in a uniform, polished comic/ink-and-colour style typical of current image generators, hyper-consistent line weight and cel shading across all figures with no stroke variation or construction marks, noisy, fragmented texture in the grey curly hair, resembling generator detail artifacts rather than deliberate strokes, tablet screen shows an indistinct garden/playground scene with smeared, non-specific detail</a:t>
            </a:r>
          </a:p>
          <a:p>
            <a:r>
              <a:t>Evidence 1 | Not a camera photo: digital illustration in a uniform, polished comic/ink-and-colour style typical of current image generators</a:t>
            </a:r>
          </a:p>
          <a:p>
            <a:r>
              <a:t>Evidence 2 | Hyper-consistent line weight and cel shading across all figures with no stroke variation or construction marks</a:t>
            </a:r>
          </a:p>
          <a:p>
            <a:r>
              <a:t>Evidence 3 | Noisy, fragmented texture in the grey curly hair, resembling generator detail artifacts rather than deliberate strokes</a:t>
            </a:r>
          </a:p>
          <a:p>
            <a:r>
              <a:t>Evidence 4 | Tablet screen shows an indistinct garden/playground scene with smeared, non-specific detail</a:t>
            </a:r>
          </a:p>
          <a:p>
            <a:r>
              <a:t>Evidence 5 | Wheelchair spokes and frame are mostly plausible but slightly irregular in spacing and junctions</a:t>
            </a:r>
          </a:p>
          <a:p>
            <a:r>
              <a:t>Evidence 6 | Hands are well formed overall, which lowers but does not remove suspicion</a:t>
            </a:r>
          </a:p>
          <a:p>
            <a:r>
              <a:t>Evidence 7 | Stock-style composition, clean white background, no signature, no watermark</a:t>
            </a:r>
          </a:p>
          <a:p>
            <a:r>
              <a:t>Evidence 8 | Caveat: Skilled human digital illustrators can produce this polished style, and the hands and anatomy are largely coherent. Style cues alone cannot confirm AI origin, so check file metadata/C2PA, the artist's source, or reverse image search.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82/100; tells: not a camera photo: digital illustration in a uniform, polished comic/ink-and-colour style typical of current image generators, hyper-consistent line weight and cel shading across all figures with no stroke variation or construction marks, noisy, fragmented texture in the grey curly hair, resembling generator detail artifacts rather than deliberate strokes, tablet screen shows an indistinct garden/playground scene with smeared, non-specific detail</a:t>
            </a:r>
          </a:p>
          <a:p>
            <a:r>
              <a:t>Evidence 1 | Not a camera photo: digital illustration in a uniform, polished comic/ink-and-colour style typical of current image generators</a:t>
            </a:r>
          </a:p>
          <a:p>
            <a:r>
              <a:t>Evidence 2 | Hyper-consistent line weight and cel shading across all figures with no stroke variation or construction marks</a:t>
            </a:r>
          </a:p>
          <a:p>
            <a:r>
              <a:t>Evidence 3 | Noisy, fragmented texture in the grey curly hair, resembling generator detail artifacts rather than deliberate strokes</a:t>
            </a:r>
          </a:p>
          <a:p>
            <a:r>
              <a:t>Evidence 4 | Tablet screen shows an indistinct garden/playground scene with smeared, non-specific detail</a:t>
            </a:r>
          </a:p>
          <a:p>
            <a:r>
              <a:t>Evidence 5 | Wheelchair spokes and frame are mostly plausible but slightly irregular in spacing and junctions</a:t>
            </a:r>
          </a:p>
          <a:p>
            <a:r>
              <a:t>Evidence 6 | Hands are well formed overall, which lowers but does not remove suspicion</a:t>
            </a:r>
          </a:p>
          <a:p>
            <a:r>
              <a:t>Evidence 7 | Stock-style composition, clean white background, no signature, no watermark</a:t>
            </a:r>
          </a:p>
          <a:p>
            <a:r>
              <a:t>Evidence 8 | Caveat: Skilled human digital illustrators can produce this polished style, and the hands and anatomy are largely coherent. Style cues alone cannot confirm AI origin, so check file metadata/C2PA, the artist's source, or reverse image 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Older woman's gray hair contains tangled, ribbon-like shapes inconsistent with the other hair rendering., Wheelchair spokes and lower frame tubes form irregular junctions and ambiguous connections., Gesturing hands have uneven finger separation and merged-looking contours., Tablet garden has noticeably softer, less defined detail than the surrounding outlined illustration.</a:t>
            </a:r>
          </a:p>
          <a:p>
            <a:r>
              <a:t>Evidence 1 | Older woman's gray hair contains tangled, ribbon-like shapes inconsistent with the other hair rendering.</a:t>
            </a:r>
          </a:p>
          <a:p>
            <a:r>
              <a:t>Evidence 2 | Wheelchair spokes and lower frame tubes form irregular junctions and ambiguous connections.</a:t>
            </a:r>
          </a:p>
          <a:p>
            <a:r>
              <a:t>Evidence 3 | Gesturing hands have uneven finger separation and merged-looking contours.</a:t>
            </a:r>
          </a:p>
          <a:p>
            <a:r>
              <a:t>Evidence 4 | Tablet garden has noticeably softer, less defined detail than the surrounding outlined illustration.</a:t>
            </a:r>
          </a:p>
          <a:p>
            <a:r>
              <a:t>Evidence 5 | Caveat: This is a digital illustration, not a photograph; stylized drawing errors alone cannot establish AI origin without provenance.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Older woman's gray hair contains tangled, ribbon-like shapes inconsistent with the other hair rendering., Wheelchair spokes and lower frame tubes form irregular junctions and ambiguous connections., Gesturing hands have uneven finger separation and merged-looking contours., Tablet garden has noticeably softer, less defined detail than the surrounding outlined illustration.</a:t>
            </a:r>
          </a:p>
          <a:p>
            <a:r>
              <a:t>Evidence 1 | Older woman's gray hair contains tangled, ribbon-like shapes inconsistent with the other hair rendering.</a:t>
            </a:r>
          </a:p>
          <a:p>
            <a:r>
              <a:t>Evidence 2 | Wheelchair spokes and lower frame tubes form irregular junctions and ambiguous connections.</a:t>
            </a:r>
          </a:p>
          <a:p>
            <a:r>
              <a:t>Evidence 3 | Gesturing hands have uneven finger separation and merged-looking contours.</a:t>
            </a:r>
          </a:p>
          <a:p>
            <a:r>
              <a:t>Evidence 4 | Tablet garden has noticeably softer, less defined detail than the surrounding outlined illustration.</a:t>
            </a:r>
          </a:p>
          <a:p>
            <a:r>
              <a:t>Evidence 5 | Caveat: This is a digital illustration, not a photograph; stylized drawing errors alone cannot establish AI origin without provenance.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72/100; tells: stylized digital line art with subtle AI generative markers, irregular finger proportions and geometry, overly smooth shading gradients typical of generative models, inconsistent perspective on wheelchair spokes</a:t>
            </a:r>
          </a:p>
          <a:p>
            <a:r>
              <a:t>Evidence 1 | Stylized digital line art with subtle AI generative markers</a:t>
            </a:r>
          </a:p>
          <a:p>
            <a:r>
              <a:t>Evidence 2 | Irregular finger proportions and geometry</a:t>
            </a:r>
          </a:p>
          <a:p>
            <a:r>
              <a:t>Evidence 3 | Overly smooth shading gradients typical of generative models</a:t>
            </a:r>
          </a:p>
          <a:p>
            <a:r>
              <a:t>Evidence 4 | Inconsistent perspective on wheelchair spokes</a:t>
            </a:r>
          </a:p>
          <a:p>
            <a:r>
              <a:t>Evidence 5 | Caveat: High-quality human digital vector/raster illustrations often closely resemble generative 2D art styles.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72/100; tells: stylized digital line art with subtle AI generative markers, irregular finger proportions and geometry, overly smooth shading gradients typical of generative models, inconsistent perspective on wheelchair spokes</a:t>
            </a:r>
          </a:p>
          <a:p>
            <a:r>
              <a:t>Evidence 1 | Stylized digital line art with subtle AI generative markers</a:t>
            </a:r>
          </a:p>
          <a:p>
            <a:r>
              <a:t>Evidence 2 | Irregular finger proportions and geometry</a:t>
            </a:r>
          </a:p>
          <a:p>
            <a:r>
              <a:t>Evidence 3 | Overly smooth shading gradients typical of generative models</a:t>
            </a:r>
          </a:p>
          <a:p>
            <a:r>
              <a:t>Evidence 4 | Inconsistent perspective on wheelchair spokes</a:t>
            </a:r>
          </a:p>
          <a:p>
            <a:r>
              <a:t>Evidence 5 | Caveat: High-quality human digital vector/raster illustrations often closely resemble generative 2D art styles.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1.9, peak 96 (uniform high ELA can indicate generation/heavy edit).</a:t>
            </a:r>
          </a:p>
          <a:p>
            <a:r>
              <a:t>Evidence 3 | High-frequency noise std 11.51 (very low/very uniform noise is a synthesis cue).</a:t>
            </a:r>
          </a:p>
          <a:p>
            <a:r>
              <a:t>Evidence 4 | Spectral peakiness 21.99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Evidence supporting this verdict</a:t>
            </a:r>
          </a:p>
          <a:p>
            <a:r>
              <a:t>Claude Vision | synthetic likelihood 82/100; tells: not a camera photo: digital illustration in a uniform, polished comic/ink-and-colour style typical of current image generators, hyper-consistent line weight and cel shading across all figures with no stroke variation or construction marks, noisy, fragmented texture in the grey curly hair, resembling generator detail artifacts rather than deliberate strokes, tablet screen shows an indistinct garden/playground scene with smeared, non-specific detail</a:t>
            </a:r>
          </a:p>
          <a:p>
            <a:r>
              <a:t>OpenAI Vision | synthetic likelihood 78/100; tells: Older woman's gray hair contains tangled, ribbon-like shapes inconsistent with the other hair rendering., Wheelchair spokes and lower frame tubes form irregular junctions and ambiguous connections., Gesturing hands have uneven finger separation and merged-looking contours., Tablet garden has noticeably softer, less defined detail than the surrounding outlined illustration.</a:t>
            </a:r>
          </a:p>
          <a:p>
            <a:r>
              <a:t>Gemini Vision | synthetic likelihood 72/100; tells: stylized digital line art with subtle AI generative markers, irregular finger proportions and geometry, overly smooth shading gradients typical of generative models, inconsistent perspective on wheelchair spokes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Additional findings</a:t>
            </a:r>
          </a:p>
          <a:p>
            <a:r>
              <a:t>Local forensic cues | Supporting observation; considered alongside the model assessments.</a:t>
            </a:r>
          </a:p>
          <a:p>
            <a:r>
              <a:t>C2PA Content Credentials | File integrity: validated. Signer trust: unresolved under the current local policy. The recorded declarations remain available for review and are not used as a decisive provenance finding. Manifest declares AI-generated content.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File and analysis record</a:t>
            </a:r>
          </a:p>
          <a:p>
            <a:r>
              <a:t>File | illustration-1.png</a:t>
            </a:r>
          </a:p>
          <a:p>
            <a:r>
              <a:t>Analysis ID | b5b0ad60-55ee-4036-9903-631bccce3d5b</a:t>
            </a:r>
          </a:p>
          <a:p>
            <a:r>
              <a:t>Generated | 2026-09-26T22:31:03+00:00</a:t>
            </a:r>
          </a:p>
          <a:p>
            <a:r>
              <a:t>Tool | SDA Vision 0.1.0</a:t>
            </a:r>
          </a:p>
          <a:p>
            <a:r>
              <a:t>Models | claude-opus-5-5, gemini-3.8-flash, gpt-6-astra</a:t>
            </a:r>
          </a:p>
          <a:p>
            <a:r>
              <a:t>Method version | pdf-preparation-2026-09-26.1</a:t>
            </a:r>
          </a:p>
          <a:p>
            <a:r>
              <a:t>Analysis lens | general</a:t>
            </a:r>
          </a:p>
          <a:p>
            <a:r>
              <a:t>Original SHA-256 | 137f1b7c292c882be741e1a6c881ab4a2082c7dd6ab2181d63304000a0d92252</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1485900" y="1353312"/>
            <a:ext cx="617220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illustration-1.png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82/100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72/100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not a camera photo: digital illustration in a</a:t>
                      </a:r>
                    </a:p>
                    <a:p>
                      <a:pPr>
                        <a:lnSpc>
                          <a:spcPts val="1600"/>
                        </a:lnSpc>
                        <a:spcAft>
                          <a:spcPts val="0"/>
                        </a:spcAft>
                        <a:defRPr sz="1200" b="0">
                          <a:solidFill>
                            <a:srgbClr val="21243A"/>
                          </a:solidFill>
                          <a:latin typeface="Arial"/>
                        </a:defRPr>
                      </a:pPr>
                      <a:r>
                        <a:t>uniform, polished comic/ink-and-colour style typical of current image generators,</a:t>
                      </a:r>
                    </a:p>
                    <a:p>
                      <a:pPr>
                        <a:lnSpc>
                          <a:spcPts val="1600"/>
                        </a:lnSpc>
                        <a:spcAft>
                          <a:spcPts val="0"/>
                        </a:spcAft>
                        <a:defRPr sz="1200" b="0">
                          <a:solidFill>
                            <a:srgbClr val="21243A"/>
                          </a:solidFill>
                          <a:latin typeface="Arial"/>
                        </a:defRPr>
                      </a:pPr>
                      <a:r>
                        <a:t>hyper-consistent line weight and cel shading across all figures with no stroke</a:t>
                      </a:r>
                    </a:p>
                    <a:p>
                      <a:pPr>
                        <a:lnSpc>
                          <a:spcPts val="1600"/>
                        </a:lnSpc>
                        <a:spcAft>
                          <a:spcPts val="0"/>
                        </a:spcAft>
                        <a:defRPr sz="1200" b="0">
                          <a:solidFill>
                            <a:srgbClr val="21243A"/>
                          </a:solidFill>
                          <a:latin typeface="Arial"/>
                        </a:defRPr>
                      </a:pPr>
                      <a:r>
                        <a:t>variation or construction marks, noisy, fragmented texture in the grey curly hair,</a:t>
                      </a:r>
                    </a:p>
                    <a:p>
                      <a:pPr>
                        <a:lnSpc>
                          <a:spcPts val="1600"/>
                        </a:lnSpc>
                        <a:spcAft>
                          <a:spcPts val="0"/>
                        </a:spcAft>
                        <a:defRPr sz="1200" b="0">
                          <a:solidFill>
                            <a:srgbClr val="21243A"/>
                          </a:solidFill>
                          <a:latin typeface="Arial"/>
                        </a:defRPr>
                      </a:pPr>
                      <a:r>
                        <a:t>resembling generator detail artifacts rather than deliberate strokes, tablet screen</a:t>
                      </a:r>
                    </a:p>
                    <a:p>
                      <a:pPr>
                        <a:lnSpc>
                          <a:spcPts val="1600"/>
                        </a:lnSpc>
                        <a:spcAft>
                          <a:spcPts val="0"/>
                        </a:spcAft>
                        <a:defRPr sz="1200" b="0">
                          <a:solidFill>
                            <a:srgbClr val="21243A"/>
                          </a:solidFill>
                          <a:latin typeface="Arial"/>
                        </a:defRPr>
                      </a:pPr>
                      <a:r>
                        <a:t>shows an indistinct garden/playground scene with smeared, non-specific detail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a camera photo: digital illustration in a uniform, polished</a:t>
                      </a:r>
                    </a:p>
                    <a:p>
                      <a:pPr>
                        <a:lnSpc>
                          <a:spcPts val="1600"/>
                        </a:lnSpc>
                        <a:spcAft>
                          <a:spcPts val="0"/>
                        </a:spcAft>
                        <a:defRPr sz="1200" b="0">
                          <a:solidFill>
                            <a:srgbClr val="21243A"/>
                          </a:solidFill>
                          <a:latin typeface="Arial"/>
                        </a:defRPr>
                      </a:pPr>
                      <a:r>
                        <a:t>comic/ink-and-colour style typical of current image generators</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Hyper-consistent line weight and cel shading across all figures with no stroke</a:t>
                      </a:r>
                    </a:p>
                    <a:p>
                      <a:pPr>
                        <a:lnSpc>
                          <a:spcPts val="1600"/>
                        </a:lnSpc>
                        <a:spcAft>
                          <a:spcPts val="0"/>
                        </a:spcAft>
                        <a:defRPr sz="1200" b="0">
                          <a:solidFill>
                            <a:srgbClr val="21243A"/>
                          </a:solidFill>
                          <a:latin typeface="Arial"/>
                        </a:defRPr>
                      </a:pPr>
                      <a:r>
                        <a:t>variation or construction marks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Noisy, fragmented texture in the grey curly hair, resembling generator detail</a:t>
                      </a:r>
                    </a:p>
                    <a:p>
                      <a:pPr>
                        <a:lnSpc>
                          <a:spcPts val="1600"/>
                        </a:lnSpc>
                        <a:spcAft>
                          <a:spcPts val="0"/>
                        </a:spcAft>
                        <a:defRPr sz="1200" b="0">
                          <a:solidFill>
                            <a:srgbClr val="21243A"/>
                          </a:solidFill>
                          <a:latin typeface="Arial"/>
                        </a:defRPr>
                      </a:pPr>
                      <a:r>
                        <a:t>artifacts rather than deliberate strokes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Tablet screen shows an indistinct garden/playground scene with smeared,</a:t>
                      </a:r>
                    </a:p>
                    <a:p>
                      <a:pPr>
                        <a:lnSpc>
                          <a:spcPts val="1600"/>
                        </a:lnSpc>
                        <a:spcAft>
                          <a:spcPts val="0"/>
                        </a:spcAft>
                        <a:defRPr sz="1200" b="0">
                          <a:solidFill>
                            <a:srgbClr val="21243A"/>
                          </a:solidFill>
                          <a:latin typeface="Arial"/>
                        </a:defRPr>
                      </a:pPr>
                      <a:r>
                        <a:t>non-specific detail</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3588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Wheelchair spokes and frame are mostly plausible but slightly irregular in spacing</a:t>
                      </a:r>
                    </a:p>
                    <a:p>
                      <a:pPr>
                        <a:lnSpc>
                          <a:spcPts val="1600"/>
                        </a:lnSpc>
                        <a:spcAft>
                          <a:spcPts val="0"/>
                        </a:spcAft>
                        <a:defRPr sz="1200" b="0">
                          <a:solidFill>
                            <a:srgbClr val="21243A"/>
                          </a:solidFill>
                          <a:latin typeface="Arial"/>
                        </a:defRPr>
                      </a:pPr>
                      <a:r>
                        <a:t>and junctions</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9116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Hands are well formed overall, which lowers but does not remove suspicion</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2611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Stock-style composition, clean white background, no signature, no watermark</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6106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Skilled human digital illustrators can produce this polished style, and the</a:t>
                      </a:r>
                    </a:p>
                    <a:p>
                      <a:pPr>
                        <a:lnSpc>
                          <a:spcPts val="1600"/>
                        </a:lnSpc>
                        <a:spcAft>
                          <a:spcPts val="0"/>
                        </a:spcAft>
                        <a:defRPr sz="1200" b="0">
                          <a:solidFill>
                            <a:srgbClr val="21243A"/>
                          </a:solidFill>
                          <a:latin typeface="Arial"/>
                        </a:defRPr>
                      </a:pPr>
                      <a:r>
                        <a:t>hands and anatomy are largely coherent. Style cues alone cannot confirm AI</a:t>
                      </a:r>
                    </a:p>
                    <a:p>
                      <a:pPr>
                        <a:lnSpc>
                          <a:spcPts val="1600"/>
                        </a:lnSpc>
                        <a:spcAft>
                          <a:spcPts val="0"/>
                        </a:spcAft>
                        <a:defRPr sz="1200" b="0">
                          <a:solidFill>
                            <a:srgbClr val="21243A"/>
                          </a:solidFill>
                          <a:latin typeface="Arial"/>
                        </a:defRPr>
                      </a:pPr>
                      <a:r>
                        <a:t>origin, so check file metadata/C2PA, the artist's source, or reverse image search.</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78/100; tells: Older woman's gray hair contains tangled,</a:t>
                      </a:r>
                    </a:p>
                    <a:p>
                      <a:pPr>
                        <a:lnSpc>
                          <a:spcPts val="1600"/>
                        </a:lnSpc>
                        <a:spcAft>
                          <a:spcPts val="0"/>
                        </a:spcAft>
                        <a:defRPr sz="1200" b="0">
                          <a:solidFill>
                            <a:srgbClr val="21243A"/>
                          </a:solidFill>
                          <a:latin typeface="Arial"/>
                        </a:defRPr>
                      </a:pPr>
                      <a:r>
                        <a:t>ribbon-like shapes inconsistent with the other hair rendering., Wheelchair spokes</a:t>
                      </a:r>
                    </a:p>
                    <a:p>
                      <a:pPr>
                        <a:lnSpc>
                          <a:spcPts val="1600"/>
                        </a:lnSpc>
                        <a:spcAft>
                          <a:spcPts val="0"/>
                        </a:spcAft>
                        <a:defRPr sz="1200" b="0">
                          <a:solidFill>
                            <a:srgbClr val="21243A"/>
                          </a:solidFill>
                          <a:latin typeface="Arial"/>
                        </a:defRPr>
                      </a:pPr>
                      <a:r>
                        <a:t>and lower frame tubes form irregular junctions and ambiguous connections.,</a:t>
                      </a:r>
                    </a:p>
                    <a:p>
                      <a:pPr>
                        <a:lnSpc>
                          <a:spcPts val="1600"/>
                        </a:lnSpc>
                        <a:spcAft>
                          <a:spcPts val="0"/>
                        </a:spcAft>
                        <a:defRPr sz="1200" b="0">
                          <a:solidFill>
                            <a:srgbClr val="21243A"/>
                          </a:solidFill>
                          <a:latin typeface="Arial"/>
                        </a:defRPr>
                      </a:pPr>
                      <a:r>
                        <a:t>Gesturing hands have uneven finger separation and merged-looking contours.,</a:t>
                      </a:r>
                    </a:p>
                    <a:p>
                      <a:pPr>
                        <a:lnSpc>
                          <a:spcPts val="1600"/>
                        </a:lnSpc>
                        <a:spcAft>
                          <a:spcPts val="0"/>
                        </a:spcAft>
                        <a:defRPr sz="1200" b="0">
                          <a:solidFill>
                            <a:srgbClr val="21243A"/>
                          </a:solidFill>
                          <a:latin typeface="Arial"/>
                        </a:defRPr>
                      </a:pPr>
                      <a:r>
                        <a:t>Tablet garden has noticeably softer, less defined detail than the surrounding</a:t>
                      </a:r>
                    </a:p>
                    <a:p>
                      <a:pPr>
                        <a:lnSpc>
                          <a:spcPts val="1600"/>
                        </a:lnSpc>
                        <a:spcAft>
                          <a:spcPts val="0"/>
                        </a:spcAft>
                        <a:defRPr sz="1200" b="0">
                          <a:solidFill>
                            <a:srgbClr val="21243A"/>
                          </a:solidFill>
                          <a:latin typeface="Arial"/>
                        </a:defRPr>
                      </a:pPr>
                      <a:r>
                        <a:t>outlined illustration.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Older woman's gray hair contains tangled, ribbon-like shapes inconsistent with</a:t>
                      </a:r>
                    </a:p>
                    <a:p>
                      <a:pPr>
                        <a:lnSpc>
                          <a:spcPts val="1600"/>
                        </a:lnSpc>
                        <a:spcAft>
                          <a:spcPts val="0"/>
                        </a:spcAft>
                        <a:defRPr sz="1200" b="0">
                          <a:solidFill>
                            <a:srgbClr val="21243A"/>
                          </a:solidFill>
                          <a:latin typeface="Arial"/>
                        </a:defRPr>
                      </a:pPr>
                      <a:r>
                        <a:t>the other hair rendering.</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Wheelchair spokes and lower frame tubes form irregular junctions and</a:t>
                      </a:r>
                    </a:p>
                    <a:p>
                      <a:pPr>
                        <a:lnSpc>
                          <a:spcPts val="1600"/>
                        </a:lnSpc>
                        <a:spcAft>
                          <a:spcPts val="0"/>
                        </a:spcAft>
                        <a:defRPr sz="1200" b="0">
                          <a:solidFill>
                            <a:srgbClr val="21243A"/>
                          </a:solidFill>
                          <a:latin typeface="Arial"/>
                        </a:defRPr>
                      </a:pPr>
                      <a:r>
                        <a:t>ambiguous connections.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Gesturing hands have uneven finger separation and merged-looking contours.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Tablet garden has noticeably softer, less defined detail than the surrounding</a:t>
                      </a:r>
                    </a:p>
                    <a:p>
                      <a:pPr>
                        <a:lnSpc>
                          <a:spcPts val="1600"/>
                        </a:lnSpc>
                        <a:spcAft>
                          <a:spcPts val="0"/>
                        </a:spcAft>
                        <a:defRPr sz="1200" b="0">
                          <a:solidFill>
                            <a:srgbClr val="21243A"/>
                          </a:solidFill>
                          <a:latin typeface="Arial"/>
                        </a:defRPr>
                      </a:pPr>
                      <a:r>
                        <a:t>outlined illustration.</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1556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 digital illustration, not a photograph; stylized drawing errors</a:t>
                      </a:r>
                    </a:p>
                    <a:p>
                      <a:pPr>
                        <a:lnSpc>
                          <a:spcPts val="1600"/>
                        </a:lnSpc>
                        <a:spcAft>
                          <a:spcPts val="0"/>
                        </a:spcAft>
                        <a:defRPr sz="1200" b="0">
                          <a:solidFill>
                            <a:srgbClr val="21243A"/>
                          </a:solidFill>
                          <a:latin typeface="Arial"/>
                        </a:defRPr>
                      </a:pPr>
                      <a:r>
                        <a:t>alone cannot establish AI origin without provenance.</a:t>
                      </a:r>
                    </a:p>
                  </a:txBody>
                  <a:tcPr marL="82296" marR="82296" marT="64008" marB="6400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72/100; tells: stylized digital line art with subtle AI generative</a:t>
                      </a:r>
                    </a:p>
                    <a:p>
                      <a:pPr>
                        <a:lnSpc>
                          <a:spcPts val="1600"/>
                        </a:lnSpc>
                        <a:spcAft>
                          <a:spcPts val="0"/>
                        </a:spcAft>
                        <a:defRPr sz="1200" b="0">
                          <a:solidFill>
                            <a:srgbClr val="21243A"/>
                          </a:solidFill>
                          <a:latin typeface="Arial"/>
                        </a:defRPr>
                      </a:pPr>
                      <a:r>
                        <a:t>markers, irregular finger proportions and geometry, overly smooth shading</a:t>
                      </a:r>
                    </a:p>
                    <a:p>
                      <a:pPr>
                        <a:lnSpc>
                          <a:spcPts val="1600"/>
                        </a:lnSpc>
                        <a:spcAft>
                          <a:spcPts val="0"/>
                        </a:spcAft>
                        <a:defRPr sz="1200" b="0">
                          <a:solidFill>
                            <a:srgbClr val="21243A"/>
                          </a:solidFill>
                          <a:latin typeface="Arial"/>
                        </a:defRPr>
                      </a:pPr>
                      <a:r>
                        <a:t>gradients typical of generative models, inconsistent perspective on wheelchair</a:t>
                      </a:r>
                    </a:p>
                    <a:p>
                      <a:pPr>
                        <a:lnSpc>
                          <a:spcPts val="1600"/>
                        </a:lnSpc>
                        <a:spcAft>
                          <a:spcPts val="0"/>
                        </a:spcAft>
                        <a:defRPr sz="1200" b="0">
                          <a:solidFill>
                            <a:srgbClr val="21243A"/>
                          </a:solidFill>
                          <a:latin typeface="Arial"/>
                        </a:defRPr>
                      </a:pPr>
                      <a:r>
                        <a:t>spokes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Stylized digital line art with subtle AI generative markers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Irregular finger proportions and geometry</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Overly smooth shading gradients typical of generative models</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Inconsistent perspective on wheelchair spokes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High-quality human digital vector/raster illustrations often closely</a:t>
                      </a:r>
                    </a:p>
                    <a:p>
                      <a:pPr>
                        <a:lnSpc>
                          <a:spcPts val="1600"/>
                        </a:lnSpc>
                        <a:spcAft>
                          <a:spcPts val="0"/>
                        </a:spcAft>
                        <a:defRPr sz="1200" b="0">
                          <a:solidFill>
                            <a:srgbClr val="21243A"/>
                          </a:solidFill>
                          <a:latin typeface="Arial"/>
                        </a:defRPr>
                      </a:pPr>
                      <a:r>
                        <a:t>resemble generative 2D art styles.</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Credentials: embedded manifest found.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Integrity: valid (SDK validation).</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Signer trust: untrusted under the configured verifier.</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manifest: Manifest declares AI-generated content.</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Claim generator (declared tool): OpenAI Media Service API</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Declared signer: OpenAI OpCo, LLC</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Declared source type:</a:t>
                      </a:r>
                    </a:p>
                    <a:p>
                      <a:pPr>
                        <a:lnSpc>
                          <a:spcPts val="1600"/>
                        </a:lnSpc>
                        <a:spcAft>
                          <a:spcPts val="0"/>
                        </a:spcAft>
                        <a:defRPr sz="1200" b="0">
                          <a:solidFill>
                            <a:srgbClr val="21243A"/>
                          </a:solidFill>
                          <a:latin typeface="Arial"/>
                        </a:defRPr>
                      </a:pPr>
                      <a:r>
                        <a:t>http://cv.iptc.org/newscodes/digitalsourcetype/trainedalgorithmicmedia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record - declared tool: OpenAI Media Service API; actions: c2pa.created,</a:t>
                      </a:r>
                    </a:p>
                    <a:p>
                      <a:pPr>
                        <a:lnSpc>
                          <a:spcPts val="1600"/>
                        </a:lnSpc>
                        <a:spcAft>
                          <a:spcPts val="0"/>
                        </a:spcAft>
                        <a:defRPr sz="1200" b="0">
                          <a:solidFill>
                            <a:srgbClr val="21243A"/>
                          </a:solidFill>
                          <a:latin typeface="Arial"/>
                        </a:defRPr>
                      </a:pPr>
                      <a:r>
                        <a:t>c2pa.converted, c2pa.watermarked.unbound.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8547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Active record - all actions recorded (signer's declaration): no.</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2042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signingCredential.untrusted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timeStamp.validated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claimSignature.insideValidity</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claimSignature.validated</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assertion.hashedURI.match</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assertion.dataHash.match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timeStamp.untrusted</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8547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1.9, peak 96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11.51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21.99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82/100; tells: not a camera photo: digital illustration in a</a:t>
                      </a:r>
                    </a:p>
                    <a:p>
                      <a:pPr>
                        <a:lnSpc>
                          <a:spcPts val="1600"/>
                        </a:lnSpc>
                        <a:spcAft>
                          <a:spcPts val="0"/>
                        </a:spcAft>
                        <a:defRPr sz="1200" b="0">
                          <a:solidFill>
                            <a:srgbClr val="21243A"/>
                          </a:solidFill>
                          <a:latin typeface="Arial"/>
                        </a:defRPr>
                      </a:pPr>
                      <a:r>
                        <a:t>uniform, polished comic/ink-and-colour style typical of current image generators,</a:t>
                      </a:r>
                    </a:p>
                    <a:p>
                      <a:pPr>
                        <a:lnSpc>
                          <a:spcPts val="1600"/>
                        </a:lnSpc>
                        <a:spcAft>
                          <a:spcPts val="0"/>
                        </a:spcAft>
                        <a:defRPr sz="1200" b="0">
                          <a:solidFill>
                            <a:srgbClr val="21243A"/>
                          </a:solidFill>
                          <a:latin typeface="Arial"/>
                        </a:defRPr>
                      </a:pPr>
                      <a:r>
                        <a:t>hyper-consistent line weight and cel shading across all figures with no stroke</a:t>
                      </a:r>
                    </a:p>
                    <a:p>
                      <a:pPr>
                        <a:lnSpc>
                          <a:spcPts val="1600"/>
                        </a:lnSpc>
                        <a:spcAft>
                          <a:spcPts val="0"/>
                        </a:spcAft>
                        <a:defRPr sz="1200" b="0">
                          <a:solidFill>
                            <a:srgbClr val="21243A"/>
                          </a:solidFill>
                          <a:latin typeface="Arial"/>
                        </a:defRPr>
                      </a:pPr>
                      <a:r>
                        <a:t>variation or construction marks, noisy, fragmented texture in the grey curly hair,</a:t>
                      </a:r>
                    </a:p>
                    <a:p>
                      <a:pPr>
                        <a:lnSpc>
                          <a:spcPts val="1600"/>
                        </a:lnSpc>
                        <a:spcAft>
                          <a:spcPts val="0"/>
                        </a:spcAft>
                        <a:defRPr sz="1200" b="0">
                          <a:solidFill>
                            <a:srgbClr val="21243A"/>
                          </a:solidFill>
                          <a:latin typeface="Arial"/>
                        </a:defRPr>
                      </a:pPr>
                      <a:r>
                        <a:t>resembling generator detail artifacts rather than deliberate strokes, tablet screen</a:t>
                      </a:r>
                    </a:p>
                    <a:p>
                      <a:pPr>
                        <a:lnSpc>
                          <a:spcPts val="1600"/>
                        </a:lnSpc>
                        <a:spcAft>
                          <a:spcPts val="0"/>
                        </a:spcAft>
                        <a:defRPr sz="1200" b="0">
                          <a:solidFill>
                            <a:srgbClr val="21243A"/>
                          </a:solidFill>
                          <a:latin typeface="Arial"/>
                        </a:defRPr>
                      </a:pPr>
                      <a:r>
                        <a:t>shows an indistinct garden/playground scene with smeared, non-specific detail</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78/100; tells: Older woman's gray hair contains tangled,</a:t>
                      </a:r>
                    </a:p>
                    <a:p>
                      <a:pPr>
                        <a:lnSpc>
                          <a:spcPts val="1600"/>
                        </a:lnSpc>
                        <a:spcAft>
                          <a:spcPts val="0"/>
                        </a:spcAft>
                        <a:defRPr sz="1200" b="0">
                          <a:solidFill>
                            <a:srgbClr val="21243A"/>
                          </a:solidFill>
                          <a:latin typeface="Arial"/>
                        </a:defRPr>
                      </a:pPr>
                      <a:r>
                        <a:t>ribbon-like shapes inconsistent with the other hair rendering., Wheelchair spokes</a:t>
                      </a:r>
                    </a:p>
                    <a:p>
                      <a:pPr>
                        <a:lnSpc>
                          <a:spcPts val="1600"/>
                        </a:lnSpc>
                        <a:spcAft>
                          <a:spcPts val="0"/>
                        </a:spcAft>
                        <a:defRPr sz="1200" b="0">
                          <a:solidFill>
                            <a:srgbClr val="21243A"/>
                          </a:solidFill>
                          <a:latin typeface="Arial"/>
                        </a:defRPr>
                      </a:pPr>
                      <a:r>
                        <a:t>and lower frame tubes form irregular junctions and ambiguous connections.,</a:t>
                      </a:r>
                    </a:p>
                    <a:p>
                      <a:pPr>
                        <a:lnSpc>
                          <a:spcPts val="1600"/>
                        </a:lnSpc>
                        <a:spcAft>
                          <a:spcPts val="0"/>
                        </a:spcAft>
                        <a:defRPr sz="1200" b="0">
                          <a:solidFill>
                            <a:srgbClr val="21243A"/>
                          </a:solidFill>
                          <a:latin typeface="Arial"/>
                        </a:defRPr>
                      </a:pPr>
                      <a:r>
                        <a:t>Gesturing hands have uneven finger separation and merged-looking contours.,</a:t>
                      </a:r>
                    </a:p>
                    <a:p>
                      <a:pPr>
                        <a:lnSpc>
                          <a:spcPts val="1600"/>
                        </a:lnSpc>
                        <a:spcAft>
                          <a:spcPts val="0"/>
                        </a:spcAft>
                        <a:defRPr sz="1200" b="0">
                          <a:solidFill>
                            <a:srgbClr val="21243A"/>
                          </a:solidFill>
                          <a:latin typeface="Arial"/>
                        </a:defRPr>
                      </a:pPr>
                      <a:r>
                        <a:t>Tablet garden has noticeably softer, less defined detail than the surrounding</a:t>
                      </a:r>
                    </a:p>
                    <a:p>
                      <a:pPr>
                        <a:lnSpc>
                          <a:spcPts val="1600"/>
                        </a:lnSpc>
                        <a:spcAft>
                          <a:spcPts val="0"/>
                        </a:spcAft>
                        <a:defRPr sz="1200" b="0">
                          <a:solidFill>
                            <a:srgbClr val="21243A"/>
                          </a:solidFill>
                          <a:latin typeface="Arial"/>
                        </a:defRPr>
                      </a:pPr>
                      <a:r>
                        <a:t>outlined illustration.</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431792"/>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72/100; tells: stylized digital line art with subtle AI generative</a:t>
                      </a:r>
                    </a:p>
                    <a:p>
                      <a:pPr>
                        <a:lnSpc>
                          <a:spcPts val="1600"/>
                        </a:lnSpc>
                        <a:spcAft>
                          <a:spcPts val="0"/>
                        </a:spcAft>
                        <a:defRPr sz="1200" b="0">
                          <a:solidFill>
                            <a:srgbClr val="21243A"/>
                          </a:solidFill>
                          <a:latin typeface="Arial"/>
                        </a:defRPr>
                      </a:pPr>
                      <a:r>
                        <a:t>markers, irregular finger proportions and geometry, overly smooth shading</a:t>
                      </a:r>
                    </a:p>
                    <a:p>
                      <a:pPr>
                        <a:lnSpc>
                          <a:spcPts val="1600"/>
                        </a:lnSpc>
                        <a:spcAft>
                          <a:spcPts val="0"/>
                        </a:spcAft>
                        <a:defRPr sz="1200" b="0">
                          <a:solidFill>
                            <a:srgbClr val="21243A"/>
                          </a:solidFill>
                          <a:latin typeface="Arial"/>
                        </a:defRPr>
                      </a:pPr>
                      <a:r>
                        <a:t>gradients typical of generative models, inconsistent perspective on wheelchair</a:t>
                      </a:r>
                    </a:p>
                    <a:p>
                      <a:pPr>
                        <a:lnSpc>
                          <a:spcPts val="1600"/>
                        </a:lnSpc>
                        <a:spcAft>
                          <a:spcPts val="0"/>
                        </a:spcAft>
                        <a:defRPr sz="1200" b="0">
                          <a:solidFill>
                            <a:srgbClr val="21243A"/>
                          </a:solidFill>
                          <a:latin typeface="Arial"/>
                        </a:defRPr>
                      </a:pPr>
                      <a:r>
                        <a:t>spokes</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illustration-1.png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b5b0ad60-55ee-4036-9903-631bccce3d5b</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2026-09-26T22:31:03+00:00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137f1b7c292c882be741e1a6c881ab4a2082c7dd6ab2181d63304000a0d92252</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