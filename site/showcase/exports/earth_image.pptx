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earth-image.jpg</a:t>
            </a:r>
          </a:p>
          <a:p>
            <a:r>
              <a:t>earth-image.jpg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earth-image.jpg</a:t>
            </a:r>
          </a:p>
          <a:p>
            <a:r>
              <a:t>Assessment summary</a:t>
            </a:r>
          </a:p>
          <a:p>
            <a:r>
              <a:t>Finding | Leaning authentic</a:t>
            </a:r>
          </a:p>
          <a:p>
            <a:r>
              <a:t>Recorded verdict | authentic likely</a:t>
            </a:r>
          </a:p>
          <a:p>
            <a:r>
              <a:t>Confidence | medium</a:t>
            </a:r>
          </a:p>
          <a:p>
            <a:r>
              <a:t>Indicative rating | 5/100</a:t>
            </a:r>
          </a:p>
          <a:p>
            <a:r>
              <a:t>Rating basis | median of available model ratings; not a calibrated probability</a:t>
            </a:r>
          </a:p>
          <a:p>
            <a:r>
              <a:t>Explanation | 3 models lean authentic with matching verdicts and ratings. Review the other findings, original source and context alongside this result.</a:t>
            </a:r>
          </a:p>
          <a:p>
            <a:r>
              <a:t>Coverage | image - 1 frame(s) analysed</a:t>
            </a:r>
          </a:p>
          <a:p>
            <a:r>
              <a:t>Review context | Research assessment. Review alongside source information and context. When credentials are missing, origin remains unresolved by this check. Use these findings to inform a documented human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earth-image.jpg</a:t>
            </a:r>
          </a:p>
          <a:p>
            <a:r>
              <a:t>Provider overview</a:t>
            </a:r>
          </a:p>
          <a:p>
            <a:r>
              <a:t>Claude Vision | vision / ok | authentic likely | 5/100</a:t>
            </a:r>
          </a:p>
          <a:p>
            <a:r>
              <a:t>OpenAI Vision | vision / ok | authentic likely | 2/100</a:t>
            </a:r>
          </a:p>
          <a:p>
            <a:r>
              <a:t>Gemini Vision | vision / ok | authentic likely | 15/100</a:t>
            </a:r>
          </a:p>
          <a:p>
            <a:r>
              <a:t>C2PA Content Credentials | provenance / ok | inconclusive | n/a</a:t>
            </a:r>
          </a:p>
          <a:p>
            <a:r>
              <a:t>Local forensic cues | forensic / ok | partially synthetic | 47/100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earth-image.jpg</a:t>
            </a:r>
          </a:p>
          <a:p>
            <a:r>
              <a:t>Provider evidence / 1</a:t>
            </a:r>
          </a:p>
          <a:p>
            <a:r>
              <a:t>Provider | Claude Vision</a:t>
            </a:r>
          </a:p>
          <a:p>
            <a:r>
              <a:t>Model | claude-opus-5-5</a:t>
            </a:r>
          </a:p>
          <a:p>
            <a:r>
              <a:t>Status | ok</a:t>
            </a:r>
          </a:p>
          <a:p>
            <a:r>
              <a:t>Assessment | authentic likely</a:t>
            </a:r>
          </a:p>
          <a:p>
            <a:r>
              <a:t>Confidence | high</a:t>
            </a:r>
          </a:p>
          <a:p>
            <a:r>
              <a:t>Role in assessment | Supporting</a:t>
            </a:r>
          </a:p>
          <a:p>
            <a:r>
              <a:t>Provider summary | synthetic likelihood 5/100; tells: composition matches the widely circulated 1972 Apollo 17 'Blue Marble' photograph (AS17-148-22727), geographically accurate Africa, Arabian Peninsula, Red Sea, Gulf of Aden and Madagascar outlines, Antarctic ice cap consistent with December solstice illumination, physically coherent cloud structures: cyclonic swirls, frontal bands, open-cell cumulus fields</a:t>
            </a:r>
          </a:p>
          <a:p>
            <a:r>
              <a:t>Evidence 1 | Composition matches the widely circulated 1972 Apollo 17 'Blue Marble' photograph (AS17-148-22727)</a:t>
            </a:r>
          </a:p>
          <a:p>
            <a:r>
              <a:t>Evidence 2 | Geographically accurate Africa, Arabian Peninsula, Red Sea, Gulf of Aden and Madagascar outlines</a:t>
            </a:r>
          </a:p>
          <a:p>
            <a:r>
              <a:t>Evidence 3 | Antarctic ice cap consistent with December solstice illumination</a:t>
            </a:r>
          </a:p>
          <a:p>
            <a:r>
              <a:t>Evidence 4 | Physically coherent cloud structures: cyclonic swirls, frontal bands, open-cell cumulus fields</a:t>
            </a:r>
          </a:p>
          <a:p>
            <a:r>
              <a:t>Evidence 5 | Film-scan grain and slight color cast consistent with analog Hasselblad film digitization</a:t>
            </a:r>
          </a:p>
          <a:p>
            <a:r>
              <a:t>Evidence 6 | Natural limb darkening and atmospheric haze at globe edge</a:t>
            </a:r>
          </a:p>
          <a:p>
            <a:r>
              <a:t>Evidence 7 | No repeating textures, smeared regions or implausible landmass shapes typical of generative models</a:t>
            </a:r>
          </a:p>
          <a:p>
            <a:r>
              <a:t>Evidence 8 | Caveat: Visual match to a famous archival photo is strong, but a high-quality AI recreation or a color-adjusted/re-edited version could look similar; confirm via reverse image search against the NASA archive original and check file metadata.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earth-image.jpg</a:t>
            </a:r>
          </a:p>
          <a:p>
            <a:r>
              <a:t>Provider evidence / 1</a:t>
            </a:r>
          </a:p>
          <a:p>
            <a:r>
              <a:t>Provider | Claude Vision</a:t>
            </a:r>
          </a:p>
          <a:p>
            <a:r>
              <a:t>Model | claude-opus-5-5</a:t>
            </a:r>
          </a:p>
          <a:p>
            <a:r>
              <a:t>Status | ok</a:t>
            </a:r>
          </a:p>
          <a:p>
            <a:r>
              <a:t>Assessment | authentic likely</a:t>
            </a:r>
          </a:p>
          <a:p>
            <a:r>
              <a:t>Confidence | high</a:t>
            </a:r>
          </a:p>
          <a:p>
            <a:r>
              <a:t>Role in assessment | Supporting</a:t>
            </a:r>
          </a:p>
          <a:p>
            <a:r>
              <a:t>Provider summary | synthetic likelihood 5/100; tells: composition matches the widely circulated 1972 Apollo 17 'Blue Marble' photograph (AS17-148-22727), geographically accurate Africa, Arabian Peninsula, Red Sea, Gulf of Aden and Madagascar outlines, Antarctic ice cap consistent with December solstice illumination, physically coherent cloud structures: cyclonic swirls, frontal bands, open-cell cumulus fields</a:t>
            </a:r>
          </a:p>
          <a:p>
            <a:r>
              <a:t>Evidence 1 | Composition matches the widely circulated 1972 Apollo 17 'Blue Marble' photograph (AS17-148-22727)</a:t>
            </a:r>
          </a:p>
          <a:p>
            <a:r>
              <a:t>Evidence 2 | Geographically accurate Africa, Arabian Peninsula, Red Sea, Gulf of Aden and Madagascar outlines</a:t>
            </a:r>
          </a:p>
          <a:p>
            <a:r>
              <a:t>Evidence 3 | Antarctic ice cap consistent with December solstice illumination</a:t>
            </a:r>
          </a:p>
          <a:p>
            <a:r>
              <a:t>Evidence 4 | Physically coherent cloud structures: cyclonic swirls, frontal bands, open-cell cumulus fields</a:t>
            </a:r>
          </a:p>
          <a:p>
            <a:r>
              <a:t>Evidence 5 | Film-scan grain and slight color cast consistent with analog Hasselblad film digitization</a:t>
            </a:r>
          </a:p>
          <a:p>
            <a:r>
              <a:t>Evidence 6 | Natural limb darkening and atmospheric haze at globe edge</a:t>
            </a:r>
          </a:p>
          <a:p>
            <a:r>
              <a:t>Evidence 7 | No repeating textures, smeared regions or implausible landmass shapes typical of generative models</a:t>
            </a:r>
          </a:p>
          <a:p>
            <a:r>
              <a:t>Evidence 8 | Caveat: Visual match to a famous archival photo is strong, but a high-quality AI recreation or a color-adjusted/re-edited version could look similar; confirm via reverse image search against the NASA archive original and check file metadata.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earth-image.jpg</a:t>
            </a:r>
          </a:p>
          <a:p>
            <a:r>
              <a:t>Provider evidence / 2</a:t>
            </a:r>
          </a:p>
          <a:p>
            <a:r>
              <a:t>Provider | OpenAI Vision</a:t>
            </a:r>
          </a:p>
          <a:p>
            <a:r>
              <a:t>Model | gpt-6-astra</a:t>
            </a:r>
          </a:p>
          <a:p>
            <a:r>
              <a:t>Status | ok</a:t>
            </a:r>
          </a:p>
          <a:p>
            <a:r>
              <a:t>Assessment | authentic likely</a:t>
            </a:r>
          </a:p>
          <a:p>
            <a:r>
              <a:t>Confidence | high</a:t>
            </a:r>
          </a:p>
          <a:p>
            <a:r>
              <a:t>Role in assessment | Supporting</a:t>
            </a:r>
          </a:p>
          <a:p>
            <a:r>
              <a:t>Provider summary | synthetic likelihood 2/100; tells: Coherent coastlines of Africa, Madagascar and the Arabian Peninsula, Irregular, finely detailed cloud systems with consistent spherical foreshortening, Natural atmospheric haze and gradual shading around Earth's limb, Fine photographic grain and slight color fringing along the globe edge</a:t>
            </a:r>
          </a:p>
          <a:p>
            <a:r>
              <a:t>Evidence 1 | Coherent coastlines of Africa, Madagascar and the Arabian Peninsula</a:t>
            </a:r>
          </a:p>
          <a:p>
            <a:r>
              <a:t>Evidence 2 | Irregular, finely detailed cloud systems with consistent spherical foreshortening</a:t>
            </a:r>
          </a:p>
          <a:p>
            <a:r>
              <a:t>Evidence 3 | Natural atmospheric haze and gradual shading around Earth's limb</a:t>
            </a:r>
          </a:p>
          <a:p>
            <a:r>
              <a:t>Evidence 4 | Fine photographic grain and slight color fringing along the globe edge</a:t>
            </a:r>
          </a:p>
          <a:p>
            <a:r>
              <a:t>Evidence 5 | Caveat: Resembles the historical Blue Marble photograph; source-file comparison is needed to establish provenance and exclude subtle edits.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earth-image.jpg</a:t>
            </a:r>
          </a:p>
          <a:p>
            <a:r>
              <a:t>Provider evidence / 2</a:t>
            </a:r>
          </a:p>
          <a:p>
            <a:r>
              <a:t>Provider | OpenAI Vision</a:t>
            </a:r>
          </a:p>
          <a:p>
            <a:r>
              <a:t>Model | gpt-6-astra</a:t>
            </a:r>
          </a:p>
          <a:p>
            <a:r>
              <a:t>Status | ok</a:t>
            </a:r>
          </a:p>
          <a:p>
            <a:r>
              <a:t>Assessment | authentic likely</a:t>
            </a:r>
          </a:p>
          <a:p>
            <a:r>
              <a:t>Confidence | high</a:t>
            </a:r>
          </a:p>
          <a:p>
            <a:r>
              <a:t>Role in assessment | Supporting</a:t>
            </a:r>
          </a:p>
          <a:p>
            <a:r>
              <a:t>Provider summary | synthetic likelihood 2/100; tells: Coherent coastlines of Africa, Madagascar and the Arabian Peninsula, Irregular, finely detailed cloud systems with consistent spherical foreshortening, Natural atmospheric haze and gradual shading around Earth's limb, Fine photographic grain and slight color fringing along the globe edge</a:t>
            </a:r>
          </a:p>
          <a:p>
            <a:r>
              <a:t>Evidence 1 | Coherent coastlines of Africa, Madagascar and the Arabian Peninsula</a:t>
            </a:r>
          </a:p>
          <a:p>
            <a:r>
              <a:t>Evidence 2 | Irregular, finely detailed cloud systems with consistent spherical foreshortening</a:t>
            </a:r>
          </a:p>
          <a:p>
            <a:r>
              <a:t>Evidence 3 | Natural atmospheric haze and gradual shading around Earth's limb</a:t>
            </a:r>
          </a:p>
          <a:p>
            <a:r>
              <a:t>Evidence 4 | Fine photographic grain and slight color fringing along the globe edge</a:t>
            </a:r>
          </a:p>
          <a:p>
            <a:r>
              <a:t>Evidence 5 | Caveat: Resembles the historical Blue Marble photograph; source-file comparison is needed to establish provenance and exclude subtle edits.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earth-image.jpg</a:t>
            </a:r>
          </a:p>
          <a:p>
            <a:r>
              <a:t>Provider evidence / 3</a:t>
            </a:r>
          </a:p>
          <a:p>
            <a:r>
              <a:t>Provider | Gemini Vision</a:t>
            </a:r>
          </a:p>
          <a:p>
            <a:r>
              <a:t>Model | gemini-3.8-flash</a:t>
            </a:r>
          </a:p>
          <a:p>
            <a:r>
              <a:t>Status | ok</a:t>
            </a:r>
          </a:p>
          <a:p>
            <a:r>
              <a:t>Assessment | authentic likely</a:t>
            </a:r>
          </a:p>
          <a:p>
            <a:r>
              <a:t>Confidence | high</a:t>
            </a:r>
          </a:p>
          <a:p>
            <a:r>
              <a:t>Role in assessment | Supporting</a:t>
            </a:r>
          </a:p>
          <a:p>
            <a:r>
              <a:t>Provider summary | synthetic likelihood 15/100; tells: authentic Apollo 17 'Blue Marble' photograph, natural film grain structure, consistent atmospheric limb glow, accurate meteorological cloud swirls</a:t>
            </a:r>
          </a:p>
          <a:p>
            <a:r>
              <a:t>Evidence 1 | Authentic Apollo 17 'Blue Marble' photograph</a:t>
            </a:r>
          </a:p>
          <a:p>
            <a:r>
              <a:t>Evidence 2 | Natural film grain structure</a:t>
            </a:r>
          </a:p>
          <a:p>
            <a:r>
              <a:t>Evidence 3 | Consistent atmospheric limb glow</a:t>
            </a:r>
          </a:p>
          <a:p>
            <a:r>
              <a:t>Evidence 4 | Accurate meteorological cloud swirls</a:t>
            </a:r>
          </a:p>
          <a:p>
            <a:r>
              <a:t>Evidence 5 | Caveat: High-profile historic images are frequently duplicated, cropped, or color-adjusted across digital archives.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earth-image.jpg</a:t>
            </a:r>
          </a:p>
          <a:p>
            <a:r>
              <a:t>Provider evidence / 3</a:t>
            </a:r>
          </a:p>
          <a:p>
            <a:r>
              <a:t>Provider | Gemini Vision</a:t>
            </a:r>
          </a:p>
          <a:p>
            <a:r>
              <a:t>Model | gemini-3.8-flash</a:t>
            </a:r>
          </a:p>
          <a:p>
            <a:r>
              <a:t>Status | ok</a:t>
            </a:r>
          </a:p>
          <a:p>
            <a:r>
              <a:t>Assessment | authentic likely</a:t>
            </a:r>
          </a:p>
          <a:p>
            <a:r>
              <a:t>Confidence | high</a:t>
            </a:r>
          </a:p>
          <a:p>
            <a:r>
              <a:t>Role in assessment | Supporting</a:t>
            </a:r>
          </a:p>
          <a:p>
            <a:r>
              <a:t>Provider summary | synthetic likelihood 15/100; tells: authentic Apollo 17 'Blue Marble' photograph, natural film grain structure, consistent atmospheric limb glow, accurate meteorological cloud swirls</a:t>
            </a:r>
          </a:p>
          <a:p>
            <a:r>
              <a:t>Evidence 1 | Authentic Apollo 17 'Blue Marble' photograph</a:t>
            </a:r>
          </a:p>
          <a:p>
            <a:r>
              <a:t>Evidence 2 | Natural film grain structure</a:t>
            </a:r>
          </a:p>
          <a:p>
            <a:r>
              <a:t>Evidence 3 | Consistent atmospheric limb glow</a:t>
            </a:r>
          </a:p>
          <a:p>
            <a:r>
              <a:t>Evidence 4 | Accurate meteorological cloud swirls</a:t>
            </a:r>
          </a:p>
          <a:p>
            <a:r>
              <a:t>Evidence 5 | Caveat: High-profile historic images are frequently duplicated, cropped, or color-adjusted across digital archives.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earth-image.jpg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earth-image.jpg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Embedded credentials: none found. Origin remains unresolved by this check.</a:t>
            </a:r>
          </a:p>
          <a:p>
            <a:r>
              <a:t>Evidence 1 | Coverage: credentials embedded in the submitted file. External credentials were not retrieved.</a:t>
            </a:r>
          </a:p>
          <a:p>
            <a:r>
              <a:t>Evidence 2 | Verifier: c2pa-python 0.37.12; native SDK 0.91.0; specification target 2.4; policy embedded-offline-reviewed-trust-v3.</a:t>
            </a:r>
          </a:p>
          <a:p>
            <a:r>
              <a:t>Evidence 3 | Offline embedded-manifest verification; no network trust-list, manifest or revocation refresh.</a:t>
            </a:r>
          </a:p>
          <a:p>
            <a:r>
              <a:t>Evidence 4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earth-image.jpg</a:t>
            </a:r>
          </a:p>
          <a:p>
            <a:r>
              <a:t>Provider evidence / 5</a:t>
            </a:r>
          </a:p>
          <a:p>
            <a:r>
              <a:t>Provider | Local forensic cues</a:t>
            </a:r>
          </a:p>
          <a:p>
            <a:r>
              <a:t>Model | Not recorded</a:t>
            </a:r>
          </a:p>
          <a:p>
            <a:r>
              <a:t>Status | ok</a:t>
            </a:r>
          </a:p>
          <a:p>
            <a:r>
              <a:t>Assessment | partially synthetic</a:t>
            </a:r>
          </a:p>
          <a:p>
            <a:r>
              <a:t>Confidence | low</a:t>
            </a:r>
          </a:p>
          <a:p>
            <a:r>
              <a:t>Role in assessment | Additional finding</a:t>
            </a:r>
          </a:p>
          <a:p>
            <a:r>
              <a:t>Provider summary | Heuristic synthetic likelihood 47/100 from metadata + pixel statistics.</a:t>
            </a:r>
          </a:p>
          <a:p>
            <a:r>
              <a:t>Evidence 1 | No camera EXIF (common in AI exports, screenshots, and re-saves).</a:t>
            </a:r>
          </a:p>
          <a:p>
            <a:r>
              <a:t>Evidence 2 | ELA mean 0.5, peak 10 (uniform high ELA can indicate generation/heavy edit).</a:t>
            </a:r>
          </a:p>
          <a:p>
            <a:r>
              <a:t>Evidence 3 | High-frequency noise std 4.61 (very low/very uniform noise is a synthesis cue).</a:t>
            </a:r>
          </a:p>
          <a:p>
            <a:r>
              <a:t>Evidence 4 | Spectral peakiness 25.63 (periodic frequency peaks can mark generated textures).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earth-image.jpg</a:t>
            </a:r>
          </a:p>
          <a:p>
            <a:r>
              <a:t>Evidence supporting this verdict</a:t>
            </a:r>
          </a:p>
          <a:p>
            <a:r>
              <a:t>Claude Vision | synthetic likelihood 5/100; tells: composition matches the widely circulated 1972 Apollo 17 'Blue Marble' photograph (AS17-148-22727), geographically accurate Africa, Arabian Peninsula, Red Sea, Gulf of Aden and Madagascar outlines, Antarctic ice cap consistent with December solstice illumination, physically coherent cloud structures: cyclonic swirls, frontal bands, open-cell cumulus fields</a:t>
            </a:r>
          </a:p>
          <a:p>
            <a:r>
              <a:t>OpenAI Vision | synthetic likelihood 2/100; tells: Coherent coastlines of Africa, Madagascar and the Arabian Peninsula, Irregular, finely detailed cloud systems with consistent spherical foreshortening, Natural atmospheric haze and gradual shading around Earth's limb, Fine photographic grain and slight color fringing along the globe edge</a:t>
            </a:r>
          </a:p>
          <a:p>
            <a:r>
              <a:t>Gemini Vision | synthetic likelihood 15/100; tells: authentic Apollo 17 'Blue Marble' photograph, natural film grain structure, consistent atmospheric limb glow, accurate meteorological cloud swirls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earth-image.jpg</a:t>
            </a:r>
          </a:p>
          <a:p>
            <a:r>
              <a:t>Additional findings</a:t>
            </a:r>
          </a:p>
          <a:p>
            <a:r>
              <a:t>Local forensic cues | Supporting observation; considered alongside the model assessments.</a:t>
            </a:r>
          </a:p>
          <a:p>
            <a:r>
              <a:t>C2PA Content Credentials | Embedded credentials: none found. Origin remains unresolved by this check.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earth-image.jpg</a:t>
            </a:r>
          </a:p>
          <a:p>
            <a:r>
              <a:t>How this assessment was reached</a:t>
            </a:r>
          </a:p>
          <a:p>
            <a:r>
              <a:t>1. override | outcome=none; detail=No confirmed C2PA AI assertion or SynthID watermark. Origin remains unresolved by these checks.</a:t>
            </a:r>
          </a:p>
          <a:p>
            <a:r>
              <a:t>2. model_agreement | synthetic=[]; authentic=['Claude Vision', 'OpenAI Vision', 'Gemini Vision']; uncertain=[]; forensic_supports_synthetic=False</a:t>
            </a:r>
          </a:p>
          <a:p>
            <a:r>
              <a:t>3. verdict | value=authentic_likely; confidence=medium; reason=3 models lean authentic with matching verdicts and ratings. Review the other findings, original source and context alongside this result.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earth-image.jpg</a:t>
            </a:r>
          </a:p>
          <a:p>
            <a:r>
              <a:t>File and analysis record</a:t>
            </a:r>
          </a:p>
          <a:p>
            <a:r>
              <a:t>File | earth-image.jpg</a:t>
            </a:r>
          </a:p>
          <a:p>
            <a:r>
              <a:t>Analysis ID | b8bb2ceb-20cc-4afd-a616-7cbaace7f08a</a:t>
            </a:r>
          </a:p>
          <a:p>
            <a:r>
              <a:t>Generated | 2026-09-26T17:54:47+00:00</a:t>
            </a:r>
          </a:p>
          <a:p>
            <a:r>
              <a:t>Tool | SDA Vision 0.1.0</a:t>
            </a:r>
          </a:p>
          <a:p>
            <a:r>
              <a:t>Models | claude-opus-5-5, gemini-3.8-flash, gpt-6-astra</a:t>
            </a:r>
          </a:p>
          <a:p>
            <a:r>
              <a:t>Method version | verdict-consistency-2026-09-26.1</a:t>
            </a:r>
          </a:p>
          <a:p>
            <a:r>
              <a:t>Analysis lens | general</a:t>
            </a:r>
          </a:p>
          <a:p>
            <a:r>
              <a:t>Original SHA-256 | a4bad2aba040fd992aff7483eee6166943e232061b82d7149b2060786719753b</a:t>
            </a:r>
          </a:p>
          <a:p>
            <a:r>
              <a:t>Ingestion note 1 | Recomputed locally from the same saved provider replies acquired under run five-examples-20260926-r1. No new provider requests. Original report 6201ac7a-3540-405f-b234-0346b77f7672 was generated at 2026-09-26T17:38:41+00:00 under method publication-repair-2026-09-24.3; that report is preserved.</a:t>
            </a:r>
          </a:p>
          <a:p>
            <a:r>
              <a:t>Ingestion note 2 | Method verdict-consistency-2026-09-26.1: directional model votes require matching explicit verdicts and rating thresholds. Inconclusive replies retain their ratings and remain undecided observations.</a:t>
            </a:r>
          </a:p>
          <a:p>
            <a:r>
              <a:t>Ingestion note 3 | Presentation copy of saved report cf784e2f-0554-4bed-8880-c825ae7b8282. The descriptive filename replaces the earlier example ID for navigation. Original analysis dates, provider replies, scores and acquisition context are retained; no new model analysis.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earth-image.jpg</a:t>
            </a:r>
          </a:p>
          <a:p>
            <a:r>
              <a:t>File and analysis record</a:t>
            </a:r>
          </a:p>
          <a:p>
            <a:r>
              <a:t>File | earth-image.jpg</a:t>
            </a:r>
          </a:p>
          <a:p>
            <a:r>
              <a:t>Analysis ID | b8bb2ceb-20cc-4afd-a616-7cbaace7f08a</a:t>
            </a:r>
          </a:p>
          <a:p>
            <a:r>
              <a:t>Generated | 2026-09-26T17:54:47+00:00</a:t>
            </a:r>
          </a:p>
          <a:p>
            <a:r>
              <a:t>Tool | SDA Vision 0.1.0</a:t>
            </a:r>
          </a:p>
          <a:p>
            <a:r>
              <a:t>Models | claude-opus-5-5, gemini-3.8-flash, gpt-6-astra</a:t>
            </a:r>
          </a:p>
          <a:p>
            <a:r>
              <a:t>Method version | verdict-consistency-2026-09-26.1</a:t>
            </a:r>
          </a:p>
          <a:p>
            <a:r>
              <a:t>Analysis lens | general</a:t>
            </a:r>
          </a:p>
          <a:p>
            <a:r>
              <a:t>Original SHA-256 | a4bad2aba040fd992aff7483eee6166943e232061b82d7149b2060786719753b</a:t>
            </a:r>
          </a:p>
          <a:p>
            <a:r>
              <a:t>Ingestion note 1 | Recomputed locally from the same saved provider replies acquired under run five-examples-20260926-r1. No new provider requests. Original report 6201ac7a-3540-405f-b234-0346b77f7672 was generated at 2026-09-26T17:38:41+00:00 under method publication-repair-2026-09-24.3; that report is preserved.</a:t>
            </a:r>
          </a:p>
          <a:p>
            <a:r>
              <a:t>Ingestion note 2 | Method verdict-consistency-2026-09-26.1: directional model votes require matching explicit verdicts and rating thresholds. Inconclusive replies retain their ratings and remain undecided observations.</a:t>
            </a:r>
          </a:p>
          <a:p>
            <a:r>
              <a:t>Ingestion note 3 | Presentation copy of saved report cf784e2f-0554-4bed-8880-c825ae7b8282. The descriptive filename replaces the earlier example ID for navigation. Original analysis dates, provider replies, scores and acquisition context are retained; no new model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Analysed item</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a:t>
            </a:r>
          </a:p>
        </p:txBody>
      </p:sp>
      <p:pic>
        <p:nvPicPr>
          <p:cNvPr id="6" name="Picture 5" descr="image.jpg"/>
          <p:cNvPicPr>
            <a:picLocks noChangeAspect="1"/>
          </p:cNvPicPr>
          <p:nvPr/>
        </p:nvPicPr>
        <p:blipFill>
          <a:blip r:embed="rId3"/>
          <a:stretch>
            <a:fillRect/>
          </a:stretch>
        </p:blipFill>
        <p:spPr>
          <a:xfrm>
            <a:off x="2514600" y="1353312"/>
            <a:ext cx="4114800" cy="4114800"/>
          </a:xfrm>
          <a:prstGeom prst="rect">
            <a:avLst/>
          </a:prstGeom>
        </p:spPr>
      </p:pic>
      <p:sp>
        <p:nvSpPr>
          <p:cNvPr id="7" name="TextBox 6"/>
          <p:cNvSpPr txBox="1"/>
          <p:nvPr/>
        </p:nvSpPr>
        <p:spPr>
          <a:xfrm>
            <a:off x="365760" y="5532120"/>
            <a:ext cx="8412480" cy="594360"/>
          </a:xfrm>
          <a:prstGeom prst="rect">
            <a:avLst/>
          </a:prstGeom>
          <a:noFill/>
        </p:spPr>
        <p:txBody>
          <a:bodyPr wrap="square" lIns="0" rIns="0" tIns="0" bIns="0">
            <a:spAutoFit/>
          </a:bodyPr>
          <a:lstStyle/>
          <a:p>
            <a:pPr>
              <a:lnSpc>
                <a:spcPct val="115000"/>
              </a:lnSpc>
              <a:spcAft>
                <a:spcPts val="0"/>
              </a:spcAft>
              <a:defRPr sz="1100" b="0">
                <a:solidFill>
                  <a:srgbClr val="21243A"/>
                </a:solidFill>
                <a:latin typeface="Arial"/>
              </a:defRPr>
            </a:pPr>
            <a:r>
              <a:t>earth-image.jpg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summary</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Finding</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Leaning authentic</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authentic likely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Indicative rating</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5/100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Rating basis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median of available model ratings; not a calibrated probability</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Explanation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3 models lean authentic with matching verdicts and ratings. Review the other</a:t>
                      </a:r>
                    </a:p>
                    <a:p>
                      <a:pPr>
                        <a:lnSpc>
                          <a:spcPts val="1600"/>
                        </a:lnSpc>
                        <a:spcAft>
                          <a:spcPts val="0"/>
                        </a:spcAft>
                        <a:defRPr sz="1200" b="0">
                          <a:solidFill>
                            <a:srgbClr val="21243A"/>
                          </a:solidFill>
                          <a:latin typeface="Arial"/>
                        </a:defRPr>
                      </a:pPr>
                      <a:r>
                        <a:t>findings, original source and context alongside this result.</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40010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Coverage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image - 1 frame(s) analysed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3505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Review context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Research assessment. Review alongside source information and context. When</a:t>
                      </a:r>
                    </a:p>
                    <a:p>
                      <a:pPr>
                        <a:lnSpc>
                          <a:spcPts val="1600"/>
                        </a:lnSpc>
                        <a:spcAft>
                          <a:spcPts val="0"/>
                        </a:spcAft>
                        <a:defRPr sz="1200" b="0">
                          <a:solidFill>
                            <a:srgbClr val="21243A"/>
                          </a:solidFill>
                          <a:latin typeface="Arial"/>
                        </a:defRPr>
                      </a:pPr>
                      <a:r>
                        <a:t>credentials are missing, origin remains unresolved by this check. Use these</a:t>
                      </a:r>
                    </a:p>
                    <a:p>
                      <a:pPr>
                        <a:lnSpc>
                          <a:spcPts val="1600"/>
                        </a:lnSpc>
                        <a:spcAft>
                          <a:spcPts val="0"/>
                        </a:spcAft>
                        <a:defRPr sz="1200" b="0">
                          <a:solidFill>
                            <a:srgbClr val="21243A"/>
                          </a:solidFill>
                          <a:latin typeface="Arial"/>
                        </a:defRPr>
                      </a:pPr>
                      <a:r>
                        <a:t>findings to inform a documented human review.</a:t>
                      </a:r>
                    </a:p>
                  </a:txBody>
                  <a:tcPr marL="82296" marR="82296" marT="64008" marB="64008">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overview</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3</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691993"/>
                <a:gridCol w="1850745"/>
                <a:gridCol w="2523744"/>
                <a:gridCol w="1345996"/>
              </a:tblGrid>
              <a:tr h="347472">
                <a:tc>
                  <a:txBody>
                    <a:bodyPr wrap="none"/>
                    <a:lstStyle/>
                    <a:p>
                      <a:pPr>
                        <a:lnSpc>
                          <a:spcPts val="1600"/>
                        </a:lnSpc>
                        <a:spcAft>
                          <a:spcPts val="0"/>
                        </a:spcAft>
                        <a:defRPr sz="1200" b="1">
                          <a:solidFill>
                            <a:srgbClr val="FFFFFF"/>
                          </a:solidFill>
                          <a:latin typeface="Arial"/>
                        </a:defRPr>
                      </a:pPr>
                      <a:r>
                        <a:t>Provider</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Type / status</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authentic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5/100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authentic likely</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2/100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authentic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15/100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provenance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forensic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47/100</a:t>
                      </a:r>
                    </a:p>
                  </a:txBody>
                  <a:tcPr marL="82296" marR="82296" marT="64008" marB="64008">
                    <a:solidFill>
                      <a:srgbClr val="F1F7F7"/>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claude-opus-5-5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authentic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5/100; tells: composition matches the widely circulated 1972</a:t>
                      </a:r>
                    </a:p>
                    <a:p>
                      <a:pPr>
                        <a:lnSpc>
                          <a:spcPts val="1600"/>
                        </a:lnSpc>
                        <a:spcAft>
                          <a:spcPts val="0"/>
                        </a:spcAft>
                        <a:defRPr sz="1200" b="0">
                          <a:solidFill>
                            <a:srgbClr val="21243A"/>
                          </a:solidFill>
                          <a:latin typeface="Arial"/>
                        </a:defRPr>
                      </a:pPr>
                      <a:r>
                        <a:t>Apollo 17 'Blue Marble' photograph (AS17-148-22727), geographically accurate</a:t>
                      </a:r>
                    </a:p>
                    <a:p>
                      <a:pPr>
                        <a:lnSpc>
                          <a:spcPts val="1600"/>
                        </a:lnSpc>
                        <a:spcAft>
                          <a:spcPts val="0"/>
                        </a:spcAft>
                        <a:defRPr sz="1200" b="0">
                          <a:solidFill>
                            <a:srgbClr val="21243A"/>
                          </a:solidFill>
                          <a:latin typeface="Arial"/>
                        </a:defRPr>
                      </a:pPr>
                      <a:r>
                        <a:t>Africa, Arabian Peninsula, Red Sea, Gulf of Aden and Madagascar outlines,</a:t>
                      </a:r>
                    </a:p>
                    <a:p>
                      <a:pPr>
                        <a:lnSpc>
                          <a:spcPts val="1600"/>
                        </a:lnSpc>
                        <a:spcAft>
                          <a:spcPts val="0"/>
                        </a:spcAft>
                        <a:defRPr sz="1200" b="0">
                          <a:solidFill>
                            <a:srgbClr val="21243A"/>
                          </a:solidFill>
                          <a:latin typeface="Arial"/>
                        </a:defRPr>
                      </a:pPr>
                      <a:r>
                        <a:t>Antarctic ice cap consistent with December solstice illumination, physically</a:t>
                      </a:r>
                    </a:p>
                    <a:p>
                      <a:pPr>
                        <a:lnSpc>
                          <a:spcPts val="1600"/>
                        </a:lnSpc>
                        <a:spcAft>
                          <a:spcPts val="0"/>
                        </a:spcAft>
                        <a:defRPr sz="1200" b="0">
                          <a:solidFill>
                            <a:srgbClr val="21243A"/>
                          </a:solidFill>
                          <a:latin typeface="Arial"/>
                        </a:defRPr>
                      </a:pPr>
                      <a:r>
                        <a:t>coherent cloud structures: cyclonic swirls, frontal bands, open-cell cumulus fields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9601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Composition matches the widely circulated 1972 Apollo 17 'Blue Marble'</a:t>
                      </a:r>
                    </a:p>
                    <a:p>
                      <a:pPr>
                        <a:lnSpc>
                          <a:spcPts val="1600"/>
                        </a:lnSpc>
                        <a:spcAft>
                          <a:spcPts val="0"/>
                        </a:spcAft>
                        <a:defRPr sz="1200" b="0">
                          <a:solidFill>
                            <a:srgbClr val="21243A"/>
                          </a:solidFill>
                          <a:latin typeface="Arial"/>
                        </a:defRPr>
                      </a:pPr>
                      <a:r>
                        <a:t>photograph (AS17-148-22727)</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5128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Geographically accurate Africa, Arabian Peninsula, Red Sea, Gulf of Aden and</a:t>
                      </a:r>
                    </a:p>
                    <a:p>
                      <a:pPr>
                        <a:lnSpc>
                          <a:spcPts val="1600"/>
                        </a:lnSpc>
                        <a:spcAft>
                          <a:spcPts val="0"/>
                        </a:spcAft>
                        <a:defRPr sz="1200" b="0">
                          <a:solidFill>
                            <a:srgbClr val="21243A"/>
                          </a:solidFill>
                          <a:latin typeface="Arial"/>
                        </a:defRPr>
                      </a:pPr>
                      <a:r>
                        <a:t>Madagascar outlines</a:t>
                      </a:r>
                    </a:p>
                  </a:txBody>
                  <a:tcPr marL="82296" marR="82296" marT="64008" marB="64008">
                    <a:solidFill>
                      <a:srgbClr val="F1F7F7"/>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Antarctic ice cap consistent with December solstice illumination</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Physically coherent cloud structures: cyclonic swirls, frontal bands, open-cell</a:t>
                      </a:r>
                    </a:p>
                    <a:p>
                      <a:pPr>
                        <a:lnSpc>
                          <a:spcPts val="1600"/>
                        </a:lnSpc>
                        <a:spcAft>
                          <a:spcPts val="0"/>
                        </a:spcAft>
                        <a:defRPr sz="1200" b="0">
                          <a:solidFill>
                            <a:srgbClr val="21243A"/>
                          </a:solidFill>
                          <a:latin typeface="Arial"/>
                        </a:defRPr>
                      </a:pPr>
                      <a:r>
                        <a:t>cumulus fields</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6029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Film-scan grain and slight color cast consistent with analog Hasselblad film</a:t>
                      </a:r>
                    </a:p>
                    <a:p>
                      <a:pPr>
                        <a:lnSpc>
                          <a:spcPts val="1600"/>
                        </a:lnSpc>
                        <a:spcAft>
                          <a:spcPts val="0"/>
                        </a:spcAft>
                        <a:defRPr sz="1200" b="0">
                          <a:solidFill>
                            <a:srgbClr val="21243A"/>
                          </a:solidFill>
                          <a:latin typeface="Arial"/>
                        </a:defRPr>
                      </a:pPr>
                      <a:r>
                        <a:t>digitization</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31556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Natural limb darkening and atmospheric haze at globe edge</a:t>
                      </a:r>
                    </a:p>
                  </a:txBody>
                  <a:tcPr marL="82296" marR="82296" marT="64008" marB="64008">
                    <a:solidFill>
                      <a:srgbClr val="F1F7F7"/>
                    </a:solidFill>
                  </a:tcPr>
                </a:tc>
              </a:tr>
            </a:tbl>
          </a:graphicData>
        </a:graphic>
      </p:graphicFrame>
      <p:graphicFrame>
        <p:nvGraphicFramePr>
          <p:cNvPr id="11" name="Table 10"/>
          <p:cNvGraphicFramePr>
            <a:graphicFrameLocks noGrp="1"/>
          </p:cNvGraphicFramePr>
          <p:nvPr/>
        </p:nvGraphicFramePr>
        <p:xfrm>
          <a:off x="365760" y="3505199"/>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repeating textures, smeared regions or implausible landmass shapes typical of</a:t>
                      </a:r>
                    </a:p>
                    <a:p>
                      <a:pPr>
                        <a:lnSpc>
                          <a:spcPts val="1600"/>
                        </a:lnSpc>
                        <a:spcAft>
                          <a:spcPts val="0"/>
                        </a:spcAft>
                        <a:defRPr sz="1200" b="0">
                          <a:solidFill>
                            <a:srgbClr val="21243A"/>
                          </a:solidFill>
                          <a:latin typeface="Arial"/>
                        </a:defRPr>
                      </a:pPr>
                      <a:r>
                        <a:t>generative models</a:t>
                      </a:r>
                    </a:p>
                  </a:txBody>
                  <a:tcPr marL="82296" marR="82296" marT="64008" marB="64008">
                    <a:solidFill>
                      <a:srgbClr val="FFFFFF"/>
                    </a:solidFill>
                  </a:tcPr>
                </a:tc>
              </a:tr>
            </a:tbl>
          </a:graphicData>
        </a:graphic>
      </p:graphicFrame>
      <p:graphicFrame>
        <p:nvGraphicFramePr>
          <p:cNvPr id="12" name="Table 11"/>
          <p:cNvGraphicFramePr>
            <a:graphicFrameLocks noGrp="1"/>
          </p:cNvGraphicFramePr>
          <p:nvPr/>
        </p:nvGraphicFramePr>
        <p:xfrm>
          <a:off x="365760" y="405790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Caveat: Visual match to a famous archival photo is strong, but a high-quality AI</a:t>
                      </a:r>
                    </a:p>
                    <a:p>
                      <a:pPr>
                        <a:lnSpc>
                          <a:spcPts val="1600"/>
                        </a:lnSpc>
                        <a:spcAft>
                          <a:spcPts val="0"/>
                        </a:spcAft>
                        <a:defRPr sz="1200" b="0">
                          <a:solidFill>
                            <a:srgbClr val="21243A"/>
                          </a:solidFill>
                          <a:latin typeface="Arial"/>
                        </a:defRPr>
                      </a:pPr>
                      <a:r>
                        <a:t>recreation or a color-adjusted/re-edited version could look similar; confirm via</a:t>
                      </a:r>
                    </a:p>
                    <a:p>
                      <a:pPr>
                        <a:lnSpc>
                          <a:spcPts val="1600"/>
                        </a:lnSpc>
                        <a:spcAft>
                          <a:spcPts val="0"/>
                        </a:spcAft>
                        <a:defRPr sz="1200" b="0">
                          <a:solidFill>
                            <a:srgbClr val="21243A"/>
                          </a:solidFill>
                          <a:latin typeface="Arial"/>
                        </a:defRPr>
                      </a:pPr>
                      <a:r>
                        <a:t>reverse image search against the NASA archive original and check file metadata.</a:t>
                      </a:r>
                    </a:p>
                  </a:txBody>
                  <a:tcPr marL="82296" marR="82296" marT="64008" marB="64008">
                    <a:solidFill>
                      <a:srgbClr val="F1F7F7"/>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authentic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2/100; tells: Coherent coastlines of Africa, Madagascar and the</a:t>
                      </a:r>
                    </a:p>
                    <a:p>
                      <a:pPr>
                        <a:lnSpc>
                          <a:spcPts val="1600"/>
                        </a:lnSpc>
                        <a:spcAft>
                          <a:spcPts val="0"/>
                        </a:spcAft>
                        <a:defRPr sz="1200" b="0">
                          <a:solidFill>
                            <a:srgbClr val="21243A"/>
                          </a:solidFill>
                          <a:latin typeface="Arial"/>
                        </a:defRPr>
                      </a:pPr>
                      <a:r>
                        <a:t>Arabian Peninsula, Irregular, finely detailed cloud systems with consistent</a:t>
                      </a:r>
                    </a:p>
                    <a:p>
                      <a:pPr>
                        <a:lnSpc>
                          <a:spcPts val="1600"/>
                        </a:lnSpc>
                        <a:spcAft>
                          <a:spcPts val="0"/>
                        </a:spcAft>
                        <a:defRPr sz="1200" b="0">
                          <a:solidFill>
                            <a:srgbClr val="21243A"/>
                          </a:solidFill>
                          <a:latin typeface="Arial"/>
                        </a:defRPr>
                      </a:pPr>
                      <a:r>
                        <a:t>spherical foreshortening, Natural atmospheric haze and gradual shading around</a:t>
                      </a:r>
                    </a:p>
                    <a:p>
                      <a:pPr>
                        <a:lnSpc>
                          <a:spcPts val="1600"/>
                        </a:lnSpc>
                        <a:spcAft>
                          <a:spcPts val="0"/>
                        </a:spcAft>
                        <a:defRPr sz="1200" b="0">
                          <a:solidFill>
                            <a:srgbClr val="21243A"/>
                          </a:solidFill>
                          <a:latin typeface="Arial"/>
                        </a:defRPr>
                      </a:pPr>
                      <a:r>
                        <a:t>Earth's limb, Fine photographic grain and slight color fringing along the globe</a:t>
                      </a:r>
                    </a:p>
                    <a:p>
                      <a:pPr>
                        <a:lnSpc>
                          <a:spcPts val="1600"/>
                        </a:lnSpc>
                        <a:spcAft>
                          <a:spcPts val="0"/>
                        </a:spcAft>
                        <a:defRPr sz="1200" b="0">
                          <a:solidFill>
                            <a:srgbClr val="21243A"/>
                          </a:solidFill>
                          <a:latin typeface="Arial"/>
                        </a:defRPr>
                      </a:pPr>
                      <a:r>
                        <a:t>edge</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9601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Coherent coastlines of Africa, Madagascar and the Arabian Peninsula</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3096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Irregular, finely detailed cloud systems with consistent spherical foreshortening</a:t>
                      </a:r>
                    </a:p>
                  </a:txBody>
                  <a:tcPr marL="82296" marR="82296" marT="64008" marB="64008">
                    <a:solidFill>
                      <a:srgbClr val="F1F7F7"/>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Natural atmospheric haze and gradual shading around Earth's limb</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Fine photographic grain and slight color fringing along the globe edge</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3997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Resembles the historical Blue Marble photograph; source-file comparison</a:t>
                      </a:r>
                    </a:p>
                    <a:p>
                      <a:pPr>
                        <a:lnSpc>
                          <a:spcPts val="1600"/>
                        </a:lnSpc>
                        <a:spcAft>
                          <a:spcPts val="0"/>
                        </a:spcAft>
                        <a:defRPr sz="1200" b="0">
                          <a:solidFill>
                            <a:srgbClr val="21243A"/>
                          </a:solidFill>
                          <a:latin typeface="Arial"/>
                        </a:defRPr>
                      </a:pPr>
                      <a:r>
                        <a:t>is needed to establish provenance and exclude subtle edits.</a:t>
                      </a:r>
                    </a:p>
                  </a:txBody>
                  <a:tcPr marL="82296" marR="82296" marT="64008" marB="64008">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gemini-3.8-flash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authentic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15/100; tells: authentic Apollo 17 'Blue Marble' photograph,</a:t>
                      </a:r>
                    </a:p>
                    <a:p>
                      <a:pPr>
                        <a:lnSpc>
                          <a:spcPts val="1600"/>
                        </a:lnSpc>
                        <a:spcAft>
                          <a:spcPts val="0"/>
                        </a:spcAft>
                        <a:defRPr sz="1200" b="0">
                          <a:solidFill>
                            <a:srgbClr val="21243A"/>
                          </a:solidFill>
                          <a:latin typeface="Arial"/>
                        </a:defRPr>
                      </a:pPr>
                      <a:r>
                        <a:t>natural film grain structure, consistent atmospheric limb glow, accurate</a:t>
                      </a:r>
                    </a:p>
                    <a:p>
                      <a:pPr>
                        <a:lnSpc>
                          <a:spcPts val="1600"/>
                        </a:lnSpc>
                        <a:spcAft>
                          <a:spcPts val="0"/>
                        </a:spcAft>
                        <a:defRPr sz="1200" b="0">
                          <a:solidFill>
                            <a:srgbClr val="21243A"/>
                          </a:solidFill>
                          <a:latin typeface="Arial"/>
                        </a:defRPr>
                      </a:pPr>
                      <a:r>
                        <a:t>meteorological cloud swirls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Authentic Apollo 17 'Blue Marble' photograph</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9032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Natural film grain structure</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Consistent atmospheric limb glow</a:t>
                      </a:r>
                    </a:p>
                  </a:txBody>
                  <a:tcPr marL="82296" marR="82296" marT="64008" marB="64008">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Accurate meteorological cloud swirls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High-profile historic images are frequently duplicated, cropped, or</a:t>
                      </a:r>
                    </a:p>
                    <a:p>
                      <a:pPr>
                        <a:lnSpc>
                          <a:spcPts val="1600"/>
                        </a:lnSpc>
                        <a:spcAft>
                          <a:spcPts val="0"/>
                        </a:spcAft>
                        <a:defRPr sz="1200" b="0">
                          <a:solidFill>
                            <a:srgbClr val="21243A"/>
                          </a:solidFill>
                          <a:latin typeface="Arial"/>
                        </a:defRPr>
                      </a:pPr>
                      <a:r>
                        <a:t>color-adjusted across digital archives.</a:t>
                      </a:r>
                    </a:p>
                  </a:txBody>
                  <a:tcPr marL="82296" marR="82296" marT="64008" marB="64008">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Coverage: credentials embedded in the submitted file. External credentials were</a:t>
                      </a:r>
                    </a:p>
                    <a:p>
                      <a:pPr>
                        <a:lnSpc>
                          <a:spcPts val="1600"/>
                        </a:lnSpc>
                        <a:spcAft>
                          <a:spcPts val="0"/>
                        </a:spcAft>
                        <a:defRPr sz="1200" b="0">
                          <a:solidFill>
                            <a:srgbClr val="21243A"/>
                          </a:solidFill>
                          <a:latin typeface="Arial"/>
                        </a:defRPr>
                      </a:pPr>
                      <a:r>
                        <a:t>not retrieved.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70001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Verifier: c2pa-python 0.37.12; native SDK 0.91.0; specification target 2.4; policy</a:t>
                      </a:r>
                    </a:p>
                    <a:p>
                      <a:pPr>
                        <a:lnSpc>
                          <a:spcPts val="1600"/>
                        </a:lnSpc>
                        <a:spcAft>
                          <a:spcPts val="0"/>
                        </a:spcAft>
                        <a:defRPr sz="1200" b="0">
                          <a:solidFill>
                            <a:srgbClr val="21243A"/>
                          </a:solidFill>
                          <a:latin typeface="Arial"/>
                        </a:defRPr>
                      </a:pPr>
                      <a:r>
                        <a:t>embedded-offline-reviewed-trust-v3.</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Offline embedded-manifest verification; no network trust-list, manifest or</a:t>
                      </a:r>
                    </a:p>
                    <a:p>
                      <a:pPr>
                        <a:lnSpc>
                          <a:spcPts val="1600"/>
                        </a:lnSpc>
                        <a:spcAft>
                          <a:spcPts val="0"/>
                        </a:spcAft>
                        <a:defRPr sz="1200" b="0">
                          <a:solidFill>
                            <a:srgbClr val="21243A"/>
                          </a:solidFill>
                          <a:latin typeface="Arial"/>
                        </a:defRPr>
                      </a:pPr>
                      <a:r>
                        <a:t>revocation refresh.</a:t>
                      </a:r>
                    </a:p>
                  </a:txBody>
                  <a:tcPr marL="82296" marR="82296" marT="64008" marB="64008">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reviewed local C2PA trust snapshot installed. Provenance overrides are</a:t>
                      </a:r>
                    </a:p>
                    <a:p>
                      <a:pPr>
                        <a:lnSpc>
                          <a:spcPts val="1600"/>
                        </a:lnSpc>
                        <a:spcAft>
                          <a:spcPts val="0"/>
                        </a:spcAft>
                        <a:defRPr sz="1200" b="0">
                          <a:solidFill>
                            <a:srgbClr val="21243A"/>
                          </a:solidFill>
                          <a:latin typeface="Arial"/>
                        </a:defRPr>
                      </a:pPr>
                      <a:r>
                        <a:t>disabled.</a:t>
                      </a:r>
                    </a:p>
                  </a:txBody>
                  <a:tcPr marL="82296" marR="82296" marT="64008" marB="64008">
                    <a:solidFill>
                      <a:srgbClr val="F1F7F7"/>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5</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Heuristic synthetic likelihood 47/100 from metadata + pixel statistics.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 EXIF (common in AI exports, screenshots, and re-saves).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ELA mean 0.5, peak 10 (uniform high ELA can indicate generation/heavy edit).</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48463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High-frequency noise std 4.61 (very low/very uniform noise is a synthesis cue).</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19582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Spectral peakiness 25.63 (periodic frequency peaks can mark generated textures).</a:t>
                      </a:r>
                    </a:p>
                  </a:txBody>
                  <a:tcPr marL="82296" marR="82296" marT="64008" marB="64008">
                    <a:solidFill>
                      <a:srgbClr val="F1F7F7"/>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Evidence supporting this verdict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5/100; tells: composition matches the widely circulated 1972</a:t>
                      </a:r>
                    </a:p>
                    <a:p>
                      <a:pPr>
                        <a:lnSpc>
                          <a:spcPts val="1600"/>
                        </a:lnSpc>
                        <a:spcAft>
                          <a:spcPts val="0"/>
                        </a:spcAft>
                        <a:defRPr sz="1200" b="0">
                          <a:solidFill>
                            <a:srgbClr val="21243A"/>
                          </a:solidFill>
                          <a:latin typeface="Arial"/>
                        </a:defRPr>
                      </a:pPr>
                      <a:r>
                        <a:t>Apollo 17 'Blue Marble' photograph (AS17-148-22727), geographically accurate</a:t>
                      </a:r>
                    </a:p>
                    <a:p>
                      <a:pPr>
                        <a:lnSpc>
                          <a:spcPts val="1600"/>
                        </a:lnSpc>
                        <a:spcAft>
                          <a:spcPts val="0"/>
                        </a:spcAft>
                        <a:defRPr sz="1200" b="0">
                          <a:solidFill>
                            <a:srgbClr val="21243A"/>
                          </a:solidFill>
                          <a:latin typeface="Arial"/>
                        </a:defRPr>
                      </a:pPr>
                      <a:r>
                        <a:t>Africa, Arabian Peninsula, Red Sea, Gulf of Aden and Madagascar outlines,</a:t>
                      </a:r>
                    </a:p>
                    <a:p>
                      <a:pPr>
                        <a:lnSpc>
                          <a:spcPts val="1600"/>
                        </a:lnSpc>
                        <a:spcAft>
                          <a:spcPts val="0"/>
                        </a:spcAft>
                        <a:defRPr sz="1200" b="0">
                          <a:solidFill>
                            <a:srgbClr val="21243A"/>
                          </a:solidFill>
                          <a:latin typeface="Arial"/>
                        </a:defRPr>
                      </a:pPr>
                      <a:r>
                        <a:t>Antarctic ice cap consistent with December solstice illumination, physically</a:t>
                      </a:r>
                    </a:p>
                    <a:p>
                      <a:pPr>
                        <a:lnSpc>
                          <a:spcPts val="1600"/>
                        </a:lnSpc>
                        <a:spcAft>
                          <a:spcPts val="0"/>
                        </a:spcAft>
                        <a:defRPr sz="1200" b="0">
                          <a:solidFill>
                            <a:srgbClr val="21243A"/>
                          </a:solidFill>
                          <a:latin typeface="Arial"/>
                        </a:defRPr>
                      </a:pPr>
                      <a:r>
                        <a:t>coherent cloud structures: cyclonic swirls, frontal bands, open-cell cumulus fields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86308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likelihood 2/100; tells: Coherent coastlines of Africa, Madagascar and the</a:t>
                      </a:r>
                    </a:p>
                    <a:p>
                      <a:pPr>
                        <a:lnSpc>
                          <a:spcPts val="1600"/>
                        </a:lnSpc>
                        <a:spcAft>
                          <a:spcPts val="0"/>
                        </a:spcAft>
                        <a:defRPr sz="1200" b="0">
                          <a:solidFill>
                            <a:srgbClr val="21243A"/>
                          </a:solidFill>
                          <a:latin typeface="Arial"/>
                        </a:defRPr>
                      </a:pPr>
                      <a:r>
                        <a:t>Arabian Peninsula, Irregular, finely detailed cloud systems with consistent</a:t>
                      </a:r>
                    </a:p>
                    <a:p>
                      <a:pPr>
                        <a:lnSpc>
                          <a:spcPts val="1600"/>
                        </a:lnSpc>
                        <a:spcAft>
                          <a:spcPts val="0"/>
                        </a:spcAft>
                        <a:defRPr sz="1200" b="0">
                          <a:solidFill>
                            <a:srgbClr val="21243A"/>
                          </a:solidFill>
                          <a:latin typeface="Arial"/>
                        </a:defRPr>
                      </a:pPr>
                      <a:r>
                        <a:t>spherical foreshortening, Natural atmospheric haze and gradual shading around</a:t>
                      </a:r>
                    </a:p>
                    <a:p>
                      <a:pPr>
                        <a:lnSpc>
                          <a:spcPts val="1600"/>
                        </a:lnSpc>
                        <a:spcAft>
                          <a:spcPts val="0"/>
                        </a:spcAft>
                        <a:defRPr sz="1200" b="0">
                          <a:solidFill>
                            <a:srgbClr val="21243A"/>
                          </a:solidFill>
                          <a:latin typeface="Arial"/>
                        </a:defRPr>
                      </a:pPr>
                      <a:r>
                        <a:t>Earth's limb, Fine photographic grain and slight color fringing along the globe</a:t>
                      </a:r>
                    </a:p>
                    <a:p>
                      <a:pPr>
                        <a:lnSpc>
                          <a:spcPts val="1600"/>
                        </a:lnSpc>
                        <a:spcAft>
                          <a:spcPts val="0"/>
                        </a:spcAft>
                        <a:defRPr sz="1200" b="0">
                          <a:solidFill>
                            <a:srgbClr val="21243A"/>
                          </a:solidFill>
                          <a:latin typeface="Arial"/>
                        </a:defRPr>
                      </a:pPr>
                      <a:r>
                        <a:t>edge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402539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15/100; tells: authentic Apollo 17 'Blue Marble' photograph,</a:t>
                      </a:r>
                    </a:p>
                    <a:p>
                      <a:pPr>
                        <a:lnSpc>
                          <a:spcPts val="1600"/>
                        </a:lnSpc>
                        <a:spcAft>
                          <a:spcPts val="0"/>
                        </a:spcAft>
                        <a:defRPr sz="1200" b="0">
                          <a:solidFill>
                            <a:srgbClr val="21243A"/>
                          </a:solidFill>
                          <a:latin typeface="Arial"/>
                        </a:defRPr>
                      </a:pPr>
                      <a:r>
                        <a:t>natural film grain structure, consistent atmospheric limb glow, accurate</a:t>
                      </a:r>
                    </a:p>
                    <a:p>
                      <a:pPr>
                        <a:lnSpc>
                          <a:spcPts val="1600"/>
                        </a:lnSpc>
                        <a:spcAft>
                          <a:spcPts val="0"/>
                        </a:spcAft>
                        <a:defRPr sz="1200" b="0">
                          <a:solidFill>
                            <a:srgbClr val="21243A"/>
                          </a:solidFill>
                          <a:latin typeface="Arial"/>
                        </a:defRPr>
                      </a:pPr>
                      <a:r>
                        <a:t>meteorological cloud swirls</a:t>
                      </a:r>
                    </a:p>
                  </a:txBody>
                  <a:tcPr marL="82296" marR="82296" marT="64008" marB="64008">
                    <a:solidFill>
                      <a:srgbClr val="F1F7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Additional findings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Supporting observation; considered alongside the model assessments.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Embedded credentials: none found. Origin remains unresolved by this check.</a:t>
                      </a:r>
                    </a:p>
                  </a:txBody>
                  <a:tcPr marL="82296" marR="82296" marT="64008" marB="64008">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How this assessment was reached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1. override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outcome=none; detail=No confirmed C2PA AI assertion or SynthID watermark.</a:t>
                      </a:r>
                    </a:p>
                    <a:p>
                      <a:pPr>
                        <a:lnSpc>
                          <a:spcPts val="1600"/>
                        </a:lnSpc>
                        <a:spcAft>
                          <a:spcPts val="0"/>
                        </a:spcAft>
                        <a:defRPr sz="1200" b="0">
                          <a:solidFill>
                            <a:srgbClr val="21243A"/>
                          </a:solidFill>
                          <a:latin typeface="Arial"/>
                        </a:defRPr>
                      </a:pPr>
                      <a:r>
                        <a:t>Origin remains unresolved by these checks.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2. model_agreement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authentic=['Claude Vision', 'OpenAI Vision', 'Gemini Vision'];</a:t>
                      </a:r>
                    </a:p>
                    <a:p>
                      <a:pPr>
                        <a:lnSpc>
                          <a:spcPts val="1600"/>
                        </a:lnSpc>
                        <a:spcAft>
                          <a:spcPts val="0"/>
                        </a:spcAft>
                        <a:defRPr sz="1200" b="0">
                          <a:solidFill>
                            <a:srgbClr val="21243A"/>
                          </a:solidFill>
                          <a:latin typeface="Arial"/>
                        </a:defRPr>
                      </a:pPr>
                      <a:r>
                        <a:t>uncertain=[]; forensic_supports_synthetic=False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3. verdict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value=authentic_likely; confidence=medium; reason=3 models lean authentic with</a:t>
                      </a:r>
                    </a:p>
                    <a:p>
                      <a:pPr>
                        <a:lnSpc>
                          <a:spcPts val="1600"/>
                        </a:lnSpc>
                        <a:spcAft>
                          <a:spcPts val="0"/>
                        </a:spcAft>
                        <a:defRPr sz="1200" b="0">
                          <a:solidFill>
                            <a:srgbClr val="21243A"/>
                          </a:solidFill>
                          <a:latin typeface="Arial"/>
                        </a:defRPr>
                      </a:pPr>
                      <a:r>
                        <a:t>matching verdicts and ratings. Review the other findings, original source and</a:t>
                      </a:r>
                    </a:p>
                    <a:p>
                      <a:pPr>
                        <a:lnSpc>
                          <a:spcPts val="1600"/>
                        </a:lnSpc>
                        <a:spcAft>
                          <a:spcPts val="0"/>
                        </a:spcAft>
                        <a:defRPr sz="1200" b="0">
                          <a:solidFill>
                            <a:srgbClr val="21243A"/>
                          </a:solidFill>
                          <a:latin typeface="Arial"/>
                        </a:defRPr>
                      </a:pPr>
                      <a:r>
                        <a:t>context alongside this result.</a:t>
                      </a:r>
                    </a:p>
                  </a:txBody>
                  <a:tcPr marL="82296" marR="82296" marT="64008" marB="64008">
                    <a:solidFill>
                      <a:srgbClr val="F1F7F7"/>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File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earth-image.jpg</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ID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b8bb2ceb-20cc-4afd-a616-7cbaace7f08a</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Generated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2026-09-26T17:54:47+00:00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Tool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SDA Vision 0.1.0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claude-opus-5-5, gemini-3.8-flash, gpt-6-astra</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Method version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verdict-consistency-2026-09-26.1</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lens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general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Original SHA-256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a4bad2aba040fd992aff7483eee6166943e232061b82d7149b2060786719753b</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Ingestion note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Recomputed locally from the same saved provider replies acquired under run</a:t>
                      </a:r>
                    </a:p>
                    <a:p>
                      <a:pPr>
                        <a:lnSpc>
                          <a:spcPts val="1600"/>
                        </a:lnSpc>
                        <a:spcAft>
                          <a:spcPts val="0"/>
                        </a:spcAft>
                        <a:defRPr sz="1200" b="0">
                          <a:solidFill>
                            <a:srgbClr val="21243A"/>
                          </a:solidFill>
                          <a:latin typeface="Arial"/>
                        </a:defRPr>
                      </a:pPr>
                      <a:r>
                        <a:t>five-examples-20260926-r1. No new provider requests. Original report</a:t>
                      </a:r>
                    </a:p>
                    <a:p>
                      <a:pPr>
                        <a:lnSpc>
                          <a:spcPts val="1600"/>
                        </a:lnSpc>
                        <a:spcAft>
                          <a:spcPts val="0"/>
                        </a:spcAft>
                        <a:defRPr sz="1200" b="0">
                          <a:solidFill>
                            <a:srgbClr val="21243A"/>
                          </a:solidFill>
                          <a:latin typeface="Arial"/>
                        </a:defRPr>
                      </a:pPr>
                      <a:r>
                        <a:t>6201ac7a-3540-405f-b234-0346b77f7672 was generated at</a:t>
                      </a:r>
                    </a:p>
                    <a:p>
                      <a:pPr>
                        <a:lnSpc>
                          <a:spcPts val="1600"/>
                        </a:lnSpc>
                        <a:spcAft>
                          <a:spcPts val="0"/>
                        </a:spcAft>
                        <a:defRPr sz="1200" b="0">
                          <a:solidFill>
                            <a:srgbClr val="21243A"/>
                          </a:solidFill>
                          <a:latin typeface="Arial"/>
                        </a:defRPr>
                      </a:pPr>
                      <a:r>
                        <a:t>2026-09-26T17:38:41+00:00 under method publication-repair-2026-09-24.3; that</a:t>
                      </a:r>
                    </a:p>
                    <a:p>
                      <a:pPr>
                        <a:lnSpc>
                          <a:spcPts val="1600"/>
                        </a:lnSpc>
                        <a:spcAft>
                          <a:spcPts val="0"/>
                        </a:spcAft>
                        <a:defRPr sz="1200" b="0">
                          <a:solidFill>
                            <a:srgbClr val="21243A"/>
                          </a:solidFill>
                          <a:latin typeface="Arial"/>
                        </a:defRPr>
                      </a:pPr>
                      <a:r>
                        <a:t>report is preserved.</a:t>
                      </a:r>
                    </a:p>
                  </a:txBody>
                  <a:tcPr marL="82296" marR="82296" marT="64008" marB="64008">
                    <a:solidFill>
                      <a:srgbClr val="F1F7F7"/>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Method verdict-consistency-2026-09-26.1: directional model votes require</a:t>
                      </a:r>
                    </a:p>
                    <a:p>
                      <a:pPr>
                        <a:lnSpc>
                          <a:spcPts val="1600"/>
                        </a:lnSpc>
                        <a:spcAft>
                          <a:spcPts val="0"/>
                        </a:spcAft>
                        <a:defRPr sz="1200" b="0">
                          <a:solidFill>
                            <a:srgbClr val="21243A"/>
                          </a:solidFill>
                          <a:latin typeface="Arial"/>
                        </a:defRPr>
                      </a:pPr>
                      <a:r>
                        <a:t>matching explicit verdicts and rating thresholds. Inconclusive replies retain their</a:t>
                      </a:r>
                    </a:p>
                    <a:p>
                      <a:pPr>
                        <a:lnSpc>
                          <a:spcPts val="1600"/>
                        </a:lnSpc>
                        <a:spcAft>
                          <a:spcPts val="0"/>
                        </a:spcAft>
                        <a:defRPr sz="1200" b="0">
                          <a:solidFill>
                            <a:srgbClr val="21243A"/>
                          </a:solidFill>
                          <a:latin typeface="Arial"/>
                        </a:defRPr>
                      </a:pPr>
                      <a:r>
                        <a:t>ratings and remain undecided observations.</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456688"/>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Ingestion note 3</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Presentation copy of saved report cf784e2f-0554-4bed-8880-c825ae7b8282. The</a:t>
                      </a:r>
                    </a:p>
                    <a:p>
                      <a:pPr>
                        <a:lnSpc>
                          <a:spcPts val="1600"/>
                        </a:lnSpc>
                        <a:spcAft>
                          <a:spcPts val="0"/>
                        </a:spcAft>
                        <a:defRPr sz="1200" b="0">
                          <a:solidFill>
                            <a:srgbClr val="21243A"/>
                          </a:solidFill>
                          <a:latin typeface="Arial"/>
                        </a:defRPr>
                      </a:pPr>
                      <a:r>
                        <a:t>descriptive filename replaces the earlier example ID for navigation. Original</a:t>
                      </a:r>
                    </a:p>
                    <a:p>
                      <a:pPr>
                        <a:lnSpc>
                          <a:spcPts val="1600"/>
                        </a:lnSpc>
                        <a:spcAft>
                          <a:spcPts val="0"/>
                        </a:spcAft>
                        <a:defRPr sz="1200" b="0">
                          <a:solidFill>
                            <a:srgbClr val="21243A"/>
                          </a:solidFill>
                          <a:latin typeface="Arial"/>
                        </a:defRPr>
                      </a:pPr>
                      <a:r>
                        <a:t>analysis dates, provider replies, scores and acquisition context are retained; no</a:t>
                      </a:r>
                    </a:p>
                    <a:p>
                      <a:pPr>
                        <a:lnSpc>
                          <a:spcPts val="1600"/>
                        </a:lnSpc>
                        <a:spcAft>
                          <a:spcPts val="0"/>
                        </a:spcAft>
                        <a:defRPr sz="1200" b="0">
                          <a:solidFill>
                            <a:srgbClr val="21243A"/>
                          </a:solidFill>
                          <a:latin typeface="Arial"/>
                        </a:defRPr>
                      </a:pPr>
                      <a:r>
                        <a:t>new model analysis.</a:t>
                      </a:r>
                    </a:p>
                  </a:txBody>
                  <a:tcPr marL="82296" marR="82296" marT="64008" marB="64008">
                    <a:solidFill>
                      <a:srgbClr val="F1F7F7"/>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