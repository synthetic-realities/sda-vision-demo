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earth-image.jpg</a:t>
            </a:r>
          </a:p>
          <a:p>
            <a:r>
              <a:t>earth-image.jpg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earth-image.jpg</a:t>
            </a:r>
          </a:p>
          <a:p>
            <a:r>
              <a:t>Assessment summary</a:t>
            </a:r>
          </a:p>
          <a:p>
            <a:r>
              <a:t>Finding | Leaning authentic</a:t>
            </a:r>
          </a:p>
          <a:p>
            <a:r>
              <a:t>Recorded verdict | authentic likely</a:t>
            </a:r>
          </a:p>
          <a:p>
            <a:r>
              <a:t>Confidence | medium</a:t>
            </a:r>
          </a:p>
          <a:p>
            <a:r>
              <a:t>Indicative rating | 4/100</a:t>
            </a:r>
          </a:p>
          <a:p>
            <a:r>
              <a:t>Rating basis | median of available model ratings; not a calibrated probability</a:t>
            </a:r>
          </a:p>
          <a:p>
            <a:r>
              <a:t>Explanation | 3 models lean authentic with matching verdicts and ratings. Review the other findings, original source and context alongside this result.</a:t>
            </a:r>
          </a:p>
          <a:p>
            <a:r>
              <a:t>Coverage | image - 1 frame(s) analysed</a:t>
            </a:r>
          </a:p>
          <a:p>
            <a:r>
              <a:t>Review context | Research assessment. Review alongside source information and context. When credentials are missing, origin remains unresolved by this check. Use these findings to inform a documented human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earth-image.jpg</a:t>
            </a:r>
          </a:p>
          <a:p>
            <a:r>
              <a:t>Provider overview</a:t>
            </a:r>
          </a:p>
          <a:p>
            <a:r>
              <a:t>Claude Vision | vision / ok | authentic likely | 4/100</a:t>
            </a:r>
          </a:p>
          <a:p>
            <a:r>
              <a:t>OpenAI Vision | vision / ok | authentic likely | 2/100</a:t>
            </a:r>
          </a:p>
          <a:p>
            <a:r>
              <a:t>Gemini Vision | vision / ok | authentic likely | 25/100</a:t>
            </a:r>
          </a:p>
          <a:p>
            <a:r>
              <a:t>C2PA Content Credentials | provenance / ok | inconclusive | n/a</a:t>
            </a:r>
          </a:p>
          <a:p>
            <a:r>
              <a:t>Local forensic cues | forensic / ok | partially synthetic | 47/100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earth-image.jpg</a:t>
            </a:r>
          </a:p>
          <a:p>
            <a:r>
              <a:t>Provider evidence / 1</a:t>
            </a:r>
          </a:p>
          <a:p>
            <a:r>
              <a:t>Provider | Claude Vision</a:t>
            </a:r>
          </a:p>
          <a:p>
            <a:r>
              <a:t>Model | claude-opus-5-5</a:t>
            </a:r>
          </a:p>
          <a:p>
            <a:r>
              <a:t>Status | ok</a:t>
            </a:r>
          </a:p>
          <a:p>
            <a:r>
              <a:t>Assessment | authentic likely</a:t>
            </a:r>
          </a:p>
          <a:p>
            <a:r>
              <a:t>Confidence | high</a:t>
            </a:r>
          </a:p>
          <a:p>
            <a:r>
              <a:t>Role in assessment | Supporting</a:t>
            </a:r>
          </a:p>
          <a:p>
            <a:r>
              <a:t>Provider summary | synthetic likelihood 4/100; tells: visually consistent with the widely documented Apollo 17 'Blue Marble' photograph (NASA AS17-148-22727, Dec 1972), geographically accurate coastlines: Africa, Arabian Peninsula, Red Sea, Gulf of Aden, Madagascar, Antarctic ice cap, physically coherent cloud systems and cyclonic swirls with plausible meteorological structure, film-scan grain and slight color cast consistent with analog photography</a:t>
            </a:r>
          </a:p>
          <a:p>
            <a:r>
              <a:t>Evidence 1 | Visually consistent with the widely documented Apollo 17 'Blue Marble' photograph (NASA AS17-148-22727, Dec 1972)</a:t>
            </a:r>
          </a:p>
          <a:p>
            <a:r>
              <a:t>Evidence 2 | Geographically accurate coastlines: Africa, Arabian Peninsula, Red Sea, Gulf of Aden, Madagascar, Antarctic ice cap</a:t>
            </a:r>
          </a:p>
          <a:p>
            <a:r>
              <a:t>Evidence 3 | Physically coherent cloud systems and cyclonic swirls with plausible meteorological structure</a:t>
            </a:r>
          </a:p>
          <a:p>
            <a:r>
              <a:t>Evidence 4 | Film-scan grain and slight color cast consistent with analog photography</a:t>
            </a:r>
          </a:p>
          <a:p>
            <a:r>
              <a:t>Evidence 5 | Natural limb shading and terminator-free full-disc illumination consistent with sun behind the camera</a:t>
            </a:r>
          </a:p>
          <a:p>
            <a:r>
              <a:t>Evidence 6 | No repeated textures, smeared detail, or generative blending artifacts at land/cloud boundaries</a:t>
            </a:r>
          </a:p>
          <a:p>
            <a:r>
              <a:t>Evidence 7 | Caveat: Visual match to a famous archival image is not proof of an unaltered copy; subtle retouching, recoloring, or a high-fidelity regenerated replica cannot be ruled out without comparison to the NASA source scan and metadata/provenance checks.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earth-image.jpg</a:t>
            </a:r>
          </a:p>
          <a:p>
            <a:r>
              <a:t>Provider evidence / 1</a:t>
            </a:r>
          </a:p>
          <a:p>
            <a:r>
              <a:t>Provider | Claude Vision</a:t>
            </a:r>
          </a:p>
          <a:p>
            <a:r>
              <a:t>Model | claude-opus-5-5</a:t>
            </a:r>
          </a:p>
          <a:p>
            <a:r>
              <a:t>Status | ok</a:t>
            </a:r>
          </a:p>
          <a:p>
            <a:r>
              <a:t>Assessment | authentic likely</a:t>
            </a:r>
          </a:p>
          <a:p>
            <a:r>
              <a:t>Confidence | high</a:t>
            </a:r>
          </a:p>
          <a:p>
            <a:r>
              <a:t>Role in assessment | Supporting</a:t>
            </a:r>
          </a:p>
          <a:p>
            <a:r>
              <a:t>Provider summary | synthetic likelihood 4/100; tells: visually consistent with the widely documented Apollo 17 'Blue Marble' photograph (NASA AS17-148-22727, Dec 1972), geographically accurate coastlines: Africa, Arabian Peninsula, Red Sea, Gulf of Aden, Madagascar, Antarctic ice cap, physically coherent cloud systems and cyclonic swirls with plausible meteorological structure, film-scan grain and slight color cast consistent with analog photography</a:t>
            </a:r>
          </a:p>
          <a:p>
            <a:r>
              <a:t>Evidence 1 | Visually consistent with the widely documented Apollo 17 'Blue Marble' photograph (NASA AS17-148-22727, Dec 1972)</a:t>
            </a:r>
          </a:p>
          <a:p>
            <a:r>
              <a:t>Evidence 2 | Geographically accurate coastlines: Africa, Arabian Peninsula, Red Sea, Gulf of Aden, Madagascar, Antarctic ice cap</a:t>
            </a:r>
          </a:p>
          <a:p>
            <a:r>
              <a:t>Evidence 3 | Physically coherent cloud systems and cyclonic swirls with plausible meteorological structure</a:t>
            </a:r>
          </a:p>
          <a:p>
            <a:r>
              <a:t>Evidence 4 | Film-scan grain and slight color cast consistent with analog photography</a:t>
            </a:r>
          </a:p>
          <a:p>
            <a:r>
              <a:t>Evidence 5 | Natural limb shading and terminator-free full-disc illumination consistent with sun behind the camera</a:t>
            </a:r>
          </a:p>
          <a:p>
            <a:r>
              <a:t>Evidence 6 | No repeated textures, smeared detail, or generative blending artifacts at land/cloud boundaries</a:t>
            </a:r>
          </a:p>
          <a:p>
            <a:r>
              <a:t>Evidence 7 | Caveat: Visual match to a famous archival image is not proof of an unaltered copy; subtle retouching, recoloring, or a high-fidelity regenerated replica cannot be ruled out without comparison to the NASA source scan and metadata/provenance checks.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earth-image.jpg</a:t>
            </a:r>
          </a:p>
          <a:p>
            <a:r>
              <a:t>Provider evidence / 2</a:t>
            </a:r>
          </a:p>
          <a:p>
            <a:r>
              <a:t>Provider | OpenAI Vision</a:t>
            </a:r>
          </a:p>
          <a:p>
            <a:r>
              <a:t>Model | gpt-6-astra</a:t>
            </a:r>
          </a:p>
          <a:p>
            <a:r>
              <a:t>Status | ok</a:t>
            </a:r>
          </a:p>
          <a:p>
            <a:r>
              <a:t>Assessment | authentic likely</a:t>
            </a:r>
          </a:p>
          <a:p>
            <a:r>
              <a:t>Confidence | high</a:t>
            </a:r>
          </a:p>
          <a:p>
            <a:r>
              <a:t>Role in assessment | Supporting</a:t>
            </a:r>
          </a:p>
          <a:p>
            <a:r>
              <a:t>Provider summary | synthetic likelihood 2/100; tells: Coherent African, Arabian Peninsula, and Madagascar coastlines, Intricate, nonrepeating cloud bands and storm spirals, Consistent atmospheric haze and foreshortening toward Earth's limb, Fine grain and slight softness consistent with a scanned photograph</a:t>
            </a:r>
          </a:p>
          <a:p>
            <a:r>
              <a:t>Evidence 1 | Coherent African, Arabian Peninsula, and Madagascar coastlines</a:t>
            </a:r>
          </a:p>
          <a:p>
            <a:r>
              <a:t>Evidence 2 | Intricate, nonrepeating cloud bands and storm spirals</a:t>
            </a:r>
          </a:p>
          <a:p>
            <a:r>
              <a:t>Evidence 3 | Consistent atmospheric haze and foreshortening toward Earth's limb</a:t>
            </a:r>
          </a:p>
          <a:p>
            <a:r>
              <a:t>Evidence 4 | Fine grain and slight softness consistent with a scanned photograph</a:t>
            </a:r>
          </a:p>
          <a:p>
            <a:r>
              <a:t>Evidence 5 | Composition closely resembles the historical Blue Marble photograph</a:t>
            </a:r>
          </a:p>
          <a:p>
            <a:r>
              <a:t>Evidence 6 | Caveat: Visual resemblance cannot establish provenance; compare with the archival original to check for subsequent edits.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earth-image.jpg</a:t>
            </a:r>
          </a:p>
          <a:p>
            <a:r>
              <a:t>Provider evidence / 2</a:t>
            </a:r>
          </a:p>
          <a:p>
            <a:r>
              <a:t>Provider | OpenAI Vision</a:t>
            </a:r>
          </a:p>
          <a:p>
            <a:r>
              <a:t>Model | gpt-6-astra</a:t>
            </a:r>
          </a:p>
          <a:p>
            <a:r>
              <a:t>Status | ok</a:t>
            </a:r>
          </a:p>
          <a:p>
            <a:r>
              <a:t>Assessment | authentic likely</a:t>
            </a:r>
          </a:p>
          <a:p>
            <a:r>
              <a:t>Confidence | high</a:t>
            </a:r>
          </a:p>
          <a:p>
            <a:r>
              <a:t>Role in assessment | Supporting</a:t>
            </a:r>
          </a:p>
          <a:p>
            <a:r>
              <a:t>Provider summary | synthetic likelihood 2/100; tells: Coherent African, Arabian Peninsula, and Madagascar coastlines, Intricate, nonrepeating cloud bands and storm spirals, Consistent atmospheric haze and foreshortening toward Earth's limb, Fine grain and slight softness consistent with a scanned photograph</a:t>
            </a:r>
          </a:p>
          <a:p>
            <a:r>
              <a:t>Evidence 1 | Coherent African, Arabian Peninsula, and Madagascar coastlines</a:t>
            </a:r>
          </a:p>
          <a:p>
            <a:r>
              <a:t>Evidence 2 | Intricate, nonrepeating cloud bands and storm spirals</a:t>
            </a:r>
          </a:p>
          <a:p>
            <a:r>
              <a:t>Evidence 3 | Consistent atmospheric haze and foreshortening toward Earth's limb</a:t>
            </a:r>
          </a:p>
          <a:p>
            <a:r>
              <a:t>Evidence 4 | Fine grain and slight softness consistent with a scanned photograph</a:t>
            </a:r>
          </a:p>
          <a:p>
            <a:r>
              <a:t>Evidence 5 | Composition closely resembles the historical Blue Marble photograph</a:t>
            </a:r>
          </a:p>
          <a:p>
            <a:r>
              <a:t>Evidence 6 | Caveat: Visual resemblance cannot establish provenance; compare with the archival original to check for subsequent edits.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earth-image.jpg</a:t>
            </a:r>
          </a:p>
          <a:p>
            <a:r>
              <a:t>Provider evidence / 3</a:t>
            </a:r>
          </a:p>
          <a:p>
            <a:r>
              <a:t>Provider | Gemini Vision</a:t>
            </a:r>
          </a:p>
          <a:p>
            <a:r>
              <a:t>Model | gemini-3.8-flash</a:t>
            </a:r>
          </a:p>
          <a:p>
            <a:r>
              <a:t>Status | ok</a:t>
            </a:r>
          </a:p>
          <a:p>
            <a:r>
              <a:t>Assessment | authentic likely</a:t>
            </a:r>
          </a:p>
          <a:p>
            <a:r>
              <a:t>Confidence | medium</a:t>
            </a:r>
          </a:p>
          <a:p>
            <a:r>
              <a:t>Role in assessment | Supporting</a:t>
            </a:r>
          </a:p>
          <a:p>
            <a:r>
              <a:t>Provider summary | synthetic likelihood 25/100; tells: authentic film grain, consistent atmospheric limb scatter, historically documented cloud formations, natural optical sensor characteristics</a:t>
            </a:r>
          </a:p>
          <a:p>
            <a:r>
              <a:t>Evidence 1 | Authentic film grain</a:t>
            </a:r>
          </a:p>
          <a:p>
            <a:r>
              <a:t>Evidence 2 | Consistent atmospheric limb scatter</a:t>
            </a:r>
          </a:p>
          <a:p>
            <a:r>
              <a:t>Evidence 3 | Historically documented cloud formations</a:t>
            </a:r>
          </a:p>
          <a:p>
            <a:r>
              <a:t>Evidence 4 | Natural optical sensor characteristics</a:t>
            </a:r>
          </a:p>
          <a:p>
            <a:r>
              <a:t>Evidence 5 | Caveat: High-profile historical images can be digitally remastered or simulated by generative models.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earth-image.jpg</a:t>
            </a:r>
          </a:p>
          <a:p>
            <a:r>
              <a:t>Provider evidence / 3</a:t>
            </a:r>
          </a:p>
          <a:p>
            <a:r>
              <a:t>Provider | Gemini Vision</a:t>
            </a:r>
          </a:p>
          <a:p>
            <a:r>
              <a:t>Model | gemini-3.8-flash</a:t>
            </a:r>
          </a:p>
          <a:p>
            <a:r>
              <a:t>Status | ok</a:t>
            </a:r>
          </a:p>
          <a:p>
            <a:r>
              <a:t>Assessment | authentic likely</a:t>
            </a:r>
          </a:p>
          <a:p>
            <a:r>
              <a:t>Confidence | medium</a:t>
            </a:r>
          </a:p>
          <a:p>
            <a:r>
              <a:t>Role in assessment | Supporting</a:t>
            </a:r>
          </a:p>
          <a:p>
            <a:r>
              <a:t>Provider summary | synthetic likelihood 25/100; tells: authentic film grain, consistent atmospheric limb scatter, historically documented cloud formations, natural optical sensor characteristics</a:t>
            </a:r>
          </a:p>
          <a:p>
            <a:r>
              <a:t>Evidence 1 | Authentic film grain</a:t>
            </a:r>
          </a:p>
          <a:p>
            <a:r>
              <a:t>Evidence 2 | Consistent atmospheric limb scatter</a:t>
            </a:r>
          </a:p>
          <a:p>
            <a:r>
              <a:t>Evidence 3 | Historically documented cloud formations</a:t>
            </a:r>
          </a:p>
          <a:p>
            <a:r>
              <a:t>Evidence 4 | Natural optical sensor characteristics</a:t>
            </a:r>
          </a:p>
          <a:p>
            <a:r>
              <a:t>Evidence 5 | Caveat: High-profile historical images can be digitally remastered or simulated by generative models.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earth-image.jpg</a:t>
            </a:r>
          </a:p>
          <a:p>
            <a:r>
              <a:t>Content Credentials / provenance</a:t>
            </a:r>
          </a:p>
          <a:p>
            <a:r>
              <a:t>Provider | C2PA Content Credentials</a:t>
            </a:r>
          </a:p>
          <a:p>
            <a:r>
              <a:t>Model | Not recorded</a:t>
            </a:r>
          </a:p>
          <a:p>
            <a:r>
              <a:t>Status | ok</a:t>
            </a:r>
          </a:p>
          <a:p>
            <a:r>
              <a:t>Assessment | inconclusive</a:t>
            </a:r>
          </a:p>
          <a:p>
            <a:r>
              <a:t>Confidence | Not recorded</a:t>
            </a:r>
          </a:p>
          <a:p>
            <a:r>
              <a:t>Role in assessment | Additional finding</a:t>
            </a:r>
          </a:p>
          <a:p>
            <a:r>
              <a:t>Provider summary | Embedded credentials: none found. Origin remains unresolved by this check.</a:t>
            </a:r>
          </a:p>
          <a:p>
            <a:r>
              <a:t>Evidence 1 | Coverage: credentials embedded in the submitted file. External credentials were not retrieved.</a:t>
            </a:r>
          </a:p>
          <a:p>
            <a:r>
              <a:t>Evidence 2 | Verifier: c2pa-python 0.37.12; native SDK 0.91.0; specification target 2.4; policy embedded-offline-reviewed-trust-v3.</a:t>
            </a:r>
          </a:p>
          <a:p>
            <a:r>
              <a:t>Evidence 3 | Offline embedded-manifest verification; no network trust-list, manifest or revocation refresh.</a:t>
            </a:r>
          </a:p>
          <a:p>
            <a:r>
              <a:t>Evidence 4 | No reviewed local C2PA trust snapshot installed. Provenance overrides are disabled.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earth-image.jpg</a:t>
            </a:r>
          </a:p>
          <a:p>
            <a:r>
              <a:t>Content Credentials / provenance</a:t>
            </a:r>
          </a:p>
          <a:p>
            <a:r>
              <a:t>Provider | C2PA Content Credentials</a:t>
            </a:r>
          </a:p>
          <a:p>
            <a:r>
              <a:t>Model | Not recorded</a:t>
            </a:r>
          </a:p>
          <a:p>
            <a:r>
              <a:t>Status | ok</a:t>
            </a:r>
          </a:p>
          <a:p>
            <a:r>
              <a:t>Assessment | inconclusive</a:t>
            </a:r>
          </a:p>
          <a:p>
            <a:r>
              <a:t>Confidence | Not recorded</a:t>
            </a:r>
          </a:p>
          <a:p>
            <a:r>
              <a:t>Role in assessment | Additional finding</a:t>
            </a:r>
          </a:p>
          <a:p>
            <a:r>
              <a:t>Provider summary | Embedded credentials: none found. Origin remains unresolved by this check.</a:t>
            </a:r>
          </a:p>
          <a:p>
            <a:r>
              <a:t>Evidence 1 | Coverage: credentials embedded in the submitted file. External credentials were not retrieved.</a:t>
            </a:r>
          </a:p>
          <a:p>
            <a:r>
              <a:t>Evidence 2 | Verifier: c2pa-python 0.37.12; native SDK 0.91.0; specification target 2.4; policy embedded-offline-reviewed-trust-v3.</a:t>
            </a:r>
          </a:p>
          <a:p>
            <a:r>
              <a:t>Evidence 3 | Offline embedded-manifest verification; no network trust-list, manifest or revocation refresh.</a:t>
            </a:r>
          </a:p>
          <a:p>
            <a:r>
              <a:t>Evidence 4 | No reviewed local C2PA trust snapshot installed. Provenance overrides are disabled.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earth-image.jpg</a:t>
            </a:r>
          </a:p>
          <a:p>
            <a:r>
              <a:t>Provider evidence / 5</a:t>
            </a:r>
          </a:p>
          <a:p>
            <a:r>
              <a:t>Provider | Local forensic cues</a:t>
            </a:r>
          </a:p>
          <a:p>
            <a:r>
              <a:t>Model | Not recorded</a:t>
            </a:r>
          </a:p>
          <a:p>
            <a:r>
              <a:t>Status | ok</a:t>
            </a:r>
          </a:p>
          <a:p>
            <a:r>
              <a:t>Assessment | partially synthetic</a:t>
            </a:r>
          </a:p>
          <a:p>
            <a:r>
              <a:t>Confidence | low</a:t>
            </a:r>
          </a:p>
          <a:p>
            <a:r>
              <a:t>Role in assessment | Additional finding</a:t>
            </a:r>
          </a:p>
          <a:p>
            <a:r>
              <a:t>Provider summary | Heuristic synthetic likelihood 47/100 from metadata + pixel statistics.</a:t>
            </a:r>
          </a:p>
          <a:p>
            <a:r>
              <a:t>Evidence 1 | No camera EXIF (common in AI exports, screenshots, and re-saves).</a:t>
            </a:r>
          </a:p>
          <a:p>
            <a:r>
              <a:t>Evidence 2 | ELA mean 0.5, peak 10 (uniform high ELA can indicate generation/heavy edit).</a:t>
            </a:r>
          </a:p>
          <a:p>
            <a:r>
              <a:t>Evidence 3 | High-frequency noise std 4.61 (very low/very uniform noise is a synthesis cue).</a:t>
            </a:r>
          </a:p>
          <a:p>
            <a:r>
              <a:t>Evidence 4 | Spectral peakiness 25.63 (periodic frequency peaks can mark generated textures).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earth-image.jpg</a:t>
            </a:r>
          </a:p>
          <a:p>
            <a:r>
              <a:t>Evidence supporting this verdict</a:t>
            </a:r>
          </a:p>
          <a:p>
            <a:r>
              <a:t>Claude Vision | synthetic likelihood 4/100; tells: visually consistent with the widely documented Apollo 17 'Blue Marble' photograph (NASA AS17-148-22727, Dec 1972), geographically accurate coastlines: Africa, Arabian Peninsula, Red Sea, Gulf of Aden, Madagascar, Antarctic ice cap, physically coherent cloud systems and cyclonic swirls with plausible meteorological structure, film-scan grain and slight color cast consistent with analog photography</a:t>
            </a:r>
          </a:p>
          <a:p>
            <a:r>
              <a:t>OpenAI Vision | synthetic likelihood 2/100; tells: Coherent African, Arabian Peninsula, and Madagascar coastlines, Intricate, nonrepeating cloud bands and storm spirals, Consistent atmospheric haze and foreshortening toward Earth's limb, Fine grain and slight softness consistent with a scanned photograph</a:t>
            </a:r>
          </a:p>
          <a:p>
            <a:r>
              <a:t>Gemini Vision | synthetic likelihood 25/100; tells: authentic film grain, consistent atmospheric limb scatter, historically documented cloud formations, natural optical sensor characteristics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earth-image.jpg</a:t>
            </a:r>
          </a:p>
          <a:p>
            <a:r>
              <a:t>Additional findings</a:t>
            </a:r>
          </a:p>
          <a:p>
            <a:r>
              <a:t>Local forensic cues | Supporting observation; considered alongside the model assessments.</a:t>
            </a:r>
          </a:p>
          <a:p>
            <a:r>
              <a:t>C2PA Content Credentials | Embedded credentials: none found. Origin remains unresolved by this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earth-image.jpg</a:t>
            </a:r>
          </a:p>
          <a:p>
            <a:r>
              <a:t>How this assessment was reached</a:t>
            </a:r>
          </a:p>
          <a:p>
            <a:r>
              <a:t>1. override | outcome=none; detail=No confirmed C2PA AI assertion or SynthID watermark. Origin remains unresolved by these checks.</a:t>
            </a:r>
          </a:p>
          <a:p>
            <a:r>
              <a:t>2. model_agreement | synthetic=[]; authentic=['Claude Vision', 'OpenAI Vision', 'Gemini Vision']; uncertain=[]; forensic_supports_synthetic=False</a:t>
            </a:r>
          </a:p>
          <a:p>
            <a:r>
              <a:t>3. verdict | value=authentic_likely; confidence=medium; reason=3 models lean authentic with matching verdicts and ratings. Review the other findings, original source and context alongside this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earth-image.jpg</a:t>
            </a:r>
          </a:p>
          <a:p>
            <a:r>
              <a:t>Cite this analysis</a:t>
            </a:r>
          </a:p>
          <a:p>
            <a:r>
              <a:t>Software (Harvard) | Martin, S. (2026) SDA Vision: Synthetic-media Discourse Analysis (version 0.1.0) [Computer software]. Manchester Metropolitan University. Available at: https://sdavision.io/</a:t>
            </a:r>
          </a:p>
          <a:p>
            <a:r>
              <a:t>Software creator | Dr Sam Martin, Smart Data Research UK (UKRI) Fellow, Manchester Metropolitan University (MMU). ORCID: https://orcid.org/0000-0002-4466-8374.</a:t>
            </a:r>
          </a:p>
          <a:p>
            <a:r>
              <a:t>Funding acknowledgement | This work was supported by Smart Data Research UK, a UKRI investment; Grant number UKRI4010.</a:t>
            </a:r>
          </a:p>
          <a:p>
            <a:r>
              <a:t>Analysis record | File: earth-image.jpg; media type: image; recorded at: 2026-09-26T22:31:03+00:00; models: claude-opus-5-5, gemini-3.8-flash, gpt-6-astra.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earth-image.jpg</a:t>
            </a:r>
          </a:p>
          <a:p>
            <a:r>
              <a:t>File and analysis record</a:t>
            </a:r>
          </a:p>
          <a:p>
            <a:r>
              <a:t>File | earth-image.jpg</a:t>
            </a:r>
          </a:p>
          <a:p>
            <a:r>
              <a:t>Analysis ID | afa06964-dc8c-4c81-8fc7-b6179d9b2705</a:t>
            </a:r>
          </a:p>
          <a:p>
            <a:r>
              <a:t>Generated | 2026-09-26T22:31:03+00:00</a:t>
            </a:r>
          </a:p>
          <a:p>
            <a:r>
              <a:t>Tool | SDA Vision 0.1.0</a:t>
            </a:r>
          </a:p>
          <a:p>
            <a:r>
              <a:t>Models | claude-opus-5-5, gemini-3.8-flash, gpt-6-astra</a:t>
            </a:r>
          </a:p>
          <a:p>
            <a:r>
              <a:t>Method version | pdf-preparation-2026-09-26.1</a:t>
            </a:r>
          </a:p>
          <a:p>
            <a:r>
              <a:t>Analysis lens | general</a:t>
            </a:r>
          </a:p>
          <a:p>
            <a:r>
              <a:t>Original SHA-256 | a4bad2aba040fd992aff7483eee6166943e232061b82d7149b2060786719753b</a:t>
            </a:r>
          </a:p>
          <a:p>
            <a:r>
              <a:t>Ingestion note 1 | Fresh provider replies acquired for eleven-examples-refresh-20260926-r1; report assembled locally from the saved responses without further API calls.</a:t>
            </a:r>
          </a:p>
          <a:p>
            <a:r>
              <a:t>Ingestion note 2 | Provider latency values are restored from the acquisition receipts (maximum sampled-frame latency per provider); raw replies and assessment results are unchanged by this bookkeeping step.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Analysed item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4600" y="1353312"/>
            <a:ext cx="4114800" cy="4114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5532120"/>
            <a:ext cx="8412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0">
                <a:solidFill>
                  <a:srgbClr val="21243A"/>
                </a:solidFill>
                <a:latin typeface="Arial"/>
              </a:defRPr>
            </a:pPr>
            <a:r>
              <a:t>earth-image.jpg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Assessment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Finding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Leaning authentic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Recorded verdict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authentic likely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Confidence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medium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Indicative rating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4/100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Rating basis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median of available model ratings; not a calibrated probability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Explanation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3 models lean authentic with matching verdicts and ratings. Review the other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findings, original source and context alongside this result.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400100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Coverage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image - 1 frame(s) analysed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350512"/>
          <a:ext cx="8412479" cy="755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7559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Review context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Research assessment. Review alongside source information and context. When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credentials are missing, origin remains unresolved by this check. Use these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findings to inform a documented human review.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8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1993"/>
                <a:gridCol w="1850745"/>
                <a:gridCol w="2523744"/>
                <a:gridCol w="1345996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Provider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Type / status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Assessment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Rating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8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1993"/>
                <a:gridCol w="1850745"/>
                <a:gridCol w="2523744"/>
                <a:gridCol w="1345996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Claude Vision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vision / 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authentic likely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4/100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8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1993"/>
                <a:gridCol w="1850745"/>
                <a:gridCol w="2523744"/>
                <a:gridCol w="1345996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OpenAI Vision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vision / ok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authentic likely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2/100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8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1993"/>
                <a:gridCol w="1850745"/>
                <a:gridCol w="2523744"/>
                <a:gridCol w="1345996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Gemini Vision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vision / 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authentic likely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25/100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8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1993"/>
                <a:gridCol w="1850745"/>
                <a:gridCol w="2523744"/>
                <a:gridCol w="1345996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C2PA Content Credentials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provenance / ok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inconclusive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n/a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8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1993"/>
                <a:gridCol w="1850745"/>
                <a:gridCol w="2523744"/>
                <a:gridCol w="1345996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Local forensic cues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forensic / 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partially synthetic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47/100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Claude Vision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Model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claude-opus-5-5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Status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authentic likely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Confidence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high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Role in 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Supporting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797808"/>
          <a:ext cx="8412479" cy="13655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1365503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 summary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likelihood 4/100; tells: visually consistent with the widely documented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Apollo 17 'Blue Marble' photograph (NASA AS17-148-22727, Dec 1972),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geographically accurate coastlines: Africa, Arabian Peninsula, Red Sea, Gulf of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Aden, Madagascar, Antarctic ice cap, physically coherent cloud systems and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cyclonic swirls with plausible meteorological structure, film-scan grain and slight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color cast consistent with analog photography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5163312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1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Visually consistent with the widely documented Apollo 17 'Blue Marble'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photograph (NASA AS17-148-22727, Dec 1972)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1 (continued)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2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Geographically accurate coastlines: Africa, Arabian Peninsula, Red Sea, Gulf of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Aden, Madagascar, Antarctic ice cap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253488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3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Physically coherent cloud systems and cyclonic swirls with plausible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meteorological structure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8061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4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Film-scan grain and slight color cast consistent with analog photography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3155696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5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Natural limb shading and terminator-free full-disc illumination consistent with sun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behind the camera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708400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6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 repeated textures, smeared detail, or generative blending artifacts at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land/cloud boundaries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4261104"/>
          <a:ext cx="8412479" cy="9591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959103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7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Caveat: Visual match to a famous archival image is not proof of an unaltered copy;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subtle retouching, recoloring, or a high-fidelity regenerated replica cannot be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ruled out without comparison to the NASA source scan and metadata/provenance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checks.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OpenAI Vision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Model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gpt-6-astra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Status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authentic likely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Confidence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high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Role in 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Supporting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797808"/>
          <a:ext cx="8412479" cy="9591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959103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 summary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likelihood 2/100; tells: Coherent African, Arabian Peninsula, and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Madagascar coastlines, Intricate, nonrepeating cloud bands and storm spirals,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Consistent atmospheric haze and foreshortening toward Earth's limb, Fine grain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and slight softness consistent with a scanned photograph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75691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1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Coherent African, Arabian Peninsula, and Madagascar coastlines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65760" y="510641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2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Intricate, nonrepeating cloud bands and storm spirals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365760" y="545592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3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Consistent atmospheric haze and foreshortening toward Earth's limb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2 (continued)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4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Fine grain and slight softness consistent with a scanned photograph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5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Composition closely resembles the historical Blue Marble photograph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6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Caveat: Visual resemblance cannot establish provenance; compare with the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archival original to check for subsequent edits.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Gemini Vision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Model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gemini-3.8-flash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Status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authentic likely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Confidence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medium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Role in 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Supporting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797808"/>
          <a:ext cx="8412479" cy="755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7559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 summary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likelihood 25/100; tells: authentic film grain, consistent atmospheric limb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scatter, historically documented cloud formations, natural optical sensor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characteristics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55371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1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Authentic film grain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65760" y="490321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2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Consistent atmospheric limb scatter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365760" y="525272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3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Historically documented cloud formations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3 (continued)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4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Natural optical sensor characteristics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5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Caveat: High-profile historical images can be digitally remastered or simulated by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generative models.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Content Credentials / provenance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C2PA Content Credentials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Model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Not recorded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Status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inconclusive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Confidence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Not recorded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Role in 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Additional finding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79780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 summary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Embedded credentials: none found. Origin remains unresolved by this check.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147312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1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Coverage: credentials embedded in the submitted file. External credentials were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not retrieved.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65760" y="4700016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2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Verifier: c2pa-python 0.37.12; native SDK 0.91.0; specification target 2.4; policy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embedded-offline-reviewed-trust-v3.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365760" y="5252720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3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Offline embedded-manifest verification; no network trust-list, manifest or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revocation refresh.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Content Credentials / provenance (continued)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4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 reviewed local C2PA trust snapshot installed. Provenance overrides are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disabled.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Provider evidence /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Local forensic cues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Model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Not recorded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Status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ok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partially synthetic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Confidence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low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Role in assessment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Additional finding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79780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 summary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Heuristic synthetic likelihood 47/100 from metadata + pixel statistics.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14731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1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No camera EXIF (common in AI exports, screenshots, and re-saves).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65760" y="449681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2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ELA mean 0.5, peak 10 (uniform high ELA can indicate generation/heavy edit).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365760" y="484632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3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High-frequency noise std 4.61 (very low/very uniform noise is a synthesis cue).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365760" y="519582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Evidence 4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Spectral peakiness 25.63 (periodic frequency peaks can mark generated textures).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Evidence supporting this verdict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13655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1365503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Claude Vision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likelihood 4/100; tells: visually consistent with the widely documented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Apollo 17 'Blue Marble' photograph (NASA AS17-148-22727, Dec 1972),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geographically accurate coastlines: Africa, Arabian Peninsula, Red Sea, Gulf of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Aden, Madagascar, Antarctic ice cap, physically coherent cloud systems and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cyclonic swirls with plausible meteorological structure, film-scan grain and slight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color cast consistent with analog photography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3066288"/>
          <a:ext cx="8412479" cy="9591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959103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OpenAI Vision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likelihood 2/100; tells: Coherent African, Arabian Peninsula, and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Madagascar coastlines, Intricate, nonrepeating cloud bands and storm spirals,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Consistent atmospheric haze and foreshortening toward Earth's limb, Fine grain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and slight softness consistent with a scanned photograph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4025392"/>
          <a:ext cx="8412479" cy="755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7559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Gemini Vision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 likelihood 25/100; tells: authentic film grain, consistent atmospheric limb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scatter, historically documented cloud formations, natural optical sensor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characteristics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Additional findings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Local forensic cues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Supporting observation; considered alongside the model assessments.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C2PA Content Credentials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Embedded credentials: none found. Origin remains unresolved by this check.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How this assessment was reached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1. override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outcome=none; detail=No confirmed C2PA AI assertion or SynthID watermark.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Origin remains unresolved by these checks.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253488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2. model_agreement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synthetic=[]; authentic=['Claude Vision', 'OpenAI Vision', 'Gemini Vision'];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uncertain=[]; forensic_supports_synthetic=False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806192"/>
          <a:ext cx="8412479" cy="755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7559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3. verdict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value=authentic_likely; confidence=medium; reason=3 models lean authentic with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matching verdicts and ratings. Review the other findings, original source and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context alongside this result.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Cite this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755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7559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Software (Harvard)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Martin, S. (2026) SDA Vision: Synthetic-media Discourse Analysis (version 0.1.0)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[Computer software]. Manchester Metropolitan University. Available at: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https://sdavision.io/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456688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Software creator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Dr Sam Martin, Smart Data Research UK (UKRI) Fellow, Manchester Metropolitan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University (MMU). ORCID: https://orcid.org/0000-0002-4466-8374.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3009392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Funding acknowledgement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This work was supported by Smart Data Research UK, a UKRI investment; Grant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number UKRI4010.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3562095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Analysis record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File: earth-image.jpg; media type: image; recorded at: 2026-09-26T22:31:03+00:00;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models: claude-opus-5-5, gemini-3.8-flash, gpt-6-astra.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1100" b="1">
                <a:solidFill>
                  <a:srgbClr val="C5006A"/>
                </a:solidFill>
                <a:latin typeface="Arial"/>
              </a:defRPr>
            </a:pPr>
            <a:r>
              <a:t>SDA VISION / RESEARCH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58368"/>
            <a:ext cx="841248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2200" b="1">
                <a:solidFill>
                  <a:srgbClr val="21243A"/>
                </a:solidFill>
                <a:latin typeface="Arial"/>
              </a:defRPr>
            </a:pPr>
            <a:r>
              <a:t>File and analysis record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91072"/>
            <a:ext cx="8001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800" b="0">
                <a:solidFill>
                  <a:srgbClr val="545B6D"/>
                </a:solidFill>
                <a:latin typeface="Arial"/>
              </a:defRPr>
            </a:pPr>
            <a:r>
              <a:t>Research assessment. Ratings are not calibrated probabilities.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94192" y="6318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  <a:defRPr sz="900" b="0">
                <a:solidFill>
                  <a:srgbClr val="545B6D"/>
                </a:solidFill>
                <a:latin typeface="Arial"/>
              </a:defRPr>
            </a:pPr>
            <a:r>
              <a:t>17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53312"/>
          <a:ext cx="8412479" cy="347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7472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Recorded detail</a:t>
                      </a:r>
                    </a:p>
                  </a:txBody>
                  <a:tcPr marL="82296" marR="82296" marT="64008" marB="64008">
                    <a:solidFill>
                      <a:srgbClr val="16787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0078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File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earth-image.jpg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05028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Analysis ID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afa06964-dc8c-4c81-8fc7-b6179d9b2705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239979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Generated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2026-09-26T22:31:03+00:00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2749296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Tool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SDA Vision 0.1.0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3098800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Models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claude-opus-5-5, gemini-3.8-flash, gpt-6-astra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448304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Method version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pdf-preparation-2026-09-26.1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797808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Analysis lens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general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147312"/>
          <a:ext cx="8412479" cy="349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3495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Original SHA-256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a4bad2aba040fd992aff7483eee6166943e232061b82d7149b2060786719753b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65760" y="4496816"/>
          <a:ext cx="8412479" cy="552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5527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Ingestion note 1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Fresh provider replies acquired for eleven-examples-refresh-20260926-r1; report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assembled locally from the saved responses without further API calls.</a:t>
                      </a:r>
                    </a:p>
                  </a:txBody>
                  <a:tcPr marL="82296" marR="82296" marT="64008" marB="64008"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365760" y="5049520"/>
          <a:ext cx="8412479" cy="755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369"/>
                <a:gridCol w="6141110"/>
              </a:tblGrid>
              <a:tr h="755904"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Ingestion note 2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Provider latency values are restored from the acquisition receipts (maximum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sampled-frame latency per provider); raw replies and assessment results are</a:t>
                      </a:r>
                    </a:p>
                    <a:p>
                      <a:pPr>
                        <a:lnSpc>
                          <a:spcPts val="1600"/>
                        </a:lnSpc>
                        <a:spcAft>
                          <a:spcPts val="0"/>
                        </a:spcAft>
                        <a:defRPr sz="1200" b="0">
                          <a:solidFill>
                            <a:srgbClr val="21243A"/>
                          </a:solidFill>
                          <a:latin typeface="Arial"/>
                        </a:defRPr>
                      </a:pPr>
                      <a:r>
                        <a:t>unchanged by this bookkeeping step.</a:t>
                      </a:r>
                    </a:p>
                  </a:txBody>
                  <a:tcPr marL="82296" marR="82296" marT="64008" marB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