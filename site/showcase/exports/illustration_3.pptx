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illustration-3.webp</a:t>
            </a:r>
          </a:p>
          <a:p>
            <a:r>
              <a:t>illustration-3.webp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illustration-3.webp</a:t>
            </a:r>
          </a:p>
          <a:p>
            <a:r>
              <a:t>Assessment summary</a:t>
            </a:r>
          </a:p>
          <a:p>
            <a:r>
              <a:t>Finding | Leaning authentic</a:t>
            </a:r>
          </a:p>
          <a:p>
            <a:r>
              <a:t>Recorded verdict | authentic likely</a:t>
            </a:r>
          </a:p>
          <a:p>
            <a:r>
              <a:t>Confidence | medium</a:t>
            </a:r>
          </a:p>
          <a:p>
            <a:r>
              <a:t>Indicative rating | 5/100</a:t>
            </a:r>
          </a:p>
          <a:p>
            <a:r>
              <a:t>Rating basis | median of available model ratings; not a calibrated probability</a:t>
            </a:r>
          </a:p>
          <a:p>
            <a:r>
              <a:t>Explanation | 3 models lean authentic with matching verdicts and ratings. Review the other findings, original source and context alongside this result.</a:t>
            </a:r>
          </a:p>
          <a:p>
            <a:r>
              <a:t>Coverage | image - 1 frame(s) analysed</a:t>
            </a:r>
          </a:p>
          <a:p>
            <a:r>
              <a:t>Review context | Research assessment. Review alongside source information and context. When credentials are missing, origin remains unresolved by this check. Use these findings to inform a documented human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illustration-3.webp</a:t>
            </a:r>
          </a:p>
          <a:p>
            <a:r>
              <a:t>Provider overview</a:t>
            </a:r>
          </a:p>
          <a:p>
            <a:r>
              <a:t>Claude Vision | vision / ok | authentic likely | 5/100</a:t>
            </a:r>
          </a:p>
          <a:p>
            <a:r>
              <a:t>OpenAI Vision | vision / ok | authentic likely | 5/100</a:t>
            </a:r>
          </a:p>
          <a:p>
            <a:r>
              <a:t>Gemini Vision | vision / ok | authentic likely | 25/100</a:t>
            </a:r>
          </a:p>
          <a:p>
            <a:r>
              <a:t>C2PA Content Credentials | provenance / ok | inconclusive | n/a</a:t>
            </a:r>
          </a:p>
          <a:p>
            <a:r>
              <a:t>Local forensic cues | forensic / ok | partially synthetic | 41/100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illustration-3.webp</a:t>
            </a:r>
          </a:p>
          <a:p>
            <a:r>
              <a:t>Provider evidence / 1</a:t>
            </a:r>
          </a:p>
          <a:p>
            <a:r>
              <a:t>Provider | Claude Vision</a:t>
            </a:r>
          </a:p>
          <a:p>
            <a:r>
              <a:t>Model | claude-opus-5-5</a:t>
            </a:r>
          </a:p>
          <a:p>
            <a:r>
              <a:t>Status | ok</a:t>
            </a:r>
          </a:p>
          <a:p>
            <a:r>
              <a:t>Assessment | authentic likely</a:t>
            </a:r>
          </a:p>
          <a:p>
            <a:r>
              <a:t>Confidence | medium</a:t>
            </a:r>
          </a:p>
          <a:p>
            <a:r>
              <a:t>Role in assessment | Supporting</a:t>
            </a:r>
          </a:p>
          <a:p>
            <a:r>
              <a:t>Provider summary | synthetic likelihood 5/100; tells: consistent hand-drawn ink linework with natural stroke weight variation, cross-hatched shading at left edge typical of manual/digital-pen editorial cartooning, coherent, correctly spelled hand-lettered text in speech bubble and labels, legible artist signature ('BEELER') with year mark</a:t>
            </a:r>
          </a:p>
          <a:p>
            <a:r>
              <a:t>Evidence 1 | Consistent hand-drawn ink linework with natural stroke weight variation</a:t>
            </a:r>
          </a:p>
          <a:p>
            <a:r>
              <a:t>Evidence 2 | Cross-hatched shading at left edge typical of manual/digital-pen editorial cartooning</a:t>
            </a:r>
          </a:p>
          <a:p>
            <a:r>
              <a:t>Evidence 3 | Coherent, correctly spelled hand-lettered text in speech bubble and labels</a:t>
            </a:r>
          </a:p>
          <a:p>
            <a:r>
              <a:t>Evidence 4 | Legible artist signature ('BEELER') with year mark</a:t>
            </a:r>
          </a:p>
          <a:p>
            <a:r>
              <a:t>Evidence 5 | Legible syndicate/publication credit ('The Columbus Dispatch', 'CagleCartoons.com')</a:t>
            </a:r>
          </a:p>
          <a:p>
            <a:r>
              <a:t>Evidence 6 | Anatomically coherent hands and consistent character styling</a:t>
            </a:r>
          </a:p>
          <a:p>
            <a:r>
              <a:t>Evidence 7 | Stylistic consistency with known Nate Beeler editorial cartoons</a:t>
            </a:r>
          </a:p>
          <a:p>
            <a:r>
              <a:t>Evidence 8 | No AI texture smearing, garbled glyphs or melted details</a:t>
            </a:r>
          </a:p>
          <a:p>
            <a:r>
              <a:t>Evidence 9 | Caveat: Rating is based on visual style only. Illustrations give fewer forensic signals than camera photos, and the image is a recompressed webp. Confirm provenance against the original Cagle Cartoons or Columbus Dispatch publication (circa 2019).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illustration-3.webp</a:t>
            </a:r>
          </a:p>
          <a:p>
            <a:r>
              <a:t>Provider evidence / 1</a:t>
            </a:r>
          </a:p>
          <a:p>
            <a:r>
              <a:t>Provider | Claude Vision</a:t>
            </a:r>
          </a:p>
          <a:p>
            <a:r>
              <a:t>Model | claude-opus-5-5</a:t>
            </a:r>
          </a:p>
          <a:p>
            <a:r>
              <a:t>Status | ok</a:t>
            </a:r>
          </a:p>
          <a:p>
            <a:r>
              <a:t>Assessment | authentic likely</a:t>
            </a:r>
          </a:p>
          <a:p>
            <a:r>
              <a:t>Confidence | medium</a:t>
            </a:r>
          </a:p>
          <a:p>
            <a:r>
              <a:t>Role in assessment | Supporting</a:t>
            </a:r>
          </a:p>
          <a:p>
            <a:r>
              <a:t>Provider summary | synthetic likelihood 5/100; tells: consistent hand-drawn ink linework with natural stroke weight variation, cross-hatched shading at left edge typical of manual/digital-pen editorial cartooning, coherent, correctly spelled hand-lettered text in speech bubble and labels, legible artist signature ('BEELER') with year mark</a:t>
            </a:r>
          </a:p>
          <a:p>
            <a:r>
              <a:t>Evidence 1 | Consistent hand-drawn ink linework with natural stroke weight variation</a:t>
            </a:r>
          </a:p>
          <a:p>
            <a:r>
              <a:t>Evidence 2 | Cross-hatched shading at left edge typical of manual/digital-pen editorial cartooning</a:t>
            </a:r>
          </a:p>
          <a:p>
            <a:r>
              <a:t>Evidence 3 | Coherent, correctly spelled hand-lettered text in speech bubble and labels</a:t>
            </a:r>
          </a:p>
          <a:p>
            <a:r>
              <a:t>Evidence 4 | Legible artist signature ('BEELER') with year mark</a:t>
            </a:r>
          </a:p>
          <a:p>
            <a:r>
              <a:t>Evidence 5 | Legible syndicate/publication credit ('The Columbus Dispatch', 'CagleCartoons.com')</a:t>
            </a:r>
          </a:p>
          <a:p>
            <a:r>
              <a:t>Evidence 6 | Anatomically coherent hands and consistent character styling</a:t>
            </a:r>
          </a:p>
          <a:p>
            <a:r>
              <a:t>Evidence 7 | Stylistic consistency with known Nate Beeler editorial cartoons</a:t>
            </a:r>
          </a:p>
          <a:p>
            <a:r>
              <a:t>Evidence 8 | No AI texture smearing, garbled glyphs or melted details</a:t>
            </a:r>
          </a:p>
          <a:p>
            <a:r>
              <a:t>Evidence 9 | Caveat: Rating is based on visual style only. Illustrations give fewer forensic signals than camera photos, and the image is a recompressed webp. Confirm provenance against the original Cagle Cartoons or Columbus Dispatch publication (circa 2019).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illustration-3.webp</a:t>
            </a:r>
          </a:p>
          <a:p>
            <a:r>
              <a:t>Provider evidence / 2</a:t>
            </a:r>
          </a:p>
          <a:p>
            <a:r>
              <a:t>Provider | OpenAI Vision</a:t>
            </a:r>
          </a:p>
          <a:p>
            <a:r>
              <a:t>Model | gpt-6-astra</a:t>
            </a:r>
          </a:p>
          <a:p>
            <a:r>
              <a:t>Status | ok</a:t>
            </a:r>
          </a:p>
          <a:p>
            <a:r>
              <a:t>Assessment | authentic likely</a:t>
            </a:r>
          </a:p>
          <a:p>
            <a:r>
              <a:t>Confidence | medium</a:t>
            </a:r>
          </a:p>
          <a:p>
            <a:r>
              <a:t>Role in assessment | Supporting</a:t>
            </a:r>
          </a:p>
          <a:p>
            <a:r>
              <a:t>Provider summary | synthetic likelihood 5/100; tells: Consistent pen-and-ink outlines and crosshatched shading throughout the cartoon, Coherent, legible hand-lettered speech and disease labels, Deliberate caricature proportions and integrated symbolic virus heads, Visible publication credit and artist signature</a:t>
            </a:r>
          </a:p>
          <a:p>
            <a:r>
              <a:t>Evidence 1 | Consistent pen-and-ink outlines and crosshatched shading throughout the cartoon</a:t>
            </a:r>
          </a:p>
          <a:p>
            <a:r>
              <a:t>Evidence 2 | Coherent, legible hand-lettered speech and disease labels</a:t>
            </a:r>
          </a:p>
          <a:p>
            <a:r>
              <a:t>Evidence 3 | Deliberate caricature proportions and integrated symbolic virus heads</a:t>
            </a:r>
          </a:p>
          <a:p>
            <a:r>
              <a:t>Evidence 4 | Visible publication credit and artist signature</a:t>
            </a:r>
          </a:p>
          <a:p>
            <a:r>
              <a:t>Evidence 5 | Caveat: Appears to be a conventional editorial illustration, not a camera photo; visual inspection alone cannot verify authorship or exclude AI edits, and the stylized signature/date are difficult to read.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illustration-3.webp</a:t>
            </a:r>
          </a:p>
          <a:p>
            <a:r>
              <a:t>Provider evidence / 2</a:t>
            </a:r>
          </a:p>
          <a:p>
            <a:r>
              <a:t>Provider | OpenAI Vision</a:t>
            </a:r>
          </a:p>
          <a:p>
            <a:r>
              <a:t>Model | gpt-6-astra</a:t>
            </a:r>
          </a:p>
          <a:p>
            <a:r>
              <a:t>Status | ok</a:t>
            </a:r>
          </a:p>
          <a:p>
            <a:r>
              <a:t>Assessment | authentic likely</a:t>
            </a:r>
          </a:p>
          <a:p>
            <a:r>
              <a:t>Confidence | medium</a:t>
            </a:r>
          </a:p>
          <a:p>
            <a:r>
              <a:t>Role in assessment | Supporting</a:t>
            </a:r>
          </a:p>
          <a:p>
            <a:r>
              <a:t>Provider summary | synthetic likelihood 5/100; tells: Consistent pen-and-ink outlines and crosshatched shading throughout the cartoon, Coherent, legible hand-lettered speech and disease labels, Deliberate caricature proportions and integrated symbolic virus heads, Visible publication credit and artist signature</a:t>
            </a:r>
          </a:p>
          <a:p>
            <a:r>
              <a:t>Evidence 1 | Consistent pen-and-ink outlines and crosshatched shading throughout the cartoon</a:t>
            </a:r>
          </a:p>
          <a:p>
            <a:r>
              <a:t>Evidence 2 | Coherent, legible hand-lettered speech and disease labels</a:t>
            </a:r>
          </a:p>
          <a:p>
            <a:r>
              <a:t>Evidence 3 | Deliberate caricature proportions and integrated symbolic virus heads</a:t>
            </a:r>
          </a:p>
          <a:p>
            <a:r>
              <a:t>Evidence 4 | Visible publication credit and artist signature</a:t>
            </a:r>
          </a:p>
          <a:p>
            <a:r>
              <a:t>Evidence 5 | Caveat: Appears to be a conventional editorial illustration, not a camera photo; visual inspection alone cannot verify authorship or exclude AI edits, and the stylized signature/date are difficult to read.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illustration-3.webp</a:t>
            </a:r>
          </a:p>
          <a:p>
            <a:r>
              <a:t>Provider evidence / 3</a:t>
            </a:r>
          </a:p>
          <a:p>
            <a:r>
              <a:t>Provider | Gemini Vision</a:t>
            </a:r>
          </a:p>
          <a:p>
            <a:r>
              <a:t>Model | gemini-3.8-flash</a:t>
            </a:r>
          </a:p>
          <a:p>
            <a:r>
              <a:t>Status | ok</a:t>
            </a:r>
          </a:p>
          <a:p>
            <a:r>
              <a:t>Assessment | authentic likely</a:t>
            </a:r>
          </a:p>
          <a:p>
            <a:r>
              <a:t>Confidence | high</a:t>
            </a:r>
          </a:p>
          <a:p>
            <a:r>
              <a:t>Role in assessment | Supporting</a:t>
            </a:r>
          </a:p>
          <a:p>
            <a:r>
              <a:t>Provider summary | synthetic likelihood 25/100; tells: consistent editorial cartoon linework, artist signature and syndication text, hand-drawn hatching and crosshatching, coherent hand lettering</a:t>
            </a:r>
          </a:p>
          <a:p>
            <a:r>
              <a:t>Evidence 1 | Consistent editorial cartoon linework</a:t>
            </a:r>
          </a:p>
          <a:p>
            <a:r>
              <a:t>Evidence 2 | Artist signature and syndication text</a:t>
            </a:r>
          </a:p>
          <a:p>
            <a:r>
              <a:t>Evidence 3 | Hand-drawn hatching and crosshatching</a:t>
            </a:r>
          </a:p>
          <a:p>
            <a:r>
              <a:t>Evidence 4 | Coherent hand lettering</a:t>
            </a:r>
          </a:p>
          <a:p>
            <a:r>
              <a:t>Evidence 5 | Caveat: Editorial illustrations follow stylistic conventions distinct from photographic media, which automated detectors may mischaracterize.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illustration-3.webp</a:t>
            </a:r>
          </a:p>
          <a:p>
            <a:r>
              <a:t>Provider evidence / 3</a:t>
            </a:r>
          </a:p>
          <a:p>
            <a:r>
              <a:t>Provider | Gemini Vision</a:t>
            </a:r>
          </a:p>
          <a:p>
            <a:r>
              <a:t>Model | gemini-3.8-flash</a:t>
            </a:r>
          </a:p>
          <a:p>
            <a:r>
              <a:t>Status | ok</a:t>
            </a:r>
          </a:p>
          <a:p>
            <a:r>
              <a:t>Assessment | authentic likely</a:t>
            </a:r>
          </a:p>
          <a:p>
            <a:r>
              <a:t>Confidence | high</a:t>
            </a:r>
          </a:p>
          <a:p>
            <a:r>
              <a:t>Role in assessment | Supporting</a:t>
            </a:r>
          </a:p>
          <a:p>
            <a:r>
              <a:t>Provider summary | synthetic likelihood 25/100; tells: consistent editorial cartoon linework, artist signature and syndication text, hand-drawn hatching and crosshatching, coherent hand lettering</a:t>
            </a:r>
          </a:p>
          <a:p>
            <a:r>
              <a:t>Evidence 1 | Consistent editorial cartoon linework</a:t>
            </a:r>
          </a:p>
          <a:p>
            <a:r>
              <a:t>Evidence 2 | Artist signature and syndication text</a:t>
            </a:r>
          </a:p>
          <a:p>
            <a:r>
              <a:t>Evidence 3 | Hand-drawn hatching and crosshatching</a:t>
            </a:r>
          </a:p>
          <a:p>
            <a:r>
              <a:t>Evidence 4 | Coherent hand lettering</a:t>
            </a:r>
          </a:p>
          <a:p>
            <a:r>
              <a:t>Evidence 5 | Caveat: Editorial illustrations follow stylistic conventions distinct from photographic media, which automated detectors may mischaracterize.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illustration-3.webp</a:t>
            </a:r>
          </a:p>
          <a:p>
            <a:r>
              <a:t>Content Credentials / provenance</a:t>
            </a:r>
          </a:p>
          <a:p>
            <a:r>
              <a:t>Provider | C2PA Content Credentials</a:t>
            </a:r>
          </a:p>
          <a:p>
            <a:r>
              <a:t>Model | Not recorded</a:t>
            </a:r>
          </a:p>
          <a:p>
            <a:r>
              <a:t>Status | ok</a:t>
            </a:r>
          </a:p>
          <a:p>
            <a:r>
              <a:t>Assessment | inconclusive</a:t>
            </a:r>
          </a:p>
          <a:p>
            <a:r>
              <a:t>Confidence | Not recorded</a:t>
            </a:r>
          </a:p>
          <a:p>
            <a:r>
              <a:t>Role in assessment | Additional finding</a:t>
            </a:r>
          </a:p>
          <a:p>
            <a:r>
              <a:t>Provider summary | Embedded credentials: none found. Origin remains unresolved by this check.</a:t>
            </a:r>
          </a:p>
          <a:p>
            <a:r>
              <a:t>Evidence 1 | Coverage: credentials embedded in the submitted file. External credentials were not retrieved.</a:t>
            </a:r>
          </a:p>
          <a:p>
            <a:r>
              <a:t>Evidence 2 | Verifier: c2pa-python 0.37.12; native SDK 0.91.0; specification target 2.4; policy embedded-offline-reviewed-trust-v3.</a:t>
            </a:r>
          </a:p>
          <a:p>
            <a:r>
              <a:t>Evidence 3 | Offline embedded-manifest verification; no network trust-list, manifest or revocation refresh.</a:t>
            </a:r>
          </a:p>
          <a:p>
            <a:r>
              <a:t>Evidence 4 | No reviewed local C2PA trust snapshot installed. Provenance overrides are disabled.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illustration-3.webp</a:t>
            </a:r>
          </a:p>
          <a:p>
            <a:r>
              <a:t>Content Credentials / provenance</a:t>
            </a:r>
          </a:p>
          <a:p>
            <a:r>
              <a:t>Provider | C2PA Content Credentials</a:t>
            </a:r>
          </a:p>
          <a:p>
            <a:r>
              <a:t>Model | Not recorded</a:t>
            </a:r>
          </a:p>
          <a:p>
            <a:r>
              <a:t>Status | ok</a:t>
            </a:r>
          </a:p>
          <a:p>
            <a:r>
              <a:t>Assessment | inconclusive</a:t>
            </a:r>
          </a:p>
          <a:p>
            <a:r>
              <a:t>Confidence | Not recorded</a:t>
            </a:r>
          </a:p>
          <a:p>
            <a:r>
              <a:t>Role in assessment | Additional finding</a:t>
            </a:r>
          </a:p>
          <a:p>
            <a:r>
              <a:t>Provider summary | Embedded credentials: none found. Origin remains unresolved by this check.</a:t>
            </a:r>
          </a:p>
          <a:p>
            <a:r>
              <a:t>Evidence 1 | Coverage: credentials embedded in the submitted file. External credentials were not retrieved.</a:t>
            </a:r>
          </a:p>
          <a:p>
            <a:r>
              <a:t>Evidence 2 | Verifier: c2pa-python 0.37.12; native SDK 0.91.0; specification target 2.4; policy embedded-offline-reviewed-trust-v3.</a:t>
            </a:r>
          </a:p>
          <a:p>
            <a:r>
              <a:t>Evidence 3 | Offline embedded-manifest verification; no network trust-list, manifest or revocation refresh.</a:t>
            </a:r>
          </a:p>
          <a:p>
            <a:r>
              <a:t>Evidence 4 | No reviewed local C2PA trust snapshot installed. Provenance overrides are disabled.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illustration-3.webp</a:t>
            </a:r>
          </a:p>
          <a:p>
            <a:r>
              <a:t>Provider evidence / 5</a:t>
            </a:r>
          </a:p>
          <a:p>
            <a:r>
              <a:t>Provider | Local forensic cues</a:t>
            </a:r>
          </a:p>
          <a:p>
            <a:r>
              <a:t>Model | Not recorded</a:t>
            </a:r>
          </a:p>
          <a:p>
            <a:r>
              <a:t>Status | ok</a:t>
            </a:r>
          </a:p>
          <a:p>
            <a:r>
              <a:t>Assessment | partially synthetic</a:t>
            </a:r>
          </a:p>
          <a:p>
            <a:r>
              <a:t>Confidence | low</a:t>
            </a:r>
          </a:p>
          <a:p>
            <a:r>
              <a:t>Role in assessment | Additional finding</a:t>
            </a:r>
          </a:p>
          <a:p>
            <a:r>
              <a:t>Provider summary | Heuristic synthetic likelihood 41/100 from metadata + pixel statistics.</a:t>
            </a:r>
          </a:p>
          <a:p>
            <a:r>
              <a:t>Evidence 1 | No camera EXIF (common in AI exports, screenshots, and re-saves).</a:t>
            </a:r>
          </a:p>
          <a:p>
            <a:r>
              <a:t>Evidence 2 | ELA mean 1.3, peak 34 (uniform high ELA can indicate generation/heavy edit).</a:t>
            </a:r>
          </a:p>
          <a:p>
            <a:r>
              <a:t>Evidence 3 | High-frequency noise std 19.52 (very low/very uniform noise is a synthesis cue).</a:t>
            </a:r>
          </a:p>
          <a:p>
            <a:r>
              <a:t>Evidence 4 | Spectral peakiness 12.27 (periodic frequency peaks can mark generated textures).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illustration-3.webp</a:t>
            </a:r>
          </a:p>
          <a:p>
            <a:r>
              <a:t>Evidence supporting this verdict</a:t>
            </a:r>
          </a:p>
          <a:p>
            <a:r>
              <a:t>Claude Vision | synthetic likelihood 5/100; tells: consistent hand-drawn ink linework with natural stroke weight variation, cross-hatched shading at left edge typical of manual/digital-pen editorial cartooning, coherent, correctly spelled hand-lettered text in speech bubble and labels, legible artist signature ('BEELER') with year mark</a:t>
            </a:r>
          </a:p>
          <a:p>
            <a:r>
              <a:t>OpenAI Vision | synthetic likelihood 5/100; tells: Consistent pen-and-ink outlines and crosshatched shading throughout the cartoon, Coherent, legible hand-lettered speech and disease labels, Deliberate caricature proportions and integrated symbolic virus heads, Visible publication credit and artist signature</a:t>
            </a:r>
          </a:p>
          <a:p>
            <a:r>
              <a:t>Gemini Vision | synthetic likelihood 25/100; tells: consistent editorial cartoon linework, artist signature and syndication text, hand-drawn hatching and crosshatching, coherent hand lettering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illustration-3.webp</a:t>
            </a:r>
          </a:p>
          <a:p>
            <a:r>
              <a:t>Additional findings</a:t>
            </a:r>
          </a:p>
          <a:p>
            <a:r>
              <a:t>Local forensic cues | Supporting observation; considered alongside the model assessments.</a:t>
            </a:r>
          </a:p>
          <a:p>
            <a:r>
              <a:t>C2PA Content Credentials | Embedded credentials: none found. Origin remains unresolved by this check.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illustration-3.webp</a:t>
            </a:r>
          </a:p>
          <a:p>
            <a:r>
              <a:t>Visible text</a:t>
            </a:r>
          </a:p>
          <a:p>
            <a:r>
              <a:t>Recorded text | I REJECT VACCINES OUT OF LOVE FOR MY CHILDREN. | VAX | MEASLES | MUMPS | RUBELLA | THE COLUMBUS DISPATCH CAGLECARTOONS.com | BEELER ©19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illustration-3.webp</a:t>
            </a:r>
          </a:p>
          <a:p>
            <a:r>
              <a:t>How this assessment was reached</a:t>
            </a:r>
          </a:p>
          <a:p>
            <a:r>
              <a:t>1. override | outcome=none; detail=No confirmed C2PA AI assertion or SynthID watermark. Origin remains unresolved by these checks.</a:t>
            </a:r>
          </a:p>
          <a:p>
            <a:r>
              <a:t>2. model_agreement | synthetic=[]; authentic=['Claude Vision', 'OpenAI Vision', 'Gemini Vision']; uncertain=[]; forensic_supports_synthetic=False</a:t>
            </a:r>
          </a:p>
          <a:p>
            <a:r>
              <a:t>3. verdict | value=authentic_likely; confidence=medium; reason=3 models lean authentic with matching verdicts and ratings. Review the other findings, original source and context alongside this result.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illustration-3.webp</a:t>
            </a:r>
          </a:p>
          <a:p>
            <a:r>
              <a:t>File and analysis record</a:t>
            </a:r>
          </a:p>
          <a:p>
            <a:r>
              <a:t>File | illustration-3.webp</a:t>
            </a:r>
          </a:p>
          <a:p>
            <a:r>
              <a:t>Analysis ID | e716b5d1-879a-47a3-8409-9343f8dc749d</a:t>
            </a:r>
          </a:p>
          <a:p>
            <a:r>
              <a:t>Generated | 2026-09-26T18:37:51+00:00</a:t>
            </a:r>
          </a:p>
          <a:p>
            <a:r>
              <a:t>Tool | SDA Vision 0.1.0</a:t>
            </a:r>
          </a:p>
          <a:p>
            <a:r>
              <a:t>Models | claude-opus-5-5, gemini-3.8-flash, gpt-6-astra</a:t>
            </a:r>
          </a:p>
          <a:p>
            <a:r>
              <a:t>Method version | verdict-consistency-2026-09-26.1</a:t>
            </a:r>
          </a:p>
          <a:p>
            <a:r>
              <a:t>Analysis lens | general</a:t>
            </a:r>
          </a:p>
          <a:p>
            <a:r>
              <a:t>Original SHA-256 | 17442d095e61a319e806d0a58993fcb5b4a89705867bda5ead74b82bec4b8add</a:t>
            </a:r>
          </a:p>
          <a:p>
            <a:r>
              <a:t>Ingestion note 1 | Recomputed locally from saved LLM replies acquired at 2026-09-25T11:22:07+00:00 under method publication-repair-2026-09-24.3. Original report ae05de4f-1d78-4c71-85a5-9a9e833d7306 is preserved. No new provider requests. The original analysis used a source-labelled filename; this is not a source-blind comparison.</a:t>
            </a:r>
          </a:p>
          <a:p>
            <a:r>
              <a:t>Ingestion note 2 | Presentation copy of saved report a7209748-4dcd-4092-898a-e2a5dc6c475f. The descriptive filename replaces the earlier example ID for navigation. Original analysis dates, provider replies, scores and acquisition context are retained; no new model analysis.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illustration-3.webp</a:t>
            </a:r>
          </a:p>
          <a:p>
            <a:r>
              <a:t>File and analysis record</a:t>
            </a:r>
          </a:p>
          <a:p>
            <a:r>
              <a:t>File | illustration-3.webp</a:t>
            </a:r>
          </a:p>
          <a:p>
            <a:r>
              <a:t>Analysis ID | e716b5d1-879a-47a3-8409-9343f8dc749d</a:t>
            </a:r>
          </a:p>
          <a:p>
            <a:r>
              <a:t>Generated | 2026-09-26T18:37:51+00:00</a:t>
            </a:r>
          </a:p>
          <a:p>
            <a:r>
              <a:t>Tool | SDA Vision 0.1.0</a:t>
            </a:r>
          </a:p>
          <a:p>
            <a:r>
              <a:t>Models | claude-opus-5-5, gemini-3.8-flash, gpt-6-astra</a:t>
            </a:r>
          </a:p>
          <a:p>
            <a:r>
              <a:t>Method version | verdict-consistency-2026-09-26.1</a:t>
            </a:r>
          </a:p>
          <a:p>
            <a:r>
              <a:t>Analysis lens | general</a:t>
            </a:r>
          </a:p>
          <a:p>
            <a:r>
              <a:t>Original SHA-256 | 17442d095e61a319e806d0a58993fcb5b4a89705867bda5ead74b82bec4b8add</a:t>
            </a:r>
          </a:p>
          <a:p>
            <a:r>
              <a:t>Ingestion note 1 | Recomputed locally from saved LLM replies acquired at 2026-09-25T11:22:07+00:00 under method publication-repair-2026-09-24.3. Original report ae05de4f-1d78-4c71-85a5-9a9e833d7306 is preserved. No new provider requests. The original analysis used a source-labelled filename; this is not a source-blind comparison.</a:t>
            </a:r>
          </a:p>
          <a:p>
            <a:r>
              <a:t>Ingestion note 2 | Presentation copy of saved report a7209748-4dcd-4092-898a-e2a5dc6c475f. The descriptive filename replaces the earlier example ID for navigation. Original analysis dates, provider replies, scores and acquisition context are retained; no new model analysis.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19456"/>
            <a:ext cx="8412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100" b="1">
                <a:solidFill>
                  <a:srgbClr val="C5006A"/>
                </a:solidFill>
                <a:latin typeface="Arial"/>
              </a:defRPr>
            </a:pPr>
            <a:r>
              <a:t>SDA VISION / RESEARCH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841248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200" b="1">
                <a:solidFill>
                  <a:srgbClr val="21243A"/>
                </a:solidFill>
                <a:latin typeface="Arial"/>
              </a:defRPr>
            </a:pPr>
            <a:r>
              <a:t>Analysed item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91072"/>
            <a:ext cx="8001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800" b="0">
                <a:solidFill>
                  <a:srgbClr val="545B6D"/>
                </a:solidFill>
                <a:latin typeface="Arial"/>
              </a:defRPr>
            </a:pPr>
            <a:r>
              <a:t>Research assessment. Ratings are not calibrated probabilities.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94192" y="6318504"/>
            <a:ext cx="3657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900" b="0">
                <a:solidFill>
                  <a:srgbClr val="545B6D"/>
                </a:solidFill>
                <a:latin typeface="Arial"/>
              </a:defRPr>
            </a:pPr>
            <a:r>
              <a:t>1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1353312"/>
            <a:ext cx="5486400" cy="4114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5532120"/>
            <a:ext cx="8412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100" b="0">
                <a:solidFill>
                  <a:srgbClr val="21243A"/>
                </a:solidFill>
                <a:latin typeface="Arial"/>
              </a:defRPr>
            </a:pPr>
            <a:r>
              <a:t>illustration-3.webp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19456"/>
            <a:ext cx="8412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100" b="1">
                <a:solidFill>
                  <a:srgbClr val="C5006A"/>
                </a:solidFill>
                <a:latin typeface="Arial"/>
              </a:defRPr>
            </a:pPr>
            <a:r>
              <a:t>SDA VISION / RESEARCH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841248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200" b="1">
                <a:solidFill>
                  <a:srgbClr val="21243A"/>
                </a:solidFill>
                <a:latin typeface="Arial"/>
              </a:defRPr>
            </a:pPr>
            <a:r>
              <a:t>Assessment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91072"/>
            <a:ext cx="8001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800" b="0">
                <a:solidFill>
                  <a:srgbClr val="545B6D"/>
                </a:solidFill>
                <a:latin typeface="Arial"/>
              </a:defRPr>
            </a:pPr>
            <a:r>
              <a:t>Research assessment. Ratings are not calibrated probabilities.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94192" y="6318504"/>
            <a:ext cx="3657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900" b="0">
                <a:solidFill>
                  <a:srgbClr val="545B6D"/>
                </a:solidFill>
                <a:latin typeface="Arial"/>
              </a:defRPr>
            </a:pPr>
            <a:r>
              <a:t>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353312"/>
          <a:ext cx="8412479" cy="347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7472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Field</a:t>
                      </a:r>
                    </a:p>
                  </a:txBody>
                  <a:tcPr marL="82296" marR="82296" marT="64008" marB="64008">
                    <a:solidFill>
                      <a:srgbClr val="16787C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Recorded detail</a:t>
                      </a:r>
                    </a:p>
                  </a:txBody>
                  <a:tcPr marL="82296" marR="82296" marT="64008" marB="64008">
                    <a:solidFill>
                      <a:srgbClr val="16787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700784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Finding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Leaning authentic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2050288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Recorded verdict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authentic likely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2399792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Confidence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medium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65760" y="2749296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Indicative rating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5/100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5760" y="3098800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Rating basis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median of available model ratings; not a calibrated probability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65760" y="3448304"/>
          <a:ext cx="8412479" cy="552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5527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Explanation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3 models lean authentic with matching verdicts and ratings. Review the other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findings, original source and context alongside this result.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65760" y="4001008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Coverage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image - 1 frame(s) analysed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65760" y="4350512"/>
          <a:ext cx="8412479" cy="7559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7559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Review context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Research assessment. Review alongside source information and context. When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credentials are missing, origin remains unresolved by this check. Use these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findings to inform a documented human review.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19456"/>
            <a:ext cx="8412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100" b="1">
                <a:solidFill>
                  <a:srgbClr val="C5006A"/>
                </a:solidFill>
                <a:latin typeface="Arial"/>
              </a:defRPr>
            </a:pPr>
            <a:r>
              <a:t>SDA VISION / RESEARCH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841248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200" b="1">
                <a:solidFill>
                  <a:srgbClr val="21243A"/>
                </a:solidFill>
                <a:latin typeface="Arial"/>
              </a:defRPr>
            </a:pPr>
            <a:r>
              <a:t>Provider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91072"/>
            <a:ext cx="8001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800" b="0">
                <a:solidFill>
                  <a:srgbClr val="545B6D"/>
                </a:solidFill>
                <a:latin typeface="Arial"/>
              </a:defRPr>
            </a:pPr>
            <a:r>
              <a:t>Research assessment. Ratings are not calibrated probabilities.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94192" y="6318504"/>
            <a:ext cx="3657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900" b="0">
                <a:solidFill>
                  <a:srgbClr val="545B6D"/>
                </a:solidFill>
                <a:latin typeface="Arial"/>
              </a:defRPr>
            </a:pPr>
            <a:r>
              <a:t>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353312"/>
          <a:ext cx="8412478" cy="347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1993"/>
                <a:gridCol w="1850745"/>
                <a:gridCol w="2523744"/>
                <a:gridCol w="1345996"/>
              </a:tblGrid>
              <a:tr h="347472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Provider</a:t>
                      </a:r>
                    </a:p>
                  </a:txBody>
                  <a:tcPr marL="82296" marR="82296" marT="64008" marB="64008">
                    <a:solidFill>
                      <a:srgbClr val="16787C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Type / status</a:t>
                      </a:r>
                    </a:p>
                  </a:txBody>
                  <a:tcPr marL="82296" marR="82296" marT="64008" marB="64008">
                    <a:solidFill>
                      <a:srgbClr val="16787C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Assessment</a:t>
                      </a:r>
                    </a:p>
                  </a:txBody>
                  <a:tcPr marL="82296" marR="82296" marT="64008" marB="64008">
                    <a:solidFill>
                      <a:srgbClr val="16787C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Rating</a:t>
                      </a:r>
                    </a:p>
                  </a:txBody>
                  <a:tcPr marL="82296" marR="82296" marT="64008" marB="64008">
                    <a:solidFill>
                      <a:srgbClr val="16787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700784"/>
          <a:ext cx="8412478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1993"/>
                <a:gridCol w="1850745"/>
                <a:gridCol w="2523744"/>
                <a:gridCol w="1345996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Claude Vision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vision / ok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authentic likely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5/100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2050288"/>
          <a:ext cx="8412478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1993"/>
                <a:gridCol w="1850745"/>
                <a:gridCol w="2523744"/>
                <a:gridCol w="1345996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OpenAI Vision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vision / ok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authentic likely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5/100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2399792"/>
          <a:ext cx="8412478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1993"/>
                <a:gridCol w="1850745"/>
                <a:gridCol w="2523744"/>
                <a:gridCol w="1345996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Gemini Vision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vision / ok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authentic likely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25/100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65760" y="2749296"/>
          <a:ext cx="8412478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1993"/>
                <a:gridCol w="1850745"/>
                <a:gridCol w="2523744"/>
                <a:gridCol w="1345996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C2PA Content Credentials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provenance / ok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inconclusive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n/a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5760" y="3098800"/>
          <a:ext cx="8412478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1993"/>
                <a:gridCol w="1850745"/>
                <a:gridCol w="2523744"/>
                <a:gridCol w="1345996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Local forensic cues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forensic / ok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partially synthetic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41/100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19456"/>
            <a:ext cx="8412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100" b="1">
                <a:solidFill>
                  <a:srgbClr val="C5006A"/>
                </a:solidFill>
                <a:latin typeface="Arial"/>
              </a:defRPr>
            </a:pPr>
            <a:r>
              <a:t>SDA VISION / RESEARCH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841248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200" b="1">
                <a:solidFill>
                  <a:srgbClr val="21243A"/>
                </a:solidFill>
                <a:latin typeface="Arial"/>
              </a:defRPr>
            </a:pPr>
            <a:r>
              <a:t>Provider evidence /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91072"/>
            <a:ext cx="8001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800" b="0">
                <a:solidFill>
                  <a:srgbClr val="545B6D"/>
                </a:solidFill>
                <a:latin typeface="Arial"/>
              </a:defRPr>
            </a:pPr>
            <a:r>
              <a:t>Research assessment. Ratings are not calibrated probabilities.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94192" y="6318504"/>
            <a:ext cx="3657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900" b="0">
                <a:solidFill>
                  <a:srgbClr val="545B6D"/>
                </a:solidFill>
                <a:latin typeface="Arial"/>
              </a:defRPr>
            </a:pPr>
            <a:r>
              <a:t>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353312"/>
          <a:ext cx="8412479" cy="347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7472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Field</a:t>
                      </a:r>
                    </a:p>
                  </a:txBody>
                  <a:tcPr marL="82296" marR="82296" marT="64008" marB="64008">
                    <a:solidFill>
                      <a:srgbClr val="16787C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Recorded detail</a:t>
                      </a:r>
                    </a:p>
                  </a:txBody>
                  <a:tcPr marL="82296" marR="82296" marT="64008" marB="64008">
                    <a:solidFill>
                      <a:srgbClr val="16787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700784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Provider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Claude Vision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2050288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Model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claude-opus-5-5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2399792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Status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ok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65760" y="2749296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Assessment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authentic likely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5760" y="3098800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Confidence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medium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65760" y="3448304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Role in assessment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Supporting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65760" y="3797808"/>
          <a:ext cx="8412479" cy="9591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959103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Provider summary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synthetic likelihood 5/100; tells: consistent hand-drawn ink linework with natural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stroke weight variation, cross-hatched shading at left edge typical of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manual/digital-pen editorial cartooning, coherent, correctly spelled hand-lettered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text in speech bubble and labels, legible artist signature ('BEELER') with year mark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65760" y="4756912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Evidence 1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Consistent hand-drawn ink linework with natural stroke weight variation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65760" y="5106416"/>
          <a:ext cx="8412479" cy="552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5527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Evidence 2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Cross-hatched shading at left edge typical of manual/digital-pen editorial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cartooning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19456"/>
            <a:ext cx="8412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100" b="1">
                <a:solidFill>
                  <a:srgbClr val="C5006A"/>
                </a:solidFill>
                <a:latin typeface="Arial"/>
              </a:defRPr>
            </a:pPr>
            <a:r>
              <a:t>SDA VISION / RESEARCH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841248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200" b="1">
                <a:solidFill>
                  <a:srgbClr val="21243A"/>
                </a:solidFill>
                <a:latin typeface="Arial"/>
              </a:defRPr>
            </a:pPr>
            <a:r>
              <a:t>Provider evidence / 1 (continued)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91072"/>
            <a:ext cx="8001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800" b="0">
                <a:solidFill>
                  <a:srgbClr val="545B6D"/>
                </a:solidFill>
                <a:latin typeface="Arial"/>
              </a:defRPr>
            </a:pPr>
            <a:r>
              <a:t>Research assessment. Ratings are not calibrated probabilities.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94192" y="6318504"/>
            <a:ext cx="3657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900" b="0">
                <a:solidFill>
                  <a:srgbClr val="545B6D"/>
                </a:solidFill>
                <a:latin typeface="Arial"/>
              </a:defRPr>
            </a:pPr>
            <a:r>
              <a:t>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353312"/>
          <a:ext cx="8412479" cy="347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7472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Field</a:t>
                      </a:r>
                    </a:p>
                  </a:txBody>
                  <a:tcPr marL="82296" marR="82296" marT="64008" marB="64008">
                    <a:solidFill>
                      <a:srgbClr val="16787C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Recorded detail</a:t>
                      </a:r>
                    </a:p>
                  </a:txBody>
                  <a:tcPr marL="82296" marR="82296" marT="64008" marB="64008">
                    <a:solidFill>
                      <a:srgbClr val="16787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700784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Evidence 3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Coherent, correctly spelled hand-lettered text in speech bubble and labels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2050288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Evidence 4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Legible artist signature ('BEELER') with year mark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2399792"/>
          <a:ext cx="8412479" cy="552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5527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Evidence 5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Legible syndicate/publication credit ('The Columbus Dispatch',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'CagleCartoons.com')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65760" y="2952496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Evidence 6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Anatomically coherent hands and consistent character styling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5760" y="3301999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Evidence 7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Stylistic consistency with known Nate Beeler editorial cartoons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65760" y="3651504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Evidence 8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No AI texture smearing, garbled glyphs or melted details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65760" y="4001008"/>
          <a:ext cx="8412479" cy="9591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959103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Evidence 9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Caveat: Rating is based on visual style only. Illustrations give fewer forensic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signals than camera photos, and the image is a recompressed webp. Confirm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provenance against the original Cagle Cartoons or Columbus Dispatch publication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(circa 2019).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19456"/>
            <a:ext cx="8412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100" b="1">
                <a:solidFill>
                  <a:srgbClr val="C5006A"/>
                </a:solidFill>
                <a:latin typeface="Arial"/>
              </a:defRPr>
            </a:pPr>
            <a:r>
              <a:t>SDA VISION / RESEARCH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841248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200" b="1">
                <a:solidFill>
                  <a:srgbClr val="21243A"/>
                </a:solidFill>
                <a:latin typeface="Arial"/>
              </a:defRPr>
            </a:pPr>
            <a:r>
              <a:t>Provider evidence /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91072"/>
            <a:ext cx="8001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800" b="0">
                <a:solidFill>
                  <a:srgbClr val="545B6D"/>
                </a:solidFill>
                <a:latin typeface="Arial"/>
              </a:defRPr>
            </a:pPr>
            <a:r>
              <a:t>Research assessment. Ratings are not calibrated probabilities.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94192" y="6318504"/>
            <a:ext cx="3657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900" b="0">
                <a:solidFill>
                  <a:srgbClr val="545B6D"/>
                </a:solidFill>
                <a:latin typeface="Arial"/>
              </a:defRPr>
            </a:pPr>
            <a:r>
              <a:t>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353312"/>
          <a:ext cx="8412479" cy="347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7472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Field</a:t>
                      </a:r>
                    </a:p>
                  </a:txBody>
                  <a:tcPr marL="82296" marR="82296" marT="64008" marB="64008">
                    <a:solidFill>
                      <a:srgbClr val="16787C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Recorded detail</a:t>
                      </a:r>
                    </a:p>
                  </a:txBody>
                  <a:tcPr marL="82296" marR="82296" marT="64008" marB="64008">
                    <a:solidFill>
                      <a:srgbClr val="16787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700784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Provider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OpenAI Vision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2050288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Model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gpt-6-astra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2399792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Status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ok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65760" y="2749296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Assessment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authentic likely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5760" y="3098800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Confidence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medium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65760" y="3448304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Role in assessment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Supporting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65760" y="3797808"/>
          <a:ext cx="8412479" cy="9591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959103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Provider summary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synthetic likelihood 5/100; tells: Consistent pen-and-ink outlines and crosshatched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shading throughout the cartoon, Coherent, legible hand-lettered speech and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disease labels, Deliberate caricature proportions and integrated symbolic virus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heads, Visible publication credit and artist signature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65760" y="4756912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Evidence 1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Consistent pen-and-ink outlines and crosshatched shading throughout the cartoon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65760" y="5106416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Evidence 2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Coherent, legible hand-lettered speech and disease labels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365760" y="5455920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Evidence 3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Deliberate caricature proportions and integrated symbolic virus heads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19456"/>
            <a:ext cx="8412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100" b="1">
                <a:solidFill>
                  <a:srgbClr val="C5006A"/>
                </a:solidFill>
                <a:latin typeface="Arial"/>
              </a:defRPr>
            </a:pPr>
            <a:r>
              <a:t>SDA VISION / RESEARCH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841248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200" b="1">
                <a:solidFill>
                  <a:srgbClr val="21243A"/>
                </a:solidFill>
                <a:latin typeface="Arial"/>
              </a:defRPr>
            </a:pPr>
            <a:r>
              <a:t>Provider evidence / 2 (continued)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91072"/>
            <a:ext cx="8001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800" b="0">
                <a:solidFill>
                  <a:srgbClr val="545B6D"/>
                </a:solidFill>
                <a:latin typeface="Arial"/>
              </a:defRPr>
            </a:pPr>
            <a:r>
              <a:t>Research assessment. Ratings are not calibrated probabilities.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94192" y="6318504"/>
            <a:ext cx="3657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900" b="0">
                <a:solidFill>
                  <a:srgbClr val="545B6D"/>
                </a:solidFill>
                <a:latin typeface="Arial"/>
              </a:defRPr>
            </a:pPr>
            <a:r>
              <a:t>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353312"/>
          <a:ext cx="8412479" cy="347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7472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Field</a:t>
                      </a:r>
                    </a:p>
                  </a:txBody>
                  <a:tcPr marL="82296" marR="82296" marT="64008" marB="64008">
                    <a:solidFill>
                      <a:srgbClr val="16787C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Recorded detail</a:t>
                      </a:r>
                    </a:p>
                  </a:txBody>
                  <a:tcPr marL="82296" marR="82296" marT="64008" marB="64008">
                    <a:solidFill>
                      <a:srgbClr val="16787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700784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Evidence 4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Visible publication credit and artist signature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2050288"/>
          <a:ext cx="8412479" cy="7559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7559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Evidence 5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Caveat: Appears to be a conventional editorial illustration, not a camera photo;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visual inspection alone cannot verify authorship or exclude AI edits, and the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stylized signature/date are difficult to read.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19456"/>
            <a:ext cx="8412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100" b="1">
                <a:solidFill>
                  <a:srgbClr val="C5006A"/>
                </a:solidFill>
                <a:latin typeface="Arial"/>
              </a:defRPr>
            </a:pPr>
            <a:r>
              <a:t>SDA VISION / RESEARCH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841248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200" b="1">
                <a:solidFill>
                  <a:srgbClr val="21243A"/>
                </a:solidFill>
                <a:latin typeface="Arial"/>
              </a:defRPr>
            </a:pPr>
            <a:r>
              <a:t>Provider evidence /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91072"/>
            <a:ext cx="8001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800" b="0">
                <a:solidFill>
                  <a:srgbClr val="545B6D"/>
                </a:solidFill>
                <a:latin typeface="Arial"/>
              </a:defRPr>
            </a:pPr>
            <a:r>
              <a:t>Research assessment. Ratings are not calibrated probabilities.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94192" y="6318504"/>
            <a:ext cx="3657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900" b="0">
                <a:solidFill>
                  <a:srgbClr val="545B6D"/>
                </a:solidFill>
                <a:latin typeface="Arial"/>
              </a:defRPr>
            </a:pPr>
            <a:r>
              <a:t>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353312"/>
          <a:ext cx="8412479" cy="347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7472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Field</a:t>
                      </a:r>
                    </a:p>
                  </a:txBody>
                  <a:tcPr marL="82296" marR="82296" marT="64008" marB="64008">
                    <a:solidFill>
                      <a:srgbClr val="16787C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Recorded detail</a:t>
                      </a:r>
                    </a:p>
                  </a:txBody>
                  <a:tcPr marL="82296" marR="82296" marT="64008" marB="64008">
                    <a:solidFill>
                      <a:srgbClr val="16787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700784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Provider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Gemini Vision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2050288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Model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gemini-3.8-flash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2399792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Status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ok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65760" y="2749296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Assessment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authentic likely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5760" y="3098800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Confidence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high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65760" y="3448304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Role in assessment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Supporting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65760" y="3797808"/>
          <a:ext cx="8412479" cy="7559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7559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Provider summary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synthetic likelihood 25/100; tells: consistent editorial cartoon linework, artist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signature and syndication text, hand-drawn hatching and crosshatching, coherent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hand lettering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65760" y="4553712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Evidence 1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Consistent editorial cartoon linework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65760" y="4903216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Evidence 2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Artist signature and syndication text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365760" y="5252720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Evidence 3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Hand-drawn hatching and crosshatching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19456"/>
            <a:ext cx="8412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100" b="1">
                <a:solidFill>
                  <a:srgbClr val="C5006A"/>
                </a:solidFill>
                <a:latin typeface="Arial"/>
              </a:defRPr>
            </a:pPr>
            <a:r>
              <a:t>SDA VISION / RESEARCH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841248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200" b="1">
                <a:solidFill>
                  <a:srgbClr val="21243A"/>
                </a:solidFill>
                <a:latin typeface="Arial"/>
              </a:defRPr>
            </a:pPr>
            <a:r>
              <a:t>Provider evidence / 3 (continued)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91072"/>
            <a:ext cx="8001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800" b="0">
                <a:solidFill>
                  <a:srgbClr val="545B6D"/>
                </a:solidFill>
                <a:latin typeface="Arial"/>
              </a:defRPr>
            </a:pPr>
            <a:r>
              <a:t>Research assessment. Ratings are not calibrated probabilities.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94192" y="6318504"/>
            <a:ext cx="3657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900" b="0">
                <a:solidFill>
                  <a:srgbClr val="545B6D"/>
                </a:solidFill>
                <a:latin typeface="Arial"/>
              </a:defRPr>
            </a:pPr>
            <a:r>
              <a:t>9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353312"/>
          <a:ext cx="8412479" cy="347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7472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Field</a:t>
                      </a:r>
                    </a:p>
                  </a:txBody>
                  <a:tcPr marL="82296" marR="82296" marT="64008" marB="64008">
                    <a:solidFill>
                      <a:srgbClr val="16787C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Recorded detail</a:t>
                      </a:r>
                    </a:p>
                  </a:txBody>
                  <a:tcPr marL="82296" marR="82296" marT="64008" marB="64008">
                    <a:solidFill>
                      <a:srgbClr val="16787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700784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Evidence 4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Coherent hand lettering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2050288"/>
          <a:ext cx="8412479" cy="552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5527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Evidence 5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Caveat: Editorial illustrations follow stylistic conventions distinct from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photographic media, which automated detectors may mischaracterize.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19456"/>
            <a:ext cx="8412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100" b="1">
                <a:solidFill>
                  <a:srgbClr val="C5006A"/>
                </a:solidFill>
                <a:latin typeface="Arial"/>
              </a:defRPr>
            </a:pPr>
            <a:r>
              <a:t>SDA VISION / RESEARCH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841248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200" b="1">
                <a:solidFill>
                  <a:srgbClr val="21243A"/>
                </a:solidFill>
                <a:latin typeface="Arial"/>
              </a:defRPr>
            </a:pPr>
            <a:r>
              <a:t>Content Credentials / provenance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91072"/>
            <a:ext cx="8001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800" b="0">
                <a:solidFill>
                  <a:srgbClr val="545B6D"/>
                </a:solidFill>
                <a:latin typeface="Arial"/>
              </a:defRPr>
            </a:pPr>
            <a:r>
              <a:t>Research assessment. Ratings are not calibrated probabilities.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94192" y="6318504"/>
            <a:ext cx="3657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900" b="0">
                <a:solidFill>
                  <a:srgbClr val="545B6D"/>
                </a:solidFill>
                <a:latin typeface="Arial"/>
              </a:defRPr>
            </a:pPr>
            <a:r>
              <a:t>10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353312"/>
          <a:ext cx="8412479" cy="347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7472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Field</a:t>
                      </a:r>
                    </a:p>
                  </a:txBody>
                  <a:tcPr marL="82296" marR="82296" marT="64008" marB="64008">
                    <a:solidFill>
                      <a:srgbClr val="16787C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Recorded detail</a:t>
                      </a:r>
                    </a:p>
                  </a:txBody>
                  <a:tcPr marL="82296" marR="82296" marT="64008" marB="64008">
                    <a:solidFill>
                      <a:srgbClr val="16787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700784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Provider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C2PA Content Credentials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2050288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Model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Not recorded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2399792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Status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ok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65760" y="2749296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Assessment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inconclusive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5760" y="3098800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Confidence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Not recorded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65760" y="3448304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Role in assessment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Additional finding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65760" y="3797808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Provider summary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Embedded credentials: none found. Origin remains unresolved by this check.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65760" y="4147312"/>
          <a:ext cx="8412479" cy="552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5527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Evidence 1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Coverage: credentials embedded in the submitted file. External credentials were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not retrieved.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65760" y="4700016"/>
          <a:ext cx="8412479" cy="552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5527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Evidence 2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Verifier: c2pa-python 0.37.12; native SDK 0.91.0; specification target 2.4; policy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embedded-offline-reviewed-trust-v3.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365760" y="5252720"/>
          <a:ext cx="8412479" cy="552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5527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Evidence 3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Offline embedded-manifest verification; no network trust-list, manifest or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revocation refresh.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19456"/>
            <a:ext cx="8412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100" b="1">
                <a:solidFill>
                  <a:srgbClr val="C5006A"/>
                </a:solidFill>
                <a:latin typeface="Arial"/>
              </a:defRPr>
            </a:pPr>
            <a:r>
              <a:t>SDA VISION / RESEARCH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841248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200" b="1">
                <a:solidFill>
                  <a:srgbClr val="21243A"/>
                </a:solidFill>
                <a:latin typeface="Arial"/>
              </a:defRPr>
            </a:pPr>
            <a:r>
              <a:t>Content Credentials / provenance (continued)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91072"/>
            <a:ext cx="8001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800" b="0">
                <a:solidFill>
                  <a:srgbClr val="545B6D"/>
                </a:solidFill>
                <a:latin typeface="Arial"/>
              </a:defRPr>
            </a:pPr>
            <a:r>
              <a:t>Research assessment. Ratings are not calibrated probabilities.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94192" y="6318504"/>
            <a:ext cx="3657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900" b="0">
                <a:solidFill>
                  <a:srgbClr val="545B6D"/>
                </a:solidFill>
                <a:latin typeface="Arial"/>
              </a:defRPr>
            </a:pPr>
            <a:r>
              <a:t>11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353312"/>
          <a:ext cx="8412479" cy="347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7472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Field</a:t>
                      </a:r>
                    </a:p>
                  </a:txBody>
                  <a:tcPr marL="82296" marR="82296" marT="64008" marB="64008">
                    <a:solidFill>
                      <a:srgbClr val="16787C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Recorded detail</a:t>
                      </a:r>
                    </a:p>
                  </a:txBody>
                  <a:tcPr marL="82296" marR="82296" marT="64008" marB="64008">
                    <a:solidFill>
                      <a:srgbClr val="16787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700784"/>
          <a:ext cx="8412479" cy="552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5527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Evidence 4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No reviewed local C2PA trust snapshot installed. Provenance overrides are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disabled.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19456"/>
            <a:ext cx="8412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100" b="1">
                <a:solidFill>
                  <a:srgbClr val="C5006A"/>
                </a:solidFill>
                <a:latin typeface="Arial"/>
              </a:defRPr>
            </a:pPr>
            <a:r>
              <a:t>SDA VISION / RESEARCH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841248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200" b="1">
                <a:solidFill>
                  <a:srgbClr val="21243A"/>
                </a:solidFill>
                <a:latin typeface="Arial"/>
              </a:defRPr>
            </a:pPr>
            <a:r>
              <a:t>Provider evidence /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91072"/>
            <a:ext cx="8001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800" b="0">
                <a:solidFill>
                  <a:srgbClr val="545B6D"/>
                </a:solidFill>
                <a:latin typeface="Arial"/>
              </a:defRPr>
            </a:pPr>
            <a:r>
              <a:t>Research assessment. Ratings are not calibrated probabilities.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94192" y="6318504"/>
            <a:ext cx="3657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900" b="0">
                <a:solidFill>
                  <a:srgbClr val="545B6D"/>
                </a:solidFill>
                <a:latin typeface="Arial"/>
              </a:defRPr>
            </a:pPr>
            <a:r>
              <a:t>12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353312"/>
          <a:ext cx="8412479" cy="347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7472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Field</a:t>
                      </a:r>
                    </a:p>
                  </a:txBody>
                  <a:tcPr marL="82296" marR="82296" marT="64008" marB="64008">
                    <a:solidFill>
                      <a:srgbClr val="16787C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Recorded detail</a:t>
                      </a:r>
                    </a:p>
                  </a:txBody>
                  <a:tcPr marL="82296" marR="82296" marT="64008" marB="64008">
                    <a:solidFill>
                      <a:srgbClr val="16787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700784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Provider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Local forensic cues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2050288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Model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Not recorded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2399792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Status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ok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65760" y="2749296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Assessment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partially synthetic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5760" y="3098800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Confidence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low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65760" y="3448304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Role in assessment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Additional finding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65760" y="3797808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Provider summary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Heuristic synthetic likelihood 41/100 from metadata + pixel statistics.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65760" y="4147312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Evidence 1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No camera EXIF (common in AI exports, screenshots, and re-saves).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65760" y="4496816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Evidence 2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ELA mean 1.3, peak 34 (uniform high ELA can indicate generation/heavy edit).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365760" y="4846320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Evidence 3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High-frequency noise std 19.52 (very low/very uniform noise is a synthesis cue).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365760" y="5195824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Evidence 4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Spectral peakiness 12.27 (periodic frequency peaks can mark generated textures).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19456"/>
            <a:ext cx="8412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100" b="1">
                <a:solidFill>
                  <a:srgbClr val="C5006A"/>
                </a:solidFill>
                <a:latin typeface="Arial"/>
              </a:defRPr>
            </a:pPr>
            <a:r>
              <a:t>SDA VISION / RESEARCH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841248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200" b="1">
                <a:solidFill>
                  <a:srgbClr val="21243A"/>
                </a:solidFill>
                <a:latin typeface="Arial"/>
              </a:defRPr>
            </a:pPr>
            <a:r>
              <a:t>Evidence supporting this verdict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91072"/>
            <a:ext cx="8001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800" b="0">
                <a:solidFill>
                  <a:srgbClr val="545B6D"/>
                </a:solidFill>
                <a:latin typeface="Arial"/>
              </a:defRPr>
            </a:pPr>
            <a:r>
              <a:t>Research assessment. Ratings are not calibrated probabilities.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94192" y="6318504"/>
            <a:ext cx="3657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900" b="0">
                <a:solidFill>
                  <a:srgbClr val="545B6D"/>
                </a:solidFill>
                <a:latin typeface="Arial"/>
              </a:defRPr>
            </a:pPr>
            <a:r>
              <a:t>13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353312"/>
          <a:ext cx="8412479" cy="347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7472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Field</a:t>
                      </a:r>
                    </a:p>
                  </a:txBody>
                  <a:tcPr marL="82296" marR="82296" marT="64008" marB="64008">
                    <a:solidFill>
                      <a:srgbClr val="16787C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Recorded detail</a:t>
                      </a:r>
                    </a:p>
                  </a:txBody>
                  <a:tcPr marL="82296" marR="82296" marT="64008" marB="64008">
                    <a:solidFill>
                      <a:srgbClr val="16787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700784"/>
          <a:ext cx="8412479" cy="9591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959103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Claude Vision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synthetic likelihood 5/100; tells: consistent hand-drawn ink linework with natural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stroke weight variation, cross-hatched shading at left edge typical of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manual/digital-pen editorial cartooning, coherent, correctly spelled hand-lettered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text in speech bubble and labels, legible artist signature ('BEELER') with year mark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2659888"/>
          <a:ext cx="8412479" cy="9591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959103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OpenAI Vision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synthetic likelihood 5/100; tells: Consistent pen-and-ink outlines and crosshatched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shading throughout the cartoon, Coherent, legible hand-lettered speech and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disease labels, Deliberate caricature proportions and integrated symbolic virus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heads, Visible publication credit and artist signature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3618991"/>
          <a:ext cx="8412479" cy="7559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7559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Gemini Vision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synthetic likelihood 25/100; tells: consistent editorial cartoon linework, artist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signature and syndication text, hand-drawn hatching and crosshatching, coherent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hand lettering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19456"/>
            <a:ext cx="8412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100" b="1">
                <a:solidFill>
                  <a:srgbClr val="C5006A"/>
                </a:solidFill>
                <a:latin typeface="Arial"/>
              </a:defRPr>
            </a:pPr>
            <a:r>
              <a:t>SDA VISION / RESEARCH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841248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200" b="1">
                <a:solidFill>
                  <a:srgbClr val="21243A"/>
                </a:solidFill>
                <a:latin typeface="Arial"/>
              </a:defRPr>
            </a:pPr>
            <a:r>
              <a:t>Additional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91072"/>
            <a:ext cx="8001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800" b="0">
                <a:solidFill>
                  <a:srgbClr val="545B6D"/>
                </a:solidFill>
                <a:latin typeface="Arial"/>
              </a:defRPr>
            </a:pPr>
            <a:r>
              <a:t>Research assessment. Ratings are not calibrated probabilities.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94192" y="6318504"/>
            <a:ext cx="3657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900" b="0">
                <a:solidFill>
                  <a:srgbClr val="545B6D"/>
                </a:solidFill>
                <a:latin typeface="Arial"/>
              </a:defRPr>
            </a:pPr>
            <a:r>
              <a:t>14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353312"/>
          <a:ext cx="8412479" cy="347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7472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Field</a:t>
                      </a:r>
                    </a:p>
                  </a:txBody>
                  <a:tcPr marL="82296" marR="82296" marT="64008" marB="64008">
                    <a:solidFill>
                      <a:srgbClr val="16787C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Recorded detail</a:t>
                      </a:r>
                    </a:p>
                  </a:txBody>
                  <a:tcPr marL="82296" marR="82296" marT="64008" marB="64008">
                    <a:solidFill>
                      <a:srgbClr val="16787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700784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Local forensic cues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Supporting observation; considered alongside the model assessments.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2050288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C2PA Content Credentials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Embedded credentials: none found. Origin remains unresolved by this check.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19456"/>
            <a:ext cx="8412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100" b="1">
                <a:solidFill>
                  <a:srgbClr val="C5006A"/>
                </a:solidFill>
                <a:latin typeface="Arial"/>
              </a:defRPr>
            </a:pPr>
            <a:r>
              <a:t>SDA VISION / RESEARCH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841248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200" b="1">
                <a:solidFill>
                  <a:srgbClr val="21243A"/>
                </a:solidFill>
                <a:latin typeface="Arial"/>
              </a:defRPr>
            </a:pPr>
            <a:r>
              <a:t>Visible 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91072"/>
            <a:ext cx="8001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800" b="0">
                <a:solidFill>
                  <a:srgbClr val="545B6D"/>
                </a:solidFill>
                <a:latin typeface="Arial"/>
              </a:defRPr>
            </a:pPr>
            <a:r>
              <a:t>Research assessment. Ratings are not calibrated probabilities.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94192" y="6318504"/>
            <a:ext cx="3657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900" b="0">
                <a:solidFill>
                  <a:srgbClr val="545B6D"/>
                </a:solidFill>
                <a:latin typeface="Arial"/>
              </a:defRPr>
            </a:pPr>
            <a:r>
              <a:t>15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353312"/>
          <a:ext cx="8412479" cy="347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7472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Field</a:t>
                      </a:r>
                    </a:p>
                  </a:txBody>
                  <a:tcPr marL="82296" marR="82296" marT="64008" marB="64008">
                    <a:solidFill>
                      <a:srgbClr val="16787C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Recorded detail</a:t>
                      </a:r>
                    </a:p>
                  </a:txBody>
                  <a:tcPr marL="82296" marR="82296" marT="64008" marB="64008">
                    <a:solidFill>
                      <a:srgbClr val="16787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700784"/>
          <a:ext cx="8412479" cy="552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5527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Recorded text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I REJECT VACCINES OUT OF LOVE FOR MY CHILDREN. | VAX | MEASLES | MUMPS |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RUBELLA | THE COLUMBUS DISPATCH CAGLECARTOONS.com | BEELER ©19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19456"/>
            <a:ext cx="8412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100" b="1">
                <a:solidFill>
                  <a:srgbClr val="C5006A"/>
                </a:solidFill>
                <a:latin typeface="Arial"/>
              </a:defRPr>
            </a:pPr>
            <a:r>
              <a:t>SDA VISION / RESEARCH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841248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200" b="1">
                <a:solidFill>
                  <a:srgbClr val="21243A"/>
                </a:solidFill>
                <a:latin typeface="Arial"/>
              </a:defRPr>
            </a:pPr>
            <a:r>
              <a:t>How this assessment was reached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91072"/>
            <a:ext cx="8001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800" b="0">
                <a:solidFill>
                  <a:srgbClr val="545B6D"/>
                </a:solidFill>
                <a:latin typeface="Arial"/>
              </a:defRPr>
            </a:pPr>
            <a:r>
              <a:t>Research assessment. Ratings are not calibrated probabilities.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94192" y="6318504"/>
            <a:ext cx="3657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900" b="0">
                <a:solidFill>
                  <a:srgbClr val="545B6D"/>
                </a:solidFill>
                <a:latin typeface="Arial"/>
              </a:defRPr>
            </a:pPr>
            <a:r>
              <a:t>16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353312"/>
          <a:ext cx="8412479" cy="347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7472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Field</a:t>
                      </a:r>
                    </a:p>
                  </a:txBody>
                  <a:tcPr marL="82296" marR="82296" marT="64008" marB="64008">
                    <a:solidFill>
                      <a:srgbClr val="16787C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Recorded detail</a:t>
                      </a:r>
                    </a:p>
                  </a:txBody>
                  <a:tcPr marL="82296" marR="82296" marT="64008" marB="64008">
                    <a:solidFill>
                      <a:srgbClr val="16787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700784"/>
          <a:ext cx="8412479" cy="552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5527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1. override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outcome=none; detail=No confirmed C2PA AI assertion or SynthID watermark.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Origin remains unresolved by these checks.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2253488"/>
          <a:ext cx="8412479" cy="552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5527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2. model_agreement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synthetic=[]; authentic=['Claude Vision', 'OpenAI Vision', 'Gemini Vision'];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uncertain=[]; forensic_supports_synthetic=False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2806192"/>
          <a:ext cx="8412479" cy="7559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7559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3. verdict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value=authentic_likely; confidence=medium; reason=3 models lean authentic with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matching verdicts and ratings. Review the other findings, original source and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context alongside this result.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19456"/>
            <a:ext cx="8412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100" b="1">
                <a:solidFill>
                  <a:srgbClr val="C5006A"/>
                </a:solidFill>
                <a:latin typeface="Arial"/>
              </a:defRPr>
            </a:pPr>
            <a:r>
              <a:t>SDA VISION / RESEARCH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841248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200" b="1">
                <a:solidFill>
                  <a:srgbClr val="21243A"/>
                </a:solidFill>
                <a:latin typeface="Arial"/>
              </a:defRPr>
            </a:pPr>
            <a:r>
              <a:t>File and analysis record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91072"/>
            <a:ext cx="8001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800" b="0">
                <a:solidFill>
                  <a:srgbClr val="545B6D"/>
                </a:solidFill>
                <a:latin typeface="Arial"/>
              </a:defRPr>
            </a:pPr>
            <a:r>
              <a:t>Research assessment. Ratings are not calibrated probabilities.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94192" y="6318504"/>
            <a:ext cx="3657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900" b="0">
                <a:solidFill>
                  <a:srgbClr val="545B6D"/>
                </a:solidFill>
                <a:latin typeface="Arial"/>
              </a:defRPr>
            </a:pPr>
            <a:r>
              <a:t>17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353312"/>
          <a:ext cx="8412479" cy="347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7472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Field</a:t>
                      </a:r>
                    </a:p>
                  </a:txBody>
                  <a:tcPr marL="82296" marR="82296" marT="64008" marB="64008">
                    <a:solidFill>
                      <a:srgbClr val="16787C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Recorded detail</a:t>
                      </a:r>
                    </a:p>
                  </a:txBody>
                  <a:tcPr marL="82296" marR="82296" marT="64008" marB="64008">
                    <a:solidFill>
                      <a:srgbClr val="16787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700784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File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illustration-3.webp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2050288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Analysis ID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e716b5d1-879a-47a3-8409-9343f8dc749d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2399792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Generated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2026-09-26T18:37:51+00:00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65760" y="2749296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Tool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SDA Vision 0.1.0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5760" y="3098800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Models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claude-opus-5-5, gemini-3.8-flash, gpt-6-astra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65760" y="3448304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Method version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verdict-consistency-2026-09-26.1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65760" y="3797808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Analysis lens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general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65760" y="4147312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Original SHA-256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17442d095e61a319e806d0a58993fcb5b4a89705867bda5ead74b82bec4b8add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65760" y="4496816"/>
          <a:ext cx="8412479" cy="1162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11623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Ingestion note 1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Recomputed locally from saved LLM replies acquired at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2026-09-25T11:22:07+00:00 under method publication-repair-2026-09-24.3.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Original report ae05de4f-1d78-4c71-85a5-9a9e833d7306 is preserved. No new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provider requests. The original analysis used a source-labelled filename; this is not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a source-blind comparison.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19456"/>
            <a:ext cx="8412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100" b="1">
                <a:solidFill>
                  <a:srgbClr val="C5006A"/>
                </a:solidFill>
                <a:latin typeface="Arial"/>
              </a:defRPr>
            </a:pPr>
            <a:r>
              <a:t>SDA VISION / RESEARCH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841248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200" b="1">
                <a:solidFill>
                  <a:srgbClr val="21243A"/>
                </a:solidFill>
                <a:latin typeface="Arial"/>
              </a:defRPr>
            </a:pPr>
            <a:r>
              <a:t>File and analysis record (continued)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91072"/>
            <a:ext cx="8001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800" b="0">
                <a:solidFill>
                  <a:srgbClr val="545B6D"/>
                </a:solidFill>
                <a:latin typeface="Arial"/>
              </a:defRPr>
            </a:pPr>
            <a:r>
              <a:t>Research assessment. Ratings are not calibrated probabilities.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94192" y="6318504"/>
            <a:ext cx="3657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900" b="0">
                <a:solidFill>
                  <a:srgbClr val="545B6D"/>
                </a:solidFill>
                <a:latin typeface="Arial"/>
              </a:defRPr>
            </a:pPr>
            <a:r>
              <a:t>18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353312"/>
          <a:ext cx="8412479" cy="347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7472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Field</a:t>
                      </a:r>
                    </a:p>
                  </a:txBody>
                  <a:tcPr marL="82296" marR="82296" marT="64008" marB="64008">
                    <a:solidFill>
                      <a:srgbClr val="16787C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Recorded detail</a:t>
                      </a:r>
                    </a:p>
                  </a:txBody>
                  <a:tcPr marL="82296" marR="82296" marT="64008" marB="64008">
                    <a:solidFill>
                      <a:srgbClr val="16787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700784"/>
          <a:ext cx="8412479" cy="9591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959103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Ingestion note 2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Presentation copy of saved report a7209748-4dcd-4092-898a-e2a5dc6c475f. The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descriptive filename replaces the earlier example ID for navigation. Original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analysis dates, provider replies, scores and acquisition context are retained; no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new model analysis.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