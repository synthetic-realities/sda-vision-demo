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infographic.pdf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27/100</a:t>
            </a:r>
          </a:p>
          <a:p>
            <a:r>
              <a:t>Rating basis | rounded mean of available frame scores; not a calibrated probability</a:t>
            </a:r>
          </a:p>
          <a:p>
            <a:r>
              <a:t>Explanation | The sampled frames leave the assessment inconclusive. Review the frame results and source context.</a:t>
            </a:r>
          </a:p>
          <a:p>
            <a:r>
              <a:t>Coverage | pdf - 4 frame(s) analysed of 15 found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overview</a:t>
            </a:r>
          </a:p>
          <a:p>
            <a:r>
              <a:t>Claude Vision | vision / ok | synthetic likely | 62/100</a:t>
            </a:r>
          </a:p>
          <a:p>
            <a:r>
              <a:t>OpenAI Vision | vision / ok | inconclusive | 15/100</a:t>
            </a:r>
          </a:p>
          <a:p>
            <a:r>
              <a:t>Gemini Vision | vision / ok | authentic likely | 30/100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Evidence 1 | Frame figure p1: 40/100</a:t>
            </a:r>
          </a:p>
          <a:p>
            <a:r>
              <a:t>Evidence 2 | Frame figure p6: 45/100</a:t>
            </a:r>
          </a:p>
          <a:p>
            <a:r>
              <a:t>Evidence 3 | Frame figure p10: 45/100</a:t>
            </a:r>
          </a:p>
          <a:p>
            <a:r>
              <a:t>Evidence 4 | Frame figure p15: 62/100</a:t>
            </a:r>
          </a:p>
          <a:p>
            <a:r>
              <a:t>Evidence 5 | Not a camera photo: flat digital graphic/slide, so photographic forensics (sensor noise, lens blur, lighting) do not apply</a:t>
            </a:r>
          </a:p>
          <a:p>
            <a:r>
              <a:t>Evidence 6 | Inconsistent centering of body text lines, with ragged, uneven offsets unlike typical layout-software alignment</a:t>
            </a:r>
          </a:p>
          <a:p>
            <a:r>
              <a:t>Evidence 7 | Polygonal network line-art with segments that end in mid-air, fade unevenly, and break into stray dashed fragments on the left</a:t>
            </a:r>
          </a:p>
          <a:p>
            <a:r>
              <a:t>Evidence 8 | Faint mottled texture in the flat background, atypical of vector-exported slides</a:t>
            </a:r>
          </a:p>
          <a:p>
            <a:r>
              <a:t>Evidence 9 | 1376x768 dimensions, which match a common native output size of some current image generators</a:t>
            </a:r>
          </a:p>
          <a:p>
            <a:r>
              <a:t>Evidence 10 | Heavy soft drop shadow on the headline, a stylistic pattern common in generated slide imagery</a:t>
            </a:r>
          </a:p>
          <a:p>
            <a:r>
              <a:t>Evidence 11 | Text is fully legible and correctly spelled, which weighs against older generators but not modern text-capable models</a:t>
            </a:r>
          </a:p>
          <a:p>
            <a:r>
              <a:t>Evidence 12 | Caveat: Designed graphics from a PDF can be produced by ordinary layout tools or by modern text-capable generators and look nearly identical. The layout irregularities and image dimensions are suggestive only, so check the source PDF metadata, its creation tool, and any C2PA/provenance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Evidence 1 | Frame figure p1: 12/100</a:t>
            </a:r>
          </a:p>
          <a:p>
            <a:r>
              <a:t>Evidence 2 | Frame figure p6: 15/100</a:t>
            </a:r>
          </a:p>
          <a:p>
            <a:r>
              <a:t>Evidence 3 | Frame figure p10: 12/100</a:t>
            </a:r>
          </a:p>
          <a:p>
            <a:r>
              <a:t>Evidence 4 | Frame figure p15: 15/100</a:t>
            </a:r>
          </a:p>
          <a:p>
            <a:r>
              <a:t>Evidence 5 | Legible, coherent text with consistent repeated letterforms.</a:t>
            </a:r>
          </a:p>
          <a:p>
            <a:r>
              <a:t>Evidence 6 | Regular two-column layout with aligned rounded panels.</a:t>
            </a:r>
          </a:p>
          <a:p>
            <a:r>
              <a:t>Evidence 7 | Consistent bold labels and uniform bullet styling.</a:t>
            </a:r>
          </a:p>
          <a:p>
            <a:r>
              <a:t>Evidence 8 | No photographic base or identifiable inpainting boundaries.</a:t>
            </a:r>
          </a:p>
          <a:p>
            <a:r>
              <a:t>Evidence 9 | Caveat: This is a designed infographic, not a camera photo; conventional design and AI-assisted production cannot reliably be distinguished from the rendered image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Evidence 1 | Frame figure p1: 12/100</a:t>
            </a:r>
          </a:p>
          <a:p>
            <a:r>
              <a:t>Evidence 2 | Frame figure p6: 15/100</a:t>
            </a:r>
          </a:p>
          <a:p>
            <a:r>
              <a:t>Evidence 3 | Frame figure p10: 12/100</a:t>
            </a:r>
          </a:p>
          <a:p>
            <a:r>
              <a:t>Evidence 4 | Frame figure p15: 15/100</a:t>
            </a:r>
          </a:p>
          <a:p>
            <a:r>
              <a:t>Evidence 5 | Legible, coherent text with consistent repeated letterforms.</a:t>
            </a:r>
          </a:p>
          <a:p>
            <a:r>
              <a:t>Evidence 6 | Regular two-column layout with aligned rounded panels.</a:t>
            </a:r>
          </a:p>
          <a:p>
            <a:r>
              <a:t>Evidence 7 | Consistent bold labels and uniform bullet styling.</a:t>
            </a:r>
          </a:p>
          <a:p>
            <a:r>
              <a:t>Evidence 8 | No photographic base or identifiable inpainting boundaries.</a:t>
            </a:r>
          </a:p>
          <a:p>
            <a:r>
              <a:t>Evidence 9 | Caveat: This is a designed infographic, not a camera photo; conventional design and AI-assisted production cannot reliably be distinguished from the rendered image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30/100; tells: sharp vector-style geometric graphics, clean digital typography, standard graphic design layout artifacts</a:t>
            </a:r>
          </a:p>
          <a:p>
            <a:r>
              <a:t>Evidence 1 | Frame figure p1: 28/100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30/100</a:t>
            </a:r>
          </a:p>
          <a:p>
            <a:r>
              <a:t>Evidence 5 | Sharp vector-style geometric graphics</a:t>
            </a:r>
          </a:p>
          <a:p>
            <a:r>
              <a:t>Evidence 6 | Clean digital typography</a:t>
            </a:r>
          </a:p>
          <a:p>
            <a:r>
              <a:t>Evidence 7 | Standard graphic design layout artifacts</a:t>
            </a:r>
          </a:p>
          <a:p>
            <a:r>
              <a:t>Evidence 8 | Caveat: Standard presentation slide graphics can be synthesized or edited via automated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Additional finding</a:t>
            </a:r>
          </a:p>
          <a:p>
            <a:r>
              <a:t>Provider summary | Worst of 4 frames (figure p15): synthetic likelihood 30/100; tells: sharp vector-style geometric graphics, clean digital typography, standard graphic design layout artifacts</a:t>
            </a:r>
          </a:p>
          <a:p>
            <a:r>
              <a:t>Evidence 1 | Frame figure p1: 28/100</a:t>
            </a:r>
          </a:p>
          <a:p>
            <a:r>
              <a:t>Evidence 2 | Frame figure p6: 25/100</a:t>
            </a:r>
          </a:p>
          <a:p>
            <a:r>
              <a:t>Evidence 3 | Frame figure p10: 25/100</a:t>
            </a:r>
          </a:p>
          <a:p>
            <a:r>
              <a:t>Evidence 4 | Frame figure p15: 30/100</a:t>
            </a:r>
          </a:p>
          <a:p>
            <a:r>
              <a:t>Evidence 5 | Sharp vector-style geometric graphics</a:t>
            </a:r>
          </a:p>
          <a:p>
            <a:r>
              <a:t>Evidence 6 | Clean digital typography</a:t>
            </a:r>
          </a:p>
          <a:p>
            <a:r>
              <a:t>Evidence 7 | Standard graphic design layout artifacts</a:t>
            </a:r>
          </a:p>
          <a:p>
            <a:r>
              <a:t>Evidence 8 | Caveat: Standard presentation slide graphics can be synthesized or edited via automated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21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19.49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Worst of 4 frames (figure p1): Heuristic synthetic likelihood 41/100 from metadata + pixel statistics.</a:t>
            </a:r>
          </a:p>
          <a:p>
            <a:r>
              <a:t>Evidence 1 | Frame figure p1: 41/100</a:t>
            </a:r>
          </a:p>
          <a:p>
            <a:r>
              <a:t>Evidence 2 | Frame figure p6: 41/100</a:t>
            </a:r>
          </a:p>
          <a:p>
            <a:r>
              <a:t>Evidence 3 | Frame figure p10: 41/100</a:t>
            </a:r>
          </a:p>
          <a:p>
            <a:r>
              <a:t>Evidence 4 | Frame figure p15: 41/100</a:t>
            </a:r>
          </a:p>
          <a:p>
            <a:r>
              <a:t>Evidence 5 | No camera EXIF (common in AI exports, screenshots, and re-saves).</a:t>
            </a:r>
          </a:p>
          <a:p>
            <a:r>
              <a:t>Evidence 6 | ELA mean 0.4, peak 21 (uniform high ELA can indicate generation/heavy edit).</a:t>
            </a:r>
          </a:p>
          <a:p>
            <a:r>
              <a:t>Evidence 7 | High-frequency noise std 14.12 (very low/very uniform noise is a synthesis cue).</a:t>
            </a:r>
          </a:p>
          <a:p>
            <a:r>
              <a:t>Evidence 8 | Spectral peakiness 19.49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Per-frame results</a:t>
            </a:r>
          </a:p>
          <a:p>
            <a:r>
              <a:t>figure p1 | inconclusive | 28</a:t>
            </a:r>
          </a:p>
          <a:p>
            <a:r>
              <a:t>figure p6 | inconclusive | 25</a:t>
            </a:r>
          </a:p>
          <a:p>
            <a:r>
              <a:t>figure p10 | inconclusive | 25</a:t>
            </a:r>
          </a:p>
          <a:p>
            <a:r>
              <a:t>figure p15 | inconclusive |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Additional findings</a:t>
            </a:r>
          </a:p>
          <a:p>
            <a:r>
              <a:t>Claude Vision | Worst of 4 frames (figure p15): synthetic likelihood 62/100; tells: not a camera photo: flat digital graphic/slide, so photographic forensics (sensor noise, lens blur, lighting) do not apply, inconsistent centering of body text lines, with ragged, uneven offsets unlike typical layout-software alignment, polygonal network line-art with segments that end in mid-air, fade unevenly, and break into stray dashed fragments on the left, faint mottled texture in the flat background, atypical of vector-exported slides</a:t>
            </a:r>
          </a:p>
          <a:p>
            <a:r>
              <a:t>OpenAI Vision | Worst of 4 frames (figure p6): synthetic likelihood 15/100; tells: Legible, coherent text with consistent repeated letterforms., Regular two-column layout with aligned rounded panels., Consistent bold labels and uniform bullet styling., No photographic base or identifiable inpainting boundaries.</a:t>
            </a:r>
          </a:p>
          <a:p>
            <a:r>
              <a:t>Gemini Vision | Worst of 4 frames (figure p15): synthetic likelihood 30/100; tells: sharp vector-style geometric graphics, clean digital typography, standard graphic design layout artifacts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Extracted text</a:t>
            </a:r>
          </a:p>
          <a:p>
            <a:r>
              <a:t>Recorded text | Geographic Discourse Extremes | The Sceptics (USA &amp; Italy) | • Primary Driver: Mistrust in institutions (CDC, FDA, Italy's ASL). | • Core Theme: Extrapolating harm from contraindicated vaccines to recommended ones. | • Vector Activity: High presence of bot-associated hashtags. | The Advocates (India &amp; UK) | • Primary Driver: Proactive, visible public health campaigns. | • Core Theme: Child protection and successful programme launches (e.g., India's Mission Indradhanush). | • Vector Activity: Organic tagging of trusted bodies (Public Health England).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How this assessment was reached</a:t>
            </a:r>
          </a:p>
          <a:p>
            <a:r>
              <a:t>1. frame_agreement | frames=4; synthetic_frames=0; authentic_frames=0; rating_spread=5</a:t>
            </a:r>
          </a:p>
          <a:p>
            <a:r>
              <a:t>2. verdict | value=inconclusive; confidence=low; reason=The sampled frames leave the assessment inconclusive. Review the frame results and source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f46ae041-994d-44fa-997c-8e6f23dcff90</a:t>
            </a:r>
          </a:p>
          <a:p>
            <a:r>
              <a:t>Generated | 2026-09-26T22:31:05+00:00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PDF preparation: pdf-input-2026-09-26.1 (pypdf text/figures; PDFium page rendering).</a:t>
            </a:r>
          </a:p>
          <a:p>
            <a:r>
              <a:t>Ingestion note 2 | Extracted 4 embedded figure(s) of 15 found (figure mode).</a:t>
            </a:r>
          </a:p>
          <a:p>
            <a:r>
              <a:t>Ingestion note 3 | No selectable text layer - vision models read the page/figure images.</a:t>
            </a:r>
          </a:p>
          <a:p>
            <a:r>
              <a:t>Ingestion note 4 | Fresh provider replies acquired for eleven-examples-refresh-20260926-r1; report assembled locally from the saved responses without further API calls.</a:t>
            </a:r>
          </a:p>
          <a:p>
            <a:r>
              <a:t>Ingestion note 5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infographic.pdf</a:t>
            </a:r>
          </a:p>
          <a:p>
            <a:r>
              <a:t>File and analysis record</a:t>
            </a:r>
          </a:p>
          <a:p>
            <a:r>
              <a:t>File | infographic.pdf</a:t>
            </a:r>
          </a:p>
          <a:p>
            <a:r>
              <a:t>Analysis ID | f46ae041-994d-44fa-997c-8e6f23dcff90</a:t>
            </a:r>
          </a:p>
          <a:p>
            <a:r>
              <a:t>Generated | 2026-09-26T22:31:05+00:00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02915f051b6eb2c9ef0c21f5bb20c4229ca21324bf20172f3867c32c299a5924</a:t>
            </a:r>
          </a:p>
          <a:p>
            <a:r>
              <a:t>Ingestion note 1 | PDF preparation: pdf-input-2026-09-26.1 (pypdf text/figures; PDFium page rendering).</a:t>
            </a:r>
          </a:p>
          <a:p>
            <a:r>
              <a:t>Ingestion note 2 | Extracted 4 embedded figure(s) of 15 found (figure mode).</a:t>
            </a:r>
          </a:p>
          <a:p>
            <a:r>
              <a:t>Ingestion note 3 | No selectable text layer - vision models read the page/figure images.</a:t>
            </a:r>
          </a:p>
          <a:p>
            <a:r>
              <a:t>Ingestion note 4 | Fresh provider replies acquired for eleven-examples-refresh-20260926-r1; report assembled locally from the saved responses without further API calls.</a:t>
            </a:r>
          </a:p>
          <a:p>
            <a:r>
              <a:t>Ingestion note 5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04" y="1353312"/>
            <a:ext cx="7369791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infographic.pdf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27/100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rounded mean of available frame scores;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sampled frames leave the assessment inconclusive. Review the frame results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 - 4 frame(s) analysed of 15 found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62/100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62/100; tells: not a camera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photo: flat digital graphic/slide, so photographic forensics (sensor noise, lens blur,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lighting) do not apply, inconsistent centering of body text lines, with ragged,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uneven offsets unlike typical layout-software alignment, polygonal network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line-art with segments that end in mid-air, fade unevenly, and break into stray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dashed fragments on the left, faint mottled texture in the flat background,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40/100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45/100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62/100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a camera photo: flat digital graphic/slide, so photographic forensics (sensor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noise, lens blur, lighting) do not apply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3020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Inconsistent centering of body text lines, with ragged, uneven offsets unlike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typical layout-software alignment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Polygonal network line-art with segments that end in mid-air, fade unevenly,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break into stray dashed fragments on the left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4074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Faint mottled texture in the flat background, 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1376x768 dimensions, which match a common native output size of some current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generators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Heavy soft drop shadow on the headline, a stylistic pattern common in generated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slide imagery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is fully legible and correctly spelled, which weighs against older generators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but not modern text-capable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Designed graphics from a PDF can be produced by ordinary layout tools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 by modern text-capable generators and look nearly identical. The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irregularities and image dimensions are suggestive only, so check the source PDF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metadata, its creation tool, and any C2PA/provenance data.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Legible, coherent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with consistent repeated letterforms., Regular two-column layout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aligned rounded panels., Consistent bold labels and uniform bullet styling.,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12/100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12/100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15/100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Legible, coherent text with consistent repeated letterforms.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Regular two-column layout with aligned rounded panels.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bold labels and uniform bullet styling.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 designed infographic, not a camera photo; conventional design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AI-assisted production cannot reliably be distinguished from the rendered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alone.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30/100;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geometric graphics, clean digital typography, standard graphic design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28/100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25/100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30/100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Sharp vector-style geometric graphics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 digital typography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Standard graphic design layout artifacts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Standard presentation slide graphics can be synthesized or edited via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automated tools.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p1): Heuristic synthetic likelihood 41/100 from metadata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p6: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p10: 41/100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 figure p15: 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0.4, peak 21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14.12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19.49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Per-frame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Frame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 / 100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494"/>
                <a:gridCol w="4374489"/>
                <a:gridCol w="1682495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figure p15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62/100; tells: not a camera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photo: flat digital graphic/slide, so photographic forensics (sensor noise, lens blur,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lighting) do not apply, inconsistent centering of body text lines, with ragged,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uneven offsets unlike typical layout-software alignment, polygonal network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line-art with segments that end in mid-air, fade unevenly, and break into stray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dashed fragments on the left, faint mottled texture in the flat background,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atypical of vector-exported slides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2694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p6): synthetic likelihood 15/100; tells: Legible, coherent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text with consistent repeated letterforms., Regular two-column layout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aligned rounded panels., Consistent bold labels and uniform bullet styling.,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or identifiable inpainting boundaries.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2285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Worst of 4 frames (figure p15): synthetic likelihood 30/100; tells: sharp vector-style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geometric graphics, clean digital typography, standard graphic design layout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984495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3340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Extracted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 Discourse Extremes | The Sceptics (USA &amp; Italy) | • Primary Driver: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Mistrust in institutions (CDC, FDA, Italy's ASL). | • Core Theme: Extrapolating harm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from contraindicated vaccines to recommended ones. | • Vector Activity: High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presence of bot-associated hashtags. | The Advocates (India &amp; UK) | • Primary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Driver: Proactive, visible public health campaigns. | • Core Theme: Child protection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successful programme launches (e.g., India's Mission Indradhanush). | •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Vector Activity: Organic tagging of trusted bodies (Public Health England).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frame_agreement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frames=4; synthetic_frames=0; authentic_frames=0; rating_spread=5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reason=The sampled frames leave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 inconclusive. Review the frame results and source context.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infographic.pdf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f46ae041-994d-44fa-997c-8e6f23dcff90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2026-09-26T22:31:05+00:00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02915f051b6eb2c9ef0c21f5bb20c4229ca21324bf20172f3867c32c299a5924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 preparation: pdf-input-2026-09-26.1 (pypdf text/figures; PDFium page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rendering).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Extracted 4 embedded figure(s) of 15 found (figure mode).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3990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3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selectable text layer - vision models read the page/figure images.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5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