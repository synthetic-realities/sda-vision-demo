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infographic.pdf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Assessment summary</a:t>
            </a:r>
          </a:p>
          <a:p>
            <a:r>
              <a:t>Finding | Inconclusive</a:t>
            </a:r>
          </a:p>
          <a:p>
            <a:r>
              <a:t>Recorded verdict | inconclusive</a:t>
            </a:r>
          </a:p>
          <a:p>
            <a:r>
              <a:t>Confidence | low</a:t>
            </a:r>
          </a:p>
          <a:p>
            <a:r>
              <a:t>Indicative rating | 27/100</a:t>
            </a:r>
          </a:p>
          <a:p>
            <a:r>
              <a:t>Rating basis | rounded mean of available frame scores; not a calibrated probability</a:t>
            </a:r>
          </a:p>
          <a:p>
            <a:r>
              <a:t>Explanation | The sampled frames leave the assessment inconclusive. Review the frame results and source context.</a:t>
            </a:r>
          </a:p>
          <a:p>
            <a:r>
              <a:t>Coverage | pdf - 4 frame(s) analysed of 15 found</a:t>
            </a:r>
          </a:p>
          <a:p>
            <a:r>
              <a:t>Review context | Research assessment. Review alongside source information and context. When credentials are missing, origin remains unresolved by this check. Use these findings to inform a documented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overview</a:t>
            </a:r>
          </a:p>
          <a:p>
            <a:r>
              <a:t>Claude Vision | vision / ok | synthetic likely | 62/100</a:t>
            </a:r>
          </a:p>
          <a:p>
            <a:r>
              <a:t>OpenAI Vision | vision / ok | inconclusive | 15/100</a:t>
            </a:r>
          </a:p>
          <a:p>
            <a:r>
              <a:t>Gemini Vision | vision / ok | authentic likely | 30/100</a:t>
            </a:r>
          </a:p>
          <a:p>
            <a:r>
              <a:t>C2PA Content Credentials | provenance / ok | inconclusive | n/a</a:t>
            </a:r>
          </a:p>
          <a:p>
            <a:r>
              <a:t>Local forensic cues | forensic / ok | partially synthetic | 41/100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p15): synthetic likelihood 62/100; tells: not a camera photo: flat digital graphic/slide, so photographic forensics (sensor noise, lens blur, lighting) do not apply, inconsistent centering of body text lines, with ragged, uneven offsets unlike typical layout-software alignment, polygonal network line-art with segments that end in mid-air, fade unevenly, and break into stray dashed fragments on the left, faint mottled texture in the flat background, atypical of vector-exported slides</a:t>
            </a:r>
          </a:p>
          <a:p>
            <a:r>
              <a:t>Evidence 1 | Frame figure p1: 40/100</a:t>
            </a:r>
          </a:p>
          <a:p>
            <a:r>
              <a:t>Evidence 2 | Frame figure p6: 45/100</a:t>
            </a:r>
          </a:p>
          <a:p>
            <a:r>
              <a:t>Evidence 3 | Frame figure p10: 45/100</a:t>
            </a:r>
          </a:p>
          <a:p>
            <a:r>
              <a:t>Evidence 4 | Frame figure p15: 62/100</a:t>
            </a:r>
          </a:p>
          <a:p>
            <a:r>
              <a:t>Evidence 5 | Not a camera photo: flat digital graphic/slide, so photographic forensics (sensor noise, lens blur, lighting) do not apply</a:t>
            </a:r>
          </a:p>
          <a:p>
            <a:r>
              <a:t>Evidence 6 | Inconsistent centering of body text lines, with ragged, uneven offsets unlike typical layout-software alignment</a:t>
            </a:r>
          </a:p>
          <a:p>
            <a:r>
              <a:t>Evidence 7 | Polygonal network line-art with segments that end in mid-air, fade unevenly, and break into stray dashed fragments on the left</a:t>
            </a:r>
          </a:p>
          <a:p>
            <a:r>
              <a:t>Evidence 8 | Faint mottled texture in the flat background, atypical of vector-exported slides</a:t>
            </a:r>
          </a:p>
          <a:p>
            <a:r>
              <a:t>Evidence 9 | 1376x768 dimensions, which match a common native output size of some current image generators</a:t>
            </a:r>
          </a:p>
          <a:p>
            <a:r>
              <a:t>Evidence 10 | Heavy soft drop shadow on the headline, a stylistic pattern common in generated slide imagery</a:t>
            </a:r>
          </a:p>
          <a:p>
            <a:r>
              <a:t>Evidence 11 | Text is fully legible and correctly spelled, which weighs against older generators but not modern text-capable models</a:t>
            </a:r>
          </a:p>
          <a:p>
            <a:r>
              <a:t>Evidence 12 | Caveat: Designed graphics from a PDF can be produced by ordinary layout tools or by modern text-capable generators and look nearly identical. The layout irregularities and image dimensions are suggestive only, so check the source PDF metadata, its creation tool, and any C2PA/provenance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p15): synthetic likelihood 62/100; tells: not a camera photo: flat digital graphic/slide, so photographic forensics (sensor noise, lens blur, lighting) do not apply, inconsistent centering of body text lines, with ragged, uneven offsets unlike typical layout-software alignment, polygonal network line-art with segments that end in mid-air, fade unevenly, and break into stray dashed fragments on the left, faint mottled texture in the flat background, atypical of vector-exported slides</a:t>
            </a:r>
          </a:p>
          <a:p>
            <a:r>
              <a:t>Evidence 1 | Frame figure p1: 40/100</a:t>
            </a:r>
          </a:p>
          <a:p>
            <a:r>
              <a:t>Evidence 2 | Frame figure p6: 45/100</a:t>
            </a:r>
          </a:p>
          <a:p>
            <a:r>
              <a:t>Evidence 3 | Frame figure p10: 45/100</a:t>
            </a:r>
          </a:p>
          <a:p>
            <a:r>
              <a:t>Evidence 4 | Frame figure p15: 62/100</a:t>
            </a:r>
          </a:p>
          <a:p>
            <a:r>
              <a:t>Evidence 5 | Not a camera photo: flat digital graphic/slide, so photographic forensics (sensor noise, lens blur, lighting) do not apply</a:t>
            </a:r>
          </a:p>
          <a:p>
            <a:r>
              <a:t>Evidence 6 | Inconsistent centering of body text lines, with ragged, uneven offsets unlike typical layout-software alignment</a:t>
            </a:r>
          </a:p>
          <a:p>
            <a:r>
              <a:t>Evidence 7 | Polygonal network line-art with segments that end in mid-air, fade unevenly, and break into stray dashed fragments on the left</a:t>
            </a:r>
          </a:p>
          <a:p>
            <a:r>
              <a:t>Evidence 8 | Faint mottled texture in the flat background, atypical of vector-exported slides</a:t>
            </a:r>
          </a:p>
          <a:p>
            <a:r>
              <a:t>Evidence 9 | 1376x768 dimensions, which match a common native output size of some current image generators</a:t>
            </a:r>
          </a:p>
          <a:p>
            <a:r>
              <a:t>Evidence 10 | Heavy soft drop shadow on the headline, a stylistic pattern common in generated slide imagery</a:t>
            </a:r>
          </a:p>
          <a:p>
            <a:r>
              <a:t>Evidence 11 | Text is fully legible and correctly spelled, which weighs against older generators but not modern text-capable models</a:t>
            </a:r>
          </a:p>
          <a:p>
            <a:r>
              <a:t>Evidence 12 | Caveat: Designed graphics from a PDF can be produced by ordinary layout tools or by modern text-capable generators and look nearly identical. The layout irregularities and image dimensions are suggestive only, so check the source PDF metadata, its creation tool, and any C2PA/provenance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p15): synthetic likelihood 62/100; tells: not a camera photo: flat digital graphic/slide, so photographic forensics (sensor noise, lens blur, lighting) do not apply, inconsistent centering of body text lines, with ragged, uneven offsets unlike typical layout-software alignment, polygonal network line-art with segments that end in mid-air, fade unevenly, and break into stray dashed fragments on the left, faint mottled texture in the flat background, atypical of vector-exported slides</a:t>
            </a:r>
          </a:p>
          <a:p>
            <a:r>
              <a:t>Evidence 1 | Frame figure p1: 40/100</a:t>
            </a:r>
          </a:p>
          <a:p>
            <a:r>
              <a:t>Evidence 2 | Frame figure p6: 45/100</a:t>
            </a:r>
          </a:p>
          <a:p>
            <a:r>
              <a:t>Evidence 3 | Frame figure p10: 45/100</a:t>
            </a:r>
          </a:p>
          <a:p>
            <a:r>
              <a:t>Evidence 4 | Frame figure p15: 62/100</a:t>
            </a:r>
          </a:p>
          <a:p>
            <a:r>
              <a:t>Evidence 5 | Not a camera photo: flat digital graphic/slide, so photographic forensics (sensor noise, lens blur, lighting) do not apply</a:t>
            </a:r>
          </a:p>
          <a:p>
            <a:r>
              <a:t>Evidence 6 | Inconsistent centering of body text lines, with ragged, uneven offsets unlike typical layout-software alignment</a:t>
            </a:r>
          </a:p>
          <a:p>
            <a:r>
              <a:t>Evidence 7 | Polygonal network line-art with segments that end in mid-air, fade unevenly, and break into stray dashed fragments on the left</a:t>
            </a:r>
          </a:p>
          <a:p>
            <a:r>
              <a:t>Evidence 8 | Faint mottled texture in the flat background, atypical of vector-exported slides</a:t>
            </a:r>
          </a:p>
          <a:p>
            <a:r>
              <a:t>Evidence 9 | 1376x768 dimensions, which match a common native output size of some current image generators</a:t>
            </a:r>
          </a:p>
          <a:p>
            <a:r>
              <a:t>Evidence 10 | Heavy soft drop shadow on the headline, a stylistic pattern common in generated slide imagery</a:t>
            </a:r>
          </a:p>
          <a:p>
            <a:r>
              <a:t>Evidence 11 | Text is fully legible and correctly spelled, which weighs against older generators but not modern text-capable models</a:t>
            </a:r>
          </a:p>
          <a:p>
            <a:r>
              <a:t>Evidence 12 | Caveat: Designed graphics from a PDF can be produced by ordinary layout tools or by modern text-capable generators and look nearly identical. The layout irregularities and image dimensions are suggestive only, so check the source PDF metadata, its creation tool, and any C2PA/provenance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p6): synthetic likelihood 15/100; tells: Legible, coherent text with consistent repeated letterforms., Regular two-column layout with aligned rounded panels., Consistent bold labels and uniform bullet styling., No photographic base or identifiable inpainting boundaries.</a:t>
            </a:r>
          </a:p>
          <a:p>
            <a:r>
              <a:t>Evidence 1 | Frame figure p1: 12/100</a:t>
            </a:r>
          </a:p>
          <a:p>
            <a:r>
              <a:t>Evidence 2 | Frame figure p6: 15/100</a:t>
            </a:r>
          </a:p>
          <a:p>
            <a:r>
              <a:t>Evidence 3 | Frame figure p10: 12/100</a:t>
            </a:r>
          </a:p>
          <a:p>
            <a:r>
              <a:t>Evidence 4 | Frame figure p15: 15/100</a:t>
            </a:r>
          </a:p>
          <a:p>
            <a:r>
              <a:t>Evidence 5 | Legible, coherent text with consistent repeated letterforms.</a:t>
            </a:r>
          </a:p>
          <a:p>
            <a:r>
              <a:t>Evidence 6 | Regular two-column layout with aligned rounded panels.</a:t>
            </a:r>
          </a:p>
          <a:p>
            <a:r>
              <a:t>Evidence 7 | Consistent bold labels and uniform bullet styling.</a:t>
            </a:r>
          </a:p>
          <a:p>
            <a:r>
              <a:t>Evidence 8 | No photographic base or identifiable inpainting boundaries.</a:t>
            </a:r>
          </a:p>
          <a:p>
            <a:r>
              <a:t>Evidence 9 | Caveat: This is a designed infographic, not a camera photo; conventional design and AI-assisted production cannot reliably be distinguished from the rendered image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p6): synthetic likelihood 15/100; tells: Legible, coherent text with consistent repeated letterforms., Regular two-column layout with aligned rounded panels., Consistent bold labels and uniform bullet styling., No photographic base or identifiable inpainting boundaries.</a:t>
            </a:r>
          </a:p>
          <a:p>
            <a:r>
              <a:t>Evidence 1 | Frame figure p1: 12/100</a:t>
            </a:r>
          </a:p>
          <a:p>
            <a:r>
              <a:t>Evidence 2 | Frame figure p6: 15/100</a:t>
            </a:r>
          </a:p>
          <a:p>
            <a:r>
              <a:t>Evidence 3 | Frame figure p10: 12/100</a:t>
            </a:r>
          </a:p>
          <a:p>
            <a:r>
              <a:t>Evidence 4 | Frame figure p15: 15/100</a:t>
            </a:r>
          </a:p>
          <a:p>
            <a:r>
              <a:t>Evidence 5 | Legible, coherent text with consistent repeated letterforms.</a:t>
            </a:r>
          </a:p>
          <a:p>
            <a:r>
              <a:t>Evidence 6 | Regular two-column layout with aligned rounded panels.</a:t>
            </a:r>
          </a:p>
          <a:p>
            <a:r>
              <a:t>Evidence 7 | Consistent bold labels and uniform bullet styling.</a:t>
            </a:r>
          </a:p>
          <a:p>
            <a:r>
              <a:t>Evidence 8 | No photographic base or identifiable inpainting boundaries.</a:t>
            </a:r>
          </a:p>
          <a:p>
            <a:r>
              <a:t>Evidence 9 | Caveat: This is a designed infographic, not a camera photo; conventional design and AI-assisted production cannot reliably be distinguished from the rendered image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Additional finding</a:t>
            </a:r>
          </a:p>
          <a:p>
            <a:r>
              <a:t>Provider summary | Worst of 4 frames (figure p15): synthetic likelihood 30/100; tells: sharp vector-style geometric graphics, clean digital typography, standard graphic design layout artifacts</a:t>
            </a:r>
          </a:p>
          <a:p>
            <a:r>
              <a:t>Evidence 1 | Frame figure p1: 28/100</a:t>
            </a:r>
          </a:p>
          <a:p>
            <a:r>
              <a:t>Evidence 2 | Frame figure p6: 25/100</a:t>
            </a:r>
          </a:p>
          <a:p>
            <a:r>
              <a:t>Evidence 3 | Frame figure p10: 25/100</a:t>
            </a:r>
          </a:p>
          <a:p>
            <a:r>
              <a:t>Evidence 4 | Frame figure p15: 30/100</a:t>
            </a:r>
          </a:p>
          <a:p>
            <a:r>
              <a:t>Evidence 5 | Sharp vector-style geometric graphics</a:t>
            </a:r>
          </a:p>
          <a:p>
            <a:r>
              <a:t>Evidence 6 | Clean digital typography</a:t>
            </a:r>
          </a:p>
          <a:p>
            <a:r>
              <a:t>Evidence 7 | Standard graphic design layout artifacts</a:t>
            </a:r>
          </a:p>
          <a:p>
            <a:r>
              <a:t>Evidence 8 | Caveat: Standard presentation slide graphics can be synthesized or edited via automated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authentic likely</a:t>
            </a:r>
          </a:p>
          <a:p>
            <a:r>
              <a:t>Confidence | medium</a:t>
            </a:r>
          </a:p>
          <a:p>
            <a:r>
              <a:t>Role in assessment | Additional finding</a:t>
            </a:r>
          </a:p>
          <a:p>
            <a:r>
              <a:t>Provider summary | Worst of 4 frames (figure p15): synthetic likelihood 30/100; tells: sharp vector-style geometric graphics, clean digital typography, standard graphic design layout artifacts</a:t>
            </a:r>
          </a:p>
          <a:p>
            <a:r>
              <a:t>Evidence 1 | Frame figure p1: 28/100</a:t>
            </a:r>
          </a:p>
          <a:p>
            <a:r>
              <a:t>Evidence 2 | Frame figure p6: 25/100</a:t>
            </a:r>
          </a:p>
          <a:p>
            <a:r>
              <a:t>Evidence 3 | Frame figure p10: 25/100</a:t>
            </a:r>
          </a:p>
          <a:p>
            <a:r>
              <a:t>Evidence 4 | Frame figure p15: 30/100</a:t>
            </a:r>
          </a:p>
          <a:p>
            <a:r>
              <a:t>Evidence 5 | Sharp vector-style geometric graphics</a:t>
            </a:r>
          </a:p>
          <a:p>
            <a:r>
              <a:t>Evidence 6 | Clean digital typography</a:t>
            </a:r>
          </a:p>
          <a:p>
            <a:r>
              <a:t>Evidence 7 | Standard graphic design layout artifacts</a:t>
            </a:r>
          </a:p>
          <a:p>
            <a:r>
              <a:t>Evidence 8 | Caveat: Standard presentation slide graphics can be synthesized or edited via automated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p1): Heuristic synthetic likelihood 41/100 from metadata + pixel statistics.</a:t>
            </a:r>
          </a:p>
          <a:p>
            <a:r>
              <a:t>Evidence 1 | Frame figure p1: 41/100</a:t>
            </a:r>
          </a:p>
          <a:p>
            <a:r>
              <a:t>Evidence 2 | Frame figure p6: 41/100</a:t>
            </a:r>
          </a:p>
          <a:p>
            <a:r>
              <a:t>Evidence 3 | Frame figure p10: 41/100</a:t>
            </a:r>
          </a:p>
          <a:p>
            <a:r>
              <a:t>Evidence 4 | Frame figure p15: 41/100</a:t>
            </a:r>
          </a:p>
          <a:p>
            <a:r>
              <a:t>Evidence 5 | No camera EXIF (common in AI exports, screenshots, and re-saves).</a:t>
            </a:r>
          </a:p>
          <a:p>
            <a:r>
              <a:t>Evidence 6 | ELA mean 0.4, peak 21 (uniform high ELA can indicate generation/heavy edit).</a:t>
            </a:r>
          </a:p>
          <a:p>
            <a:r>
              <a:t>Evidence 7 | High-frequency noise std 14.12 (very low/very uniform noise is a synthesis cue).</a:t>
            </a:r>
          </a:p>
          <a:p>
            <a:r>
              <a:t>Evidence 8 | Spectral peakiness 19.49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(figure p1): Heuristic synthetic likelihood 41/100 from metadata + pixel statistics.</a:t>
            </a:r>
          </a:p>
          <a:p>
            <a:r>
              <a:t>Evidence 1 | Frame figure p1: 41/100</a:t>
            </a:r>
          </a:p>
          <a:p>
            <a:r>
              <a:t>Evidence 2 | Frame figure p6: 41/100</a:t>
            </a:r>
          </a:p>
          <a:p>
            <a:r>
              <a:t>Evidence 3 | Frame figure p10: 41/100</a:t>
            </a:r>
          </a:p>
          <a:p>
            <a:r>
              <a:t>Evidence 4 | Frame figure p15: 41/100</a:t>
            </a:r>
          </a:p>
          <a:p>
            <a:r>
              <a:t>Evidence 5 | No camera EXIF (common in AI exports, screenshots, and re-saves).</a:t>
            </a:r>
          </a:p>
          <a:p>
            <a:r>
              <a:t>Evidence 6 | ELA mean 0.4, peak 21 (uniform high ELA can indicate generation/heavy edit).</a:t>
            </a:r>
          </a:p>
          <a:p>
            <a:r>
              <a:t>Evidence 7 | High-frequency noise std 14.12 (very low/very uniform noise is a synthesis cue).</a:t>
            </a:r>
          </a:p>
          <a:p>
            <a:r>
              <a:t>Evidence 8 | Spectral peakiness 19.49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Per-frame results</a:t>
            </a:r>
          </a:p>
          <a:p>
            <a:r>
              <a:t>figure p1 | inconclusive | 28</a:t>
            </a:r>
          </a:p>
          <a:p>
            <a:r>
              <a:t>figure p6 | inconclusive | 25</a:t>
            </a:r>
          </a:p>
          <a:p>
            <a:r>
              <a:t>figure p10 | inconclusive | 25</a:t>
            </a:r>
          </a:p>
          <a:p>
            <a:r>
              <a:t>figure p15 | inconclusive |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Evidence supporting this verdict</a:t>
            </a:r>
          </a:p>
          <a:p>
            <a:r>
              <a:t>Record | No entries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Additional findings</a:t>
            </a:r>
          </a:p>
          <a:p>
            <a:r>
              <a:t>Claude Vision | Worst of 4 frames (figure p15): synthetic likelihood 62/100; tells: not a camera photo: flat digital graphic/slide, so photographic forensics (sensor noise, lens blur, lighting) do not apply, inconsistent centering of body text lines, with ragged, uneven offsets unlike typical layout-software alignment, polygonal network line-art with segments that end in mid-air, fade unevenly, and break into stray dashed fragments on the left, faint mottled texture in the flat background, atypical of vector-exported slides</a:t>
            </a:r>
          </a:p>
          <a:p>
            <a:r>
              <a:t>OpenAI Vision | Worst of 4 frames (figure p6): synthetic likelihood 15/100; tells: Legible, coherent text with consistent repeated letterforms., Regular two-column layout with aligned rounded panels., Consistent bold labels and uniform bullet styling., No photographic base or identifiable inpainting boundaries.</a:t>
            </a:r>
          </a:p>
          <a:p>
            <a:r>
              <a:t>Gemini Vision | Worst of 4 frames (figure p15): synthetic likelihood 30/100; tells: sharp vector-style geometric graphics, clean digital typography, standard graphic design layout artifacts</a:t>
            </a:r>
          </a:p>
          <a:p>
            <a:r>
              <a:t>Local forensic cues | Supporting observation; considered alongside the model assessments.</a:t>
            </a:r>
          </a:p>
          <a:p>
            <a:r>
              <a:t>C2PA Content Credentials | Embedded credentials: none found. Origin remains unresolved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Extracted text</a:t>
            </a:r>
          </a:p>
          <a:p>
            <a:r>
              <a:t>Recorded text | Geographic Discourse Extremes | The Sceptics (USA &amp; Italy) | • Primary Driver: Mistrust in institutions (CDC, FDA, Italy's ASL). | • Core Theme: Extrapolating harm from contraindicated vaccines to recommended ones. | • Vector Activity: High presence of bot-associated hashtags. | The Advocates (India &amp; UK) | • Primary Driver: Proactive, visible public health campaigns. | • Core Theme: Child protection and successful programme launches (e.g., India's Mission Indradhanush). | • Vector Activity: Organic tagging of trusted bodies (Public Health England).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How this assessment was reached</a:t>
            </a:r>
          </a:p>
          <a:p>
            <a:r>
              <a:t>1. frame_agreement | frames=4; synthetic_frames=0; authentic_frames=0; rating_spread=5</a:t>
            </a:r>
          </a:p>
          <a:p>
            <a:r>
              <a:t>2. verdict | value=inconclusive; confidence=low; reason=The sampled frames leave the assessment inconclusive. Review the frame results and source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File and analysis record</a:t>
            </a:r>
          </a:p>
          <a:p>
            <a:r>
              <a:t>File | infographic.pdf</a:t>
            </a:r>
          </a:p>
          <a:p>
            <a:r>
              <a:t>Analysis ID | f46ae041-994d-44fa-997c-8e6f23dcff90</a:t>
            </a:r>
          </a:p>
          <a:p>
            <a:r>
              <a:t>Generated | 2026-09-26T22:31:05+00:00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02915f051b6eb2c9ef0c21f5bb20c4229ca21324bf20172f3867c32c299a5924</a:t>
            </a:r>
          </a:p>
          <a:p>
            <a:r>
              <a:t>Ingestion note 1 | PDF preparation: pdf-input-2026-09-26.1 (pypdf text/figures; PDFium page rendering).</a:t>
            </a:r>
          </a:p>
          <a:p>
            <a:r>
              <a:t>Ingestion note 2 | Extracted 4 embedded figure(s) of 15 found (figure mode).</a:t>
            </a:r>
          </a:p>
          <a:p>
            <a:r>
              <a:t>Ingestion note 3 | No selectable text layer - vision models read the page/figure images.</a:t>
            </a:r>
          </a:p>
          <a:p>
            <a:r>
              <a:t>Ingestion note 4 | Fresh provider replies acquired for eleven-examples-refresh-20260926-r1; report assembled locally from the saved responses without further API calls.</a:t>
            </a:r>
          </a:p>
          <a:p>
            <a:r>
              <a:t>Ingestion note 5 | Provider latency values are restored from the acquisition receipts (maximum sampled-frame latency per provider); raw replies and assessment results are unchanged by this bookkeeping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infographic.pdf</a:t>
            </a:r>
          </a:p>
          <a:p>
            <a:r>
              <a:t>File and analysis record</a:t>
            </a:r>
          </a:p>
          <a:p>
            <a:r>
              <a:t>File | infographic.pdf</a:t>
            </a:r>
          </a:p>
          <a:p>
            <a:r>
              <a:t>Analysis ID | f46ae041-994d-44fa-997c-8e6f23dcff90</a:t>
            </a:r>
          </a:p>
          <a:p>
            <a:r>
              <a:t>Generated | 2026-09-26T22:31:05+00:00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02915f051b6eb2c9ef0c21f5bb20c4229ca21324bf20172f3867c32c299a5924</a:t>
            </a:r>
          </a:p>
          <a:p>
            <a:r>
              <a:t>Ingestion note 1 | PDF preparation: pdf-input-2026-09-26.1 (pypdf text/figures; PDFium page rendering).</a:t>
            </a:r>
          </a:p>
          <a:p>
            <a:r>
              <a:t>Ingestion note 2 | Extracted 4 embedded figure(s) of 15 found (figure mode).</a:t>
            </a:r>
          </a:p>
          <a:p>
            <a:r>
              <a:t>Ingestion note 3 | No selectable text layer - vision models read the page/figure images.</a:t>
            </a:r>
          </a:p>
          <a:p>
            <a:r>
              <a:t>Ingestion note 4 | Fresh provider replies acquired for eleven-examples-refresh-20260926-r1; report assembled locally from the saved responses without further API calls.</a:t>
            </a:r>
          </a:p>
          <a:p>
            <a:r>
              <a:t>Ingestion note 5 | Provider latency values are restored from the acquisition receipts (maximum sampled-frame latency per provider); raw replies and assessment results are unchanged by this bookkeeping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Analysed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04" y="1353312"/>
            <a:ext cx="736979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21243A"/>
                </a:solidFill>
                <a:latin typeface="Arial"/>
              </a:defRPr>
            </a:pPr>
            <a:r>
              <a:t>infographic.pdf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Indicative rating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27/100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Rating basis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rounded mean of available frame scores; not a calibrated probability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Explanation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The sampled frames leave the assessment inconclusive. Review the frame results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source context.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0010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 - 4 frame(s) analysed of 15 found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35051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Review context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assessment. Review alongside source information and context. When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credentials are missing, origin remains unresolved by this check. Use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 to inform a documented human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 / status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62/100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30/100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forensic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41/100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56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568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p15): synthetic likelihood 62/100; tells: not a camera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photo: flat digital graphic/slide, so photographic forensics (sensor noise, lens blur,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lighting) do not apply, inconsistent centering of body text lines, with ragged,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uneven offsets unlike typical layout-software alignment, polygonal network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line-art with segments that end in mid-air, fade unevenly, and break into stray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dashed fragments on the left, faint mottled texture in the flat background,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atypical of vector-exported slides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3665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p1: 40/100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p6: 45/100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p10: 45/100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p15: 62/100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a camera photo: flat digital graphic/slide, so photographic forensics (sensor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noise, lens blur, lighting) do not apply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30200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Inconsistent centering of body text lines, with ragged, uneven offsets unlike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typical layout-software alignment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8547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Polygonal network line-art with segments that end in mid-air, fade unevenly,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break into stray dashed fragments on the left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4074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Faint mottled texture in the flat background, atypical of vector-exported slides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1376x768 dimensions, which match a common native output size of some current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 generators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3096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Heavy soft drop shadow on the headline, a stylistic pattern common in generated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slide imagery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 is fully legible and correctly spelled, which weighs against older generators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but not modern text-capable models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Designed graphics from a PDF can be produced by ordinary layout tools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 by modern text-capable generators and look nearly identical. The layout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irregularities and image dimensions are suggestive only, so check the source PDF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metadata, its creation tool, and any C2PA/provenance data.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gpt-6-astra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p6): synthetic likelihood 15/100; tells: Legible, coherent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 with consistent repeated letterforms., Regular two-column layout with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aligned rounded panels., Consistent bold labels and uniform bullet styling., No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base or identifiable inpainting boundaries.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p1: 12/100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p6: 15/100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4559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p10: 12/100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p15: 15/100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Legible, coherent text with consistent repeated letterforms.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Regular two-column layout with aligned rounded panels.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bold labels and uniform bullet styling.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photographic base or identifiable inpainting boundaries.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This is a designed infographic, not a camera photo; conventional design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AI-assisted production cannot reliably be distinguished from the rendered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 alone.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gemini-3.8-flash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authentic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p15): synthetic likelihood 30/100; tells: sharp vector-style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geometric graphics, clean digital typography, standard graphic design layout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artifacts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5537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p1: 28/100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9032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p6: 25/100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p10: 25/100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p15: 30/100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Sharp vector-style geometric graphics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Clean digital typography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Standard graphic design layout artifacts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Standard presentation slide graphics can be synthesized or edited via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automated tools.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Coverage: credentials embedded in the submitted file. External credentials were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retrieved.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Verifier: c2pa-python 0.37.12; native SDK 0.91.0; specification target 2.4; policy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embedded-offline-reviewed-trust-v3.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Offline embedded-manifest verification; no network trust-list, manifest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revocation refresh.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reviewed local C2PA trust snapshot installed. Provenance overrides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disabled.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p1): Heuristic synthetic likelihood 41/100 from metadata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+ pixel statistics.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3505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p1: 41/100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p6: 41/100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0495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p10: 41/100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990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figure p15: 41/100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 EXIF (common in AI exports, screenshots, and re-saves).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ELA mean 0.4, peak 21 (uniform high ELA can indicate generation/heavy edit).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High-frequency noise std 14.12 (very low/very uniform noise is a synthesis cue).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Spectral peakiness 19.49 (periodic frequency peaks can mark generated textures).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Per-frame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Frame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 / 100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figure p1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figure p6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figure p10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figure p15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Evidence supporting this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entries recorded.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56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568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p15): synthetic likelihood 62/100; tells: not a camera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photo: flat digital graphic/slide, so photographic forensics (sensor noise, lens blur,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lighting) do not apply, inconsistent centering of body text lines, with ragged,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uneven offsets unlike typical layout-software alignment, polygonal network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line-art with segments that end in mid-air, fade unevenly, and break into stray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dashed fragments on the left, faint mottled texture in the flat background,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atypical of vector-exported slides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6948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p6): synthetic likelihood 15/100; tells: Legible, coherent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 with consistent repeated letterforms., Regular two-column layout with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aligned rounded panels., Consistent bold labels and uniform bullet styling., No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base or identifiable inpainting boundaries.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22859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(figure p15): synthetic likelihood 30/100; tells: sharp vector-style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geometric graphics, clean digital typography, standard graphic design layout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artifacts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984495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 observation; considered alongside the model assessments.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3340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Extracted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56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568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text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Geographic Discourse Extremes | The Sceptics (USA &amp; Italy) | • Primary Driver: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Mistrust in institutions (CDC, FDA, Italy's ASL). | • Core Theme: Extrapolating harm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from contraindicated vaccines to recommended ones. | • Vector Activity: High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presence of bot-associated hashtags. | The Advocates (India &amp; UK) | • Primary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Driver: Proactive, visible public health campaigns. | • Core Theme: Child protection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successful programme launches (e.g., India's Mission Indradhanush). | •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Vector Activity: Organic tagging of trusted bodies (Public Health England).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How this assessment was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1. frame_agreement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frames=4; synthetic_frames=0; authentic_frames=0; rating_spread=5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2.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value=inconclusive; confidence=low; reason=The sampled frames leave the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 inconclusive. Review the frame results and source context.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infographic.pdf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ID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f46ae041-994d-44fa-997c-8e6f23dcff90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2026-09-26T22:31:05+00:00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Vision 0.1.0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claude-opus-5-5, gemini-3.8-flash, gpt-6-astra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Method version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pdf-preparation-2026-09-26.1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lens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SHA-256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02915f051b6eb2c9ef0c21f5bb20c4229ca21324bf20172f3867c32c299a5924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 preparation: pdf-input-2026-09-26.1 (pypdf text/figures; PDFium page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rendering).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0495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Extracted 4 embedded figure(s) of 15 found (figure mode).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990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3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selectable text layer - vision models read the page/figure images.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4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Fresh provider replies acquired for eleven-examples-refresh-20260926-r1; report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assembled locally from the saved responses without further API calls.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5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latency values are restored from the acquisition receipts (maximum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sampled-frame latency per provider); raw replies and assessment results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unchanged by this bookkeeping step.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 Vision: Analysis report</dc:title>
  <dc:subject>Research assessment export</dc:subject>
  <dc:creator>SDA Vision</dc:creator>
  <cp:keywords/>
  <dc:description/>
  <cp:lastModifiedBy>SDA Vision</cp:lastModifiedBy>
  <cp:revision>1</cp:revision>
  <dcterms:created xsi:type="dcterms:W3CDTF">2026-10-16T06:37:14Z</dcterms:created>
  <dcterms:modified xsi:type="dcterms:W3CDTF">2026-10-16T06:37:14Z</dcterms:modified>
  <cp:category/>
</cp:coreProperties>
</file>