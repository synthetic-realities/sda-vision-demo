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journal-diagram.png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Assessment summary</a:t>
            </a:r>
          </a:p>
          <a:p>
            <a:r>
              <a:t>Finding | Leaning synthetic</a:t>
            </a:r>
          </a:p>
          <a:p>
            <a:r>
              <a:t>Recorded verdict | synthetic likely</a:t>
            </a:r>
          </a:p>
          <a:p>
            <a:r>
              <a:t>Confidence | medium</a:t>
            </a:r>
          </a:p>
          <a:p>
            <a:r>
              <a:t>Indicative rating | 68/100</a:t>
            </a:r>
          </a:p>
          <a:p>
            <a:r>
              <a:t>Rating basis | median of available model ratings; not a calibrated probability</a:t>
            </a:r>
          </a:p>
          <a:p>
            <a:r>
              <a:t>Explanation | 2 models agree this is likely synthetic.</a:t>
            </a:r>
          </a:p>
          <a:p>
            <a:r>
              <a:t>Coverage | image - 1 frame(s) analysed</a:t>
            </a:r>
          </a:p>
          <a:p>
            <a:r>
              <a:t>Review context | Research assessment. Review alongside source information and context. When credentials are missing, origin remains unresolved by this check. Use these findings to inform a documented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Provider overview</a:t>
            </a:r>
          </a:p>
          <a:p>
            <a:r>
              <a:t>Claude Vision | vision / ok | synthetic likely | 80/100</a:t>
            </a:r>
          </a:p>
          <a:p>
            <a:r>
              <a:t>OpenAI Vision | vision / ok | inconclusive | 45/100</a:t>
            </a:r>
          </a:p>
          <a:p>
            <a:r>
              <a:t>Gemini Vision | vision / ok | synthetic likely | 68/100</a:t>
            </a:r>
          </a:p>
          <a:p>
            <a:r>
              <a:t>C2PA Content Credentials | provenance / ok | inconclusive | n/a</a:t>
            </a:r>
          </a:p>
          <a:p>
            <a:r>
              <a:t>Local forensic cues | forensic / ok | partially synthetic | 41/100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Provider evidence / 1</a:t>
            </a:r>
          </a:p>
          <a:p>
            <a:r>
              <a:t>Provider | Claude Vision</a:t>
            </a:r>
          </a:p>
          <a:p>
            <a:r>
              <a:t>Model | claude-opus-5-5</a:t>
            </a:r>
          </a:p>
          <a:p>
            <a:r>
              <a:t>Status | ok</a:t>
            </a:r>
          </a:p>
          <a:p>
            <a:r>
              <a:t>Assessment | synthetic likely</a:t>
            </a:r>
          </a:p>
          <a:p>
            <a:r>
              <a:t>Confidence | medium</a:t>
            </a:r>
          </a:p>
          <a:p>
            <a:r>
              <a:t>Role in assessment | Supporting</a:t>
            </a:r>
          </a:p>
          <a:p>
            <a:r>
              <a:t>Provider summary | synthetic likelihood 80/100; tells: uniform soft airbrushed painterly shading across all elements, typical of current image-generation models, whole composite (portrait, anatomy, inset, icons, typography) rendered in one seamless style rather than assembled from separate assets, anatomically loose vasculature: arteries drawn over the brain surface and an idealized carotid path from neck to cortex, generic glowing highlights (red cortical hotspot, yellow injection-site glow) used as stylized emphasis</a:t>
            </a:r>
          </a:p>
          <a:p>
            <a:r>
              <a:t>Evidence 1 | Uniform soft airbrushed painterly shading across all elements, typical of current image-generation models</a:t>
            </a:r>
          </a:p>
          <a:p>
            <a:r>
              <a:t>Evidence 2 | Whole composite (portrait, anatomy, inset, icons, typography) rendered in one seamless style rather than assembled from separate assets</a:t>
            </a:r>
          </a:p>
          <a:p>
            <a:r>
              <a:t>Evidence 3 | Anatomically loose vasculature: arteries drawn over the brain surface and an idealized carotid path from neck to cortex</a:t>
            </a:r>
          </a:p>
          <a:p>
            <a:r>
              <a:t>Evidence 4 | Generic glowing highlights (red cortical hotspot, yellow injection-site glow) used as stylized emphasis</a:t>
            </a:r>
          </a:p>
          <a:p>
            <a:r>
              <a:t>Evidence 5 | Repetitive near-identical lipid-nanoparticle and red blood cell motifs with slight random variation</a:t>
            </a:r>
          </a:p>
          <a:p>
            <a:r>
              <a:t>Evidence 6 | Clean but slightly generic serif typography and masthead ('Biomedical Signals'), consistent with high-fidelity text rendering in recent generators</a:t>
            </a:r>
          </a:p>
          <a:p>
            <a:r>
              <a:t>Evidence 7 | No camera-origin signals (no sensor noise, lens blur, or optical depth of field); content is digital illustration throughout</a:t>
            </a:r>
          </a:p>
          <a:p>
            <a:r>
              <a:t>Evidence 8 | Gloved hand and syringe are plausible but smoothly idealized, with simplified plunger and needle detail</a:t>
            </a:r>
          </a:p>
          <a:p>
            <a:r>
              <a:t>Evidence 9 | Caveat: This is an illustration, not a photo, so camera-forensic cues do not apply. Skilled human illustrators using digital airbrush styles can produce similar output. Check for C2PA/metadata, reverse-image search, and verify whether 'Biomedical Signals' is a real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Provider evidence / 1</a:t>
            </a:r>
          </a:p>
          <a:p>
            <a:r>
              <a:t>Provider | Claude Vision</a:t>
            </a:r>
          </a:p>
          <a:p>
            <a:r>
              <a:t>Model | claude-opus-5-5</a:t>
            </a:r>
          </a:p>
          <a:p>
            <a:r>
              <a:t>Status | ok</a:t>
            </a:r>
          </a:p>
          <a:p>
            <a:r>
              <a:t>Assessment | synthetic likely</a:t>
            </a:r>
          </a:p>
          <a:p>
            <a:r>
              <a:t>Confidence | medium</a:t>
            </a:r>
          </a:p>
          <a:p>
            <a:r>
              <a:t>Role in assessment | Supporting</a:t>
            </a:r>
          </a:p>
          <a:p>
            <a:r>
              <a:t>Provider summary | synthetic likelihood 80/100; tells: uniform soft airbrushed painterly shading across all elements, typical of current image-generation models, whole composite (portrait, anatomy, inset, icons, typography) rendered in one seamless style rather than assembled from separate assets, anatomically loose vasculature: arteries drawn over the brain surface and an idealized carotid path from neck to cortex, generic glowing highlights (red cortical hotspot, yellow injection-site glow) used as stylized emphasis</a:t>
            </a:r>
          </a:p>
          <a:p>
            <a:r>
              <a:t>Evidence 1 | Uniform soft airbrushed painterly shading across all elements, typical of current image-generation models</a:t>
            </a:r>
          </a:p>
          <a:p>
            <a:r>
              <a:t>Evidence 2 | Whole composite (portrait, anatomy, inset, icons, typography) rendered in one seamless style rather than assembled from separate assets</a:t>
            </a:r>
          </a:p>
          <a:p>
            <a:r>
              <a:t>Evidence 3 | Anatomically loose vasculature: arteries drawn over the brain surface and an idealized carotid path from neck to cortex</a:t>
            </a:r>
          </a:p>
          <a:p>
            <a:r>
              <a:t>Evidence 4 | Generic glowing highlights (red cortical hotspot, yellow injection-site glow) used as stylized emphasis</a:t>
            </a:r>
          </a:p>
          <a:p>
            <a:r>
              <a:t>Evidence 5 | Repetitive near-identical lipid-nanoparticle and red blood cell motifs with slight random variation</a:t>
            </a:r>
          </a:p>
          <a:p>
            <a:r>
              <a:t>Evidence 6 | Clean but slightly generic serif typography and masthead ('Biomedical Signals'), consistent with high-fidelity text rendering in recent generators</a:t>
            </a:r>
          </a:p>
          <a:p>
            <a:r>
              <a:t>Evidence 7 | No camera-origin signals (no sensor noise, lens blur, or optical depth of field); content is digital illustration throughout</a:t>
            </a:r>
          </a:p>
          <a:p>
            <a:r>
              <a:t>Evidence 8 | Gloved hand and syringe are plausible but smoothly idealized, with simplified plunger and needle detail</a:t>
            </a:r>
          </a:p>
          <a:p>
            <a:r>
              <a:t>Evidence 9 | Caveat: This is an illustration, not a photo, so camera-forensic cues do not apply. Skilled human illustrators using digital airbrush styles can produce similar output. Check for C2PA/metadata, reverse-image search, and verify whether 'Biomedical Signals' is a real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Provider evidence / 1</a:t>
            </a:r>
          </a:p>
          <a:p>
            <a:r>
              <a:t>Provider | Claude Vision</a:t>
            </a:r>
          </a:p>
          <a:p>
            <a:r>
              <a:t>Model | claude-opus-5-5</a:t>
            </a:r>
          </a:p>
          <a:p>
            <a:r>
              <a:t>Status | ok</a:t>
            </a:r>
          </a:p>
          <a:p>
            <a:r>
              <a:t>Assessment | synthetic likely</a:t>
            </a:r>
          </a:p>
          <a:p>
            <a:r>
              <a:t>Confidence | medium</a:t>
            </a:r>
          </a:p>
          <a:p>
            <a:r>
              <a:t>Role in assessment | Supporting</a:t>
            </a:r>
          </a:p>
          <a:p>
            <a:r>
              <a:t>Provider summary | synthetic likelihood 80/100; tells: uniform soft airbrushed painterly shading across all elements, typical of current image-generation models, whole composite (portrait, anatomy, inset, icons, typography) rendered in one seamless style rather than assembled from separate assets, anatomically loose vasculature: arteries drawn over the brain surface and an idealized carotid path from neck to cortex, generic glowing highlights (red cortical hotspot, yellow injection-site glow) used as stylized emphasis</a:t>
            </a:r>
          </a:p>
          <a:p>
            <a:r>
              <a:t>Evidence 1 | Uniform soft airbrushed painterly shading across all elements, typical of current image-generation models</a:t>
            </a:r>
          </a:p>
          <a:p>
            <a:r>
              <a:t>Evidence 2 | Whole composite (portrait, anatomy, inset, icons, typography) rendered in one seamless style rather than assembled from separate assets</a:t>
            </a:r>
          </a:p>
          <a:p>
            <a:r>
              <a:t>Evidence 3 | Anatomically loose vasculature: arteries drawn over the brain surface and an idealized carotid path from neck to cortex</a:t>
            </a:r>
          </a:p>
          <a:p>
            <a:r>
              <a:t>Evidence 4 | Generic glowing highlights (red cortical hotspot, yellow injection-site glow) used as stylized emphasis</a:t>
            </a:r>
          </a:p>
          <a:p>
            <a:r>
              <a:t>Evidence 5 | Repetitive near-identical lipid-nanoparticle and red blood cell motifs with slight random variation</a:t>
            </a:r>
          </a:p>
          <a:p>
            <a:r>
              <a:t>Evidence 6 | Clean but slightly generic serif typography and masthead ('Biomedical Signals'), consistent with high-fidelity text rendering in recent generators</a:t>
            </a:r>
          </a:p>
          <a:p>
            <a:r>
              <a:t>Evidence 7 | No camera-origin signals (no sensor noise, lens blur, or optical depth of field); content is digital illustration throughout</a:t>
            </a:r>
          </a:p>
          <a:p>
            <a:r>
              <a:t>Evidence 8 | Gloved hand and syringe are plausible but smoothly idealized, with simplified plunger and needle detail</a:t>
            </a:r>
          </a:p>
          <a:p>
            <a:r>
              <a:t>Evidence 9 | Caveat: This is an illustration, not a photo, so camera-forensic cues do not apply. Skilled human illustrators using digital airbrush styles can produce similar output. Check for C2PA/metadata, reverse-image search, and verify whether 'Biomedical Signals' is a real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Provider evidence / 2</a:t>
            </a:r>
          </a:p>
          <a:p>
            <a:r>
              <a:t>Provider | OpenAI Vision</a:t>
            </a:r>
          </a:p>
          <a:p>
            <a:r>
              <a:t>Model | gpt-6-astra</a:t>
            </a:r>
          </a:p>
          <a:p>
            <a:r>
              <a:t>Status | ok</a:t>
            </a:r>
          </a:p>
          <a:p>
            <a:r>
              <a:t>Assessment | inconclusive</a:t>
            </a:r>
          </a:p>
          <a:p>
            <a:r>
              <a:t>Confidence | low</a:t>
            </a:r>
          </a:p>
          <a:p>
            <a:r>
              <a:t>Role in assessment | Additional finding</a:t>
            </a:r>
          </a:p>
          <a:p>
            <a:r>
              <a:t>Provider summary | synthetic likelihood 45/100; tells: Entire image is a medical illustration, with no camera-photo base visible., Headings and labels are legible, with consistent serif typography and aligned layout., Anatomy and cellular elements use smooth shaded fills and clean outlines compatible with conventional digital illustration., Repeated particle motifs have variable internal squiggles, but no decisive generation artifact is visible.</a:t>
            </a:r>
          </a:p>
          <a:p>
            <a:r>
              <a:t>Evidence 1 | Entire image is a medical illustration, with no camera-photo base visible.</a:t>
            </a:r>
          </a:p>
          <a:p>
            <a:r>
              <a:t>Evidence 2 | Headings and labels are legible, with consistent serif typography and aligned layout.</a:t>
            </a:r>
          </a:p>
          <a:p>
            <a:r>
              <a:t>Evidence 3 | Anatomy and cellular elements use smooth shaded fills and clean outlines compatible with conventional digital illustration.</a:t>
            </a:r>
          </a:p>
          <a:p>
            <a:r>
              <a:t>Evidence 4 | Repeated particle motifs have variable internal squiggles, but no decisive generation artifact is visible.</a:t>
            </a:r>
          </a:p>
          <a:p>
            <a:r>
              <a:t>Evidence 5 | Caveat: Conventional digital artwork and AI-assisted illustration can look alike; source files and provenance are needed to distinguish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Provider evidence / 2</a:t>
            </a:r>
          </a:p>
          <a:p>
            <a:r>
              <a:t>Provider | OpenAI Vision</a:t>
            </a:r>
          </a:p>
          <a:p>
            <a:r>
              <a:t>Model | gpt-6-astra</a:t>
            </a:r>
          </a:p>
          <a:p>
            <a:r>
              <a:t>Status | ok</a:t>
            </a:r>
          </a:p>
          <a:p>
            <a:r>
              <a:t>Assessment | inconclusive</a:t>
            </a:r>
          </a:p>
          <a:p>
            <a:r>
              <a:t>Confidence | low</a:t>
            </a:r>
          </a:p>
          <a:p>
            <a:r>
              <a:t>Role in assessment | Additional finding</a:t>
            </a:r>
          </a:p>
          <a:p>
            <a:r>
              <a:t>Provider summary | synthetic likelihood 45/100; tells: Entire image is a medical illustration, with no camera-photo base visible., Headings and labels are legible, with consistent serif typography and aligned layout., Anatomy and cellular elements use smooth shaded fills and clean outlines compatible with conventional digital illustration., Repeated particle motifs have variable internal squiggles, but no decisive generation artifact is visible.</a:t>
            </a:r>
          </a:p>
          <a:p>
            <a:r>
              <a:t>Evidence 1 | Entire image is a medical illustration, with no camera-photo base visible.</a:t>
            </a:r>
          </a:p>
          <a:p>
            <a:r>
              <a:t>Evidence 2 | Headings and labels are legible, with consistent serif typography and aligned layout.</a:t>
            </a:r>
          </a:p>
          <a:p>
            <a:r>
              <a:t>Evidence 3 | Anatomy and cellular elements use smooth shaded fills and clean outlines compatible with conventional digital illustration.</a:t>
            </a:r>
          </a:p>
          <a:p>
            <a:r>
              <a:t>Evidence 4 | Repeated particle motifs have variable internal squiggles, but no decisive generation artifact is visible.</a:t>
            </a:r>
          </a:p>
          <a:p>
            <a:r>
              <a:t>Evidence 5 | Caveat: Conventional digital artwork and AI-assisted illustration can look alike; source files and provenance are needed to distinguish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Provider evidence / 3</a:t>
            </a:r>
          </a:p>
          <a:p>
            <a:r>
              <a:t>Provider | Gemini Vision</a:t>
            </a:r>
          </a:p>
          <a:p>
            <a:r>
              <a:t>Model | gemini-3.8-flash</a:t>
            </a:r>
          </a:p>
          <a:p>
            <a:r>
              <a:t>Status | ok</a:t>
            </a:r>
          </a:p>
          <a:p>
            <a:r>
              <a:t>Assessment | synthetic likely</a:t>
            </a:r>
          </a:p>
          <a:p>
            <a:r>
              <a:t>Confidence | medium</a:t>
            </a:r>
          </a:p>
          <a:p>
            <a:r>
              <a:t>Role in assessment | Supporting</a:t>
            </a:r>
          </a:p>
          <a:p>
            <a:r>
              <a:t>Provider summary | synthetic likelihood 68/100; tells: model read this as AI editing over a photographic base image, sterile digital rendering style, slightly inconsistent anatomical blending in syringe and hand, typical AI-generated vector/digital medical illustration texture</a:t>
            </a:r>
          </a:p>
          <a:p>
            <a:r>
              <a:t>Evidence 1 | Model read this as AI editing over a photographic base image</a:t>
            </a:r>
          </a:p>
          <a:p>
            <a:r>
              <a:t>Evidence 2 | Sterile digital rendering style</a:t>
            </a:r>
          </a:p>
          <a:p>
            <a:r>
              <a:t>Evidence 3 | Slightly inconsistent anatomical blending in syringe and hand</a:t>
            </a:r>
          </a:p>
          <a:p>
            <a:r>
              <a:t>Evidence 4 | Typical AI-generated vector/digital medical illustration texture</a:t>
            </a:r>
          </a:p>
          <a:p>
            <a:r>
              <a:t>Evidence 5 | Clean modern typography composited over generated artwork</a:t>
            </a:r>
          </a:p>
          <a:p>
            <a:r>
              <a:t>Evidence 6 | Caveat: High-quality human digital medical illustrators use similar styles, making definitive technical separation difficult without source files.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Provider evidence / 3</a:t>
            </a:r>
          </a:p>
          <a:p>
            <a:r>
              <a:t>Provider | Gemini Vision</a:t>
            </a:r>
          </a:p>
          <a:p>
            <a:r>
              <a:t>Model | gemini-3.8-flash</a:t>
            </a:r>
          </a:p>
          <a:p>
            <a:r>
              <a:t>Status | ok</a:t>
            </a:r>
          </a:p>
          <a:p>
            <a:r>
              <a:t>Assessment | synthetic likely</a:t>
            </a:r>
          </a:p>
          <a:p>
            <a:r>
              <a:t>Confidence | medium</a:t>
            </a:r>
          </a:p>
          <a:p>
            <a:r>
              <a:t>Role in assessment | Supporting</a:t>
            </a:r>
          </a:p>
          <a:p>
            <a:r>
              <a:t>Provider summary | synthetic likelihood 68/100; tells: model read this as AI editing over a photographic base image, sterile digital rendering style, slightly inconsistent anatomical blending in syringe and hand, typical AI-generated vector/digital medical illustration texture</a:t>
            </a:r>
          </a:p>
          <a:p>
            <a:r>
              <a:t>Evidence 1 | Model read this as AI editing over a photographic base image</a:t>
            </a:r>
          </a:p>
          <a:p>
            <a:r>
              <a:t>Evidence 2 | Sterile digital rendering style</a:t>
            </a:r>
          </a:p>
          <a:p>
            <a:r>
              <a:t>Evidence 3 | Slightly inconsistent anatomical blending in syringe and hand</a:t>
            </a:r>
          </a:p>
          <a:p>
            <a:r>
              <a:t>Evidence 4 | Typical AI-generated vector/digital medical illustration texture</a:t>
            </a:r>
          </a:p>
          <a:p>
            <a:r>
              <a:t>Evidence 5 | Clean modern typography composited over generated artwork</a:t>
            </a:r>
          </a:p>
          <a:p>
            <a:r>
              <a:t>Evidence 6 | Caveat: High-quality human digital medical illustrators use similar styles, making definitive technical separation difficult without source files.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Embedded credentials: none found. Origin remains unresolved by this check.</a:t>
            </a:r>
          </a:p>
          <a:p>
            <a:r>
              <a:t>Evidence 1 | Coverage: credentials embedded in the submitted file. External credentials were not retrieved.</a:t>
            </a:r>
          </a:p>
          <a:p>
            <a:r>
              <a:t>Evidence 2 | Verifier: c2pa-python 0.37.12; native SDK 0.91.0; specification target 2.4; policy embedded-offline-reviewed-trust-v3.</a:t>
            </a:r>
          </a:p>
          <a:p>
            <a:r>
              <a:t>Evidence 3 | Offline embedded-manifest verification; no network trust-list, manifest or revocation refresh.</a:t>
            </a:r>
          </a:p>
          <a:p>
            <a:r>
              <a:t>Evidence 4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Embedded credentials: none found. Origin remains unresolved by this check.</a:t>
            </a:r>
          </a:p>
          <a:p>
            <a:r>
              <a:t>Evidence 1 | Coverage: credentials embedded in the submitted file. External credentials were not retrieved.</a:t>
            </a:r>
          </a:p>
          <a:p>
            <a:r>
              <a:t>Evidence 2 | Verifier: c2pa-python 0.37.12; native SDK 0.91.0; specification target 2.4; policy embedded-offline-reviewed-trust-v3.</a:t>
            </a:r>
          </a:p>
          <a:p>
            <a:r>
              <a:t>Evidence 3 | Offline embedded-manifest verification; no network trust-list, manifest or revocation refresh.</a:t>
            </a:r>
          </a:p>
          <a:p>
            <a:r>
              <a:t>Evidence 4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Provider evidence / 5</a:t>
            </a:r>
          </a:p>
          <a:p>
            <a:r>
              <a:t>Provider | Local forensic cues</a:t>
            </a:r>
          </a:p>
          <a:p>
            <a:r>
              <a:t>Model | Not recorded</a:t>
            </a:r>
          </a:p>
          <a:p>
            <a:r>
              <a:t>Status | ok</a:t>
            </a:r>
          </a:p>
          <a:p>
            <a:r>
              <a:t>Assessment | partially synthetic</a:t>
            </a:r>
          </a:p>
          <a:p>
            <a:r>
              <a:t>Confidence | low</a:t>
            </a:r>
          </a:p>
          <a:p>
            <a:r>
              <a:t>Role in assessment | Additional finding</a:t>
            </a:r>
          </a:p>
          <a:p>
            <a:r>
              <a:t>Provider summary | Heuristic synthetic likelihood 41/100 from metadata + pixel statistics.</a:t>
            </a:r>
          </a:p>
          <a:p>
            <a:r>
              <a:t>Evidence 1 | No camera EXIF (common in AI exports, screenshots, and re-saves).</a:t>
            </a:r>
          </a:p>
          <a:p>
            <a:r>
              <a:t>Evidence 2 | ELA mean 1.8, peak 62 (uniform high ELA can indicate generation/heavy edit).</a:t>
            </a:r>
          </a:p>
          <a:p>
            <a:r>
              <a:t>Evidence 3 | High-frequency noise std 11.38 (very low/very uniform noise is a synthesis cue).</a:t>
            </a:r>
          </a:p>
          <a:p>
            <a:r>
              <a:t>Evidence 4 | Spectral peakiness 19.81 (periodic frequency peaks can mark generated textures).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Evidence supporting this verdict</a:t>
            </a:r>
          </a:p>
          <a:p>
            <a:r>
              <a:t>Claude Vision | synthetic likelihood 80/100; tells: uniform soft airbrushed painterly shading across all elements, typical of current image-generation models, whole composite (portrait, anatomy, inset, icons, typography) rendered in one seamless style rather than assembled from separate assets, anatomically loose vasculature: arteries drawn over the brain surface and an idealized carotid path from neck to cortex, generic glowing highlights (red cortical hotspot, yellow injection-site glow) used as stylized emphasis</a:t>
            </a:r>
          </a:p>
          <a:p>
            <a:r>
              <a:t>Gemini Vision | synthetic likelihood 68/100; tells: model read this as AI editing over a photographic base image, sterile digital rendering style, slightly inconsistent anatomical blending in syringe and hand, typical AI-generated vector/digital medical illustration texture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Additional findings</a:t>
            </a:r>
          </a:p>
          <a:p>
            <a:r>
              <a:t>OpenAI Vision | synthetic likelihood 45/100; tells: Entire image is a medical illustration, with no camera-photo base visible., Headings and labels are legible, with consistent serif typography and aligned layout., Anatomy and cellular elements use smooth shaded fills and clean outlines compatible with conventional digital illustration., Repeated particle motifs have variable internal squiggles, but no decisive generation artifact is visible.</a:t>
            </a:r>
          </a:p>
          <a:p>
            <a:r>
              <a:t>Local forensic cues | Supporting observation; considered alongside the model assessments.</a:t>
            </a:r>
          </a:p>
          <a:p>
            <a:r>
              <a:t>C2PA Content Credentials | Embedded credentials: none found. Origin remains unresolved by this check.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Visible text</a:t>
            </a:r>
          </a:p>
          <a:p>
            <a:r>
              <a:t>Recorded text | Biomedical Signals • Research Commentary • 2025 | mRNA Vaccination and the Brain: A Proposed Pathway | CAN PARTICLES CROSS THE BLOOD–BRAIN BARRIER? | Brain | Bloodstream | Suggested outcomes | Inflammation | Brain fog | Memory changes | Figure 1. Hypothetical pathway illustrated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How this assessment was reached</a:t>
            </a:r>
          </a:p>
          <a:p>
            <a:r>
              <a:t>1. override | outcome=none; detail=No confirmed C2PA AI assertion or SynthID watermark. Origin remains unresolved by these checks.</a:t>
            </a:r>
          </a:p>
          <a:p>
            <a:r>
              <a:t>2. model_agreement | synthetic=['Claude Vision', 'Gemini Vision']; authentic=[]; uncertain=['OpenAI Vision']; forensic_supports_synthetic=False</a:t>
            </a:r>
          </a:p>
          <a:p>
            <a:r>
              <a:t>3. verdict | value=synthetic_likely; confidence=medium; reason=2 models agree this is likely synthetic.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journal-diagram.png</a:t>
            </a:r>
          </a:p>
          <a:p>
            <a:r>
              <a:t>File and analysis record</a:t>
            </a:r>
          </a:p>
          <a:p>
            <a:r>
              <a:t>File | journal-diagram.png</a:t>
            </a:r>
          </a:p>
          <a:p>
            <a:r>
              <a:t>Analysis ID | 8faa3dd9-dfff-476f-a33e-cd661e1e6f35</a:t>
            </a:r>
          </a:p>
          <a:p>
            <a:r>
              <a:t>Generated | 2026-09-26T22:31:05+00:00</a:t>
            </a:r>
          </a:p>
          <a:p>
            <a:r>
              <a:t>Tool | SDA Vision 0.1.0</a:t>
            </a:r>
          </a:p>
          <a:p>
            <a:r>
              <a:t>Models | claude-opus-5-5, gemini-3.8-flash, gpt-6-astra</a:t>
            </a:r>
          </a:p>
          <a:p>
            <a:r>
              <a:t>Method version | pdf-preparation-2026-09-26.1</a:t>
            </a:r>
          </a:p>
          <a:p>
            <a:r>
              <a:t>Analysis lens | general</a:t>
            </a:r>
          </a:p>
          <a:p>
            <a:r>
              <a:t>Original SHA-256 | c9a680547869618d7c63648d317b1f27c03ede59d5113a7cd6818f5ce2bd654e</a:t>
            </a:r>
          </a:p>
          <a:p>
            <a:r>
              <a:t>Ingestion note 1 | Fresh provider replies acquired for eleven-examples-refresh-20260926-r1; report assembled locally from the saved responses without further API calls.</a:t>
            </a:r>
          </a:p>
          <a:p>
            <a:r>
              <a:t>Ingestion note 2 | Provider latency values are restored from the acquisition receipts (maximum sampled-frame latency per provider); raw replies and assessment results are unchanged by this bookkeeping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Analysed item</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a:t>
            </a:r>
          </a:p>
        </p:txBody>
      </p:sp>
      <p:pic>
        <p:nvPicPr>
          <p:cNvPr id="6" name="Picture 5" descr="image.jpg"/>
          <p:cNvPicPr>
            <a:picLocks noChangeAspect="1"/>
          </p:cNvPicPr>
          <p:nvPr/>
        </p:nvPicPr>
        <p:blipFill>
          <a:blip r:embed="rId3"/>
          <a:stretch>
            <a:fillRect/>
          </a:stretch>
        </p:blipFill>
        <p:spPr>
          <a:xfrm>
            <a:off x="2514600" y="1353312"/>
            <a:ext cx="4114800" cy="4114800"/>
          </a:xfrm>
          <a:prstGeom prst="rect">
            <a:avLst/>
          </a:prstGeom>
        </p:spPr>
      </p:pic>
      <p:sp>
        <p:nvSpPr>
          <p:cNvPr id="7" name="TextBox 6"/>
          <p:cNvSpPr txBox="1"/>
          <p:nvPr/>
        </p:nvSpPr>
        <p:spPr>
          <a:xfrm>
            <a:off x="365760" y="5532120"/>
            <a:ext cx="8412480" cy="594360"/>
          </a:xfrm>
          <a:prstGeom prst="rect">
            <a:avLst/>
          </a:prstGeom>
          <a:noFill/>
        </p:spPr>
        <p:txBody>
          <a:bodyPr wrap="square" lIns="0" rIns="0" tIns="0" bIns="0">
            <a:spAutoFit/>
          </a:bodyPr>
          <a:lstStyle/>
          <a:p>
            <a:pPr>
              <a:lnSpc>
                <a:spcPct val="115000"/>
              </a:lnSpc>
              <a:spcAft>
                <a:spcPts val="0"/>
              </a:spcAft>
              <a:defRPr sz="1100" b="0">
                <a:solidFill>
                  <a:srgbClr val="21243A"/>
                </a:solidFill>
                <a:latin typeface="Arial"/>
              </a:defRPr>
            </a:pPr>
            <a:r>
              <a:t>journal-diagram.png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Assessment summary</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Finding</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Leaning synthetic</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Recorded verdict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Indicative rating</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68/100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Rating basis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median of available model ratings; not a calibrated probability</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Explanation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2 models agree this is likely synthetic.</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Coverage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image - 1 frame(s) analysed</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Review context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Research assessment. Review alongside source information and context. When</a:t>
                      </a:r>
                    </a:p>
                    <a:p>
                      <a:pPr>
                        <a:lnSpc>
                          <a:spcPts val="1600"/>
                        </a:lnSpc>
                        <a:spcAft>
                          <a:spcPts val="0"/>
                        </a:spcAft>
                        <a:defRPr sz="1200" b="0">
                          <a:solidFill>
                            <a:srgbClr val="21243A"/>
                          </a:solidFill>
                          <a:latin typeface="Arial"/>
                        </a:defRPr>
                      </a:pPr>
                      <a:r>
                        <a:t>credentials are missing, origin remains unresolved by this check. Use these</a:t>
                      </a:r>
                    </a:p>
                    <a:p>
                      <a:pPr>
                        <a:lnSpc>
                          <a:spcPts val="1600"/>
                        </a:lnSpc>
                        <a:spcAft>
                          <a:spcPts val="0"/>
                        </a:spcAft>
                        <a:defRPr sz="1200" b="0">
                          <a:solidFill>
                            <a:srgbClr val="21243A"/>
                          </a:solidFill>
                          <a:latin typeface="Arial"/>
                        </a:defRPr>
                      </a:pPr>
                      <a:r>
                        <a:t>findings to inform a documented human review.</a:t>
                      </a:r>
                    </a:p>
                  </a:txBody>
                  <a:tcPr marL="82296" marR="82296" marT="64008" marB="6400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overview</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3</a:t>
            </a:r>
          </a:p>
        </p:txBody>
      </p:sp>
      <p:graphicFrame>
        <p:nvGraphicFramePr>
          <p:cNvPr id="6" name="Table 5"/>
          <p:cNvGraphicFramePr>
            <a:graphicFrameLocks noGrp="1"/>
          </p:cNvGraphicFramePr>
          <p:nvPr/>
        </p:nvGraphicFramePr>
        <p:xfrm>
          <a:off x="365760" y="1353312"/>
          <a:ext cx="8412478" cy="347472"/>
        </p:xfrm>
        <a:graphic>
          <a:graphicData uri="http://schemas.openxmlformats.org/drawingml/2006/table">
            <a:tbl>
              <a:tblPr firstRow="1" bandRow="1">
                <a:tableStyleId>{5C22544A-7EE6-4342-B048-85BDC9FD1C3A}</a:tableStyleId>
              </a:tblPr>
              <a:tblGrid>
                <a:gridCol w="2691993"/>
                <a:gridCol w="1850745"/>
                <a:gridCol w="2523744"/>
                <a:gridCol w="1345996"/>
              </a:tblGrid>
              <a:tr h="347472">
                <a:tc>
                  <a:txBody>
                    <a:bodyPr wrap="none"/>
                    <a:lstStyle/>
                    <a:p>
                      <a:pPr>
                        <a:lnSpc>
                          <a:spcPts val="1600"/>
                        </a:lnSpc>
                        <a:spcAft>
                          <a:spcPts val="0"/>
                        </a:spcAft>
                        <a:defRPr sz="1200" b="1">
                          <a:solidFill>
                            <a:srgbClr val="FFFFFF"/>
                          </a:solidFill>
                          <a:latin typeface="Arial"/>
                        </a:defRPr>
                      </a:pPr>
                      <a:r>
                        <a:t>Provider</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Type / status</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Assessment</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Rating</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80/100</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45/100</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68/100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provenance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n/a</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forensic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41/100</a:t>
                      </a:r>
                    </a:p>
                  </a:txBody>
                  <a:tcPr marL="82296" marR="82296" marT="64008" marB="64008">
                    <a:solidFill>
                      <a:srgbClr val="F1F7F7"/>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claude-opus-5-5</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568704"/>
        </p:xfrm>
        <a:graphic>
          <a:graphicData uri="http://schemas.openxmlformats.org/drawingml/2006/table">
            <a:tbl>
              <a:tblPr firstRow="1" bandRow="1">
                <a:tableStyleId>{5C22544A-7EE6-4342-B048-85BDC9FD1C3A}</a:tableStyleId>
              </a:tblPr>
              <a:tblGrid>
                <a:gridCol w="2271369"/>
                <a:gridCol w="6141110"/>
              </a:tblGrid>
              <a:tr h="15687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80/100; tells: uniform soft airbrushed painterly shading across</a:t>
                      </a:r>
                    </a:p>
                    <a:p>
                      <a:pPr>
                        <a:lnSpc>
                          <a:spcPts val="1600"/>
                        </a:lnSpc>
                        <a:spcAft>
                          <a:spcPts val="0"/>
                        </a:spcAft>
                        <a:defRPr sz="1200" b="0">
                          <a:solidFill>
                            <a:srgbClr val="21243A"/>
                          </a:solidFill>
                          <a:latin typeface="Arial"/>
                        </a:defRPr>
                      </a:pPr>
                      <a:r>
                        <a:t>all elements, typical of current image-generation models, whole composite</a:t>
                      </a:r>
                    </a:p>
                    <a:p>
                      <a:pPr>
                        <a:lnSpc>
                          <a:spcPts val="1600"/>
                        </a:lnSpc>
                        <a:spcAft>
                          <a:spcPts val="0"/>
                        </a:spcAft>
                        <a:defRPr sz="1200" b="0">
                          <a:solidFill>
                            <a:srgbClr val="21243A"/>
                          </a:solidFill>
                          <a:latin typeface="Arial"/>
                        </a:defRPr>
                      </a:pPr>
                      <a:r>
                        <a:t>(portrait, anatomy, inset, icons, typography) rendered in one seamless style rather</a:t>
                      </a:r>
                    </a:p>
                    <a:p>
                      <a:pPr>
                        <a:lnSpc>
                          <a:spcPts val="1600"/>
                        </a:lnSpc>
                        <a:spcAft>
                          <a:spcPts val="0"/>
                        </a:spcAft>
                        <a:defRPr sz="1200" b="0">
                          <a:solidFill>
                            <a:srgbClr val="21243A"/>
                          </a:solidFill>
                          <a:latin typeface="Arial"/>
                        </a:defRPr>
                      </a:pPr>
                      <a:r>
                        <a:t>than assembled from separate assets, anatomically loose vasculature: arteries</a:t>
                      </a:r>
                    </a:p>
                    <a:p>
                      <a:pPr>
                        <a:lnSpc>
                          <a:spcPts val="1600"/>
                        </a:lnSpc>
                        <a:spcAft>
                          <a:spcPts val="0"/>
                        </a:spcAft>
                        <a:defRPr sz="1200" b="0">
                          <a:solidFill>
                            <a:srgbClr val="21243A"/>
                          </a:solidFill>
                          <a:latin typeface="Arial"/>
                        </a:defRPr>
                      </a:pPr>
                      <a:r>
                        <a:t>drawn over the brain surface and an idealized carotid path from neck to cortex,</a:t>
                      </a:r>
                    </a:p>
                    <a:p>
                      <a:pPr>
                        <a:lnSpc>
                          <a:spcPts val="1600"/>
                        </a:lnSpc>
                        <a:spcAft>
                          <a:spcPts val="0"/>
                        </a:spcAft>
                        <a:defRPr sz="1200" b="0">
                          <a:solidFill>
                            <a:srgbClr val="21243A"/>
                          </a:solidFill>
                          <a:latin typeface="Arial"/>
                        </a:defRPr>
                      </a:pPr>
                      <a:r>
                        <a:t>generic glowing highlights (red cortical hotspot, yellow injection-site glow) used as</a:t>
                      </a:r>
                    </a:p>
                    <a:p>
                      <a:pPr>
                        <a:lnSpc>
                          <a:spcPts val="1600"/>
                        </a:lnSpc>
                        <a:spcAft>
                          <a:spcPts val="0"/>
                        </a:spcAft>
                        <a:defRPr sz="1200" b="0">
                          <a:solidFill>
                            <a:srgbClr val="21243A"/>
                          </a:solidFill>
                          <a:latin typeface="Arial"/>
                        </a:defRPr>
                      </a:pPr>
                      <a:r>
                        <a:t>stylized emphasis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53665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Uniform soft airbrushed painterly shading across all elements, typical of current</a:t>
                      </a:r>
                    </a:p>
                    <a:p>
                      <a:pPr>
                        <a:lnSpc>
                          <a:spcPts val="1600"/>
                        </a:lnSpc>
                        <a:spcAft>
                          <a:spcPts val="0"/>
                        </a:spcAft>
                        <a:defRPr sz="1200" b="0">
                          <a:solidFill>
                            <a:srgbClr val="21243A"/>
                          </a:solidFill>
                          <a:latin typeface="Arial"/>
                        </a:defRPr>
                      </a:pPr>
                      <a:r>
                        <a:t>image-generation models</a:t>
                      </a:r>
                    </a:p>
                  </a:txBody>
                  <a:tcPr marL="82296" marR="82296" marT="64008" marB="64008">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Whole composite (portrait, anatomy, inset, icons, typography) rendered in one</a:t>
                      </a:r>
                    </a:p>
                    <a:p>
                      <a:pPr>
                        <a:lnSpc>
                          <a:spcPts val="1600"/>
                        </a:lnSpc>
                        <a:spcAft>
                          <a:spcPts val="0"/>
                        </a:spcAft>
                        <a:defRPr sz="1200" b="0">
                          <a:solidFill>
                            <a:srgbClr val="21243A"/>
                          </a:solidFill>
                          <a:latin typeface="Arial"/>
                        </a:defRPr>
                      </a:pPr>
                      <a:r>
                        <a:t>seamless style rather than assembled from separate assets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Anatomically loose vasculature: arteries drawn over the brain surface and an</a:t>
                      </a:r>
                    </a:p>
                    <a:p>
                      <a:pPr>
                        <a:lnSpc>
                          <a:spcPts val="1600"/>
                        </a:lnSpc>
                        <a:spcAft>
                          <a:spcPts val="0"/>
                        </a:spcAft>
                        <a:defRPr sz="1200" b="0">
                          <a:solidFill>
                            <a:srgbClr val="21243A"/>
                          </a:solidFill>
                          <a:latin typeface="Arial"/>
                        </a:defRPr>
                      </a:pPr>
                      <a:r>
                        <a:t>idealized carotid path from neck to cortex</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Generic glowing highlights (red cortical hotspot, yellow injection-site glow) used</a:t>
                      </a:r>
                    </a:p>
                    <a:p>
                      <a:pPr>
                        <a:lnSpc>
                          <a:spcPts val="1600"/>
                        </a:lnSpc>
                        <a:spcAft>
                          <a:spcPts val="0"/>
                        </a:spcAft>
                        <a:defRPr sz="1200" b="0">
                          <a:solidFill>
                            <a:srgbClr val="21243A"/>
                          </a:solidFill>
                          <a:latin typeface="Arial"/>
                        </a:defRPr>
                      </a:pPr>
                      <a:r>
                        <a:t>as stylized emphasis</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33588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Repetitive near-identical lipid-nanoparticle and red blood cell motifs with slight</a:t>
                      </a:r>
                    </a:p>
                    <a:p>
                      <a:pPr>
                        <a:lnSpc>
                          <a:spcPts val="1600"/>
                        </a:lnSpc>
                        <a:spcAft>
                          <a:spcPts val="0"/>
                        </a:spcAft>
                        <a:defRPr sz="1200" b="0">
                          <a:solidFill>
                            <a:srgbClr val="21243A"/>
                          </a:solidFill>
                          <a:latin typeface="Arial"/>
                        </a:defRPr>
                      </a:pPr>
                      <a:r>
                        <a:t>random variation</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91160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Clean but slightly generic serif typography and masthead ('Biomedical Signals'),</a:t>
                      </a:r>
                    </a:p>
                    <a:p>
                      <a:pPr>
                        <a:lnSpc>
                          <a:spcPts val="1600"/>
                        </a:lnSpc>
                        <a:spcAft>
                          <a:spcPts val="0"/>
                        </a:spcAft>
                        <a:defRPr sz="1200" b="0">
                          <a:solidFill>
                            <a:srgbClr val="21243A"/>
                          </a:solidFill>
                          <a:latin typeface="Arial"/>
                        </a:defRPr>
                      </a:pPr>
                      <a:r>
                        <a:t>consistent with high-fidelity text rendering in recent generators</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446430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camera-origin signals (no sensor noise, lens blur, or optical depth of field);</a:t>
                      </a:r>
                    </a:p>
                    <a:p>
                      <a:pPr>
                        <a:lnSpc>
                          <a:spcPts val="1600"/>
                        </a:lnSpc>
                        <a:spcAft>
                          <a:spcPts val="0"/>
                        </a:spcAft>
                        <a:defRPr sz="1200" b="0">
                          <a:solidFill>
                            <a:srgbClr val="21243A"/>
                          </a:solidFill>
                          <a:latin typeface="Arial"/>
                        </a:defRPr>
                      </a:pPr>
                      <a:r>
                        <a:t>content is digital illustration throughout</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501700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Gloved hand and syringe are plausible but smoothly idealized, with simplified</a:t>
                      </a:r>
                    </a:p>
                    <a:p>
                      <a:pPr>
                        <a:lnSpc>
                          <a:spcPts val="1600"/>
                        </a:lnSpc>
                        <a:spcAft>
                          <a:spcPts val="0"/>
                        </a:spcAft>
                        <a:defRPr sz="1200" b="0">
                          <a:solidFill>
                            <a:srgbClr val="21243A"/>
                          </a:solidFill>
                          <a:latin typeface="Arial"/>
                        </a:defRPr>
                      </a:pPr>
                      <a:r>
                        <a:t>plunger and needle detail</a:t>
                      </a:r>
                    </a:p>
                  </a:txBody>
                  <a:tcPr marL="82296" marR="82296" marT="64008" marB="64008">
                    <a:solidFill>
                      <a:srgbClr val="F1F7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959103"/>
        </p:xfrm>
        <a:graphic>
          <a:graphicData uri="http://schemas.openxmlformats.org/drawingml/2006/table">
            <a:tbl>
              <a:tblPr firstRow="1" bandRow="1">
                <a:tableStyleId>{5C22544A-7EE6-4342-B048-85BDC9FD1C3A}</a:tableStyleId>
              </a:tblPr>
              <a:tblGrid>
                <a:gridCol w="2271369"/>
                <a:gridCol w="6141110"/>
              </a:tblGrid>
              <a:tr h="959103">
                <a:tc>
                  <a:txBody>
                    <a:bodyPr wrap="none"/>
                    <a:lstStyle/>
                    <a:p>
                      <a:pPr>
                        <a:lnSpc>
                          <a:spcPts val="1600"/>
                        </a:lnSpc>
                        <a:spcAft>
                          <a:spcPts val="0"/>
                        </a:spcAft>
                        <a:defRPr sz="1200" b="0">
                          <a:solidFill>
                            <a:srgbClr val="21243A"/>
                          </a:solidFill>
                          <a:latin typeface="Arial"/>
                        </a:defRPr>
                      </a:pPr>
                      <a:r>
                        <a:t>Evidence 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This is an illustration, not a photo, so camera-forensic cues do not apply.</a:t>
                      </a:r>
                    </a:p>
                    <a:p>
                      <a:pPr>
                        <a:lnSpc>
                          <a:spcPts val="1600"/>
                        </a:lnSpc>
                        <a:spcAft>
                          <a:spcPts val="0"/>
                        </a:spcAft>
                        <a:defRPr sz="1200" b="0">
                          <a:solidFill>
                            <a:srgbClr val="21243A"/>
                          </a:solidFill>
                          <a:latin typeface="Arial"/>
                        </a:defRPr>
                      </a:pPr>
                      <a:r>
                        <a:t>Skilled human illustrators using digital airbrush styles can produce similar output.</a:t>
                      </a:r>
                    </a:p>
                    <a:p>
                      <a:pPr>
                        <a:lnSpc>
                          <a:spcPts val="1600"/>
                        </a:lnSpc>
                        <a:spcAft>
                          <a:spcPts val="0"/>
                        </a:spcAft>
                        <a:defRPr sz="1200" b="0">
                          <a:solidFill>
                            <a:srgbClr val="21243A"/>
                          </a:solidFill>
                          <a:latin typeface="Arial"/>
                        </a:defRPr>
                      </a:pPr>
                      <a:r>
                        <a:t>Check for C2PA/metadata, reverse-image search, and verify whether 'Biomedical</a:t>
                      </a:r>
                    </a:p>
                    <a:p>
                      <a:pPr>
                        <a:lnSpc>
                          <a:spcPts val="1600"/>
                        </a:lnSpc>
                        <a:spcAft>
                          <a:spcPts val="0"/>
                        </a:spcAft>
                        <a:defRPr sz="1200" b="0">
                          <a:solidFill>
                            <a:srgbClr val="21243A"/>
                          </a:solidFill>
                          <a:latin typeface="Arial"/>
                        </a:defRPr>
                      </a:pPr>
                      <a:r>
                        <a:t>Signals' is a real publication.</a:t>
                      </a:r>
                    </a:p>
                  </a:txBody>
                  <a:tcPr marL="82296" marR="82296" marT="64008" marB="64008">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gpt-6-astra</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low</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45/100; tells: Entire image is a medical illustration, with no</a:t>
                      </a:r>
                    </a:p>
                    <a:p>
                      <a:pPr>
                        <a:lnSpc>
                          <a:spcPts val="1600"/>
                        </a:lnSpc>
                        <a:spcAft>
                          <a:spcPts val="0"/>
                        </a:spcAft>
                        <a:defRPr sz="1200" b="0">
                          <a:solidFill>
                            <a:srgbClr val="21243A"/>
                          </a:solidFill>
                          <a:latin typeface="Arial"/>
                        </a:defRPr>
                      </a:pPr>
                      <a:r>
                        <a:t>camera-photo base visible., Headings and labels are legible, with consistent serif</a:t>
                      </a:r>
                    </a:p>
                    <a:p>
                      <a:pPr>
                        <a:lnSpc>
                          <a:spcPts val="1600"/>
                        </a:lnSpc>
                        <a:spcAft>
                          <a:spcPts val="0"/>
                        </a:spcAft>
                        <a:defRPr sz="1200" b="0">
                          <a:solidFill>
                            <a:srgbClr val="21243A"/>
                          </a:solidFill>
                          <a:latin typeface="Arial"/>
                        </a:defRPr>
                      </a:pPr>
                      <a:r>
                        <a:t>typography and aligned layout., Anatomy and cellular elements use smooth</a:t>
                      </a:r>
                    </a:p>
                    <a:p>
                      <a:pPr>
                        <a:lnSpc>
                          <a:spcPts val="1600"/>
                        </a:lnSpc>
                        <a:spcAft>
                          <a:spcPts val="0"/>
                        </a:spcAft>
                        <a:defRPr sz="1200" b="0">
                          <a:solidFill>
                            <a:srgbClr val="21243A"/>
                          </a:solidFill>
                          <a:latin typeface="Arial"/>
                        </a:defRPr>
                      </a:pPr>
                      <a:r>
                        <a:t>shaded fills and clean outlines compatible with conventional digital illustration.,</a:t>
                      </a:r>
                    </a:p>
                    <a:p>
                      <a:pPr>
                        <a:lnSpc>
                          <a:spcPts val="1600"/>
                        </a:lnSpc>
                        <a:spcAft>
                          <a:spcPts val="0"/>
                        </a:spcAft>
                        <a:defRPr sz="1200" b="0">
                          <a:solidFill>
                            <a:srgbClr val="21243A"/>
                          </a:solidFill>
                          <a:latin typeface="Arial"/>
                        </a:defRPr>
                      </a:pPr>
                      <a:r>
                        <a:t>Repeated particle motifs have variable internal squiggles, but no decisive</a:t>
                      </a:r>
                    </a:p>
                    <a:p>
                      <a:pPr>
                        <a:lnSpc>
                          <a:spcPts val="1600"/>
                        </a:lnSpc>
                        <a:spcAft>
                          <a:spcPts val="0"/>
                        </a:spcAft>
                        <a:defRPr sz="1200" b="0">
                          <a:solidFill>
                            <a:srgbClr val="21243A"/>
                          </a:solidFill>
                          <a:latin typeface="Arial"/>
                        </a:defRPr>
                      </a:pPr>
                      <a:r>
                        <a:t>generation artifact is visible.</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5163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Entire image is a medical illustration, with no camera-photo base visible.</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5128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Headings and labels are legible, with consistent serif typography and aligned</a:t>
                      </a:r>
                    </a:p>
                    <a:p>
                      <a:pPr>
                        <a:lnSpc>
                          <a:spcPts val="1600"/>
                        </a:lnSpc>
                        <a:spcAft>
                          <a:spcPts val="0"/>
                        </a:spcAft>
                        <a:defRPr sz="1200" b="0">
                          <a:solidFill>
                            <a:srgbClr val="21243A"/>
                          </a:solidFill>
                          <a:latin typeface="Arial"/>
                        </a:defRPr>
                      </a:pPr>
                      <a:r>
                        <a:t>layout.</a:t>
                      </a:r>
                    </a:p>
                  </a:txBody>
                  <a:tcPr marL="82296" marR="82296" marT="64008" marB="64008">
                    <a:solidFill>
                      <a:srgbClr val="F1F7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Anatomy and cellular elements use smooth shaded fills and clean outlines</a:t>
                      </a:r>
                    </a:p>
                    <a:p>
                      <a:pPr>
                        <a:lnSpc>
                          <a:spcPts val="1600"/>
                        </a:lnSpc>
                        <a:spcAft>
                          <a:spcPts val="0"/>
                        </a:spcAft>
                        <a:defRPr sz="1200" b="0">
                          <a:solidFill>
                            <a:srgbClr val="21243A"/>
                          </a:solidFill>
                          <a:latin typeface="Arial"/>
                        </a:defRPr>
                      </a:pPr>
                      <a:r>
                        <a:t>compatible with conventional digital illustration.</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Repeated particle motifs have variable internal squiggles, but no decisive</a:t>
                      </a:r>
                    </a:p>
                    <a:p>
                      <a:pPr>
                        <a:lnSpc>
                          <a:spcPts val="1600"/>
                        </a:lnSpc>
                        <a:spcAft>
                          <a:spcPts val="0"/>
                        </a:spcAft>
                        <a:defRPr sz="1200" b="0">
                          <a:solidFill>
                            <a:srgbClr val="21243A"/>
                          </a:solidFill>
                          <a:latin typeface="Arial"/>
                        </a:defRPr>
                      </a:pPr>
                      <a:r>
                        <a:t>generation artifact is visible.</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Conventional digital artwork and AI-assisted illustration can look alike;</a:t>
                      </a:r>
                    </a:p>
                    <a:p>
                      <a:pPr>
                        <a:lnSpc>
                          <a:spcPts val="1600"/>
                        </a:lnSpc>
                        <a:spcAft>
                          <a:spcPts val="0"/>
                        </a:spcAft>
                        <a:defRPr sz="1200" b="0">
                          <a:solidFill>
                            <a:srgbClr val="21243A"/>
                          </a:solidFill>
                          <a:latin typeface="Arial"/>
                        </a:defRPr>
                      </a:pPr>
                      <a:r>
                        <a:t>source files and provenance are needed to distinguish them.</a:t>
                      </a:r>
                    </a:p>
                  </a:txBody>
                  <a:tcPr marL="82296" marR="82296" marT="64008" marB="64008">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9</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gemini-3.8-flash</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959103"/>
        </p:xfrm>
        <a:graphic>
          <a:graphicData uri="http://schemas.openxmlformats.org/drawingml/2006/table">
            <a:tbl>
              <a:tblPr firstRow="1" bandRow="1">
                <a:tableStyleId>{5C22544A-7EE6-4342-B048-85BDC9FD1C3A}</a:tableStyleId>
              </a:tblPr>
              <a:tblGrid>
                <a:gridCol w="2271369"/>
                <a:gridCol w="6141110"/>
              </a:tblGrid>
              <a:tr h="959103">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68/100; tells: model read this as AI editing over a</a:t>
                      </a:r>
                    </a:p>
                    <a:p>
                      <a:pPr>
                        <a:lnSpc>
                          <a:spcPts val="1600"/>
                        </a:lnSpc>
                        <a:spcAft>
                          <a:spcPts val="0"/>
                        </a:spcAft>
                        <a:defRPr sz="1200" b="0">
                          <a:solidFill>
                            <a:srgbClr val="21243A"/>
                          </a:solidFill>
                          <a:latin typeface="Arial"/>
                        </a:defRPr>
                      </a:pPr>
                      <a:r>
                        <a:t>photographic base image, sterile digital rendering style, slightly inconsistent</a:t>
                      </a:r>
                    </a:p>
                    <a:p>
                      <a:pPr>
                        <a:lnSpc>
                          <a:spcPts val="1600"/>
                        </a:lnSpc>
                        <a:spcAft>
                          <a:spcPts val="0"/>
                        </a:spcAft>
                        <a:defRPr sz="1200" b="0">
                          <a:solidFill>
                            <a:srgbClr val="21243A"/>
                          </a:solidFill>
                          <a:latin typeface="Arial"/>
                        </a:defRPr>
                      </a:pPr>
                      <a:r>
                        <a:t>anatomical blending in syringe and hand, typical AI-generated vector/digital</a:t>
                      </a:r>
                    </a:p>
                    <a:p>
                      <a:pPr>
                        <a:lnSpc>
                          <a:spcPts val="1600"/>
                        </a:lnSpc>
                        <a:spcAft>
                          <a:spcPts val="0"/>
                        </a:spcAft>
                        <a:defRPr sz="1200" b="0">
                          <a:solidFill>
                            <a:srgbClr val="21243A"/>
                          </a:solidFill>
                          <a:latin typeface="Arial"/>
                        </a:defRPr>
                      </a:pPr>
                      <a:r>
                        <a:t>medical illustration texture</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7569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Model read this as AI editing over a photographic base image</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1064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Sterile digital rendering style</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4559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Slightly inconsistent anatomical blending in syringe and hand</a:t>
                      </a:r>
                    </a:p>
                  </a:txBody>
                  <a:tcPr marL="82296" marR="82296" marT="64008" marB="64008">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10</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Typical AI-generated vector/digital medical illustration texture</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Clean modern typography composited over generated artwork</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Caveat: High-quality human digital medical illustrators use similar styles, making</a:t>
                      </a:r>
                    </a:p>
                    <a:p>
                      <a:pPr>
                        <a:lnSpc>
                          <a:spcPts val="1600"/>
                        </a:lnSpc>
                        <a:spcAft>
                          <a:spcPts val="0"/>
                        </a:spcAft>
                        <a:defRPr sz="1200" b="0">
                          <a:solidFill>
                            <a:srgbClr val="21243A"/>
                          </a:solidFill>
                          <a:latin typeface="Arial"/>
                        </a:defRPr>
                      </a:pPr>
                      <a:r>
                        <a:t>definitive technical separation difficult without source files.</a:t>
                      </a:r>
                    </a:p>
                  </a:txBody>
                  <a:tcPr marL="82296" marR="82296" marT="64008" marB="64008">
                    <a:solidFill>
                      <a:srgbClr val="F1F7F7"/>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11</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Embedded credentials: none found. Origin remains unresolved by this check.</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Coverage: credentials embedded in the submitted file. External credentials were</a:t>
                      </a:r>
                    </a:p>
                    <a:p>
                      <a:pPr>
                        <a:lnSpc>
                          <a:spcPts val="1600"/>
                        </a:lnSpc>
                        <a:spcAft>
                          <a:spcPts val="0"/>
                        </a:spcAft>
                        <a:defRPr sz="1200" b="0">
                          <a:solidFill>
                            <a:srgbClr val="21243A"/>
                          </a:solidFill>
                          <a:latin typeface="Arial"/>
                        </a:defRPr>
                      </a:pPr>
                      <a:r>
                        <a:t>not retrieved.</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7000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Verifier: c2pa-python 0.37.12; native SDK 0.91.0; specification target 2.4; policy</a:t>
                      </a:r>
                    </a:p>
                    <a:p>
                      <a:pPr>
                        <a:lnSpc>
                          <a:spcPts val="1600"/>
                        </a:lnSpc>
                        <a:spcAft>
                          <a:spcPts val="0"/>
                        </a:spcAft>
                        <a:defRPr sz="1200" b="0">
                          <a:solidFill>
                            <a:srgbClr val="21243A"/>
                          </a:solidFill>
                          <a:latin typeface="Arial"/>
                        </a:defRPr>
                      </a:pPr>
                      <a:r>
                        <a:t>embedded-offline-reviewed-trust-v3.</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Offline embedded-manifest verification; no network trust-list, manifest or</a:t>
                      </a:r>
                    </a:p>
                    <a:p>
                      <a:pPr>
                        <a:lnSpc>
                          <a:spcPts val="1600"/>
                        </a:lnSpc>
                        <a:spcAft>
                          <a:spcPts val="0"/>
                        </a:spcAft>
                        <a:defRPr sz="1200" b="0">
                          <a:solidFill>
                            <a:srgbClr val="21243A"/>
                          </a:solidFill>
                          <a:latin typeface="Arial"/>
                        </a:defRPr>
                      </a:pPr>
                      <a:r>
                        <a:t>revocation refresh.</a:t>
                      </a:r>
                    </a:p>
                  </a:txBody>
                  <a:tcPr marL="82296" marR="82296" marT="64008" marB="64008">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 reviewed local C2PA trust snapshot installed. Provenance overrides are</a:t>
                      </a:r>
                    </a:p>
                    <a:p>
                      <a:pPr>
                        <a:lnSpc>
                          <a:spcPts val="1600"/>
                        </a:lnSpc>
                        <a:spcAft>
                          <a:spcPts val="0"/>
                        </a:spcAft>
                        <a:defRPr sz="1200" b="0">
                          <a:solidFill>
                            <a:srgbClr val="21243A"/>
                          </a:solidFill>
                          <a:latin typeface="Arial"/>
                        </a:defRPr>
                      </a:pPr>
                      <a:r>
                        <a:t>disabled.</a:t>
                      </a:r>
                    </a:p>
                  </a:txBody>
                  <a:tcPr marL="82296" marR="82296" marT="64008" marB="64008">
                    <a:solidFill>
                      <a:srgbClr val="F1F7F7"/>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5</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13</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low</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Heuristic synthetic likelihood 41/100 from metadata + pixel statistics.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camera EXIF (common in AI exports, screenshots, and re-saves).</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ELA mean 1.8, peak 62 (uniform high ELA can indicate generation/heavy edit).</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48463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High-frequency noise std 11.38 (very low/very uniform noise is a synthesis cue).</a:t>
                      </a:r>
                    </a:p>
                  </a:txBody>
                  <a:tcPr marL="82296" marR="82296" marT="64008" marB="64008">
                    <a:solidFill>
                      <a:srgbClr val="FFFFFF"/>
                    </a:solidFill>
                  </a:tcPr>
                </a:tc>
              </a:tr>
            </a:tbl>
          </a:graphicData>
        </a:graphic>
      </p:graphicFrame>
      <p:graphicFrame>
        <p:nvGraphicFramePr>
          <p:cNvPr id="17" name="Table 16"/>
          <p:cNvGraphicFramePr>
            <a:graphicFrameLocks noGrp="1"/>
          </p:cNvGraphicFramePr>
          <p:nvPr/>
        </p:nvGraphicFramePr>
        <p:xfrm>
          <a:off x="365760" y="519582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Spectral peakiness 19.81 (periodic frequency peaks can mark generated textures).</a:t>
                      </a:r>
                    </a:p>
                  </a:txBody>
                  <a:tcPr marL="82296" marR="82296" marT="64008" marB="64008">
                    <a:solidFill>
                      <a:srgbClr val="F1F7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Evidence supporting this verdict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1568704"/>
        </p:xfrm>
        <a:graphic>
          <a:graphicData uri="http://schemas.openxmlformats.org/drawingml/2006/table">
            <a:tbl>
              <a:tblPr firstRow="1" bandRow="1">
                <a:tableStyleId>{5C22544A-7EE6-4342-B048-85BDC9FD1C3A}</a:tableStyleId>
              </a:tblPr>
              <a:tblGrid>
                <a:gridCol w="2271369"/>
                <a:gridCol w="6141110"/>
              </a:tblGrid>
              <a:tr h="1568704">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80/100; tells: uniform soft airbrushed painterly shading across</a:t>
                      </a:r>
                    </a:p>
                    <a:p>
                      <a:pPr>
                        <a:lnSpc>
                          <a:spcPts val="1600"/>
                        </a:lnSpc>
                        <a:spcAft>
                          <a:spcPts val="0"/>
                        </a:spcAft>
                        <a:defRPr sz="1200" b="0">
                          <a:solidFill>
                            <a:srgbClr val="21243A"/>
                          </a:solidFill>
                          <a:latin typeface="Arial"/>
                        </a:defRPr>
                      </a:pPr>
                      <a:r>
                        <a:t>all elements, typical of current image-generation models, whole composite</a:t>
                      </a:r>
                    </a:p>
                    <a:p>
                      <a:pPr>
                        <a:lnSpc>
                          <a:spcPts val="1600"/>
                        </a:lnSpc>
                        <a:spcAft>
                          <a:spcPts val="0"/>
                        </a:spcAft>
                        <a:defRPr sz="1200" b="0">
                          <a:solidFill>
                            <a:srgbClr val="21243A"/>
                          </a:solidFill>
                          <a:latin typeface="Arial"/>
                        </a:defRPr>
                      </a:pPr>
                      <a:r>
                        <a:t>(portrait, anatomy, inset, icons, typography) rendered in one seamless style rather</a:t>
                      </a:r>
                    </a:p>
                    <a:p>
                      <a:pPr>
                        <a:lnSpc>
                          <a:spcPts val="1600"/>
                        </a:lnSpc>
                        <a:spcAft>
                          <a:spcPts val="0"/>
                        </a:spcAft>
                        <a:defRPr sz="1200" b="0">
                          <a:solidFill>
                            <a:srgbClr val="21243A"/>
                          </a:solidFill>
                          <a:latin typeface="Arial"/>
                        </a:defRPr>
                      </a:pPr>
                      <a:r>
                        <a:t>than assembled from separate assets, anatomically loose vasculature: arteries</a:t>
                      </a:r>
                    </a:p>
                    <a:p>
                      <a:pPr>
                        <a:lnSpc>
                          <a:spcPts val="1600"/>
                        </a:lnSpc>
                        <a:spcAft>
                          <a:spcPts val="0"/>
                        </a:spcAft>
                        <a:defRPr sz="1200" b="0">
                          <a:solidFill>
                            <a:srgbClr val="21243A"/>
                          </a:solidFill>
                          <a:latin typeface="Arial"/>
                        </a:defRPr>
                      </a:pPr>
                      <a:r>
                        <a:t>drawn over the brain surface and an idealized carotid path from neck to cortex,</a:t>
                      </a:r>
                    </a:p>
                    <a:p>
                      <a:pPr>
                        <a:lnSpc>
                          <a:spcPts val="1600"/>
                        </a:lnSpc>
                        <a:spcAft>
                          <a:spcPts val="0"/>
                        </a:spcAft>
                        <a:defRPr sz="1200" b="0">
                          <a:solidFill>
                            <a:srgbClr val="21243A"/>
                          </a:solidFill>
                          <a:latin typeface="Arial"/>
                        </a:defRPr>
                      </a:pPr>
                      <a:r>
                        <a:t>generic glowing highlights (red cortical hotspot, yellow injection-site glow) used as</a:t>
                      </a:r>
                    </a:p>
                    <a:p>
                      <a:pPr>
                        <a:lnSpc>
                          <a:spcPts val="1600"/>
                        </a:lnSpc>
                        <a:spcAft>
                          <a:spcPts val="0"/>
                        </a:spcAft>
                        <a:defRPr sz="1200" b="0">
                          <a:solidFill>
                            <a:srgbClr val="21243A"/>
                          </a:solidFill>
                          <a:latin typeface="Arial"/>
                        </a:defRPr>
                      </a:pPr>
                      <a:r>
                        <a:t>stylized emphasis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3269488"/>
          <a:ext cx="8412479" cy="959103"/>
        </p:xfrm>
        <a:graphic>
          <a:graphicData uri="http://schemas.openxmlformats.org/drawingml/2006/table">
            <a:tbl>
              <a:tblPr firstRow="1" bandRow="1">
                <a:tableStyleId>{5C22544A-7EE6-4342-B048-85BDC9FD1C3A}</a:tableStyleId>
              </a:tblPr>
              <a:tblGrid>
                <a:gridCol w="2271369"/>
                <a:gridCol w="6141110"/>
              </a:tblGrid>
              <a:tr h="959103">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likelihood 68/100; tells: model read this as AI editing over a</a:t>
                      </a:r>
                    </a:p>
                    <a:p>
                      <a:pPr>
                        <a:lnSpc>
                          <a:spcPts val="1600"/>
                        </a:lnSpc>
                        <a:spcAft>
                          <a:spcPts val="0"/>
                        </a:spcAft>
                        <a:defRPr sz="1200" b="0">
                          <a:solidFill>
                            <a:srgbClr val="21243A"/>
                          </a:solidFill>
                          <a:latin typeface="Arial"/>
                        </a:defRPr>
                      </a:pPr>
                      <a:r>
                        <a:t>photographic base image, sterile digital rendering style, slightly inconsistent</a:t>
                      </a:r>
                    </a:p>
                    <a:p>
                      <a:pPr>
                        <a:lnSpc>
                          <a:spcPts val="1600"/>
                        </a:lnSpc>
                        <a:spcAft>
                          <a:spcPts val="0"/>
                        </a:spcAft>
                        <a:defRPr sz="1200" b="0">
                          <a:solidFill>
                            <a:srgbClr val="21243A"/>
                          </a:solidFill>
                          <a:latin typeface="Arial"/>
                        </a:defRPr>
                      </a:pPr>
                      <a:r>
                        <a:t>anatomical blending in syringe and hand, typical AI-generated vector/digital</a:t>
                      </a:r>
                    </a:p>
                    <a:p>
                      <a:pPr>
                        <a:lnSpc>
                          <a:spcPts val="1600"/>
                        </a:lnSpc>
                        <a:spcAft>
                          <a:spcPts val="0"/>
                        </a:spcAft>
                        <a:defRPr sz="1200" b="0">
                          <a:solidFill>
                            <a:srgbClr val="21243A"/>
                          </a:solidFill>
                          <a:latin typeface="Arial"/>
                        </a:defRPr>
                      </a:pPr>
                      <a:r>
                        <a:t>medical illustration texture</a:t>
                      </a:r>
                    </a:p>
                  </a:txBody>
                  <a:tcPr marL="82296" marR="82296" marT="64008" marB="64008">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Additional findings</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45/100; tells: Entire image is a medical illustration, with no</a:t>
                      </a:r>
                    </a:p>
                    <a:p>
                      <a:pPr>
                        <a:lnSpc>
                          <a:spcPts val="1600"/>
                        </a:lnSpc>
                        <a:spcAft>
                          <a:spcPts val="0"/>
                        </a:spcAft>
                        <a:defRPr sz="1200" b="0">
                          <a:solidFill>
                            <a:srgbClr val="21243A"/>
                          </a:solidFill>
                          <a:latin typeface="Arial"/>
                        </a:defRPr>
                      </a:pPr>
                      <a:r>
                        <a:t>camera-photo base visible., Headings and labels are legible, with consistent serif</a:t>
                      </a:r>
                    </a:p>
                    <a:p>
                      <a:pPr>
                        <a:lnSpc>
                          <a:spcPts val="1600"/>
                        </a:lnSpc>
                        <a:spcAft>
                          <a:spcPts val="0"/>
                        </a:spcAft>
                        <a:defRPr sz="1200" b="0">
                          <a:solidFill>
                            <a:srgbClr val="21243A"/>
                          </a:solidFill>
                          <a:latin typeface="Arial"/>
                        </a:defRPr>
                      </a:pPr>
                      <a:r>
                        <a:t>typography and aligned layout., Anatomy and cellular elements use smooth</a:t>
                      </a:r>
                    </a:p>
                    <a:p>
                      <a:pPr>
                        <a:lnSpc>
                          <a:spcPts val="1600"/>
                        </a:lnSpc>
                        <a:spcAft>
                          <a:spcPts val="0"/>
                        </a:spcAft>
                        <a:defRPr sz="1200" b="0">
                          <a:solidFill>
                            <a:srgbClr val="21243A"/>
                          </a:solidFill>
                          <a:latin typeface="Arial"/>
                        </a:defRPr>
                      </a:pPr>
                      <a:r>
                        <a:t>shaded fills and clean outlines compatible with conventional digital illustration.,</a:t>
                      </a:r>
                    </a:p>
                    <a:p>
                      <a:pPr>
                        <a:lnSpc>
                          <a:spcPts val="1600"/>
                        </a:lnSpc>
                        <a:spcAft>
                          <a:spcPts val="0"/>
                        </a:spcAft>
                        <a:defRPr sz="1200" b="0">
                          <a:solidFill>
                            <a:srgbClr val="21243A"/>
                          </a:solidFill>
                          <a:latin typeface="Arial"/>
                        </a:defRPr>
                      </a:pPr>
                      <a:r>
                        <a:t>Repeated particle motifs have variable internal squiggles, but no decisive</a:t>
                      </a:r>
                    </a:p>
                    <a:p>
                      <a:pPr>
                        <a:lnSpc>
                          <a:spcPts val="1600"/>
                        </a:lnSpc>
                        <a:spcAft>
                          <a:spcPts val="0"/>
                        </a:spcAft>
                        <a:defRPr sz="1200" b="0">
                          <a:solidFill>
                            <a:srgbClr val="21243A"/>
                          </a:solidFill>
                          <a:latin typeface="Arial"/>
                        </a:defRPr>
                      </a:pPr>
                      <a:r>
                        <a:t>generation artifact is visible.</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3066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 observation; considered alongside the model assessments.</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3415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Embedded credentials: none found. Origin remains unresolved by this check.</a:t>
                      </a:r>
                    </a:p>
                  </a:txBody>
                  <a:tcPr marL="82296" marR="82296" marT="64008" marB="64008">
                    <a:solidFill>
                      <a:srgbClr val="F1F7F7"/>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Visible text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959103"/>
        </p:xfrm>
        <a:graphic>
          <a:graphicData uri="http://schemas.openxmlformats.org/drawingml/2006/table">
            <a:tbl>
              <a:tblPr firstRow="1" bandRow="1">
                <a:tableStyleId>{5C22544A-7EE6-4342-B048-85BDC9FD1C3A}</a:tableStyleId>
              </a:tblPr>
              <a:tblGrid>
                <a:gridCol w="2271369"/>
                <a:gridCol w="6141110"/>
              </a:tblGrid>
              <a:tr h="959103">
                <a:tc>
                  <a:txBody>
                    <a:bodyPr wrap="none"/>
                    <a:lstStyle/>
                    <a:p>
                      <a:pPr>
                        <a:lnSpc>
                          <a:spcPts val="1600"/>
                        </a:lnSpc>
                        <a:spcAft>
                          <a:spcPts val="0"/>
                        </a:spcAft>
                        <a:defRPr sz="1200" b="0">
                          <a:solidFill>
                            <a:srgbClr val="21243A"/>
                          </a:solidFill>
                          <a:latin typeface="Arial"/>
                        </a:defRPr>
                      </a:pPr>
                      <a:r>
                        <a:t>Recorded text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Biomedical Signals • Research Commentary • 2025 | mRNA Vaccination and the</a:t>
                      </a:r>
                    </a:p>
                    <a:p>
                      <a:pPr>
                        <a:lnSpc>
                          <a:spcPts val="1600"/>
                        </a:lnSpc>
                        <a:spcAft>
                          <a:spcPts val="0"/>
                        </a:spcAft>
                        <a:defRPr sz="1200" b="0">
                          <a:solidFill>
                            <a:srgbClr val="21243A"/>
                          </a:solidFill>
                          <a:latin typeface="Arial"/>
                        </a:defRPr>
                      </a:pPr>
                      <a:r>
                        <a:t>Brain: A Proposed Pathway | CAN PARTICLES CROSS THE BLOOD–BRAIN BARRIER?</a:t>
                      </a:r>
                    </a:p>
                    <a:p>
                      <a:pPr>
                        <a:lnSpc>
                          <a:spcPts val="1600"/>
                        </a:lnSpc>
                        <a:spcAft>
                          <a:spcPts val="0"/>
                        </a:spcAft>
                        <a:defRPr sz="1200" b="0">
                          <a:solidFill>
                            <a:srgbClr val="21243A"/>
                          </a:solidFill>
                          <a:latin typeface="Arial"/>
                        </a:defRPr>
                      </a:pPr>
                      <a:r>
                        <a:t>| Brain | Bloodstream | Suggested outcomes | Inflammation | Brain fog |</a:t>
                      </a:r>
                    </a:p>
                    <a:p>
                      <a:pPr>
                        <a:lnSpc>
                          <a:spcPts val="1600"/>
                        </a:lnSpc>
                        <a:spcAft>
                          <a:spcPts val="0"/>
                        </a:spcAft>
                        <a:defRPr sz="1200" b="0">
                          <a:solidFill>
                            <a:srgbClr val="21243A"/>
                          </a:solidFill>
                          <a:latin typeface="Arial"/>
                        </a:defRPr>
                      </a:pPr>
                      <a:r>
                        <a:t>Memory changes | Figure 1. Hypothetical pathway illustrated for discussion.</a:t>
                      </a:r>
                    </a:p>
                  </a:txBody>
                  <a:tcPr marL="82296" marR="82296" marT="64008" marB="64008">
                    <a:solidFill>
                      <a:srgbClr val="F1F7F7"/>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How this assessment was reached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1. override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outcome=none; detail=No confirmed C2PA AI assertion or SynthID watermark.</a:t>
                      </a:r>
                    </a:p>
                    <a:p>
                      <a:pPr>
                        <a:lnSpc>
                          <a:spcPts val="1600"/>
                        </a:lnSpc>
                        <a:spcAft>
                          <a:spcPts val="0"/>
                        </a:spcAft>
                        <a:defRPr sz="1200" b="0">
                          <a:solidFill>
                            <a:srgbClr val="21243A"/>
                          </a:solidFill>
                          <a:latin typeface="Arial"/>
                        </a:defRPr>
                      </a:pPr>
                      <a:r>
                        <a:t>Origin remains unresolved by these checks.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2. model_agreement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synthetic=['Claude Vision', 'Gemini Vision']; authentic=[]; uncertain=['OpenAI</a:t>
                      </a:r>
                    </a:p>
                    <a:p>
                      <a:pPr>
                        <a:lnSpc>
                          <a:spcPts val="1600"/>
                        </a:lnSpc>
                        <a:spcAft>
                          <a:spcPts val="0"/>
                        </a:spcAft>
                        <a:defRPr sz="1200" b="0">
                          <a:solidFill>
                            <a:srgbClr val="21243A"/>
                          </a:solidFill>
                          <a:latin typeface="Arial"/>
                        </a:defRPr>
                      </a:pPr>
                      <a:r>
                        <a:t>Vision']; forensic_supports_synthetic=False</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3. verdict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value=synthetic_likely; confidence=medium; reason=2 models agree this is likely</a:t>
                      </a:r>
                    </a:p>
                    <a:p>
                      <a:pPr>
                        <a:lnSpc>
                          <a:spcPts val="1600"/>
                        </a:lnSpc>
                        <a:spcAft>
                          <a:spcPts val="0"/>
                        </a:spcAft>
                        <a:defRPr sz="1200" b="0">
                          <a:solidFill>
                            <a:srgbClr val="21243A"/>
                          </a:solidFill>
                          <a:latin typeface="Arial"/>
                        </a:defRPr>
                      </a:pPr>
                      <a:r>
                        <a:t>synthetic.</a:t>
                      </a:r>
                    </a:p>
                  </a:txBody>
                  <a:tcPr marL="82296" marR="82296" marT="64008" marB="64008">
                    <a:solidFill>
                      <a:srgbClr val="F1F7F7"/>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File and analysis record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File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journal-diagram.png</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ID</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8faa3dd9-dfff-476f-a33e-cd661e1e6f35</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Generated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2026-09-26T22:31:05+00:00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Tool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SDA Vision 0.1.0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claude-opus-5-5, gemini-3.8-flash, gpt-6-astra</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Method version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pdf-preparation-2026-09-26.1</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lens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general</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Original SHA-256</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c9a680547869618d7c63648d317b1f27c03ede59d5113a7cd6818f5ce2bd654e</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Ingestion note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Fresh provider replies acquired for eleven-examples-refresh-20260926-r1; report</a:t>
                      </a:r>
                    </a:p>
                    <a:p>
                      <a:pPr>
                        <a:lnSpc>
                          <a:spcPts val="1600"/>
                        </a:lnSpc>
                        <a:spcAft>
                          <a:spcPts val="0"/>
                        </a:spcAft>
                        <a:defRPr sz="1200" b="0">
                          <a:solidFill>
                            <a:srgbClr val="21243A"/>
                          </a:solidFill>
                          <a:latin typeface="Arial"/>
                        </a:defRPr>
                      </a:pPr>
                      <a:r>
                        <a:t>assembled locally from the saved responses without further API calls.</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049520"/>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Ingestion note 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Provider latency values are restored from the acquisition receipts (maximum</a:t>
                      </a:r>
                    </a:p>
                    <a:p>
                      <a:pPr>
                        <a:lnSpc>
                          <a:spcPts val="1600"/>
                        </a:lnSpc>
                        <a:spcAft>
                          <a:spcPts val="0"/>
                        </a:spcAft>
                        <a:defRPr sz="1200" b="0">
                          <a:solidFill>
                            <a:srgbClr val="21243A"/>
                          </a:solidFill>
                          <a:latin typeface="Arial"/>
                        </a:defRPr>
                      </a:pPr>
                      <a:r>
                        <a:t>sampled-frame latency per provider); raw replies and assessment results are</a:t>
                      </a:r>
                    </a:p>
                    <a:p>
                      <a:pPr>
                        <a:lnSpc>
                          <a:spcPts val="1600"/>
                        </a:lnSpc>
                        <a:spcAft>
                          <a:spcPts val="0"/>
                        </a:spcAft>
                        <a:defRPr sz="1200" b="0">
                          <a:solidFill>
                            <a:srgbClr val="21243A"/>
                          </a:solidFill>
                          <a:latin typeface="Arial"/>
                        </a:defRPr>
                      </a:pPr>
                      <a:r>
                        <a:t>unchanged by this bookkeeping step.</a:t>
                      </a:r>
                    </a:p>
                  </a:txBody>
                  <a:tcPr marL="82296" marR="82296" marT="64008" marB="6400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 Vision: Analysis report</dc:title>
  <dc:subject>Research assessment export</dc:subject>
  <dc:creator>SDA Vision</dc:creator>
  <cp:keywords/>
  <dc:description/>
  <cp:lastModifiedBy>SDA Vision</cp:lastModifiedBy>
  <cp:revision>1</cp:revision>
  <dcterms:created xsi:type="dcterms:W3CDTF">2026-10-16T06:37:14Z</dcterms:created>
  <dcterms:modified xsi:type="dcterms:W3CDTF">2026-10-16T06:37:14Z</dcterms:modified>
  <cp:category/>
</cp:coreProperties>
</file>