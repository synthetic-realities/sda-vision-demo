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animal-portrait.jpg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Assessment summary</a:t>
            </a:r>
          </a:p>
          <a:p>
            <a:r>
              <a:t>Finding | Leaning synthetic</a:t>
            </a:r>
          </a:p>
          <a:p>
            <a:r>
              <a:t>Recorded verdict | synthetic likely</a:t>
            </a:r>
          </a:p>
          <a:p>
            <a:r>
              <a:t>Confidence | high</a:t>
            </a:r>
          </a:p>
          <a:p>
            <a:r>
              <a:t>Indicative rating | 78/100</a:t>
            </a:r>
          </a:p>
          <a:p>
            <a:r>
              <a:t>Rating basis | median of available model ratings; not a calibrated probability</a:t>
            </a:r>
          </a:p>
          <a:p>
            <a:r>
              <a:t>Explanation | 3 models agree this is likely synthetic.</a:t>
            </a:r>
          </a:p>
          <a:p>
            <a:r>
              <a:t>Coverage | image - 1 frame(s) analysed</a:t>
            </a:r>
          </a:p>
          <a:p>
            <a:r>
              <a:t>Review context | Research assessment. Review alongside source information and context. When credentials are missing, origin remains unresolved by this check. Use these findings to inform a documented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overview</a:t>
            </a:r>
          </a:p>
          <a:p>
            <a:r>
              <a:t>Claude Vision | vision / ok | synthetic likely | 90/100</a:t>
            </a:r>
          </a:p>
          <a:p>
            <a:r>
              <a:t>OpenAI Vision | vision / ok | synthetic likely | 78/100</a:t>
            </a:r>
          </a:p>
          <a:p>
            <a:r>
              <a:t>Gemini Vision | vision / ok | synthetic likely | 75/100</a:t>
            </a:r>
          </a:p>
          <a:p>
            <a:r>
              <a:t>C2PA Content Credentials | provenance / ok | inconclusive | n/a</a:t>
            </a:r>
          </a:p>
          <a:p>
            <a:r>
              <a:t>Local forensic cues | forensic / ok | partially synthetic | 47/100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90/100; tells: ear anatomy ambiguous: folded ears appear to merge into the hat brim and head without a clear boundary, whiskers emerge from implausible origins (some from cheeks and neck, not only the muzzle pads) with inconsistent thickness and length, fur texture uniformly hyper-detailed and 'painted' across the face, with an overly regular tabby pattern, hat fits the cat's head perfectly with no deformation or visible support, typical of generated props</a:t>
            </a:r>
          </a:p>
          <a:p>
            <a:r>
              <a:t>Evidence 1 | Ear anatomy ambiguous: folded ears appear to merge into the hat brim and head without a clear boundary</a:t>
            </a:r>
          </a:p>
          <a:p>
            <a:r>
              <a:t>Evidence 2 | Whiskers emerge from implausible origins (some from cheeks and neck, not only the muzzle pads) with inconsistent thickness and length</a:t>
            </a:r>
          </a:p>
          <a:p>
            <a:r>
              <a:t>Evidence 3 | Fur texture uniformly hyper-detailed and 'painted' across the face, with an overly regular tabby pattern</a:t>
            </a:r>
          </a:p>
          <a:p>
            <a:r>
              <a:t>Evidence 4 | Hat fits the cat's head perfectly with no deformation or visible support, typical of generated props</a:t>
            </a:r>
          </a:p>
          <a:p>
            <a:r>
              <a:t>Evidence 5 | Idealized 'golden hour' bokeh and rim lighting consistent with stylized text-to-image output</a:t>
            </a:r>
          </a:p>
          <a:p>
            <a:r>
              <a:t>Evidence 6 | Eye reflections are glossy but generic and do not clearly correspond to the background light source</a:t>
            </a:r>
          </a:p>
          <a:p>
            <a:r>
              <a:t>Evidence 7 | Body and neck fur transition into a vague dark garment with an indistinct edge</a:t>
            </a:r>
          </a:p>
          <a:p>
            <a:r>
              <a:t>Evidence 8 | No compression-consistent sensor grain; smooth, noise-free tonal gradients throughout</a:t>
            </a:r>
          </a:p>
          <a:p>
            <a:r>
              <a:t>Evidence 9 | Caveat: A real photo of a cat wearing a hat is possible, and heavy retouching or upscaling can mimic generative artifacts. Metadata, C2PA/provenance data, and a reverse-image search should be checked before relying on this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90/100; tells: ear anatomy ambiguous: folded ears appear to merge into the hat brim and head without a clear boundary, whiskers emerge from implausible origins (some from cheeks and neck, not only the muzzle pads) with inconsistent thickness and length, fur texture uniformly hyper-detailed and 'painted' across the face, with an overly regular tabby pattern, hat fits the cat's head perfectly with no deformation or visible support, typical of generated props</a:t>
            </a:r>
          </a:p>
          <a:p>
            <a:r>
              <a:t>Evidence 1 | Ear anatomy ambiguous: folded ears appear to merge into the hat brim and head without a clear boundary</a:t>
            </a:r>
          </a:p>
          <a:p>
            <a:r>
              <a:t>Evidence 2 | Whiskers emerge from implausible origins (some from cheeks and neck, not only the muzzle pads) with inconsistent thickness and length</a:t>
            </a:r>
          </a:p>
          <a:p>
            <a:r>
              <a:t>Evidence 3 | Fur texture uniformly hyper-detailed and 'painted' across the face, with an overly regular tabby pattern</a:t>
            </a:r>
          </a:p>
          <a:p>
            <a:r>
              <a:t>Evidence 4 | Hat fits the cat's head perfectly with no deformation or visible support, typical of generated props</a:t>
            </a:r>
          </a:p>
          <a:p>
            <a:r>
              <a:t>Evidence 5 | Idealized 'golden hour' bokeh and rim lighting consistent with stylized text-to-image output</a:t>
            </a:r>
          </a:p>
          <a:p>
            <a:r>
              <a:t>Evidence 6 | Eye reflections are glossy but generic and do not clearly correspond to the background light source</a:t>
            </a:r>
          </a:p>
          <a:p>
            <a:r>
              <a:t>Evidence 7 | Body and neck fur transition into a vague dark garment with an indistinct edge</a:t>
            </a:r>
          </a:p>
          <a:p>
            <a:r>
              <a:t>Evidence 8 | No compression-consistent sensor grain; smooth, noise-free tonal gradients throughout</a:t>
            </a:r>
          </a:p>
          <a:p>
            <a:r>
              <a:t>Evidence 9 | Caveat: A real photo of a cat wearing a hat is possible, and heavy retouching or upscaling can mimic generative artifacts. Metadata, C2PA/provenance data, and a reverse-image search should be checked before relying on this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90/100; tells: ear anatomy ambiguous: folded ears appear to merge into the hat brim and head without a clear boundary, whiskers emerge from implausible origins (some from cheeks and neck, not only the muzzle pads) with inconsistent thickness and length, fur texture uniformly hyper-detailed and 'painted' across the face, with an overly regular tabby pattern, hat fits the cat's head perfectly with no deformation or visible support, typical of generated props</a:t>
            </a:r>
          </a:p>
          <a:p>
            <a:r>
              <a:t>Evidence 1 | Ear anatomy ambiguous: folded ears appear to merge into the hat brim and head without a clear boundary</a:t>
            </a:r>
          </a:p>
          <a:p>
            <a:r>
              <a:t>Evidence 2 | Whiskers emerge from implausible origins (some from cheeks and neck, not only the muzzle pads) with inconsistent thickness and length</a:t>
            </a:r>
          </a:p>
          <a:p>
            <a:r>
              <a:t>Evidence 3 | Fur texture uniformly hyper-detailed and 'painted' across the face, with an overly regular tabby pattern</a:t>
            </a:r>
          </a:p>
          <a:p>
            <a:r>
              <a:t>Evidence 4 | Hat fits the cat's head perfectly with no deformation or visible support, typical of generated props</a:t>
            </a:r>
          </a:p>
          <a:p>
            <a:r>
              <a:t>Evidence 5 | Idealized 'golden hour' bokeh and rim lighting consistent with stylized text-to-image output</a:t>
            </a:r>
          </a:p>
          <a:p>
            <a:r>
              <a:t>Evidence 6 | Eye reflections are glossy but generic and do not clearly correspond to the background light source</a:t>
            </a:r>
          </a:p>
          <a:p>
            <a:r>
              <a:t>Evidence 7 | Body and neck fur transition into a vague dark garment with an indistinct edge</a:t>
            </a:r>
          </a:p>
          <a:p>
            <a:r>
              <a:t>Evidence 8 | No compression-consistent sensor grain; smooth, noise-free tonal gradients throughout</a:t>
            </a:r>
          </a:p>
          <a:p>
            <a:r>
              <a:t>Evidence 9 | Caveat: A real photo of a cat wearing a hat is possible, and heavy retouching or upscaling can mimic generative artifacts. Metadata, C2PA/provenance data, and a reverse-image search should be checked before relying on this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2</a:t>
            </a:r>
          </a:p>
          <a:p>
            <a:r>
              <a:t>Provider | OpenAI Vision</a:t>
            </a:r>
          </a:p>
          <a:p>
            <a:r>
              <a:t>Model | gpt-6-astra</a:t>
            </a:r>
          </a:p>
          <a:p>
            <a:r>
              <a:t>Status | ok</a:t>
            </a:r>
          </a:p>
          <a:p>
            <a:r>
              <a:t>Assessment | synthetic likely</a:t>
            </a:r>
          </a:p>
          <a:p>
            <a:r>
              <a:t>Confidence | medium</a:t>
            </a:r>
          </a:p>
          <a:p>
            <a:r>
              <a:t>Role in assessment | Supporting</a:t>
            </a:r>
          </a:p>
          <a:p>
            <a:r>
              <a:t>Provider summary | synthetic likelihood 78/100; tells: Chest fur forms unusually broad, sculpted clumps compared with the fine facial fur, Several whiskers have angular bends and uneven thickness, Highly regular facial detailing and unusually smooth, uniform iris textures, Hat brim and partly concealed ears have ambiguous contact geometry</a:t>
            </a:r>
          </a:p>
          <a:p>
            <a:r>
              <a:t>Evidence 1 | Chest fur forms unusually broad, sculpted clumps compared with the fine facial fur</a:t>
            </a:r>
          </a:p>
          <a:p>
            <a:r>
              <a:t>Evidence 2 | Several whiskers have angular bends and uneven thickness</a:t>
            </a:r>
          </a:p>
          <a:p>
            <a:r>
              <a:t>Evidence 3 | Highly regular facial detailing and unusually smooth, uniform iris textures</a:t>
            </a:r>
          </a:p>
          <a:p>
            <a:r>
              <a:t>Evidence 4 | Hat brim and partly concealed ears have ambiguous contact geometry</a:t>
            </a:r>
          </a:p>
          <a:p>
            <a:r>
              <a:t>Evidence 5 | Consistent warm rim lighting and plausible background blur provide some photographic cues</a:t>
            </a:r>
          </a:p>
          <a:p>
            <a:r>
              <a:t>Evidence 6 | Caveat: Stylized photography and sharpening can produce similar textures; the original file and provenance are needed to distinguish generation from photography or editing.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2</a:t>
            </a:r>
          </a:p>
          <a:p>
            <a:r>
              <a:t>Provider | OpenAI Vision</a:t>
            </a:r>
          </a:p>
          <a:p>
            <a:r>
              <a:t>Model | gpt-6-astra</a:t>
            </a:r>
          </a:p>
          <a:p>
            <a:r>
              <a:t>Status | ok</a:t>
            </a:r>
          </a:p>
          <a:p>
            <a:r>
              <a:t>Assessment | synthetic likely</a:t>
            </a:r>
          </a:p>
          <a:p>
            <a:r>
              <a:t>Confidence | medium</a:t>
            </a:r>
          </a:p>
          <a:p>
            <a:r>
              <a:t>Role in assessment | Supporting</a:t>
            </a:r>
          </a:p>
          <a:p>
            <a:r>
              <a:t>Provider summary | synthetic likelihood 78/100; tells: Chest fur forms unusually broad, sculpted clumps compared with the fine facial fur, Several whiskers have angular bends and uneven thickness, Highly regular facial detailing and unusually smooth, uniform iris textures, Hat brim and partly concealed ears have ambiguous contact geometry</a:t>
            </a:r>
          </a:p>
          <a:p>
            <a:r>
              <a:t>Evidence 1 | Chest fur forms unusually broad, sculpted clumps compared with the fine facial fur</a:t>
            </a:r>
          </a:p>
          <a:p>
            <a:r>
              <a:t>Evidence 2 | Several whiskers have angular bends and uneven thickness</a:t>
            </a:r>
          </a:p>
          <a:p>
            <a:r>
              <a:t>Evidence 3 | Highly regular facial detailing and unusually smooth, uniform iris textures</a:t>
            </a:r>
          </a:p>
          <a:p>
            <a:r>
              <a:t>Evidence 4 | Hat brim and partly concealed ears have ambiguous contact geometry</a:t>
            </a:r>
          </a:p>
          <a:p>
            <a:r>
              <a:t>Evidence 5 | Consistent warm rim lighting and plausible background blur provide some photographic cues</a:t>
            </a:r>
          </a:p>
          <a:p>
            <a:r>
              <a:t>Evidence 6 | Caveat: Stylized photography and sharpening can produce similar textures; the original file and provenance are needed to distinguish generation from photography or editing.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3</a:t>
            </a:r>
          </a:p>
          <a:p>
            <a:r>
              <a:t>Provider | Gemini Vision</a:t>
            </a:r>
          </a:p>
          <a:p>
            <a:r>
              <a:t>Model | gemini-3.8-flash</a:t>
            </a:r>
          </a:p>
          <a:p>
            <a:r>
              <a:t>Status | ok</a:t>
            </a:r>
          </a:p>
          <a:p>
            <a:r>
              <a:t>Assessment | synthetic likely</a:t>
            </a:r>
          </a:p>
          <a:p>
            <a:r>
              <a:t>Confidence | medium</a:t>
            </a:r>
          </a:p>
          <a:p>
            <a:r>
              <a:t>Role in assessment | Supporting</a:t>
            </a:r>
          </a:p>
          <a:p>
            <a:r>
              <a:t>Provider summary | synthetic likelihood 75/100; tells: implausible ear anatomy under hat brim, hyper-smooth rendering of fur and felt texture, unnatural symmetry in whisker and facial layout, diffuse artificial lighting effects</a:t>
            </a:r>
          </a:p>
          <a:p>
            <a:r>
              <a:t>Evidence 1 | Implausible ear anatomy under hat brim</a:t>
            </a:r>
          </a:p>
          <a:p>
            <a:r>
              <a:t>Evidence 2 | Hyper-smooth rendering of fur and felt texture</a:t>
            </a:r>
          </a:p>
          <a:p>
            <a:r>
              <a:t>Evidence 3 | Unnatural symmetry in whisker and facial layout</a:t>
            </a:r>
          </a:p>
          <a:p>
            <a:r>
              <a:t>Evidence 4 | Diffuse artificial lighting effects</a:t>
            </a:r>
          </a:p>
          <a:p>
            <a:r>
              <a:t>Evidence 5 | Caveat: High-quality digital art or photo manipulation can occasionally mimic diffusion model artifacts.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3</a:t>
            </a:r>
          </a:p>
          <a:p>
            <a:r>
              <a:t>Provider | Gemini Vision</a:t>
            </a:r>
          </a:p>
          <a:p>
            <a:r>
              <a:t>Model | gemini-3.8-flash</a:t>
            </a:r>
          </a:p>
          <a:p>
            <a:r>
              <a:t>Status | ok</a:t>
            </a:r>
          </a:p>
          <a:p>
            <a:r>
              <a:t>Assessment | synthetic likely</a:t>
            </a:r>
          </a:p>
          <a:p>
            <a:r>
              <a:t>Confidence | medium</a:t>
            </a:r>
          </a:p>
          <a:p>
            <a:r>
              <a:t>Role in assessment | Supporting</a:t>
            </a:r>
          </a:p>
          <a:p>
            <a:r>
              <a:t>Provider summary | synthetic likelihood 75/100; tells: implausible ear anatomy under hat brim, hyper-smooth rendering of fur and felt texture, unnatural symmetry in whisker and facial layout, diffuse artificial lighting effects</a:t>
            </a:r>
          </a:p>
          <a:p>
            <a:r>
              <a:t>Evidence 1 | Implausible ear anatomy under hat brim</a:t>
            </a:r>
          </a:p>
          <a:p>
            <a:r>
              <a:t>Evidence 2 | Hyper-smooth rendering of fur and felt texture</a:t>
            </a:r>
          </a:p>
          <a:p>
            <a:r>
              <a:t>Evidence 3 | Unnatural symmetry in whisker and facial layout</a:t>
            </a:r>
          </a:p>
          <a:p>
            <a:r>
              <a:t>Evidence 4 | Diffuse artificial lighting effects</a:t>
            </a:r>
          </a:p>
          <a:p>
            <a:r>
              <a:t>Evidence 5 | Caveat: High-quality digital art or photo manipulation can occasionally mimic diffusion model artifacts.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File integrity: validated. Signer trust: unresolved under the current local policy. The recorded declarations remain available for review and are not used as a decisive provenance finding. Manifest declares AI-generated content.</a:t>
            </a:r>
          </a:p>
          <a:p>
            <a:r>
              <a:t>Evidence 1 | Credentials: embedded manifest found.</a:t>
            </a:r>
          </a:p>
          <a:p>
            <a:r>
              <a:t>Evidence 2 | Integrity: valid (SDK validation).</a:t>
            </a:r>
          </a:p>
          <a:p>
            <a:r>
              <a:t>Evidence 3 | Signer trust: untrusted under the configured verifier.</a:t>
            </a:r>
          </a:p>
          <a:p>
            <a:r>
              <a:t>Evidence 4 | Active manifest: Manifest declares AI-generated content.</a:t>
            </a:r>
          </a:p>
          <a:p>
            <a:r>
              <a:t>Evidence 5 | Claim generator (declared tool): Adobe_Firefly</a:t>
            </a:r>
          </a:p>
          <a:p>
            <a:r>
              <a:t>Evidence 6 | Declared signer: Adobe Inc.</a:t>
            </a:r>
          </a:p>
          <a:p>
            <a:r>
              <a:t>Evidence 7 | Declared source type: http://cv.iptc.org/newscodes/digitalsourcetype/trainedalgorithmicmedia</a:t>
            </a:r>
          </a:p>
          <a:p>
            <a:r>
              <a:t>Evidence 8 | Active record - declared tool: Adobe_Firefly; actions: c2pa.created.</a:t>
            </a:r>
          </a:p>
          <a:p>
            <a:r>
              <a:t>Evidence 9 | Active record - all actions recorded (signer's declaration): yes.</a:t>
            </a:r>
          </a:p>
          <a:p>
            <a:r>
              <a:t>Evidence 10 | Validation outcome: signingCredential.untrusted</a:t>
            </a:r>
          </a:p>
          <a:p>
            <a:r>
              <a:t>Evidence 11 | Validation outcome: timeStamp.validated</a:t>
            </a:r>
          </a:p>
          <a:p>
            <a:r>
              <a:t>Evidence 12 | Validation outcome: timeStamp.trusted</a:t>
            </a:r>
          </a:p>
          <a:p>
            <a:r>
              <a:t>Evidence 13 | Validation outcome: claimSignature.insideValidity</a:t>
            </a:r>
          </a:p>
          <a:p>
            <a:r>
              <a:t>Evidence 14 | Validation outcome: claimSignature.validated</a:t>
            </a:r>
          </a:p>
          <a:p>
            <a:r>
              <a:t>Evidence 15 | Validation outcome: assertion.hashedURI.match</a:t>
            </a:r>
          </a:p>
          <a:p>
            <a:r>
              <a:t>Evidence 16 | Validation outcome: assertion.dataHash.match</a:t>
            </a:r>
          </a:p>
          <a:p>
            <a:r>
              <a:t>Evidence 17 | Verifier: c2pa-python 0.37.12; native SDK 0.91.0; specification target 2.4; policy embedded-offline-reviewed-trust-v3.</a:t>
            </a:r>
          </a:p>
          <a:p>
            <a:r>
              <a:t>Evidence 18 | Offline embedded-manifest verification; no network trust-list, manifest or revocation refresh.</a:t>
            </a:r>
          </a:p>
          <a:p>
            <a:r>
              <a:t>Evidence 19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File integrity: validated. Signer trust: unresolved under the current local policy. The recorded declarations remain available for review and are not used as a decisive provenance finding. Manifest declares AI-generated content.</a:t>
            </a:r>
          </a:p>
          <a:p>
            <a:r>
              <a:t>Evidence 1 | Credentials: embedded manifest found.</a:t>
            </a:r>
          </a:p>
          <a:p>
            <a:r>
              <a:t>Evidence 2 | Integrity: valid (SDK validation).</a:t>
            </a:r>
          </a:p>
          <a:p>
            <a:r>
              <a:t>Evidence 3 | Signer trust: untrusted under the configured verifier.</a:t>
            </a:r>
          </a:p>
          <a:p>
            <a:r>
              <a:t>Evidence 4 | Active manifest: Manifest declares AI-generated content.</a:t>
            </a:r>
          </a:p>
          <a:p>
            <a:r>
              <a:t>Evidence 5 | Claim generator (declared tool): Adobe_Firefly</a:t>
            </a:r>
          </a:p>
          <a:p>
            <a:r>
              <a:t>Evidence 6 | Declared signer: Adobe Inc.</a:t>
            </a:r>
          </a:p>
          <a:p>
            <a:r>
              <a:t>Evidence 7 | Declared source type: http://cv.iptc.org/newscodes/digitalsourcetype/trainedalgorithmicmedia</a:t>
            </a:r>
          </a:p>
          <a:p>
            <a:r>
              <a:t>Evidence 8 | Active record - declared tool: Adobe_Firefly; actions: c2pa.created.</a:t>
            </a:r>
          </a:p>
          <a:p>
            <a:r>
              <a:t>Evidence 9 | Active record - all actions recorded (signer's declaration): yes.</a:t>
            </a:r>
          </a:p>
          <a:p>
            <a:r>
              <a:t>Evidence 10 | Validation outcome: signingCredential.untrusted</a:t>
            </a:r>
          </a:p>
          <a:p>
            <a:r>
              <a:t>Evidence 11 | Validation outcome: timeStamp.validated</a:t>
            </a:r>
          </a:p>
          <a:p>
            <a:r>
              <a:t>Evidence 12 | Validation outcome: timeStamp.trusted</a:t>
            </a:r>
          </a:p>
          <a:p>
            <a:r>
              <a:t>Evidence 13 | Validation outcome: claimSignature.insideValidity</a:t>
            </a:r>
          </a:p>
          <a:p>
            <a:r>
              <a:t>Evidence 14 | Validation outcome: claimSignature.validated</a:t>
            </a:r>
          </a:p>
          <a:p>
            <a:r>
              <a:t>Evidence 15 | Validation outcome: assertion.hashedURI.match</a:t>
            </a:r>
          </a:p>
          <a:p>
            <a:r>
              <a:t>Evidence 16 | Validation outcome: assertion.dataHash.match</a:t>
            </a:r>
          </a:p>
          <a:p>
            <a:r>
              <a:t>Evidence 17 | Verifier: c2pa-python 0.37.12; native SDK 0.91.0; specification target 2.4; policy embedded-offline-reviewed-trust-v3.</a:t>
            </a:r>
          </a:p>
          <a:p>
            <a:r>
              <a:t>Evidence 18 | Offline embedded-manifest verification; no network trust-list, manifest or revocation refresh.</a:t>
            </a:r>
          </a:p>
          <a:p>
            <a:r>
              <a:t>Evidence 19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File integrity: validated. Signer trust: unresolved under the current local policy. The recorded declarations remain available for review and are not used as a decisive provenance finding. Manifest declares AI-generated content.</a:t>
            </a:r>
          </a:p>
          <a:p>
            <a:r>
              <a:t>Evidence 1 | Credentials: embedded manifest found.</a:t>
            </a:r>
          </a:p>
          <a:p>
            <a:r>
              <a:t>Evidence 2 | Integrity: valid (SDK validation).</a:t>
            </a:r>
          </a:p>
          <a:p>
            <a:r>
              <a:t>Evidence 3 | Signer trust: untrusted under the configured verifier.</a:t>
            </a:r>
          </a:p>
          <a:p>
            <a:r>
              <a:t>Evidence 4 | Active manifest: Manifest declares AI-generated content.</a:t>
            </a:r>
          </a:p>
          <a:p>
            <a:r>
              <a:t>Evidence 5 | Claim generator (declared tool): Adobe_Firefly</a:t>
            </a:r>
          </a:p>
          <a:p>
            <a:r>
              <a:t>Evidence 6 | Declared signer: Adobe Inc.</a:t>
            </a:r>
          </a:p>
          <a:p>
            <a:r>
              <a:t>Evidence 7 | Declared source type: http://cv.iptc.org/newscodes/digitalsourcetype/trainedalgorithmicmedia</a:t>
            </a:r>
          </a:p>
          <a:p>
            <a:r>
              <a:t>Evidence 8 | Active record - declared tool: Adobe_Firefly; actions: c2pa.created.</a:t>
            </a:r>
          </a:p>
          <a:p>
            <a:r>
              <a:t>Evidence 9 | Active record - all actions recorded (signer's declaration): yes.</a:t>
            </a:r>
          </a:p>
          <a:p>
            <a:r>
              <a:t>Evidence 10 | Validation outcome: signingCredential.untrusted</a:t>
            </a:r>
          </a:p>
          <a:p>
            <a:r>
              <a:t>Evidence 11 | Validation outcome: timeStamp.validated</a:t>
            </a:r>
          </a:p>
          <a:p>
            <a:r>
              <a:t>Evidence 12 | Validation outcome: timeStamp.trusted</a:t>
            </a:r>
          </a:p>
          <a:p>
            <a:r>
              <a:t>Evidence 13 | Validation outcome: claimSignature.insideValidity</a:t>
            </a:r>
          </a:p>
          <a:p>
            <a:r>
              <a:t>Evidence 14 | Validation outcome: claimSignature.validated</a:t>
            </a:r>
          </a:p>
          <a:p>
            <a:r>
              <a:t>Evidence 15 | Validation outcome: assertion.hashedURI.match</a:t>
            </a:r>
          </a:p>
          <a:p>
            <a:r>
              <a:t>Evidence 16 | Validation outcome: assertion.dataHash.match</a:t>
            </a:r>
          </a:p>
          <a:p>
            <a:r>
              <a:t>Evidence 17 | Verifier: c2pa-python 0.37.12; native SDK 0.91.0; specification target 2.4; policy embedded-offline-reviewed-trust-v3.</a:t>
            </a:r>
          </a:p>
          <a:p>
            <a:r>
              <a:t>Evidence 18 | Offline embedded-manifest verification; no network trust-list, manifest or revocation refresh.</a:t>
            </a:r>
          </a:p>
          <a:p>
            <a:r>
              <a:t>Evidence 19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Provider evidence / 5</a:t>
            </a:r>
          </a:p>
          <a:p>
            <a:r>
              <a:t>Provider | Local forensic cues</a:t>
            </a:r>
          </a:p>
          <a:p>
            <a:r>
              <a:t>Model | Not recorded</a:t>
            </a:r>
          </a:p>
          <a:p>
            <a:r>
              <a:t>Status | ok</a:t>
            </a:r>
          </a:p>
          <a:p>
            <a:r>
              <a:t>Assessment | partially synthetic</a:t>
            </a:r>
          </a:p>
          <a:p>
            <a:r>
              <a:t>Confidence | low</a:t>
            </a:r>
          </a:p>
          <a:p>
            <a:r>
              <a:t>Role in assessment | Additional finding</a:t>
            </a:r>
          </a:p>
          <a:p>
            <a:r>
              <a:t>Provider summary | Heuristic synthetic likelihood 47/100 from metadata + pixel statistics.</a:t>
            </a:r>
          </a:p>
          <a:p>
            <a:r>
              <a:t>Evidence 1 | No camera EXIF (common in AI exports, screenshots, and re-saves).</a:t>
            </a:r>
          </a:p>
          <a:p>
            <a:r>
              <a:t>Evidence 2 | ELA mean 1.0, peak 26 (uniform high ELA can indicate generation/heavy edit).</a:t>
            </a:r>
          </a:p>
          <a:p>
            <a:r>
              <a:t>Evidence 3 | High-frequency noise std 3.58 (very low/very uniform noise is a synthesis cue).</a:t>
            </a:r>
          </a:p>
          <a:p>
            <a:r>
              <a:t>Evidence 4 | Spectral peakiness 32.99 (periodic frequency peaks can mark generated textures).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Evidence supporting this verdict</a:t>
            </a:r>
          </a:p>
          <a:p>
            <a:r>
              <a:t>Claude Vision | synthetic likelihood 90/100; tells: ear anatomy ambiguous: folded ears appear to merge into the hat brim and head without a clear boundary, whiskers emerge from implausible origins (some from cheeks and neck, not only the muzzle pads) with inconsistent thickness and length, fur texture uniformly hyper-detailed and 'painted' across the face, with an overly regular tabby pattern, hat fits the cat's head perfectly with no deformation or visible support, typical of generated props</a:t>
            </a:r>
          </a:p>
          <a:p>
            <a:r>
              <a:t>OpenAI Vision | synthetic likelihood 78/100; tells: Chest fur forms unusually broad, sculpted clumps compared with the fine facial fur, Several whiskers have angular bends and uneven thickness, Highly regular facial detailing and unusually smooth, uniform iris textures, Hat brim and partly concealed ears have ambiguous contact geometry</a:t>
            </a:r>
          </a:p>
          <a:p>
            <a:r>
              <a:t>Gemini Vision | synthetic likelihood 75/100; tells: implausible ear anatomy under hat brim, hyper-smooth rendering of fur and felt texture, unnatural symmetry in whisker and facial layout, diffuse artificial lighting effects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Additional findings</a:t>
            </a:r>
          </a:p>
          <a:p>
            <a:r>
              <a:t>Local forensic cues | Supporting observation; considered alongside the model assessments.</a:t>
            </a:r>
          </a:p>
          <a:p>
            <a:r>
              <a:t>C2PA Content Credentials | File integrity: validated. Signer trust: unresolved under the current local policy. The recorded declarations remain available for review and are not used as a decisive provenance finding. Manifest declares AI-generated content.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How this assessment was reached</a:t>
            </a:r>
          </a:p>
          <a:p>
            <a:r>
              <a:t>1. override | outcome=none; detail=No confirmed C2PA AI assertion or SynthID watermark. Origin remains unresolved by these checks.</a:t>
            </a:r>
          </a:p>
          <a:p>
            <a:r>
              <a:t>2. model_agreement | synthetic=['Claude Vision', 'OpenAI Vision', 'Gemini Vision']; authentic=[]; uncertain=[]; forensic_supports_synthetic=False</a:t>
            </a:r>
          </a:p>
          <a:p>
            <a:r>
              <a:t>3. verdict | value=synthetic_likely; confidence=high; reason=3 models agree this is likely synthetic.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animal-portrait.jpg</a:t>
            </a:r>
          </a:p>
          <a:p>
            <a:r>
              <a:t>File and analysis record</a:t>
            </a:r>
          </a:p>
          <a:p>
            <a:r>
              <a:t>File | animal-portrait.jpg</a:t>
            </a:r>
          </a:p>
          <a:p>
            <a:r>
              <a:t>Analysis ID | e661b59d-245a-45f7-84ad-51f4402efb24</a:t>
            </a:r>
          </a:p>
          <a:p>
            <a:r>
              <a:t>Generated | 2026-09-26T22:31:02+00:00</a:t>
            </a:r>
          </a:p>
          <a:p>
            <a:r>
              <a:t>Tool | SDA Vision 0.1.0</a:t>
            </a:r>
          </a:p>
          <a:p>
            <a:r>
              <a:t>Models | claude-opus-5-5, gemini-3.8-flash, gpt-6-astra</a:t>
            </a:r>
          </a:p>
          <a:p>
            <a:r>
              <a:t>Method version | pdf-preparation-2026-09-26.1</a:t>
            </a:r>
          </a:p>
          <a:p>
            <a:r>
              <a:t>Analysis lens | general</a:t>
            </a:r>
          </a:p>
          <a:p>
            <a:r>
              <a:t>Original SHA-256 | bdc5c19d4211d9c9f9f8dce5bf4e4dec29e9b32e308ff12a60979481e928154f</a:t>
            </a:r>
          </a:p>
          <a:p>
            <a:r>
              <a:t>Ingestion note 1 | Fresh provider replies acquired for eleven-examples-refresh-20260926-r1; report assembled locally from the saved responses without further API calls.</a:t>
            </a:r>
          </a:p>
          <a:p>
            <a:r>
              <a:t>Ingestion note 2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Analysed item</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a:t>
            </a:r>
          </a:p>
        </p:txBody>
      </p:sp>
      <p:pic>
        <p:nvPicPr>
          <p:cNvPr id="6" name="Picture 5" descr="image.jpg"/>
          <p:cNvPicPr>
            <a:picLocks noChangeAspect="1"/>
          </p:cNvPicPr>
          <p:nvPr/>
        </p:nvPicPr>
        <p:blipFill>
          <a:blip r:embed="rId3"/>
          <a:stretch>
            <a:fillRect/>
          </a:stretch>
        </p:blipFill>
        <p:spPr>
          <a:xfrm>
            <a:off x="1926771" y="1353312"/>
            <a:ext cx="5290457" cy="4114800"/>
          </a:xfrm>
          <a:prstGeom prst="rect">
            <a:avLst/>
          </a:prstGeom>
        </p:spPr>
      </p:pic>
      <p:sp>
        <p:nvSpPr>
          <p:cNvPr id="7" name="TextBox 6"/>
          <p:cNvSpPr txBox="1"/>
          <p:nvPr/>
        </p:nvSpPr>
        <p:spPr>
          <a:xfrm>
            <a:off x="365760" y="5532120"/>
            <a:ext cx="8412480" cy="594360"/>
          </a:xfrm>
          <a:prstGeom prst="rect">
            <a:avLst/>
          </a:prstGeom>
          <a:noFill/>
        </p:spPr>
        <p:txBody>
          <a:bodyPr wrap="square" lIns="0" rIns="0" tIns="0" bIns="0">
            <a:spAutoFit/>
          </a:bodyPr>
          <a:lstStyle/>
          <a:p>
            <a:pPr>
              <a:lnSpc>
                <a:spcPct val="115000"/>
              </a:lnSpc>
              <a:spcAft>
                <a:spcPts val="0"/>
              </a:spcAft>
              <a:defRPr sz="1100" b="0">
                <a:solidFill>
                  <a:srgbClr val="21243A"/>
                </a:solidFill>
                <a:latin typeface="Arial"/>
              </a:defRPr>
            </a:pPr>
            <a:r>
              <a:t>animal-portrait.jpg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summary</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Finding</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Leaning synthetic</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Indicative rating</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78/100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Rating basis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median of available model ratings; not a calibrated probability</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Explanation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3 models agree this is likely synthetic.</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Coverage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image - 1 frame(s) analysed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Review context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Research assessment. Review alongside source information and context. When</a:t>
                      </a:r>
                    </a:p>
                    <a:p>
                      <a:pPr>
                        <a:lnSpc>
                          <a:spcPts val="1600"/>
                        </a:lnSpc>
                        <a:spcAft>
                          <a:spcPts val="0"/>
                        </a:spcAft>
                        <a:defRPr sz="1200" b="0">
                          <a:solidFill>
                            <a:srgbClr val="21243A"/>
                          </a:solidFill>
                          <a:latin typeface="Arial"/>
                        </a:defRPr>
                      </a:pPr>
                      <a:r>
                        <a:t>credentials are missing, origin remains unresolved by this check. Use these</a:t>
                      </a:r>
                    </a:p>
                    <a:p>
                      <a:pPr>
                        <a:lnSpc>
                          <a:spcPts val="1600"/>
                        </a:lnSpc>
                        <a:spcAft>
                          <a:spcPts val="0"/>
                        </a:spcAft>
                        <a:defRPr sz="1200" b="0">
                          <a:solidFill>
                            <a:srgbClr val="21243A"/>
                          </a:solidFill>
                          <a:latin typeface="Arial"/>
                        </a:defRPr>
                      </a:pPr>
                      <a:r>
                        <a:t>findings to inform a documented human review.</a:t>
                      </a:r>
                    </a:p>
                  </a:txBody>
                  <a:tcPr marL="82296" marR="82296" marT="64008" marB="6400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overview</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3</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691993"/>
                <a:gridCol w="1850745"/>
                <a:gridCol w="2523744"/>
                <a:gridCol w="1345996"/>
              </a:tblGrid>
              <a:tr h="347472">
                <a:tc>
                  <a:txBody>
                    <a:bodyPr wrap="none"/>
                    <a:lstStyle/>
                    <a:p>
                      <a:pPr>
                        <a:lnSpc>
                          <a:spcPts val="1600"/>
                        </a:lnSpc>
                        <a:spcAft>
                          <a:spcPts val="0"/>
                        </a:spcAft>
                        <a:defRPr sz="1200" b="1">
                          <a:solidFill>
                            <a:srgbClr val="FFFFFF"/>
                          </a:solidFill>
                          <a:latin typeface="Arial"/>
                        </a:defRPr>
                      </a:pPr>
                      <a:r>
                        <a:t>Provider</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Type / status</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90/100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78/100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75/100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provenance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forensic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47/100</a:t>
                      </a:r>
                    </a:p>
                  </a:txBody>
                  <a:tcPr marL="82296" marR="82296" marT="64008" marB="64008">
                    <a:solidFill>
                      <a:srgbClr val="F1F7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claude-opus-5-5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90/100; tells: ear anatomy ambiguous: folded ears appear to</a:t>
                      </a:r>
                    </a:p>
                    <a:p>
                      <a:pPr>
                        <a:lnSpc>
                          <a:spcPts val="1600"/>
                        </a:lnSpc>
                        <a:spcAft>
                          <a:spcPts val="0"/>
                        </a:spcAft>
                        <a:defRPr sz="1200" b="0">
                          <a:solidFill>
                            <a:srgbClr val="21243A"/>
                          </a:solidFill>
                          <a:latin typeface="Arial"/>
                        </a:defRPr>
                      </a:pPr>
                      <a:r>
                        <a:t>merge into the hat brim and head without a clear boundary, whiskers emerge</a:t>
                      </a:r>
                    </a:p>
                    <a:p>
                      <a:pPr>
                        <a:lnSpc>
                          <a:spcPts val="1600"/>
                        </a:lnSpc>
                        <a:spcAft>
                          <a:spcPts val="0"/>
                        </a:spcAft>
                        <a:defRPr sz="1200" b="0">
                          <a:solidFill>
                            <a:srgbClr val="21243A"/>
                          </a:solidFill>
                          <a:latin typeface="Arial"/>
                        </a:defRPr>
                      </a:pPr>
                      <a:r>
                        <a:t>from implausible origins (some from cheeks and neck, not only the muzzle pads)</a:t>
                      </a:r>
                    </a:p>
                    <a:p>
                      <a:pPr>
                        <a:lnSpc>
                          <a:spcPts val="1600"/>
                        </a:lnSpc>
                        <a:spcAft>
                          <a:spcPts val="0"/>
                        </a:spcAft>
                        <a:defRPr sz="1200" b="0">
                          <a:solidFill>
                            <a:srgbClr val="21243A"/>
                          </a:solidFill>
                          <a:latin typeface="Arial"/>
                        </a:defRPr>
                      </a:pPr>
                      <a:r>
                        <a:t>with inconsistent thickness and length, fur texture uniformly hyper-detailed and</a:t>
                      </a:r>
                    </a:p>
                    <a:p>
                      <a:pPr>
                        <a:lnSpc>
                          <a:spcPts val="1600"/>
                        </a:lnSpc>
                        <a:spcAft>
                          <a:spcPts val="0"/>
                        </a:spcAft>
                        <a:defRPr sz="1200" b="0">
                          <a:solidFill>
                            <a:srgbClr val="21243A"/>
                          </a:solidFill>
                          <a:latin typeface="Arial"/>
                        </a:defRPr>
                      </a:pPr>
                      <a:r>
                        <a:t>'painted' across the face, with an overly regular tabby pattern, hat fits the cat's</a:t>
                      </a:r>
                    </a:p>
                    <a:p>
                      <a:pPr>
                        <a:lnSpc>
                          <a:spcPts val="1600"/>
                        </a:lnSpc>
                        <a:spcAft>
                          <a:spcPts val="0"/>
                        </a:spcAft>
                        <a:defRPr sz="1200" b="0">
                          <a:solidFill>
                            <a:srgbClr val="21243A"/>
                          </a:solidFill>
                          <a:latin typeface="Arial"/>
                        </a:defRPr>
                      </a:pPr>
                      <a:r>
                        <a:t>head perfectly with no deformation or visible support, typical of generated props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163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Ear anatomy ambiguous: folded ears appear to merge into the hat brim and head</a:t>
                      </a:r>
                    </a:p>
                    <a:p>
                      <a:pPr>
                        <a:lnSpc>
                          <a:spcPts val="1600"/>
                        </a:lnSpc>
                        <a:spcAft>
                          <a:spcPts val="0"/>
                        </a:spcAft>
                        <a:defRPr sz="1200" b="0">
                          <a:solidFill>
                            <a:srgbClr val="21243A"/>
                          </a:solidFill>
                          <a:latin typeface="Arial"/>
                        </a:defRPr>
                      </a:pPr>
                      <a:r>
                        <a:t>without a clear boundary</a:t>
                      </a:r>
                    </a:p>
                  </a:txBody>
                  <a:tcPr marL="82296" marR="82296" marT="64008" marB="6400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Whiskers emerge from implausible origins (some from cheeks and neck, not only</a:t>
                      </a:r>
                    </a:p>
                    <a:p>
                      <a:pPr>
                        <a:lnSpc>
                          <a:spcPts val="1600"/>
                        </a:lnSpc>
                        <a:spcAft>
                          <a:spcPts val="0"/>
                        </a:spcAft>
                        <a:defRPr sz="1200" b="0">
                          <a:solidFill>
                            <a:srgbClr val="21243A"/>
                          </a:solidFill>
                          <a:latin typeface="Arial"/>
                        </a:defRPr>
                      </a:pPr>
                      <a:r>
                        <a:t>the muzzle pads) with inconsistent thickness and length</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Fur texture uniformly hyper-detailed and 'painted' across the face, with an overly</a:t>
                      </a:r>
                    </a:p>
                    <a:p>
                      <a:pPr>
                        <a:lnSpc>
                          <a:spcPts val="1600"/>
                        </a:lnSpc>
                        <a:spcAft>
                          <a:spcPts val="0"/>
                        </a:spcAft>
                        <a:defRPr sz="1200" b="0">
                          <a:solidFill>
                            <a:srgbClr val="21243A"/>
                          </a:solidFill>
                          <a:latin typeface="Arial"/>
                        </a:defRPr>
                      </a:pPr>
                      <a:r>
                        <a:t>regular tabby pattern</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Hat fits the cat's head perfectly with no deformation or visible support, typical of</a:t>
                      </a:r>
                    </a:p>
                    <a:p>
                      <a:pPr>
                        <a:lnSpc>
                          <a:spcPts val="1600"/>
                        </a:lnSpc>
                        <a:spcAft>
                          <a:spcPts val="0"/>
                        </a:spcAft>
                        <a:defRPr sz="1200" b="0">
                          <a:solidFill>
                            <a:srgbClr val="21243A"/>
                          </a:solidFill>
                          <a:latin typeface="Arial"/>
                        </a:defRPr>
                      </a:pPr>
                      <a:r>
                        <a:t>generated props</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33588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Idealized 'golden hour' bokeh and rim lighting consistent with stylized</a:t>
                      </a:r>
                    </a:p>
                    <a:p>
                      <a:pPr>
                        <a:lnSpc>
                          <a:spcPts val="1600"/>
                        </a:lnSpc>
                        <a:spcAft>
                          <a:spcPts val="0"/>
                        </a:spcAft>
                        <a:defRPr sz="1200" b="0">
                          <a:solidFill>
                            <a:srgbClr val="21243A"/>
                          </a:solidFill>
                          <a:latin typeface="Arial"/>
                        </a:defRPr>
                      </a:pPr>
                      <a:r>
                        <a:t>text-to-image output</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9116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Eye reflections are glossy but generic and do not clearly correspond to the</a:t>
                      </a:r>
                    </a:p>
                    <a:p>
                      <a:pPr>
                        <a:lnSpc>
                          <a:spcPts val="1600"/>
                        </a:lnSpc>
                        <a:spcAft>
                          <a:spcPts val="0"/>
                        </a:spcAft>
                        <a:defRPr sz="1200" b="0">
                          <a:solidFill>
                            <a:srgbClr val="21243A"/>
                          </a:solidFill>
                          <a:latin typeface="Arial"/>
                        </a:defRPr>
                      </a:pPr>
                      <a:r>
                        <a:t>background light source</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4464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Body and neck fur transition into a vague dark garment with an indistinct edge</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481380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compression-consistent sensor grain; smooth, noise-free tonal gradients</a:t>
                      </a:r>
                    </a:p>
                    <a:p>
                      <a:pPr>
                        <a:lnSpc>
                          <a:spcPts val="1600"/>
                        </a:lnSpc>
                        <a:spcAft>
                          <a:spcPts val="0"/>
                        </a:spcAft>
                        <a:defRPr sz="1200" b="0">
                          <a:solidFill>
                            <a:srgbClr val="21243A"/>
                          </a:solidFill>
                          <a:latin typeface="Arial"/>
                        </a:defRPr>
                      </a:pPr>
                      <a:r>
                        <a:t>throughout</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3665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A real photo of a cat wearing a hat is possible, and heavy retouching or</a:t>
                      </a:r>
                    </a:p>
                    <a:p>
                      <a:pPr>
                        <a:lnSpc>
                          <a:spcPts val="1600"/>
                        </a:lnSpc>
                        <a:spcAft>
                          <a:spcPts val="0"/>
                        </a:spcAft>
                        <a:defRPr sz="1200" b="0">
                          <a:solidFill>
                            <a:srgbClr val="21243A"/>
                          </a:solidFill>
                          <a:latin typeface="Arial"/>
                        </a:defRPr>
                      </a:pPr>
                      <a:r>
                        <a:t>upscaling can mimic generative artifacts. Metadata, C2PA/provenance data, and a</a:t>
                      </a:r>
                    </a:p>
                  </a:txBody>
                  <a:tcPr marL="82296" marR="82296" marT="64008" marB="6400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Continued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reverse-image search should be checked before relying on this assessment.</a:t>
                      </a:r>
                    </a:p>
                  </a:txBody>
                  <a:tcPr marL="82296" marR="82296" marT="64008" marB="64008">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gpt-6-astra</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78/100; tells: Chest fur forms unusually broad, sculpted</a:t>
                      </a:r>
                    </a:p>
                    <a:p>
                      <a:pPr>
                        <a:lnSpc>
                          <a:spcPts val="1600"/>
                        </a:lnSpc>
                        <a:spcAft>
                          <a:spcPts val="0"/>
                        </a:spcAft>
                        <a:defRPr sz="1200" b="0">
                          <a:solidFill>
                            <a:srgbClr val="21243A"/>
                          </a:solidFill>
                          <a:latin typeface="Arial"/>
                        </a:defRPr>
                      </a:pPr>
                      <a:r>
                        <a:t>clumps compared with the fine facial fur, Several whiskers have angular bends</a:t>
                      </a:r>
                    </a:p>
                    <a:p>
                      <a:pPr>
                        <a:lnSpc>
                          <a:spcPts val="1600"/>
                        </a:lnSpc>
                        <a:spcAft>
                          <a:spcPts val="0"/>
                        </a:spcAft>
                        <a:defRPr sz="1200" b="0">
                          <a:solidFill>
                            <a:srgbClr val="21243A"/>
                          </a:solidFill>
                          <a:latin typeface="Arial"/>
                        </a:defRPr>
                      </a:pPr>
                      <a:r>
                        <a:t>and uneven thickness, Highly regular facial detailing and unusually smooth,</a:t>
                      </a:r>
                    </a:p>
                    <a:p>
                      <a:pPr>
                        <a:lnSpc>
                          <a:spcPts val="1600"/>
                        </a:lnSpc>
                        <a:spcAft>
                          <a:spcPts val="0"/>
                        </a:spcAft>
                        <a:defRPr sz="1200" b="0">
                          <a:solidFill>
                            <a:srgbClr val="21243A"/>
                          </a:solidFill>
                          <a:latin typeface="Arial"/>
                        </a:defRPr>
                      </a:pPr>
                      <a:r>
                        <a:t>uniform iris textures, Hat brim and partly concealed ears have ambiguous contact</a:t>
                      </a:r>
                    </a:p>
                    <a:p>
                      <a:pPr>
                        <a:lnSpc>
                          <a:spcPts val="1600"/>
                        </a:lnSpc>
                        <a:spcAft>
                          <a:spcPts val="0"/>
                        </a:spcAft>
                        <a:defRPr sz="1200" b="0">
                          <a:solidFill>
                            <a:srgbClr val="21243A"/>
                          </a:solidFill>
                          <a:latin typeface="Arial"/>
                        </a:defRPr>
                      </a:pPr>
                      <a:r>
                        <a:t>geometry</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9601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Chest fur forms unusually broad, sculpted clumps compared with the fine facial fur</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3096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Several whiskers have angular bends and uneven thickness</a:t>
                      </a:r>
                    </a:p>
                  </a:txBody>
                  <a:tcPr marL="82296" marR="82296" marT="64008" marB="64008">
                    <a:solidFill>
                      <a:srgbClr val="F1F7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Highly regular facial detailing and unusually smooth, uniform iris textures</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Hat brim and partly concealed ears have ambiguous contact geometry</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3997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Consistent warm rim lighting and plausible background blur provide some</a:t>
                      </a:r>
                    </a:p>
                    <a:p>
                      <a:pPr>
                        <a:lnSpc>
                          <a:spcPts val="1600"/>
                        </a:lnSpc>
                        <a:spcAft>
                          <a:spcPts val="0"/>
                        </a:spcAft>
                        <a:defRPr sz="1200" b="0">
                          <a:solidFill>
                            <a:srgbClr val="21243A"/>
                          </a:solidFill>
                          <a:latin typeface="Arial"/>
                        </a:defRPr>
                      </a:pPr>
                      <a:r>
                        <a:t>photographic cues</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2952496"/>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Caveat: Stylized photography and sharpening can produce similar textures; the</a:t>
                      </a:r>
                    </a:p>
                    <a:p>
                      <a:pPr>
                        <a:lnSpc>
                          <a:spcPts val="1600"/>
                        </a:lnSpc>
                        <a:spcAft>
                          <a:spcPts val="0"/>
                        </a:spcAft>
                        <a:defRPr sz="1200" b="0">
                          <a:solidFill>
                            <a:srgbClr val="21243A"/>
                          </a:solidFill>
                          <a:latin typeface="Arial"/>
                        </a:defRPr>
                      </a:pPr>
                      <a:r>
                        <a:t>original file and provenance are needed to distinguish generation from</a:t>
                      </a:r>
                    </a:p>
                    <a:p>
                      <a:pPr>
                        <a:lnSpc>
                          <a:spcPts val="1600"/>
                        </a:lnSpc>
                        <a:spcAft>
                          <a:spcPts val="0"/>
                        </a:spcAft>
                        <a:defRPr sz="1200" b="0">
                          <a:solidFill>
                            <a:srgbClr val="21243A"/>
                          </a:solidFill>
                          <a:latin typeface="Arial"/>
                        </a:defRPr>
                      </a:pPr>
                      <a:r>
                        <a:t>photography or editing.</a:t>
                      </a:r>
                    </a:p>
                  </a:txBody>
                  <a:tcPr marL="82296" marR="82296" marT="64008" marB="64008">
                    <a:solidFill>
                      <a:srgbClr val="F1F7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gemini-3.8-flash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75/100; tells: implausible ear anatomy under hat brim,</a:t>
                      </a:r>
                    </a:p>
                    <a:p>
                      <a:pPr>
                        <a:lnSpc>
                          <a:spcPts val="1600"/>
                        </a:lnSpc>
                        <a:spcAft>
                          <a:spcPts val="0"/>
                        </a:spcAft>
                        <a:defRPr sz="1200" b="0">
                          <a:solidFill>
                            <a:srgbClr val="21243A"/>
                          </a:solidFill>
                          <a:latin typeface="Arial"/>
                        </a:defRPr>
                      </a:pPr>
                      <a:r>
                        <a:t>hyper-smooth rendering of fur and felt texture, unnatural symmetry in whisker</a:t>
                      </a:r>
                    </a:p>
                    <a:p>
                      <a:pPr>
                        <a:lnSpc>
                          <a:spcPts val="1600"/>
                        </a:lnSpc>
                        <a:spcAft>
                          <a:spcPts val="0"/>
                        </a:spcAft>
                        <a:defRPr sz="1200" b="0">
                          <a:solidFill>
                            <a:srgbClr val="21243A"/>
                          </a:solidFill>
                          <a:latin typeface="Arial"/>
                        </a:defRPr>
                      </a:pPr>
                      <a:r>
                        <a:t>and facial layout, diffuse artificial lighting effects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Implausible ear anatomy under hat brim</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9032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Hyper-smooth rendering of fur and felt texture</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Unnatural symmetry in whisker and facial layout</a:t>
                      </a:r>
                    </a:p>
                  </a:txBody>
                  <a:tcPr marL="82296" marR="82296" marT="64008" marB="6400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Diffuse artificial lighting effects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High-quality digital art or photo manipulation can occasionally mimic</a:t>
                      </a:r>
                    </a:p>
                    <a:p>
                      <a:pPr>
                        <a:lnSpc>
                          <a:spcPts val="1600"/>
                        </a:lnSpc>
                        <a:spcAft>
                          <a:spcPts val="0"/>
                        </a:spcAft>
                        <a:defRPr sz="1200" b="0">
                          <a:solidFill>
                            <a:srgbClr val="21243A"/>
                          </a:solidFill>
                          <a:latin typeface="Arial"/>
                        </a:defRPr>
                      </a:pPr>
                      <a:r>
                        <a:t>diffusion model artifacts.</a:t>
                      </a:r>
                    </a:p>
                  </a:txBody>
                  <a:tcPr marL="82296" marR="82296" marT="64008" marB="6400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File integrity: validated. Signer trust: unresolved under the current local policy.</a:t>
                      </a:r>
                    </a:p>
                    <a:p>
                      <a:pPr>
                        <a:lnSpc>
                          <a:spcPts val="1600"/>
                        </a:lnSpc>
                        <a:spcAft>
                          <a:spcPts val="0"/>
                        </a:spcAft>
                        <a:defRPr sz="1200" b="0">
                          <a:solidFill>
                            <a:srgbClr val="21243A"/>
                          </a:solidFill>
                          <a:latin typeface="Arial"/>
                        </a:defRPr>
                      </a:pPr>
                      <a:r>
                        <a:t>The recorded declarations remain available for review and are not used as a</a:t>
                      </a:r>
                    </a:p>
                    <a:p>
                      <a:pPr>
                        <a:lnSpc>
                          <a:spcPts val="1600"/>
                        </a:lnSpc>
                        <a:spcAft>
                          <a:spcPts val="0"/>
                        </a:spcAft>
                        <a:defRPr sz="1200" b="0">
                          <a:solidFill>
                            <a:srgbClr val="21243A"/>
                          </a:solidFill>
                          <a:latin typeface="Arial"/>
                        </a:defRPr>
                      </a:pPr>
                      <a:r>
                        <a:t>decisive provenance finding. Manifest declares AI-generated content.</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Credentials: embedded manifest found.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9032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Integrity: valid (SDK validation).</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Signer trust: untrusted under the configured verifier.</a:t>
                      </a:r>
                    </a:p>
                  </a:txBody>
                  <a:tcPr marL="82296" marR="82296" marT="64008" marB="6400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Active manifest: Manifest declares AI-generated content.</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Claim generator (declared tool): Adobe_Firefly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Declared signer: Adobe Inc.</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Declared source type:</a:t>
                      </a:r>
                    </a:p>
                    <a:p>
                      <a:pPr>
                        <a:lnSpc>
                          <a:spcPts val="1600"/>
                        </a:lnSpc>
                        <a:spcAft>
                          <a:spcPts val="0"/>
                        </a:spcAft>
                        <a:defRPr sz="1200" b="0">
                          <a:solidFill>
                            <a:srgbClr val="21243A"/>
                          </a:solidFill>
                          <a:latin typeface="Arial"/>
                        </a:defRPr>
                      </a:pPr>
                      <a:r>
                        <a:t>http://cv.iptc.org/newscodes/digitalsourcetype/trainedalgorithmicmedia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3020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Active record - declared tool: Adobe_Firefly; actions: c2pa.created.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6515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Active record - all actions recorded (signer's declaration): yes.</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40010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10</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signingCredential.untrusted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3505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Validation outcome: timeStamp.validated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7000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timeStamp.trusted</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0495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Validation outcome: claimSignature.insideValidity</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39902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claimSignature.validated</a:t>
                      </a:r>
                    </a:p>
                  </a:txBody>
                  <a:tcPr marL="82296" marR="82296" marT="64008" marB="64008">
                    <a:solidFill>
                      <a:srgbClr val="F1F7F7"/>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Validation outcome: assertion.hashedURI.match</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assertion.dataHash.match</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3997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Verifier: c2pa-python 0.37.12; native SDK 0.91.0; specification target 2.4; policy</a:t>
                      </a:r>
                    </a:p>
                    <a:p>
                      <a:pPr>
                        <a:lnSpc>
                          <a:spcPts val="1600"/>
                        </a:lnSpc>
                        <a:spcAft>
                          <a:spcPts val="0"/>
                        </a:spcAft>
                        <a:defRPr sz="1200" b="0">
                          <a:solidFill>
                            <a:srgbClr val="21243A"/>
                          </a:solidFill>
                          <a:latin typeface="Arial"/>
                        </a:defRPr>
                      </a:pPr>
                      <a:r>
                        <a:t>embedded-offline-reviewed-trust-v3.</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29524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Offline embedded-manifest verification; no network trust-list, manifest or</a:t>
                      </a:r>
                    </a:p>
                    <a:p>
                      <a:pPr>
                        <a:lnSpc>
                          <a:spcPts val="1600"/>
                        </a:lnSpc>
                        <a:spcAft>
                          <a:spcPts val="0"/>
                        </a:spcAft>
                        <a:defRPr sz="1200" b="0">
                          <a:solidFill>
                            <a:srgbClr val="21243A"/>
                          </a:solidFill>
                          <a:latin typeface="Arial"/>
                        </a:defRPr>
                      </a:pPr>
                      <a:r>
                        <a:t>revocation refresh.</a:t>
                      </a:r>
                    </a:p>
                  </a:txBody>
                  <a:tcPr marL="82296" marR="82296" marT="64008" marB="64008">
                    <a:solidFill>
                      <a:srgbClr val="F1F7F7"/>
                    </a:solidFill>
                  </a:tcPr>
                </a:tc>
              </a:tr>
            </a:tbl>
          </a:graphicData>
        </a:graphic>
      </p:graphicFrame>
      <p:graphicFrame>
        <p:nvGraphicFramePr>
          <p:cNvPr id="11" name="Table 10"/>
          <p:cNvGraphicFramePr>
            <a:graphicFrameLocks noGrp="1"/>
          </p:cNvGraphicFramePr>
          <p:nvPr/>
        </p:nvGraphicFramePr>
        <p:xfrm>
          <a:off x="365760" y="3505199"/>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reviewed local C2PA trust snapshot installed. Provenance overrides are</a:t>
                      </a:r>
                    </a:p>
                    <a:p>
                      <a:pPr>
                        <a:lnSpc>
                          <a:spcPts val="1600"/>
                        </a:lnSpc>
                        <a:spcAft>
                          <a:spcPts val="0"/>
                        </a:spcAft>
                        <a:defRPr sz="1200" b="0">
                          <a:solidFill>
                            <a:srgbClr val="21243A"/>
                          </a:solidFill>
                          <a:latin typeface="Arial"/>
                        </a:defRPr>
                      </a:pPr>
                      <a:r>
                        <a:t>disabled.</a:t>
                      </a:r>
                    </a:p>
                  </a:txBody>
                  <a:tcPr marL="82296" marR="82296" marT="64008" marB="64008">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5</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Heuristic synthetic likelihood 47/100 from metadata + pixel statistics.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 EXIF (common in AI exports, screenshots, and re-saves).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ELA mean 1.0, peak 26 (uniform high ELA can indicate generation/heavy edit).</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48463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High-frequency noise std 3.58 (very low/very uniform noise is a synthesis cue).</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19582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Spectral peakiness 32.99 (periodic frequency peaks can mark generated textures).</a:t>
                      </a:r>
                    </a:p>
                  </a:txBody>
                  <a:tcPr marL="82296" marR="82296" marT="64008" marB="64008">
                    <a:solidFill>
                      <a:srgbClr val="F1F7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Evidence supporting this verdict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90/100; tells: ear anatomy ambiguous: folded ears appear to</a:t>
                      </a:r>
                    </a:p>
                    <a:p>
                      <a:pPr>
                        <a:lnSpc>
                          <a:spcPts val="1600"/>
                        </a:lnSpc>
                        <a:spcAft>
                          <a:spcPts val="0"/>
                        </a:spcAft>
                        <a:defRPr sz="1200" b="0">
                          <a:solidFill>
                            <a:srgbClr val="21243A"/>
                          </a:solidFill>
                          <a:latin typeface="Arial"/>
                        </a:defRPr>
                      </a:pPr>
                      <a:r>
                        <a:t>merge into the hat brim and head without a clear boundary, whiskers emerge</a:t>
                      </a:r>
                    </a:p>
                    <a:p>
                      <a:pPr>
                        <a:lnSpc>
                          <a:spcPts val="1600"/>
                        </a:lnSpc>
                        <a:spcAft>
                          <a:spcPts val="0"/>
                        </a:spcAft>
                        <a:defRPr sz="1200" b="0">
                          <a:solidFill>
                            <a:srgbClr val="21243A"/>
                          </a:solidFill>
                          <a:latin typeface="Arial"/>
                        </a:defRPr>
                      </a:pPr>
                      <a:r>
                        <a:t>from implausible origins (some from cheeks and neck, not only the muzzle pads)</a:t>
                      </a:r>
                    </a:p>
                    <a:p>
                      <a:pPr>
                        <a:lnSpc>
                          <a:spcPts val="1600"/>
                        </a:lnSpc>
                        <a:spcAft>
                          <a:spcPts val="0"/>
                        </a:spcAft>
                        <a:defRPr sz="1200" b="0">
                          <a:solidFill>
                            <a:srgbClr val="21243A"/>
                          </a:solidFill>
                          <a:latin typeface="Arial"/>
                        </a:defRPr>
                      </a:pPr>
                      <a:r>
                        <a:t>with inconsistent thickness and length, fur texture uniformly hyper-detailed and</a:t>
                      </a:r>
                    </a:p>
                    <a:p>
                      <a:pPr>
                        <a:lnSpc>
                          <a:spcPts val="1600"/>
                        </a:lnSpc>
                        <a:spcAft>
                          <a:spcPts val="0"/>
                        </a:spcAft>
                        <a:defRPr sz="1200" b="0">
                          <a:solidFill>
                            <a:srgbClr val="21243A"/>
                          </a:solidFill>
                          <a:latin typeface="Arial"/>
                        </a:defRPr>
                      </a:pPr>
                      <a:r>
                        <a:t>'painted' across the face, with an overly regular tabby pattern, hat fits the cat's</a:t>
                      </a:r>
                    </a:p>
                    <a:p>
                      <a:pPr>
                        <a:lnSpc>
                          <a:spcPts val="1600"/>
                        </a:lnSpc>
                        <a:spcAft>
                          <a:spcPts val="0"/>
                        </a:spcAft>
                        <a:defRPr sz="1200" b="0">
                          <a:solidFill>
                            <a:srgbClr val="21243A"/>
                          </a:solidFill>
                          <a:latin typeface="Arial"/>
                        </a:defRPr>
                      </a:pPr>
                      <a:r>
                        <a:t>head perfectly with no deformation or visible support, typical of generated props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3066288"/>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likelihood 78/100; tells: Chest fur forms unusually broad, sculpted</a:t>
                      </a:r>
                    </a:p>
                    <a:p>
                      <a:pPr>
                        <a:lnSpc>
                          <a:spcPts val="1600"/>
                        </a:lnSpc>
                        <a:spcAft>
                          <a:spcPts val="0"/>
                        </a:spcAft>
                        <a:defRPr sz="1200" b="0">
                          <a:solidFill>
                            <a:srgbClr val="21243A"/>
                          </a:solidFill>
                          <a:latin typeface="Arial"/>
                        </a:defRPr>
                      </a:pPr>
                      <a:r>
                        <a:t>clumps compared with the fine facial fur, Several whiskers have angular bends</a:t>
                      </a:r>
                    </a:p>
                    <a:p>
                      <a:pPr>
                        <a:lnSpc>
                          <a:spcPts val="1600"/>
                        </a:lnSpc>
                        <a:spcAft>
                          <a:spcPts val="0"/>
                        </a:spcAft>
                        <a:defRPr sz="1200" b="0">
                          <a:solidFill>
                            <a:srgbClr val="21243A"/>
                          </a:solidFill>
                          <a:latin typeface="Arial"/>
                        </a:defRPr>
                      </a:pPr>
                      <a:r>
                        <a:t>and uneven thickness, Highly regular facial detailing and unusually smooth,</a:t>
                      </a:r>
                    </a:p>
                    <a:p>
                      <a:pPr>
                        <a:lnSpc>
                          <a:spcPts val="1600"/>
                        </a:lnSpc>
                        <a:spcAft>
                          <a:spcPts val="0"/>
                        </a:spcAft>
                        <a:defRPr sz="1200" b="0">
                          <a:solidFill>
                            <a:srgbClr val="21243A"/>
                          </a:solidFill>
                          <a:latin typeface="Arial"/>
                        </a:defRPr>
                      </a:pPr>
                      <a:r>
                        <a:t>uniform iris textures, Hat brim and partly concealed ears have ambiguous contact</a:t>
                      </a:r>
                    </a:p>
                    <a:p>
                      <a:pPr>
                        <a:lnSpc>
                          <a:spcPts val="1600"/>
                        </a:lnSpc>
                        <a:spcAft>
                          <a:spcPts val="0"/>
                        </a:spcAft>
                        <a:defRPr sz="1200" b="0">
                          <a:solidFill>
                            <a:srgbClr val="21243A"/>
                          </a:solidFill>
                          <a:latin typeface="Arial"/>
                        </a:defRPr>
                      </a:pPr>
                      <a:r>
                        <a:t>geometry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422859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75/100; tells: implausible ear anatomy under hat brim,</a:t>
                      </a:r>
                    </a:p>
                    <a:p>
                      <a:pPr>
                        <a:lnSpc>
                          <a:spcPts val="1600"/>
                        </a:lnSpc>
                        <a:spcAft>
                          <a:spcPts val="0"/>
                        </a:spcAft>
                        <a:defRPr sz="1200" b="0">
                          <a:solidFill>
                            <a:srgbClr val="21243A"/>
                          </a:solidFill>
                          <a:latin typeface="Arial"/>
                        </a:defRPr>
                      </a:pPr>
                      <a:r>
                        <a:t>hyper-smooth rendering of fur and felt texture, unnatural symmetry in whisker</a:t>
                      </a:r>
                    </a:p>
                    <a:p>
                      <a:pPr>
                        <a:lnSpc>
                          <a:spcPts val="1600"/>
                        </a:lnSpc>
                        <a:spcAft>
                          <a:spcPts val="0"/>
                        </a:spcAft>
                        <a:defRPr sz="1200" b="0">
                          <a:solidFill>
                            <a:srgbClr val="21243A"/>
                          </a:solidFill>
                          <a:latin typeface="Arial"/>
                        </a:defRPr>
                      </a:pPr>
                      <a:r>
                        <a:t>and facial layout, diffuse artificial lighting effects</a:t>
                      </a:r>
                    </a:p>
                  </a:txBody>
                  <a:tcPr marL="82296" marR="82296" marT="64008" marB="64008">
                    <a:solidFill>
                      <a:srgbClr val="F1F7F7"/>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Additional findings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Supporting observation; considered alongside the model assessments.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File integrity: validated. Signer trust: unresolved under the current local policy.</a:t>
                      </a:r>
                    </a:p>
                    <a:p>
                      <a:pPr>
                        <a:lnSpc>
                          <a:spcPts val="1600"/>
                        </a:lnSpc>
                        <a:spcAft>
                          <a:spcPts val="0"/>
                        </a:spcAft>
                        <a:defRPr sz="1200" b="0">
                          <a:solidFill>
                            <a:srgbClr val="21243A"/>
                          </a:solidFill>
                          <a:latin typeface="Arial"/>
                        </a:defRPr>
                      </a:pPr>
                      <a:r>
                        <a:t>The recorded declarations remain available for review and are not used as a</a:t>
                      </a:r>
                    </a:p>
                    <a:p>
                      <a:pPr>
                        <a:lnSpc>
                          <a:spcPts val="1600"/>
                        </a:lnSpc>
                        <a:spcAft>
                          <a:spcPts val="0"/>
                        </a:spcAft>
                        <a:defRPr sz="1200" b="0">
                          <a:solidFill>
                            <a:srgbClr val="21243A"/>
                          </a:solidFill>
                          <a:latin typeface="Arial"/>
                        </a:defRPr>
                      </a:pPr>
                      <a:r>
                        <a:t>decisive provenance finding. Manifest declares AI-generated content.</a:t>
                      </a:r>
                    </a:p>
                  </a:txBody>
                  <a:tcPr marL="82296" marR="82296" marT="64008" marB="6400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How this assessment was reached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1. override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outcome=none; detail=No confirmed C2PA AI assertion or SynthID watermark.</a:t>
                      </a:r>
                    </a:p>
                    <a:p>
                      <a:pPr>
                        <a:lnSpc>
                          <a:spcPts val="1600"/>
                        </a:lnSpc>
                        <a:spcAft>
                          <a:spcPts val="0"/>
                        </a:spcAft>
                        <a:defRPr sz="1200" b="0">
                          <a:solidFill>
                            <a:srgbClr val="21243A"/>
                          </a:solidFill>
                          <a:latin typeface="Arial"/>
                        </a:defRPr>
                      </a:pPr>
                      <a:r>
                        <a:t>Origin remains unresolved by these checks.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2. model_agreement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synthetic=['Claude Vision', 'OpenAI Vision', 'Gemini Vision']; authentic=[];</a:t>
                      </a:r>
                    </a:p>
                    <a:p>
                      <a:pPr>
                        <a:lnSpc>
                          <a:spcPts val="1600"/>
                        </a:lnSpc>
                        <a:spcAft>
                          <a:spcPts val="0"/>
                        </a:spcAft>
                        <a:defRPr sz="1200" b="0">
                          <a:solidFill>
                            <a:srgbClr val="21243A"/>
                          </a:solidFill>
                          <a:latin typeface="Arial"/>
                        </a:defRPr>
                      </a:pPr>
                      <a:r>
                        <a:t>uncertain=[]; forensic_supports_synthetic=False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3. verdict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value=synthetic_likely; confidence=high; reason=3 models agree this is likely</a:t>
                      </a:r>
                    </a:p>
                    <a:p>
                      <a:pPr>
                        <a:lnSpc>
                          <a:spcPts val="1600"/>
                        </a:lnSpc>
                        <a:spcAft>
                          <a:spcPts val="0"/>
                        </a:spcAft>
                        <a:defRPr sz="1200" b="0">
                          <a:solidFill>
                            <a:srgbClr val="21243A"/>
                          </a:solidFill>
                          <a:latin typeface="Arial"/>
                        </a:defRPr>
                      </a:pPr>
                      <a:r>
                        <a:t>synthetic.</a:t>
                      </a:r>
                    </a:p>
                  </a:txBody>
                  <a:tcPr marL="82296" marR="82296" marT="64008" marB="64008">
                    <a:solidFill>
                      <a:srgbClr val="F1F7F7"/>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File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animal-portrait.jpg</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ID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e661b59d-245a-45f7-84ad-51f4402efb24</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Generated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2026-09-26T22:31:02+00:00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Tool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SDA Vision 0.1.0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claude-opus-5-5, gemini-3.8-flash, gpt-6-astra</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Method version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pdf-preparation-2026-09-26.1</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lens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general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Original SHA-256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bdc5c19d4211d9c9f9f8dce5bf4e4dec29e9b32e308ff12a60979481e928154f</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Fresh provider replies acquired for eleven-examples-refresh-20260926-r1; report</a:t>
                      </a:r>
                    </a:p>
                    <a:p>
                      <a:pPr>
                        <a:lnSpc>
                          <a:spcPts val="1600"/>
                        </a:lnSpc>
                        <a:spcAft>
                          <a:spcPts val="0"/>
                        </a:spcAft>
                        <a:defRPr sz="1200" b="0">
                          <a:solidFill>
                            <a:srgbClr val="21243A"/>
                          </a:solidFill>
                          <a:latin typeface="Arial"/>
                        </a:defRPr>
                      </a:pPr>
                      <a:r>
                        <a:t>assembled locally from the saved responses without further API calls.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049520"/>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Provider latency values are restored from the acquisition receipts (maximum</a:t>
                      </a:r>
                    </a:p>
                    <a:p>
                      <a:pPr>
                        <a:lnSpc>
                          <a:spcPts val="1600"/>
                        </a:lnSpc>
                        <a:spcAft>
                          <a:spcPts val="0"/>
                        </a:spcAft>
                        <a:defRPr sz="1200" b="0">
                          <a:solidFill>
                            <a:srgbClr val="21243A"/>
                          </a:solidFill>
                          <a:latin typeface="Arial"/>
                        </a:defRPr>
                      </a:pPr>
                      <a:r>
                        <a:t>sampled-frame latency per provider); raw replies and assessment results are</a:t>
                      </a:r>
                    </a:p>
                    <a:p>
                      <a:pPr>
                        <a:lnSpc>
                          <a:spcPts val="1600"/>
                        </a:lnSpc>
                        <a:spcAft>
                          <a:spcPts val="0"/>
                        </a:spcAft>
                        <a:defRPr sz="1200" b="0">
                          <a:solidFill>
                            <a:srgbClr val="21243A"/>
                          </a:solidFill>
                          <a:latin typeface="Arial"/>
                        </a:defRPr>
                      </a:pPr>
                      <a:r>
                        <a:t>unchanged by this bookkeeping step.</a:t>
                      </a:r>
                    </a:p>
                  </a:txBody>
                  <a:tcPr marL="82296" marR="82296" marT="64008" marB="6400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 Vision: Analysis report</dc:title>
  <dc:subject>Research assessment export</dc:subject>
  <dc:creator>SDA Vision</dc:creator>
  <cp:keywords/>
  <dc:description/>
  <cp:lastModifiedBy>SDA Vision</cp:lastModifiedBy>
  <cp:revision>1</cp:revision>
  <dcterms:created xsi:type="dcterms:W3CDTF">2026-10-16T06:37:14Z</dcterms:created>
  <dcterms:modified xsi:type="dcterms:W3CDTF">2026-10-16T06:37:14Z</dcterms:modified>
  <cp:category/>
</cp:coreProperties>
</file>