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podcast.m4a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summary</a:t>
            </a:r>
          </a:p>
          <a:p>
            <a:r>
              <a:t>Finding | Leaning synthetic</a:t>
            </a:r>
          </a:p>
          <a:p>
            <a:r>
              <a:t>Recorded verdict | synthetic likely</a:t>
            </a:r>
          </a:p>
          <a:p>
            <a:r>
              <a:t>Confidence | high</a:t>
            </a:r>
          </a:p>
          <a:p>
            <a:r>
              <a:t>Indicative rating | 90/100</a:t>
            </a:r>
          </a:p>
          <a:p>
            <a:r>
              <a:t>Rating basis | median of available model ratings; not a calibrated probability</a:t>
            </a:r>
          </a:p>
          <a:p>
            <a:r>
              <a:t>Explanation | 3 models agree this is likely synthetic.</a:t>
            </a:r>
          </a:p>
          <a:p>
            <a:r>
              <a:t>Coverage | audio - 0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overview</a:t>
            </a:r>
          </a:p>
          <a:p>
            <a:r>
              <a:t>Claude Analysis | analysis / ok | synthetic likely | 78/100</a:t>
            </a:r>
          </a:p>
          <a:p>
            <a:r>
              <a:t>OpenAI Analysis | analysis / ok | synthetic likely | 90/100</a:t>
            </a:r>
          </a:p>
          <a:p>
            <a:r>
              <a:t>Gemini Analysis | analysis / ok | synthetic likely | 95/100</a:t>
            </a:r>
          </a:p>
          <a:p>
            <a:r>
              <a:t>Local forensic cues | forensic / ok | not applicable | n/a</a:t>
            </a:r>
          </a:p>
          <a:p>
            <a:r>
              <a:t>C2PA Content Credentials | provenance / ok | inconclusive | 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4</a:t>
            </a:r>
          </a:p>
          <a:p>
            <a:r>
              <a:t>Provider | Local forensic cues</a:t>
            </a:r>
          </a:p>
          <a:p>
            <a:r>
              <a:t>Model | Not recorded</a:t>
            </a:r>
          </a:p>
          <a:p>
            <a:r>
              <a:t>Status | ok</a:t>
            </a:r>
          </a:p>
          <a:p>
            <a:r>
              <a:t>Assessment | not applicable</a:t>
            </a:r>
          </a:p>
          <a:p>
            <a:r>
              <a:t>Confidence | Not recorded</a:t>
            </a:r>
          </a:p>
          <a:p>
            <a:r>
              <a:t>Role in assessment | Not listed</a:t>
            </a:r>
          </a:p>
          <a:p>
            <a:r>
              <a:t>Provider summary | Pixel forensics: outside text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Local soundtrack inspection</a:t>
            </a:r>
          </a:p>
          <a:p>
            <a:r>
              <a:t>Record 1 | Audio inspection: present; tracks: 1.</a:t>
            </a:r>
          </a:p>
          <a:p>
            <a:r>
              <a:t>Record 2 | Track 0: aac, 2 channel(s), 44100 Hz; duration 1468.569252s; decode decoded; 3/3 sampled windows above -60 dBFS after mono downmix.</a:t>
            </a:r>
          </a:p>
          <a:p>
            <a:r>
              <a:t>Record 3 | Sample windows: 0.0s + 3.0s; 732.785s + 3.0s; 1465.569s + 3.0s</a:t>
            </a:r>
          </a:p>
          <a:p>
            <a:r>
              <a:t>Record 4 | Original-file credentials are recorded separately. Credential coverage of this audio track: unresolved.</a:t>
            </a:r>
          </a:p>
          <a:p>
            <a:r>
              <a:t>Record 5 | Audio-level measurements cover the sampled windows. The remaining audio has not been inspected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Optional audio excerpt description</a:t>
            </a:r>
          </a:p>
          <a:p>
            <a:r>
              <a:t>Record 1 | Google Gemini / gemini-3.8-flash; status: ok; content: speech.</a:t>
            </a:r>
          </a:p>
          <a:p>
            <a:r>
              <a:t>Record 2 | Checked: 2026-09-27T19:20:45.393134+00:00; consent to Google recorded: True.</a:t>
            </a:r>
          </a:p>
          <a:p>
            <a:r>
              <a:t>Record 3 | Track 0; excerpt 0s + 20.0s; prompt: soundtrack-content-v1.</a:t>
            </a:r>
          </a:p>
          <a:p>
            <a:r>
              <a:t>Record 4 | Original SHA-256: 58663a6a9e4b634bdb703ead0aaa7cd6dce7fbf97e70c3c1cc61b3311b94c0b4; excerpt SHA-256: f9713796490ddc9624cfc92412738eaca7192d9cbde08dd259237e29e2aa2128.</a:t>
            </a:r>
          </a:p>
          <a:p>
            <a:r>
              <a:t>Record 5 | A female voice speaks in an interview or conversational tone.</a:t>
            </a:r>
          </a:p>
          <a:p>
            <a:r>
              <a:t>Record 6 | A male voice responds briefly in agreement.</a:t>
            </a:r>
          </a:p>
          <a:p>
            <a:r>
              <a:t>Record 7 | The conversation sounds like a podcast or radio broadcast discussion.</a:t>
            </a:r>
          </a:p>
          <a:p>
            <a:r>
              <a:t>Record 8 | Audio is clean with minimal to no background noise.</a:t>
            </a:r>
          </a:p>
          <a:p>
            <a:r>
              <a:t>Record 9 | Transcript excerpt: Imagine holding, uh, like a simple piece of cloth in your hand. Let's say it's 2019, and it's just a standard surgical mask. Right, just a boring everyday medical supply, something you'd really only see at the dentist's office. Exactly.</a:t>
            </a:r>
          </a:p>
          <a:p>
            <a:r>
              <a:t>Record 10 | This assessment describes the selected audio excerpt. Origin and credentials are considered separately.</a:t>
            </a:r>
          </a:p>
          <a:p>
            <a:r>
              <a:t>Record 11 | Analysed excerpt: mono, 16 kHz PCM. Credential checks use the original file.</a:t>
            </a:r>
          </a:p>
          <a:p>
            <a:r>
              <a:t>Record 12 | Audio findings are shown alongside the visual assessment and remain separate from its score.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Optional audio excerpt description</a:t>
            </a:r>
          </a:p>
          <a:p>
            <a:r>
              <a:t>Record 1 | Google Gemini / gemini-3.8-flash; status: ok; content: speech.</a:t>
            </a:r>
          </a:p>
          <a:p>
            <a:r>
              <a:t>Record 2 | Checked: 2026-09-27T19:20:45.393134+00:00; consent to Google recorded: True.</a:t>
            </a:r>
          </a:p>
          <a:p>
            <a:r>
              <a:t>Record 3 | Track 0; excerpt 0s + 20.0s; prompt: soundtrack-content-v1.</a:t>
            </a:r>
          </a:p>
          <a:p>
            <a:r>
              <a:t>Record 4 | Original SHA-256: 58663a6a9e4b634bdb703ead0aaa7cd6dce7fbf97e70c3c1cc61b3311b94c0b4; excerpt SHA-256: f9713796490ddc9624cfc92412738eaca7192d9cbde08dd259237e29e2aa2128.</a:t>
            </a:r>
          </a:p>
          <a:p>
            <a:r>
              <a:t>Record 5 | A female voice speaks in an interview or conversational tone.</a:t>
            </a:r>
          </a:p>
          <a:p>
            <a:r>
              <a:t>Record 6 | A male voice responds briefly in agreement.</a:t>
            </a:r>
          </a:p>
          <a:p>
            <a:r>
              <a:t>Record 7 | The conversation sounds like a podcast or radio broadcast discussion.</a:t>
            </a:r>
          </a:p>
          <a:p>
            <a:r>
              <a:t>Record 8 | Audio is clean with minimal to no background noise.</a:t>
            </a:r>
          </a:p>
          <a:p>
            <a:r>
              <a:t>Record 9 | Transcript excerpt: Imagine holding, uh, like a simple piece of cloth in your hand. Let's say it's 2019, and it's just a standard surgical mask. Right, just a boring everyday medical supply, something you'd really only see at the dentist's office. Exactly.</a:t>
            </a:r>
          </a:p>
          <a:p>
            <a:r>
              <a:t>Record 10 | This assessment describes the selected audio excerpt. Origin and credentials are considered separately.</a:t>
            </a:r>
          </a:p>
          <a:p>
            <a:r>
              <a:t>Record 11 | Analysed excerpt: mono, 16 kHz PCM. Credential checks use the original file.</a:t>
            </a:r>
          </a:p>
          <a:p>
            <a:r>
              <a:t>Record 12 | Audio findings are shown alongside the visual assessment and remain separate from its score.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coverage</a:t>
            </a:r>
          </a:p>
          <a:p>
            <a:r>
              <a:t>Record 1 | Visual verdicts for videos cover the sampled still frames. Standalone-audio content assessments cover the transcript. Soundtrack-origin detection and continuous-motion analysis are outside these assessments.</a:t>
            </a:r>
          </a:p>
          <a:p>
            <a:r>
              <a:t>Record 2 | Original-file credentials, excerpt descriptions and visual interpretation are recorded separately. Credential coverage of an individual audio track remains unresolved by this workflow.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Evidence supporting this verdict</a:t>
            </a:r>
          </a:p>
          <a:p>
            <a:r>
              <a:t>Claude Analysis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OpenAI Analysis | The highly regular two-host exchanges, repetitive affirmations, scripted explanatory prompts, and formulaic transitions strongly suggest synthetic generation or editing.</a:t>
            </a:r>
          </a:p>
          <a:p>
            <a:r>
              <a:t>Gemini Analysis | The text displays the classic conversational tropes, rapid turn-taking, and synthetic cadence characteristic of an automated AI podcast generator like NotebookLM.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Additional findings</a:t>
            </a:r>
          </a:p>
          <a:p>
            <a:r>
              <a:t>C2PA Content Credentials | Not checked in this text-analysis pass; no original-media provenance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How this assessment was reached</a:t>
            </a:r>
          </a:p>
          <a:p>
            <a:r>
              <a:t>1. override | outcome=none; detail=No confirmed C2PA AI assertion or SynthID watermark. Origin remains unresolved by these checks.</a:t>
            </a:r>
          </a:p>
          <a:p>
            <a:r>
              <a:t>2. model_agreement | synthetic=['Claude Analysis', 'OpenAI Analysis', 'Gemini Analysis'];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Cite this analysis</a:t>
            </a:r>
          </a:p>
          <a:p>
            <a:r>
              <a:t>Software citation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podcast.m4a; media type: audio; recorded at: 2026-09-26T22:31:07+00:00;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685800" y="1353312"/>
            <a:ext cx="7772400" cy="38862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podcast.m4a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- 0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Two-host explainer podcast summarising a</a:t>
                      </a:r>
                    </a:p>
                    <a:p>
                      <a:pPr>
                        <a:lnSpc>
                          <a:spcPts val="1600"/>
                        </a:lnSpc>
                        <a:spcAft>
                          <a:spcPts val="0"/>
                        </a:spcAft>
                        <a:defRPr sz="1200" b="0">
                          <a:solidFill>
                            <a:srgbClr val="21243A"/>
                          </a:solidFill>
                          <a:latin typeface="Arial"/>
                        </a:defRPr>
                      </a:pPr>
                      <a:r>
                        <a:t>peer-reviewed study, with historical context, a stated neutrality disclaimer and</a:t>
                      </a:r>
                    </a:p>
                    <a:p>
                      <a:pPr>
                        <a:lnSpc>
                          <a:spcPts val="1600"/>
                        </a:lnSpc>
                        <a:spcAft>
                          <a:spcPts val="0"/>
                        </a:spcAft>
                        <a:defRPr sz="1200" b="0">
                          <a:solidFill>
                            <a:srgbClr val="21243A"/>
                          </a:solidFill>
                          <a:latin typeface="Arial"/>
                        </a:defRPr>
                      </a:pPr>
                      <a:r>
                        <a:t>interpretive commentary on polarisation</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Study by Sam Martin and Samantha Vanderslott (Oxford Vaccine Group) published</a:t>
                      </a:r>
                    </a:p>
                    <a:p>
                      <a:pPr>
                        <a:lnSpc>
                          <a:spcPts val="1600"/>
                        </a:lnSpc>
                        <a:spcAft>
                          <a:spcPts val="0"/>
                        </a:spcAft>
                        <a:defRPr sz="1200" b="0">
                          <a:solidFill>
                            <a:srgbClr val="21243A"/>
                          </a:solidFill>
                          <a:latin typeface="Arial"/>
                        </a:defRPr>
                      </a:pPr>
                      <a:r>
                        <a:t>in journal Vaccine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Analysed 7.89 million English-language US/UK tweets, June 2020 to June 2021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Used Meltwater for collection and InfraNodus for text network analysis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5.91 million tweets on masks, 1.98 million on vaccines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65150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podcasters can use similar conventions, and transcription</a:t>
                      </a:r>
                    </a:p>
                    <a:p>
                      <a:pPr>
                        <a:lnSpc>
                          <a:spcPts val="1600"/>
                        </a:lnSpc>
                        <a:spcAft>
                          <a:spcPts val="0"/>
                        </a:spcAft>
                        <a:defRPr sz="1200" b="0">
                          <a:solidFill>
                            <a:srgbClr val="21243A"/>
                          </a:solidFill>
                          <a:latin typeface="Arial"/>
                        </a:defRPr>
                      </a:pPr>
                      <a:r>
                        <a:t>artefacts may mask or mimic synthetic patterns; source audio and provenance</a:t>
                      </a:r>
                    </a:p>
                    <a:p>
                      <a:pPr>
                        <a:lnSpc>
                          <a:spcPts val="1600"/>
                        </a:lnSpc>
                        <a:spcAft>
                          <a:spcPts val="0"/>
                        </a:spcAft>
                        <a:defRPr sz="1200" b="0">
                          <a:solidFill>
                            <a:srgbClr val="21243A"/>
                          </a:solidFill>
                          <a:latin typeface="Arial"/>
                        </a:defRPr>
                      </a:pPr>
                      <a:r>
                        <a:t>should be checked.</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Conversational research explainer using staged</a:t>
                      </a:r>
                    </a:p>
                    <a:p>
                      <a:pPr>
                        <a:lnSpc>
                          <a:spcPts val="1600"/>
                        </a:lnSpc>
                        <a:spcAft>
                          <a:spcPts val="0"/>
                        </a:spcAft>
                        <a:defRPr sz="1200" b="0">
                          <a:solidFill>
                            <a:srgbClr val="21243A"/>
                          </a:solidFill>
                          <a:latin typeface="Arial"/>
                        </a:defRPr>
                      </a:pPr>
                      <a:r>
                        <a:t>questions, emphatic agreement, historical parallels, and sociological</a:t>
                      </a:r>
                    </a:p>
                    <a:p>
                      <a:pPr>
                        <a:lnSpc>
                          <a:spcPts val="1600"/>
                        </a:lnSpc>
                        <a:spcAft>
                          <a:spcPts val="0"/>
                        </a:spcAft>
                        <a:defRPr sz="1200" b="0">
                          <a:solidFill>
                            <a:srgbClr val="21243A"/>
                          </a:solidFill>
                          <a:latin typeface="Arial"/>
                        </a:defRPr>
                      </a:pPr>
                      <a:r>
                        <a:t>interpretations.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cited study reportedly analyzed 7.89 million English-language tweets from</a:t>
                      </a:r>
                    </a:p>
                    <a:p>
                      <a:pPr>
                        <a:lnSpc>
                          <a:spcPts val="1600"/>
                        </a:lnSpc>
                        <a:spcAft>
                          <a:spcPts val="0"/>
                        </a:spcAft>
                        <a:defRPr sz="1200" b="0">
                          <a:solidFill>
                            <a:srgbClr val="21243A"/>
                          </a:solidFill>
                          <a:latin typeface="Arial"/>
                        </a:defRPr>
                      </a:pPr>
                      <a:r>
                        <a:t>June 2020 to June 2021.</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Researchers reportedly used Meltwater and InfraNodus to examine mask and</a:t>
                      </a:r>
                    </a:p>
                    <a:p>
                      <a:pPr>
                        <a:lnSpc>
                          <a:spcPts val="1600"/>
                        </a:lnSpc>
                        <a:spcAft>
                          <a:spcPts val="0"/>
                        </a:spcAft>
                        <a:defRPr sz="1200" b="0">
                          <a:solidFill>
                            <a:srgbClr val="21243A"/>
                          </a:solidFill>
                          <a:latin typeface="Arial"/>
                        </a:defRPr>
                      </a:pPr>
                      <a:r>
                        <a:t>vaccine discourse in the US and UK.</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text describes convergence between anti-vaccine and anti-mask groups.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It reports greater negative mask sentiment in the UK than the US.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A human-scripted podcast could share these features; transcript artifacts</a:t>
                      </a:r>
                    </a:p>
                    <a:p>
                      <a:pPr>
                        <a:lnSpc>
                          <a:spcPts val="1600"/>
                        </a:lnSpc>
                        <a:spcAft>
                          <a:spcPts val="0"/>
                        </a:spcAft>
                        <a:defRPr sz="1200" b="0">
                          <a:solidFill>
                            <a:srgbClr val="21243A"/>
                          </a:solidFill>
                          <a:latin typeface="Arial"/>
                        </a:defRPr>
                      </a:pPr>
                      <a:r>
                        <a:t>and absent provenance limit attribution.</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An informal two-host podcast script discussing academic</a:t>
                      </a:r>
                    </a:p>
                    <a:p>
                      <a:pPr>
                        <a:lnSpc>
                          <a:spcPts val="1600"/>
                        </a:lnSpc>
                        <a:spcAft>
                          <a:spcPts val="0"/>
                        </a:spcAft>
                        <a:defRPr sz="1200" b="0">
                          <a:solidFill>
                            <a:srgbClr val="21243A"/>
                          </a:solidFill>
                          <a:latin typeface="Arial"/>
                        </a:defRPr>
                      </a:pPr>
                      <a:r>
                        <a:t>research on social media discourse and health mandates.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Oxford Vaccine Group researchers analyzed 7.89 million English-language tweets</a:t>
                      </a:r>
                    </a:p>
                    <a:p>
                      <a:pPr>
                        <a:lnSpc>
                          <a:spcPts val="1600"/>
                        </a:lnSpc>
                        <a:spcAft>
                          <a:spcPts val="0"/>
                        </a:spcAft>
                        <a:defRPr sz="1200" b="0">
                          <a:solidFill>
                            <a:srgbClr val="21243A"/>
                          </a:solidFill>
                          <a:latin typeface="Arial"/>
                        </a:defRPr>
                      </a:pPr>
                      <a:r>
                        <a:t>from the US and UK between June 2020 and June 2021</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Study used Meltwater and InfraNodus network analysis software to examine</a:t>
                      </a:r>
                    </a:p>
                    <a:p>
                      <a:pPr>
                        <a:lnSpc>
                          <a:spcPts val="1600"/>
                        </a:lnSpc>
                        <a:spcAft>
                          <a:spcPts val="0"/>
                        </a:spcAft>
                        <a:defRPr sz="1200" b="0">
                          <a:solidFill>
                            <a:srgbClr val="21243A"/>
                          </a:solidFill>
                          <a:latin typeface="Arial"/>
                        </a:defRPr>
                      </a:pPr>
                      <a:r>
                        <a:t>sentiment around masks and vaccines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5.91 million analyzed tweets focused on masks, while 1.98 million focused on</a:t>
                      </a:r>
                    </a:p>
                    <a:p>
                      <a:pPr>
                        <a:lnSpc>
                          <a:spcPts val="1600"/>
                        </a:lnSpc>
                        <a:spcAft>
                          <a:spcPts val="0"/>
                        </a:spcAft>
                        <a:defRPr sz="1200" b="0">
                          <a:solidFill>
                            <a:srgbClr val="21243A"/>
                          </a:solidFill>
                          <a:latin typeface="Arial"/>
                        </a:defRPr>
                      </a:pPr>
                      <a:r>
                        <a:t>vaccines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Negative sentiment toward masks was 28% in the UK compared to 22% in the US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 hosts discussing academic papers can occasionally use</a:t>
                      </a:r>
                    </a:p>
                    <a:p>
                      <a:pPr>
                        <a:lnSpc>
                          <a:spcPts val="1600"/>
                        </a:lnSpc>
                        <a:spcAft>
                          <a:spcPts val="0"/>
                        </a:spcAft>
                        <a:defRPr sz="1200" b="0">
                          <a:solidFill>
                            <a:srgbClr val="21243A"/>
                          </a:solidFill>
                          <a:latin typeface="Arial"/>
                        </a:defRPr>
                      </a:pPr>
                      <a:r>
                        <a:t>similar rehearsed, highly structured banter.</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4</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listed</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Pixel forensics: outside text analysis.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Local soundtrack inspection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inspection: present; tracks: 1.</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Track 0: aac, 2 channel(s), 44100 Hz; duration 1468.569252s; decode decoded; 3/3</a:t>
                      </a:r>
                    </a:p>
                    <a:p>
                      <a:pPr>
                        <a:lnSpc>
                          <a:spcPts val="1600"/>
                        </a:lnSpc>
                        <a:spcAft>
                          <a:spcPts val="0"/>
                        </a:spcAft>
                        <a:defRPr sz="1200" b="0">
                          <a:solidFill>
                            <a:srgbClr val="21243A"/>
                          </a:solidFill>
                          <a:latin typeface="Arial"/>
                        </a:defRPr>
                      </a:pPr>
                      <a:r>
                        <a:t>sampled windows above -60 dBFS after mono downmix.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Sample windows: 0.0s + 3.0s; 732.785s + 3.0s; 1465.569s + 3.0s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are recorded separately. Credential coverage of this audio</a:t>
                      </a:r>
                    </a:p>
                    <a:p>
                      <a:pPr>
                        <a:lnSpc>
                          <a:spcPts val="1600"/>
                        </a:lnSpc>
                        <a:spcAft>
                          <a:spcPts val="0"/>
                        </a:spcAft>
                        <a:defRPr sz="1200" b="0">
                          <a:solidFill>
                            <a:srgbClr val="21243A"/>
                          </a:solidFill>
                          <a:latin typeface="Arial"/>
                        </a:defRPr>
                      </a:pPr>
                      <a:r>
                        <a:t>track: unresolved.</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Audio-level measurements cover the sampled windows. The remaining audio has</a:t>
                      </a:r>
                    </a:p>
                    <a:p>
                      <a:pPr>
                        <a:lnSpc>
                          <a:spcPts val="1600"/>
                        </a:lnSpc>
                        <a:spcAft>
                          <a:spcPts val="0"/>
                        </a:spcAft>
                        <a:defRPr sz="1200" b="0">
                          <a:solidFill>
                            <a:srgbClr val="21243A"/>
                          </a:solidFill>
                          <a:latin typeface="Arial"/>
                        </a:defRPr>
                      </a:pPr>
                      <a:r>
                        <a:t>not been inspected by this check.</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Optional audio excerpt description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Google Gemini / gemini-3.8-flash; status: ok; content: speech.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Checked: 2026-09-27T19:20:45.393134+00:00; consent to Google recorded: True.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Track 0; excerpt 0s + 20.0s; prompt: soundtrack-content-v1.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 SHA-256:</a:t>
                      </a:r>
                    </a:p>
                    <a:p>
                      <a:pPr>
                        <a:lnSpc>
                          <a:spcPts val="1600"/>
                        </a:lnSpc>
                        <a:spcAft>
                          <a:spcPts val="0"/>
                        </a:spcAft>
                        <a:defRPr sz="1200" b="0">
                          <a:solidFill>
                            <a:srgbClr val="21243A"/>
                          </a:solidFill>
                          <a:latin typeface="Arial"/>
                        </a:defRPr>
                      </a:pPr>
                      <a:r>
                        <a:t>58663a6a9e4b634bdb703ead0aaa7cd6dce7fbf97e70c3c1cc61b3311b94c0b4;</a:t>
                      </a:r>
                    </a:p>
                    <a:p>
                      <a:pPr>
                        <a:lnSpc>
                          <a:spcPts val="1600"/>
                        </a:lnSpc>
                        <a:spcAft>
                          <a:spcPts val="0"/>
                        </a:spcAft>
                        <a:defRPr sz="1200" b="0">
                          <a:solidFill>
                            <a:srgbClr val="21243A"/>
                          </a:solidFill>
                          <a:latin typeface="Arial"/>
                        </a:defRPr>
                      </a:pPr>
                      <a:r>
                        <a:t>excerpt SHA-256:</a:t>
                      </a:r>
                    </a:p>
                    <a:p>
                      <a:pPr>
                        <a:lnSpc>
                          <a:spcPts val="1600"/>
                        </a:lnSpc>
                        <a:spcAft>
                          <a:spcPts val="0"/>
                        </a:spcAft>
                        <a:defRPr sz="1200" b="0">
                          <a:solidFill>
                            <a:srgbClr val="21243A"/>
                          </a:solidFill>
                          <a:latin typeface="Arial"/>
                        </a:defRPr>
                      </a:pPr>
                      <a:r>
                        <a:t>f9713796490ddc9624cfc92412738eaca7192d9cbde08dd259237e29e2aa2128.</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7084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 female voice speaks in an interview or conversational tone.</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0579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 male voice responds briefly in agreement.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4074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7</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conversation sounds like a podcast or radio broadcast discussion.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8</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is clean with minimal to no background noise.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 9</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Transcript excerpt: Imagine holding, uh, like a simple piece of cloth in your hand.</a:t>
                      </a:r>
                    </a:p>
                    <a:p>
                      <a:pPr>
                        <a:lnSpc>
                          <a:spcPts val="1600"/>
                        </a:lnSpc>
                        <a:spcAft>
                          <a:spcPts val="0"/>
                        </a:spcAft>
                        <a:defRPr sz="1200" b="0">
                          <a:solidFill>
                            <a:srgbClr val="21243A"/>
                          </a:solidFill>
                          <a:latin typeface="Arial"/>
                        </a:defRPr>
                      </a:pPr>
                      <a:r>
                        <a:t>Let's say it's 2019, and it's just a standard surgical mask. Right, just a boring</a:t>
                      </a:r>
                    </a:p>
                    <a:p>
                      <a:pPr>
                        <a:lnSpc>
                          <a:spcPts val="1600"/>
                        </a:lnSpc>
                        <a:spcAft>
                          <a:spcPts val="0"/>
                        </a:spcAft>
                        <a:defRPr sz="1200" b="0">
                          <a:solidFill>
                            <a:srgbClr val="21243A"/>
                          </a:solidFill>
                          <a:latin typeface="Arial"/>
                        </a:defRPr>
                      </a:pPr>
                      <a:r>
                        <a:t>everyday medical supply, something you'd really only see at the dentist's office.</a:t>
                      </a:r>
                    </a:p>
                    <a:p>
                      <a:pPr>
                        <a:lnSpc>
                          <a:spcPts val="1600"/>
                        </a:lnSpc>
                        <a:spcAft>
                          <a:spcPts val="0"/>
                        </a:spcAft>
                        <a:defRPr sz="1200" b="0">
                          <a:solidFill>
                            <a:srgbClr val="21243A"/>
                          </a:solidFill>
                          <a:latin typeface="Arial"/>
                        </a:defRPr>
                      </a:pPr>
                      <a:r>
                        <a:t>Exactly.</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Optional audio excerpt description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10</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This assessment describes the selected audio excerpt. Origin and credentials are</a:t>
                      </a:r>
                    </a:p>
                    <a:p>
                      <a:pPr>
                        <a:lnSpc>
                          <a:spcPts val="1600"/>
                        </a:lnSpc>
                        <a:spcAft>
                          <a:spcPts val="0"/>
                        </a:spcAft>
                        <a:defRPr sz="1200" b="0">
                          <a:solidFill>
                            <a:srgbClr val="21243A"/>
                          </a:solidFill>
                          <a:latin typeface="Arial"/>
                        </a:defRPr>
                      </a:pPr>
                      <a:r>
                        <a:t>considered separately.</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Analysed excerpt: mono, 16 kHz PCM. Credential checks use the original file.</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12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findings are shown alongside the visual assessment and remain separate</a:t>
                      </a:r>
                    </a:p>
                    <a:p>
                      <a:pPr>
                        <a:lnSpc>
                          <a:spcPts val="1600"/>
                        </a:lnSpc>
                        <a:spcAft>
                          <a:spcPts val="0"/>
                        </a:spcAft>
                        <a:defRPr sz="1200" b="0">
                          <a:solidFill>
                            <a:srgbClr val="21243A"/>
                          </a:solidFill>
                          <a:latin typeface="Arial"/>
                        </a:defRPr>
                      </a:pPr>
                      <a:r>
                        <a:t>from its score.</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coverage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Visual verdicts for videos cover the sampled still frames. Standalone-audio content</a:t>
                      </a:r>
                    </a:p>
                    <a:p>
                      <a:pPr>
                        <a:lnSpc>
                          <a:spcPts val="1600"/>
                        </a:lnSpc>
                        <a:spcAft>
                          <a:spcPts val="0"/>
                        </a:spcAft>
                        <a:defRPr sz="1200" b="0">
                          <a:solidFill>
                            <a:srgbClr val="21243A"/>
                          </a:solidFill>
                          <a:latin typeface="Arial"/>
                        </a:defRPr>
                      </a:pPr>
                      <a:r>
                        <a:t>assessments cover the transcript. Soundtrack-origin detection and</a:t>
                      </a:r>
                    </a:p>
                    <a:p>
                      <a:pPr>
                        <a:lnSpc>
                          <a:spcPts val="1600"/>
                        </a:lnSpc>
                        <a:spcAft>
                          <a:spcPts val="0"/>
                        </a:spcAft>
                        <a:defRPr sz="1200" b="0">
                          <a:solidFill>
                            <a:srgbClr val="21243A"/>
                          </a:solidFill>
                          <a:latin typeface="Arial"/>
                        </a:defRPr>
                      </a:pPr>
                      <a:r>
                        <a:t>continuous-motion analysis are outside these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excerpt descriptions and visual interpretation are</a:t>
                      </a:r>
                    </a:p>
                    <a:p>
                      <a:pPr>
                        <a:lnSpc>
                          <a:spcPts val="1600"/>
                        </a:lnSpc>
                        <a:spcAft>
                          <a:spcPts val="0"/>
                        </a:spcAft>
                        <a:defRPr sz="1200" b="0">
                          <a:solidFill>
                            <a:srgbClr val="21243A"/>
                          </a:solidFill>
                          <a:latin typeface="Arial"/>
                        </a:defRPr>
                      </a:pPr>
                      <a:r>
                        <a:t>recorded separately. Credential coverage of an individual audio track remains</a:t>
                      </a:r>
                    </a:p>
                    <a:p>
                      <a:pPr>
                        <a:lnSpc>
                          <a:spcPts val="1600"/>
                        </a:lnSpc>
                        <a:spcAft>
                          <a:spcPts val="0"/>
                        </a:spcAft>
                        <a:defRPr sz="1200" b="0">
                          <a:solidFill>
                            <a:srgbClr val="21243A"/>
                          </a:solidFill>
                          <a:latin typeface="Arial"/>
                        </a:defRPr>
                      </a:pPr>
                      <a:r>
                        <a:t>unresolved by this workflow.</a:t>
                      </a:r>
                    </a:p>
                  </a:txBody>
                  <a:tcPr marL="82296" marR="82296" marT="64008" marB="6400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6189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checked in this text-analysis pass; no original-media provenance conclusion.</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Imagine holding a like a simple piece of cloth in your hand. Let's say it's 2019, and</a:t>
                      </a:r>
                    </a:p>
                    <a:p>
                      <a:pPr>
                        <a:lnSpc>
                          <a:spcPts val="1600"/>
                        </a:lnSpc>
                        <a:spcAft>
                          <a:spcPts val="0"/>
                        </a:spcAft>
                        <a:defRPr sz="1200" b="0">
                          <a:solidFill>
                            <a:srgbClr val="21243A"/>
                          </a:solidFill>
                          <a:latin typeface="Arial"/>
                        </a:defRPr>
                      </a:pPr>
                      <a:r>
                        <a:t>it's just a standard surgical mask. Right, just a boring everyday medical supply,</a:t>
                      </a:r>
                    </a:p>
                    <a:p>
                      <a:pPr>
                        <a:lnSpc>
                          <a:spcPts val="1600"/>
                        </a:lnSpc>
                        <a:spcAft>
                          <a:spcPts val="0"/>
                        </a:spcAft>
                        <a:defRPr sz="1200" b="0">
                          <a:solidFill>
                            <a:srgbClr val="21243A"/>
                          </a:solidFill>
                          <a:latin typeface="Arial"/>
                        </a:defRPr>
                      </a:pPr>
                      <a:r>
                        <a:t>something you'd really only see at the dentist office. Exactly. But then fast-forward</a:t>
                      </a:r>
                    </a:p>
                    <a:p>
                      <a:pPr>
                        <a:lnSpc>
                          <a:spcPts val="1600"/>
                        </a:lnSpc>
                        <a:spcAft>
                          <a:spcPts val="0"/>
                        </a:spcAft>
                        <a:defRPr sz="1200" b="0">
                          <a:solidFill>
                            <a:srgbClr val="21243A"/>
                          </a:solidFill>
                          <a:latin typeface="Arial"/>
                        </a:defRPr>
                      </a:pPr>
                      <a:r>
                        <a:t>to the end of 2020, and that exact same piece of cloth had morphed into like a</a:t>
                      </a:r>
                    </a:p>
                    <a:p>
                      <a:pPr>
                        <a:lnSpc>
                          <a:spcPts val="1600"/>
                        </a:lnSpc>
                        <a:spcAft>
                          <a:spcPts val="0"/>
                        </a:spcAft>
                        <a:defRPr sz="1200" b="0">
                          <a:solidFill>
                            <a:srgbClr val="21243A"/>
                          </a:solidFill>
                          <a:latin typeface="Arial"/>
                        </a:defRPr>
                      </a:pPr>
                      <a:r>
                        <a:t>literal measure of your morality. Oh, absolutely. It became a symbol of your</a:t>
                      </a:r>
                    </a:p>
                    <a:p>
                      <a:pPr>
                        <a:lnSpc>
                          <a:spcPts val="1600"/>
                        </a:lnSpc>
                        <a:spcAft>
                          <a:spcPts val="0"/>
                        </a:spcAft>
                        <a:defRPr sz="1200" b="0">
                          <a:solidFill>
                            <a:srgbClr val="21243A"/>
                          </a:solidFill>
                          <a:latin typeface="Arial"/>
                        </a:defRPr>
                      </a:pPr>
                      <a:r>
                        <a:t>political affiliation, your patriotism, even. It's just wild to think about. I mean,</a:t>
                      </a:r>
                    </a:p>
                    <a:p>
                      <a:pPr>
                        <a:lnSpc>
                          <a:spcPts val="1600"/>
                        </a:lnSpc>
                        <a:spcAft>
                          <a:spcPts val="0"/>
                        </a:spcAft>
                        <a:defRPr sz="1200" b="0">
                          <a:solidFill>
                            <a:srgbClr val="21243A"/>
                          </a:solidFill>
                          <a:latin typeface="Arial"/>
                        </a:defRPr>
                      </a:pPr>
                      <a:r>
                        <a:t>today we are looking at the exact digital moment a basic health mandate turned</a:t>
                      </a:r>
                    </a:p>
                    <a:p>
                      <a:pPr>
                        <a:lnSpc>
                          <a:spcPts val="1600"/>
                        </a:lnSpc>
                        <a:spcAft>
                          <a:spcPts val="0"/>
                        </a:spcAft>
                        <a:defRPr sz="1200" b="0">
                          <a:solidFill>
                            <a:srgbClr val="21243A"/>
                          </a:solidFill>
                          <a:latin typeface="Arial"/>
                        </a:defRPr>
                      </a:pPr>
                      <a:r>
                        <a:t>into a full-blown ideological war. It really is one of the most compressed, intense</a:t>
                      </a:r>
                    </a:p>
                    <a:p>
                      <a:pPr>
                        <a:lnSpc>
                          <a:spcPts val="1600"/>
                        </a:lnSpc>
                        <a:spcAft>
                          <a:spcPts val="0"/>
                        </a:spcAft>
                        <a:defRPr sz="1200" b="0">
                          <a:solidFill>
                            <a:srgbClr val="21243A"/>
                          </a:solidFill>
                          <a:latin typeface="Arial"/>
                        </a:defRPr>
                      </a:pPr>
                      <a:r>
                        <a:t>sociological shifts we've ever witnessed. Yeah. We went from a public that largely</a:t>
                      </a:r>
                    </a:p>
                    <a:p>
                      <a:pPr>
                        <a:lnSpc>
                          <a:spcPts val="1600"/>
                        </a:lnSpc>
                        <a:spcAft>
                          <a:spcPts val="0"/>
                        </a:spcAft>
                        <a:defRPr sz="1200" b="0">
                          <a:solidFill>
                            <a:srgbClr val="21243A"/>
                          </a:solidFill>
                          <a:latin typeface="Arial"/>
                        </a:defRPr>
                      </a:pPr>
                      <a:r>
                        <a:t>didn't think about epidemiology at all to a society where every single person was</a:t>
                      </a:r>
                    </a:p>
                    <a:p>
                      <a:pPr>
                        <a:lnSpc>
                          <a:spcPts val="1600"/>
                        </a:lnSpc>
                        <a:spcAft>
                          <a:spcPts val="0"/>
                        </a:spcAft>
                        <a:defRPr sz="1200" b="0">
                          <a:solidFill>
                            <a:srgbClr val="21243A"/>
                          </a:solidFill>
                          <a:latin typeface="Arial"/>
                        </a:defRPr>
                      </a:pPr>
                      <a:r>
                        <a:t>forced to take a public, highly visible stance on a global health crisis. And usually,</a:t>
                      </a:r>
                    </a:p>
                    <a:p>
                      <a:pPr>
                        <a:lnSpc>
                          <a:spcPts val="1600"/>
                        </a:lnSpc>
                        <a:spcAft>
                          <a:spcPts val="0"/>
                        </a:spcAft>
                        <a:defRPr sz="1200" b="0">
                          <a:solidFill>
                            <a:srgbClr val="21243A"/>
                          </a:solidFill>
                          <a:latin typeface="Arial"/>
                        </a:defRPr>
                      </a:pPr>
                      <a:r>
                        <a:t>you know, when we talk about a massive global event like that, we have to rely on</a:t>
                      </a:r>
                    </a:p>
                    <a:p>
                      <a:pPr>
                        <a:lnSpc>
                          <a:spcPts val="1600"/>
                        </a:lnSpc>
                        <a:spcAft>
                          <a:spcPts val="0"/>
                        </a:spcAft>
                        <a:defRPr sz="1200" b="0">
                          <a:solidFill>
                            <a:srgbClr val="21243A"/>
                          </a:solidFill>
                          <a:latin typeface="Arial"/>
                        </a:defRPr>
                      </a:pPr>
                      <a:r>
                        <a:t>historians decades later to piece together the public mood. Right, digging through</a:t>
                      </a:r>
                    </a:p>
                    <a:p>
                      <a:pPr>
                        <a:lnSpc>
                          <a:spcPts val="1600"/>
                        </a:lnSpc>
                        <a:spcAft>
                          <a:spcPts val="0"/>
                        </a:spcAft>
                        <a:defRPr sz="1200" b="0">
                          <a:solidFill>
                            <a:srgbClr val="21243A"/>
                          </a:solidFill>
                          <a:latin typeface="Arial"/>
                        </a:defRPr>
                      </a:pPr>
                      <a:r>
                        <a:t>old newspaper clippings or a diary entries. Exactly. But for the COVID-19</a:t>
                      </a:r>
                    </a:p>
                    <a:p>
                      <a:pPr>
                        <a:lnSpc>
                          <a:spcPts val="1600"/>
                        </a:lnSpc>
                        <a:spcAft>
                          <a:spcPts val="0"/>
                        </a:spcAft>
                        <a:defRPr sz="1200" b="0">
                          <a:solidFill>
                            <a:srgbClr val="21243A"/>
                          </a:solidFill>
                          <a:latin typeface="Arial"/>
                        </a:defRPr>
                      </a:pPr>
                      <a:r>
                        <a:t>pandemic, we have this complete, real-time behavioral laboratory. So, we are</a:t>
                      </a:r>
                    </a:p>
                    <a:p>
                      <a:pPr>
                        <a:lnSpc>
                          <a:spcPts val="1600"/>
                        </a:lnSpc>
                        <a:spcAft>
                          <a:spcPts val="0"/>
                        </a:spcAft>
                        <a:defRPr sz="1200" b="0">
                          <a:solidFill>
                            <a:srgbClr val="21243A"/>
                          </a:solidFill>
                          <a:latin typeface="Arial"/>
                        </a:defRPr>
                      </a:pPr>
                      <a:r>
                        <a:t>grounding our conversation today in this fascinating peer-reviewed study from</a:t>
                      </a:r>
                    </a:p>
                    <a:p>
                      <a:pPr>
                        <a:lnSpc>
                          <a:spcPts val="1600"/>
                        </a:lnSpc>
                        <a:spcAft>
                          <a:spcPts val="0"/>
                        </a:spcAft>
                        <a:defRPr sz="1200" b="0">
                          <a:solidFill>
                            <a:srgbClr val="21243A"/>
                          </a:solidFill>
                          <a:latin typeface="Arial"/>
                        </a:defRPr>
                      </a:pPr>
                      <a:r>
                        <a:t>the journal Vaccine. Yes, authored by Sam Martin and Samantha Vanderslott from</a:t>
                      </a:r>
                    </a:p>
                    <a:p>
                      <a:pPr>
                        <a:lnSpc>
                          <a:spcPts val="1600"/>
                        </a:lnSpc>
                        <a:spcAft>
                          <a:spcPts val="0"/>
                        </a:spcAft>
                        <a:defRPr sz="1200" b="0">
                          <a:solidFill>
                            <a:srgbClr val="21243A"/>
                          </a:solidFill>
                          <a:latin typeface="Arial"/>
                        </a:defRPr>
                      </a:pPr>
                      <a:r>
                        <a:t>the Oxford Vaccine Group. And the scale of their research here is what makes it so</a:t>
                      </a:r>
                    </a:p>
                    <a:p>
                      <a:pPr>
                        <a:lnSpc>
                          <a:spcPts val="1600"/>
                        </a:lnSpc>
                        <a:spcAft>
                          <a:spcPts val="0"/>
                        </a:spcAft>
                        <a:defRPr sz="1200" b="0">
                          <a:solidFill>
                            <a:srgbClr val="21243A"/>
                          </a:solidFill>
                          <a:latin typeface="Arial"/>
                        </a:defRPr>
                      </a:pPr>
                      <a:r>
                        <a:t>robust, right? Oh, totally. They analyzed this massive data set of 7.89 million</a:t>
                      </a:r>
                    </a:p>
                    <a:p>
                      <a:pPr>
                        <a:lnSpc>
                          <a:spcPts val="1600"/>
                        </a:lnSpc>
                        <a:spcAft>
                          <a:spcPts val="0"/>
                        </a:spcAft>
                        <a:defRPr sz="1200" b="0">
                          <a:solidFill>
                            <a:srgbClr val="21243A"/>
                          </a:solidFill>
                          <a:latin typeface="Arial"/>
                        </a:defRPr>
                      </a:pPr>
                      <a:r>
                        <a:t>English-language tweets. Wow. Yeah, from the US and the UK, spanning a very</a:t>
                      </a:r>
                    </a:p>
                  </a:txBody>
                  <a:tcPr marL="82296" marR="82296" marT="64008" marB="64008">
                    <a:solidFill>
                      <a:srgbClr val="F1F7F7"/>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specific window, basically June 1st, 2020 to June 1st, 2021. And they didn't just like</a:t>
                      </a:r>
                    </a:p>
                    <a:p>
                      <a:pPr>
                        <a:lnSpc>
                          <a:spcPts val="1600"/>
                        </a:lnSpc>
                        <a:spcAft>
                          <a:spcPts val="0"/>
                        </a:spcAft>
                        <a:defRPr sz="1200" b="0">
                          <a:solidFill>
                            <a:srgbClr val="21243A"/>
                          </a:solidFill>
                          <a:latin typeface="Arial"/>
                        </a:defRPr>
                      </a:pPr>
                      <a:r>
                        <a:t>count how many times the word mask or vaccine was used, which is what I would</a:t>
                      </a:r>
                    </a:p>
                    <a:p>
                      <a:pPr>
                        <a:lnSpc>
                          <a:spcPts val="1600"/>
                        </a:lnSpc>
                        <a:spcAft>
                          <a:spcPts val="0"/>
                        </a:spcAft>
                        <a:defRPr sz="1200" b="0">
                          <a:solidFill>
                            <a:srgbClr val="21243A"/>
                          </a:solidFill>
                          <a:latin typeface="Arial"/>
                        </a:defRPr>
                      </a:pPr>
                      <a:r>
                        <a:t>have assumed. No, they went way deeper. They utilized media monitoring</a:t>
                      </a:r>
                    </a:p>
                    <a:p>
                      <a:pPr>
                        <a:lnSpc>
                          <a:spcPts val="1600"/>
                        </a:lnSpc>
                        <a:spcAft>
                          <a:spcPts val="0"/>
                        </a:spcAft>
                        <a:defRPr sz="1200" b="0">
                          <a:solidFill>
                            <a:srgbClr val="21243A"/>
                          </a:solidFill>
                          <a:latin typeface="Arial"/>
                        </a:defRPr>
                      </a:pPr>
                      <a:r>
                        <a:t>software called Meltwater and text network analysis software called InfraNodus.</a:t>
                      </a:r>
                    </a:p>
                    <a:p>
                      <a:pPr>
                        <a:lnSpc>
                          <a:spcPts val="1600"/>
                        </a:lnSpc>
                        <a:spcAft>
                          <a:spcPts val="0"/>
                        </a:spcAft>
                        <a:defRPr sz="1200" b="0">
                          <a:solidFill>
                            <a:srgbClr val="21243A"/>
                          </a:solidFill>
                          <a:latin typeface="Arial"/>
                        </a:defRPr>
                      </a:pPr>
                      <a:r>
                        <a:t>Which uh we should probably explain how those tools work because it's vital for</a:t>
                      </a:r>
                    </a:p>
                    <a:p>
                      <a:pPr>
                        <a:lnSpc>
                          <a:spcPts val="1600"/>
                        </a:lnSpc>
                        <a:spcAft>
                          <a:spcPts val="0"/>
                        </a:spcAft>
                        <a:defRPr sz="1200" b="0">
                          <a:solidFill>
                            <a:srgbClr val="21243A"/>
                          </a:solidFill>
                          <a:latin typeface="Arial"/>
                        </a:defRPr>
                      </a:pPr>
                      <a:r>
                        <a:t>understanding the whole study. Please do. So Meltwater acts like this giant net</a:t>
                      </a:r>
                    </a:p>
                    <a:p>
                      <a:pPr>
                        <a:lnSpc>
                          <a:spcPts val="1600"/>
                        </a:lnSpc>
                        <a:spcAft>
                          <a:spcPts val="0"/>
                        </a:spcAft>
                        <a:defRPr sz="1200" b="0">
                          <a:solidFill>
                            <a:srgbClr val="21243A"/>
                          </a:solidFill>
                          <a:latin typeface="Arial"/>
                        </a:defRPr>
                      </a:pPr>
                      <a:r>
                        <a:t>scraping the internet and pulling in every public conversation based on specific</a:t>
                      </a:r>
                    </a:p>
                    <a:p>
                      <a:pPr>
                        <a:lnSpc>
                          <a:spcPts val="1600"/>
                        </a:lnSpc>
                        <a:spcAft>
                          <a:spcPts val="0"/>
                        </a:spcAft>
                        <a:defRPr sz="1200" b="0">
                          <a:solidFill>
                            <a:srgbClr val="21243A"/>
                          </a:solidFill>
                          <a:latin typeface="Arial"/>
                        </a:defRPr>
                      </a:pPr>
                      <a:r>
                        <a:t>keywords. Right. But InfraNodus acts as the brain. It actually maps relationships</a:t>
                      </a:r>
                    </a:p>
                    <a:p>
                      <a:pPr>
                        <a:lnSpc>
                          <a:spcPts val="1600"/>
                        </a:lnSpc>
                        <a:spcAft>
                          <a:spcPts val="0"/>
                        </a:spcAft>
                        <a:defRPr sz="1200" b="0">
                          <a:solidFill>
                            <a:srgbClr val="21243A"/>
                          </a:solidFill>
                          <a:latin typeface="Arial"/>
                        </a:defRPr>
                      </a:pPr>
                      <a:r>
                        <a:t>between words. So if the word mask is constantly sitting right next to the word</a:t>
                      </a:r>
                    </a:p>
                    <a:p>
                      <a:pPr>
                        <a:lnSpc>
                          <a:spcPts val="1600"/>
                        </a:lnSpc>
                        <a:spcAft>
                          <a:spcPts val="0"/>
                        </a:spcAft>
                        <a:defRPr sz="1200" b="0">
                          <a:solidFill>
                            <a:srgbClr val="21243A"/>
                          </a:solidFill>
                          <a:latin typeface="Arial"/>
                        </a:defRPr>
                      </a:pPr>
                      <a:r>
                        <a:t>tyranny or sheep in millions of tweets, The software draws a thick digital line</a:t>
                      </a:r>
                    </a:p>
                    <a:p>
                      <a:pPr>
                        <a:lnSpc>
                          <a:spcPts val="1600"/>
                        </a:lnSpc>
                        <a:spcAft>
                          <a:spcPts val="0"/>
                        </a:spcAft>
                        <a:defRPr sz="1200" b="0">
                          <a:solidFill>
                            <a:srgbClr val="21243A"/>
                          </a:solidFill>
                          <a:latin typeface="Arial"/>
                        </a:defRPr>
                      </a:pPr>
                      <a:r>
                        <a:t>between them. Exactly. It lets researchers see the exact architecture of public</a:t>
                      </a:r>
                    </a:p>
                    <a:p>
                      <a:pPr>
                        <a:lnSpc>
                          <a:spcPts val="1600"/>
                        </a:lnSpc>
                        <a:spcAft>
                          <a:spcPts val="0"/>
                        </a:spcAft>
                        <a:defRPr sz="1200" b="0">
                          <a:solidFill>
                            <a:srgbClr val="21243A"/>
                          </a:solidFill>
                          <a:latin typeface="Arial"/>
                        </a:defRPr>
                      </a:pPr>
                      <a:r>
                        <a:t>sentiment. It's almost like looking at a real-time MRI of society's collective anxiety.</a:t>
                      </a:r>
                    </a:p>
                    <a:p>
                      <a:pPr>
                        <a:lnSpc>
                          <a:spcPts val="1600"/>
                        </a:lnSpc>
                        <a:spcAft>
                          <a:spcPts val="0"/>
                        </a:spcAft>
                        <a:defRPr sz="1200" b="0">
                          <a:solidFill>
                            <a:srgbClr val="21243A"/>
                          </a:solidFill>
                          <a:latin typeface="Arial"/>
                        </a:defRPr>
                      </a:pPr>
                      <a:r>
                        <a:t>That's a really great way to visualize it. It moves us past just individual anecdotes,</a:t>
                      </a:r>
                    </a:p>
                    <a:p>
                      <a:pPr>
                        <a:lnSpc>
                          <a:spcPts val="1600"/>
                        </a:lnSpc>
                        <a:spcAft>
                          <a:spcPts val="0"/>
                        </a:spcAft>
                        <a:defRPr sz="1200" b="0">
                          <a:solidFill>
                            <a:srgbClr val="21243A"/>
                          </a:solidFill>
                          <a:latin typeface="Arial"/>
                        </a:defRPr>
                      </a:pPr>
                      <a:r>
                        <a:t>Yeah. Yeah. and it shows us the actual structural flow of ideas. Yeah. So, the</a:t>
                      </a:r>
                    </a:p>
                    <a:p>
                      <a:pPr>
                        <a:lnSpc>
                          <a:spcPts val="1600"/>
                        </a:lnSpc>
                        <a:spcAft>
                          <a:spcPts val="0"/>
                        </a:spcAft>
                        <a:defRPr sz="1200" b="0">
                          <a:solidFill>
                            <a:srgbClr val="21243A"/>
                          </a:solidFill>
                          <a:latin typeface="Arial"/>
                        </a:defRPr>
                      </a:pPr>
                      <a:r>
                        <a:t>mission for our deep dive today is to explore a very specific phenomenon</a:t>
                      </a:r>
                    </a:p>
                    <a:p>
                      <a:pPr>
                        <a:lnSpc>
                          <a:spcPts val="1600"/>
                        </a:lnSpc>
                        <a:spcAft>
                          <a:spcPts val="0"/>
                        </a:spcAft>
                        <a:defRPr sz="1200" b="0">
                          <a:solidFill>
                            <a:srgbClr val="21243A"/>
                          </a:solidFill>
                          <a:latin typeface="Arial"/>
                        </a:defRPr>
                      </a:pPr>
                      <a:r>
                        <a:t>uncovered in this flow. We want to see how pre-existing anti-vaccine groups and</a:t>
                      </a:r>
                    </a:p>
                    <a:p>
                      <a:pPr>
                        <a:lnSpc>
                          <a:spcPts val="1600"/>
                        </a:lnSpc>
                        <a:spcAft>
                          <a:spcPts val="0"/>
                        </a:spcAft>
                        <a:defRPr sz="1200" b="0">
                          <a:solidFill>
                            <a:srgbClr val="21243A"/>
                          </a:solidFill>
                          <a:latin typeface="Arial"/>
                        </a:defRPr>
                      </a:pPr>
                      <a:r>
                        <a:t>newly formed anti-mask groups actually merged into this massive digital</a:t>
                      </a:r>
                    </a:p>
                    <a:p>
                      <a:pPr>
                        <a:lnSpc>
                          <a:spcPts val="1600"/>
                        </a:lnSpc>
                        <a:spcAft>
                          <a:spcPts val="0"/>
                        </a:spcAft>
                        <a:defRPr sz="1200" b="0">
                          <a:solidFill>
                            <a:srgbClr val="21243A"/>
                          </a:solidFill>
                          <a:latin typeface="Arial"/>
                        </a:defRPr>
                      </a:pPr>
                      <a:r>
                        <a:t>powerhouse. And to understand the psychological, social, and political drivers</a:t>
                      </a:r>
                    </a:p>
                    <a:p>
                      <a:pPr>
                        <a:lnSpc>
                          <a:spcPts val="1600"/>
                        </a:lnSpc>
                        <a:spcAft>
                          <a:spcPts val="0"/>
                        </a:spcAft>
                        <a:defRPr sz="1200" b="0">
                          <a:solidFill>
                            <a:srgbClr val="21243A"/>
                          </a:solidFill>
                          <a:latin typeface="Arial"/>
                        </a:defRPr>
                      </a:pPr>
                      <a:r>
                        <a:t>behind how the public reacted to these mandates. Exactly. Now uh a very quick</a:t>
                      </a:r>
                    </a:p>
                    <a:p>
                      <a:pPr>
                        <a:lnSpc>
                          <a:spcPts val="1600"/>
                        </a:lnSpc>
                        <a:spcAft>
                          <a:spcPts val="0"/>
                        </a:spcAft>
                        <a:defRPr sz="1200" b="0">
                          <a:solidFill>
                            <a:srgbClr val="21243A"/>
                          </a:solidFill>
                          <a:latin typeface="Arial"/>
                        </a:defRPr>
                      </a:pPr>
                      <a:r>
                        <a:t>heads up to you the listener before we dive into the timeline, the data we are</a:t>
                      </a:r>
                    </a:p>
                  </a:txBody>
                  <a:tcPr marL="82296" marR="82296" marT="64008" marB="64008">
                    <a:solidFill>
                      <a:srgbClr val="F1F7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2178304"/>
        </p:xfrm>
        <a:graphic>
          <a:graphicData uri="http://schemas.openxmlformats.org/drawingml/2006/table">
            <a:tbl>
              <a:tblPr firstRow="1" bandRow="1">
                <a:tableStyleId>{5C22544A-7EE6-4342-B048-85BDC9FD1C3A}</a:tableStyleId>
              </a:tblPr>
              <a:tblGrid>
                <a:gridCol w="2271369"/>
                <a:gridCol w="6141110"/>
              </a:tblGrid>
              <a:tr h="2178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analyzing today is heavily political. Very heavily. Yeah, it involves major figures</a:t>
                      </a:r>
                    </a:p>
                    <a:p>
                      <a:pPr>
                        <a:lnSpc>
                          <a:spcPts val="1600"/>
                        </a:lnSpc>
                        <a:spcAft>
                          <a:spcPts val="0"/>
                        </a:spcAft>
                        <a:defRPr sz="1200" b="0">
                          <a:solidFill>
                            <a:srgbClr val="21243A"/>
                          </a:solidFill>
                          <a:latin typeface="Arial"/>
                        </a:defRPr>
                      </a:pPr>
                      <a:r>
                        <a:t>from the left and the right. We're talking President Joe Biden, former President</a:t>
                      </a:r>
                    </a:p>
                    <a:p>
                      <a:pPr>
                        <a:lnSpc>
                          <a:spcPts val="1600"/>
                        </a:lnSpc>
                        <a:spcAft>
                          <a:spcPts val="0"/>
                        </a:spcAft>
                        <a:defRPr sz="1200" b="0">
                          <a:solidFill>
                            <a:srgbClr val="21243A"/>
                          </a:solidFill>
                          <a:latin typeface="Arial"/>
                        </a:defRPr>
                      </a:pPr>
                      <a:r>
                        <a:t>Donald Trump, Vice President Kamala Harris along with a bunch of conservative</a:t>
                      </a:r>
                    </a:p>
                    <a:p>
                      <a:pPr>
                        <a:lnSpc>
                          <a:spcPts val="1600"/>
                        </a:lnSpc>
                        <a:spcAft>
                          <a:spcPts val="0"/>
                        </a:spcAft>
                        <a:defRPr sz="1200" b="0">
                          <a:solidFill>
                            <a:srgbClr val="21243A"/>
                          </a:solidFill>
                          <a:latin typeface="Arial"/>
                        </a:defRPr>
                      </a:pPr>
                      <a:r>
                        <a:t>and liberal viewpoints. Right. So, I have to be clear here. We aren't taking sides</a:t>
                      </a:r>
                    </a:p>
                    <a:p>
                      <a:pPr>
                        <a:lnSpc>
                          <a:spcPts val="1600"/>
                        </a:lnSpc>
                        <a:spcAft>
                          <a:spcPts val="0"/>
                        </a:spcAft>
                        <a:defRPr sz="1200" b="0">
                          <a:solidFill>
                            <a:srgbClr val="21243A"/>
                          </a:solidFill>
                          <a:latin typeface="Arial"/>
                        </a:defRPr>
                      </a:pPr>
                      <a:r>
                        <a:t>today. We aren't endorsing any of the politics discussed. We're just impartially</a:t>
                      </a:r>
                    </a:p>
                    <a:p>
                      <a:pPr>
                        <a:lnSpc>
                          <a:spcPts val="1600"/>
                        </a:lnSpc>
                        <a:spcAft>
                          <a:spcPts val="0"/>
                        </a:spcAft>
                        <a:defRPr sz="1200" b="0">
                          <a:solidFill>
                            <a:srgbClr val="21243A"/>
                          </a:solidFill>
                          <a:latin typeface="Arial"/>
                        </a:defRPr>
                      </a:pPr>
                      <a:r>
                        <a:t>reading the digital footprint left behind to help you understand the mechanics of</a:t>
                      </a:r>
                    </a:p>
                    <a:p>
                      <a:pPr>
                        <a:lnSpc>
                          <a:spcPts val="1600"/>
                        </a:lnSpc>
                        <a:spcAft>
                          <a:spcPts val="0"/>
                        </a:spcAft>
                        <a:defRPr sz="1200" b="0">
                          <a:solidFill>
                            <a:srgbClr val="21243A"/>
                          </a:solidFill>
                          <a:latin typeface="Arial"/>
                        </a:defRPr>
                      </a:pPr>
                      <a:r>
                        <a:t>this social media evolution. Our focus is strictly on the mechanics of the discourse.</a:t>
                      </a:r>
                    </a:p>
                    <a:p>
                      <a:pPr>
                        <a:lnSpc>
                          <a:spcPts val="1600"/>
                        </a:lnSpc>
                        <a:spcAft>
                          <a:spcPts val="0"/>
                        </a:spcAft>
                        <a:defRPr sz="1200" b="0">
                          <a:solidFill>
                            <a:srgbClr val="21243A"/>
                          </a:solidFill>
                          <a:latin typeface="Arial"/>
                        </a:defRPr>
                      </a:pPr>
                      <a:r>
                        <a:t>You know, what the data reflects, what was said, and how it spread. Okay, let's</a:t>
                      </a:r>
                    </a:p>
                    <a:p>
                      <a:pPr>
                        <a:lnSpc>
                          <a:spcPts val="1600"/>
                        </a:lnSpc>
                        <a:spcAft>
                          <a:spcPts val="0"/>
                        </a:spcAft>
                        <a:defRPr sz="1200" b="0">
                          <a:solidFill>
                            <a:srgbClr val="21243A"/>
                          </a:solidFill>
                          <a:latin typeface="Arial"/>
                        </a:defRPr>
                      </a:pPr>
                      <a:r>
                        <a:t>unpack this. To really understand the explosion of outrage and compliance in</a:t>
                      </a:r>
                    </a:p>
                    <a:p>
                      <a:pPr>
                        <a:lnSpc>
                          <a:spcPts val="1600"/>
                        </a:lnSpc>
                        <a:spcAft>
                          <a:spcPts val="0"/>
                        </a:spcAft>
                        <a:defRPr sz="1200" b="0">
                          <a:solidFill>
                            <a:srgbClr val="21243A"/>
                          </a:solidFill>
                          <a:latin typeface="Arial"/>
                        </a:defRPr>
                      </a:pPr>
                      <a:r>
                        <a:t>2020, we have to recognize that human pushback again</a:t>
                      </a:r>
                    </a:p>
                  </a:txBody>
                  <a:tcPr marL="82296" marR="82296" marT="64008" marB="64008">
                    <a:solidFill>
                      <a:srgbClr val="F1F7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Analysis', 'OpenAI Analysis', 'Gemini Analysis'];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citation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podcast.m4a; media type: audio; recorded at: 2026-09-26T22:31:07+00:00;</a:t>
                      </a:r>
                    </a:p>
                    <a:p>
                      <a:pPr>
                        <a:lnSpc>
                          <a:spcPts val="1600"/>
                        </a:lnSpc>
                        <a:spcAft>
                          <a:spcPts val="0"/>
                        </a:spcAft>
                        <a:defRPr sz="1200" b="0">
                          <a:solidFill>
                            <a:srgbClr val="21243A"/>
                          </a:solidFill>
                          <a:latin typeface="Arial"/>
                        </a:defRPr>
                      </a:pPr>
                      <a:r>
                        <a:t>models: claude-opus-5-5, gemini-3.8-flash, gpt-6-astra.</a:t>
                      </a:r>
                    </a:p>
                  </a:txBody>
                  <a:tcPr marL="82296" marR="82296" marT="64008" marB="64008">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podcast.m4a</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7e1a6917-52a1-453d-8dda-9c4842232f31</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2026-09-26T22:31:07+00:00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58663a6a9e4b634bdb703ead0aaa7cd6dce7fbf97e70c3c1cc61b3311b94c0b4</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Transcoded to 5737 KB mono 16 kHz (≤1800s).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Transcribed with Gemini.</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Standalone-audio content assessment covers the transcript. AI-origin detection</a:t>
                      </a:r>
                    </a:p>
                    <a:p>
                      <a:pPr>
                        <a:lnSpc>
                          <a:spcPts val="1600"/>
                        </a:lnSpc>
                        <a:spcAft>
                          <a:spcPts val="0"/>
                        </a:spcAft>
                        <a:defRPr sz="1200" b="0">
                          <a:solidFill>
                            <a:srgbClr val="21243A"/>
                          </a:solidFill>
                          <a:latin typeface="Arial"/>
                        </a:defRPr>
                      </a:pPr>
                      <a:r>
                        <a:t>from sound is outside this assessment. Original-file C2PA was checked before</a:t>
                      </a:r>
                    </a:p>
                    <a:p>
                      <a:pPr>
                        <a:lnSpc>
                          <a:spcPts val="1600"/>
                        </a:lnSpc>
                        <a:spcAft>
                          <a:spcPts val="0"/>
                        </a:spcAft>
                        <a:defRPr sz="1200" b="0">
                          <a:solidFill>
                            <a:srgbClr val="21243A"/>
                          </a:solidFill>
                          <a:latin typeface="Arial"/>
                        </a:defRPr>
                      </a:pPr>
                      <a:r>
                        <a:t>transcription and is reported separately.</a:t>
                      </a:r>
                    </a:p>
                  </a:txBody>
                  <a:tcPr marL="82296" marR="82296" marT="64008" marB="64008">
                    <a:solidFill>
                      <a:srgbClr val="F1F7F7"/>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tracks inspected locally. Soundtrack uploads require a separate optional</a:t>
                      </a:r>
                    </a:p>
                    <a:p>
                      <a:pPr>
                        <a:lnSpc>
                          <a:spcPts val="1600"/>
                        </a:lnSpc>
                        <a:spcAft>
                          <a:spcPts val="0"/>
                        </a:spcAft>
                        <a:defRPr sz="1200" b="0">
                          <a:solidFill>
                            <a:srgbClr val="21243A"/>
                          </a:solidFill>
                          <a:latin typeface="Arial"/>
                        </a:defRPr>
                      </a:pPr>
                      <a:r>
                        <a:t>check; AI-origin detection from sound is outside this workflow.</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Transcript analysis used the first 12000 characters of a fresh 25985-character</a:t>
                      </a:r>
                    </a:p>
                    <a:p>
                      <a:pPr>
                        <a:lnSpc>
                          <a:spcPts val="1600"/>
                        </a:lnSpc>
                        <a:spcAft>
                          <a:spcPts val="0"/>
                        </a:spcAft>
                        <a:defRPr sz="1200" b="0">
                          <a:solidFill>
                            <a:srgbClr val="21243A"/>
                          </a:solidFill>
                          <a:latin typeface="Arial"/>
                        </a:defRPr>
                      </a:pPr>
                      <a:r>
                        <a:t>transcription; this report retains its first 4000 characters. Sound-origin detection is</a:t>
                      </a:r>
                    </a:p>
                    <a:p>
                      <a:pPr>
                        <a:lnSpc>
                          <a:spcPts val="1600"/>
                        </a:lnSpc>
                        <a:spcAft>
                          <a:spcPts val="0"/>
                        </a:spcAft>
                        <a:defRPr sz="1200" b="0">
                          <a:solidFill>
                            <a:srgbClr val="21243A"/>
                          </a:solidFill>
                          <a:latin typeface="Arial"/>
                        </a:defRPr>
                      </a:pPr>
                      <a:r>
                        <a:t>outside this check.</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56209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7</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