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podcast.m4a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Assessment summary</a:t>
            </a:r>
          </a:p>
          <a:p>
            <a:r>
              <a:t>Finding | Leaning synthetic</a:t>
            </a:r>
          </a:p>
          <a:p>
            <a:r>
              <a:t>Recorded verdict | synthetic likely</a:t>
            </a:r>
          </a:p>
          <a:p>
            <a:r>
              <a:t>Confidence | high</a:t>
            </a:r>
          </a:p>
          <a:p>
            <a:r>
              <a:t>Indicative rating | 90/100</a:t>
            </a:r>
          </a:p>
          <a:p>
            <a:r>
              <a:t>Rating basis | median of available model ratings; not a calibrated probability</a:t>
            </a:r>
          </a:p>
          <a:p>
            <a:r>
              <a:t>Explanation | 3 models agree this is likely synthetic.</a:t>
            </a:r>
          </a:p>
          <a:p>
            <a:r>
              <a:t>Coverage | audio - 0 frame(s) analysed</a:t>
            </a:r>
          </a:p>
          <a:p>
            <a:r>
              <a:t>Review context | Research assessment. Review alongside source information and context. When credentials are missing, origin remains unresolved by this check. Use these findings to inform a documented human review.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Provider overview</a:t>
            </a:r>
          </a:p>
          <a:p>
            <a:r>
              <a:t>Claude Analysis | analysis / ok | synthetic likely | 78/100</a:t>
            </a:r>
          </a:p>
          <a:p>
            <a:r>
              <a:t>OpenAI Analysis | analysis / ok | synthetic likely | 90/100</a:t>
            </a:r>
          </a:p>
          <a:p>
            <a:r>
              <a:t>Gemini Analysis | analysis / ok | synthetic likely | 95/100</a:t>
            </a:r>
          </a:p>
          <a:p>
            <a:r>
              <a:t>Local forensic cues | forensic / ok | not applicable | n/a</a:t>
            </a:r>
          </a:p>
          <a:p>
            <a:r>
              <a:t>C2PA Content Credentials | provenance / ok | inconclusive | 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Provider evidence / 1</a:t>
            </a:r>
          </a:p>
          <a:p>
            <a:r>
              <a:t>Provider | Claude Analysis</a:t>
            </a:r>
          </a:p>
          <a:p>
            <a:r>
              <a:t>Model | claude-opus-5-5</a:t>
            </a:r>
          </a:p>
          <a:p>
            <a:r>
              <a:t>Status | ok</a:t>
            </a:r>
          </a:p>
          <a:p>
            <a:r>
              <a:t>Assessment | synthetic likely</a:t>
            </a:r>
          </a:p>
          <a:p>
            <a:r>
              <a:t>Confidence | medium</a:t>
            </a:r>
          </a:p>
          <a:p>
            <a:r>
              <a:t>Role in assessment | Supporting</a:t>
            </a:r>
          </a:p>
          <a:p>
            <a:r>
              <a:t>Provider summary | Style closely matches AI-generated two-host 'deep dive' audio overviews (e.g. NotebookLM): stock openers ('Imagine holding...', 'Okay, let's unpack this', 'If we connect this to the bigger picture'), constant affirmations ('Exactly', 'Perfectly said'), scripted neutrality disclaimer and a staged host challenge, suggesting likely synthetic origin.</a:t>
            </a:r>
          </a:p>
          <a:p>
            <a:r>
              <a:t>Evidence 1 | Synthetic origin framing: Two-host explainer podcast summarising a peer-reviewed study, with historical context, a stated neutrality disclaimer and interpretive commentary on polarisation</a:t>
            </a:r>
          </a:p>
          <a:p>
            <a:r>
              <a:t>Evidence 2 | Summary (content, for the researcher's coding):</a:t>
            </a:r>
          </a:p>
          <a:p>
            <a:r>
              <a:t>Evidence 3 | Study by Sam Martin and Samantha Vanderslott (Oxford Vaccine Group) published in journal Vaccine</a:t>
            </a:r>
          </a:p>
          <a:p>
            <a:r>
              <a:t>Evidence 4 | Analysed 7.89 million English-language US/UK tweets, June 2020 to June 2021</a:t>
            </a:r>
          </a:p>
          <a:p>
            <a:r>
              <a:t>Evidence 5 | Used Meltwater for collection and InfraNodus for text network analysis</a:t>
            </a:r>
          </a:p>
          <a:p>
            <a:r>
              <a:t>Evidence 6 | 5.91 million tweets on masks, 1.98 million on vaccines</a:t>
            </a:r>
          </a:p>
          <a:p>
            <a:r>
              <a:t>Evidence 7 | Caveat: Human podcasters can use similar conventions, and transcription artefacts may mask or mimic synthetic patterns; source audio and provenance should be checked.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Provider evidence / 1</a:t>
            </a:r>
          </a:p>
          <a:p>
            <a:r>
              <a:t>Provider | Claude Analysis</a:t>
            </a:r>
          </a:p>
          <a:p>
            <a:r>
              <a:t>Model | claude-opus-5-5</a:t>
            </a:r>
          </a:p>
          <a:p>
            <a:r>
              <a:t>Status | ok</a:t>
            </a:r>
          </a:p>
          <a:p>
            <a:r>
              <a:t>Assessment | synthetic likely</a:t>
            </a:r>
          </a:p>
          <a:p>
            <a:r>
              <a:t>Confidence | medium</a:t>
            </a:r>
          </a:p>
          <a:p>
            <a:r>
              <a:t>Role in assessment | Supporting</a:t>
            </a:r>
          </a:p>
          <a:p>
            <a:r>
              <a:t>Provider summary | Style closely matches AI-generated two-host 'deep dive' audio overviews (e.g. NotebookLM): stock openers ('Imagine holding...', 'Okay, let's unpack this', 'If we connect this to the bigger picture'), constant affirmations ('Exactly', 'Perfectly said'), scripted neutrality disclaimer and a staged host challenge, suggesting likely synthetic origin.</a:t>
            </a:r>
          </a:p>
          <a:p>
            <a:r>
              <a:t>Evidence 1 | Synthetic origin framing: Two-host explainer podcast summarising a peer-reviewed study, with historical context, a stated neutrality disclaimer and interpretive commentary on polarisation</a:t>
            </a:r>
          </a:p>
          <a:p>
            <a:r>
              <a:t>Evidence 2 | Summary (content, for the researcher's coding):</a:t>
            </a:r>
          </a:p>
          <a:p>
            <a:r>
              <a:t>Evidence 3 | Study by Sam Martin and Samantha Vanderslott (Oxford Vaccine Group) published in journal Vaccine</a:t>
            </a:r>
          </a:p>
          <a:p>
            <a:r>
              <a:t>Evidence 4 | Analysed 7.89 million English-language US/UK tweets, June 2020 to June 2021</a:t>
            </a:r>
          </a:p>
          <a:p>
            <a:r>
              <a:t>Evidence 5 | Used Meltwater for collection and InfraNodus for text network analysis</a:t>
            </a:r>
          </a:p>
          <a:p>
            <a:r>
              <a:t>Evidence 6 | 5.91 million tweets on masks, 1.98 million on vaccines</a:t>
            </a:r>
          </a:p>
          <a:p>
            <a:r>
              <a:t>Evidence 7 | Caveat: Human podcasters can use similar conventions, and transcription artefacts may mask or mimic synthetic patterns; source audio and provenance should be checked.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Provider evidence / 2</a:t>
            </a:r>
          </a:p>
          <a:p>
            <a:r>
              <a:t>Provider | OpenAI Analysis</a:t>
            </a:r>
          </a:p>
          <a:p>
            <a:r>
              <a:t>Model | gpt-6-astra</a:t>
            </a:r>
          </a:p>
          <a:p>
            <a:r>
              <a:t>Status | ok</a:t>
            </a:r>
          </a:p>
          <a:p>
            <a:r>
              <a:t>Assessment | synthetic likely</a:t>
            </a:r>
          </a:p>
          <a:p>
            <a:r>
              <a:t>Confidence | medium</a:t>
            </a:r>
          </a:p>
          <a:p>
            <a:r>
              <a:t>Role in assessment | Supporting</a:t>
            </a:r>
          </a:p>
          <a:p>
            <a:r>
              <a:t>Provider summary | The highly regular two-host exchanges, repetitive affirmations, scripted explanatory prompts, and formulaic transitions strongly suggest synthetic generation or editing.</a:t>
            </a:r>
          </a:p>
          <a:p>
            <a:r>
              <a:t>Evidence 1 | Synthetic origin framing: Conversational research explainer using staged questions, emphatic agreement, historical parallels, and sociological interpretations.</a:t>
            </a:r>
          </a:p>
          <a:p>
            <a:r>
              <a:t>Evidence 2 | Summary (content, for the researcher's coding):</a:t>
            </a:r>
          </a:p>
          <a:p>
            <a:r>
              <a:t>Evidence 3 | The cited study reportedly analyzed 7.89 million English-language tweets from June 2020 to June 2021.</a:t>
            </a:r>
          </a:p>
          <a:p>
            <a:r>
              <a:t>Evidence 4 | Researchers reportedly used Meltwater and InfraNodus to examine mask and vaccine discourse in the US and UK.</a:t>
            </a:r>
          </a:p>
          <a:p>
            <a:r>
              <a:t>Evidence 5 | The text describes convergence between anti-vaccine and anti-mask groups.</a:t>
            </a:r>
          </a:p>
          <a:p>
            <a:r>
              <a:t>Evidence 6 | It reports greater negative mask sentiment in the UK than the US.</a:t>
            </a:r>
          </a:p>
          <a:p>
            <a:r>
              <a:t>Evidence 7 | Caveat: A human-scripted podcast could share these features; transcript artifacts and absent provenance limit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Provider evidence / 2</a:t>
            </a:r>
          </a:p>
          <a:p>
            <a:r>
              <a:t>Provider | OpenAI Analysis</a:t>
            </a:r>
          </a:p>
          <a:p>
            <a:r>
              <a:t>Model | gpt-6-astra</a:t>
            </a:r>
          </a:p>
          <a:p>
            <a:r>
              <a:t>Status | ok</a:t>
            </a:r>
          </a:p>
          <a:p>
            <a:r>
              <a:t>Assessment | synthetic likely</a:t>
            </a:r>
          </a:p>
          <a:p>
            <a:r>
              <a:t>Confidence | medium</a:t>
            </a:r>
          </a:p>
          <a:p>
            <a:r>
              <a:t>Role in assessment | Supporting</a:t>
            </a:r>
          </a:p>
          <a:p>
            <a:r>
              <a:t>Provider summary | The highly regular two-host exchanges, repetitive affirmations, scripted explanatory prompts, and formulaic transitions strongly suggest synthetic generation or editing.</a:t>
            </a:r>
          </a:p>
          <a:p>
            <a:r>
              <a:t>Evidence 1 | Synthetic origin framing: Conversational research explainer using staged questions, emphatic agreement, historical parallels, and sociological interpretations.</a:t>
            </a:r>
          </a:p>
          <a:p>
            <a:r>
              <a:t>Evidence 2 | Summary (content, for the researcher's coding):</a:t>
            </a:r>
          </a:p>
          <a:p>
            <a:r>
              <a:t>Evidence 3 | The cited study reportedly analyzed 7.89 million English-language tweets from June 2020 to June 2021.</a:t>
            </a:r>
          </a:p>
          <a:p>
            <a:r>
              <a:t>Evidence 4 | Researchers reportedly used Meltwater and InfraNodus to examine mask and vaccine discourse in the US and UK.</a:t>
            </a:r>
          </a:p>
          <a:p>
            <a:r>
              <a:t>Evidence 5 | The text describes convergence between anti-vaccine and anti-mask groups.</a:t>
            </a:r>
          </a:p>
          <a:p>
            <a:r>
              <a:t>Evidence 6 | It reports greater negative mask sentiment in the UK than the US.</a:t>
            </a:r>
          </a:p>
          <a:p>
            <a:r>
              <a:t>Evidence 7 | Caveat: A human-scripted podcast could share these features; transcript artifacts and absent provenance limit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Provider evidence / 3</a:t>
            </a:r>
          </a:p>
          <a:p>
            <a:r>
              <a:t>Provider | Gemini Analysis</a:t>
            </a:r>
          </a:p>
          <a:p>
            <a:r>
              <a:t>Model | gemini-3.8-flash</a:t>
            </a:r>
          </a:p>
          <a:p>
            <a:r>
              <a:t>Status | ok</a:t>
            </a:r>
          </a:p>
          <a:p>
            <a:r>
              <a:t>Assessment | synthetic likely</a:t>
            </a:r>
          </a:p>
          <a:p>
            <a:r>
              <a:t>Confidence | high</a:t>
            </a:r>
          </a:p>
          <a:p>
            <a:r>
              <a:t>Role in assessment | Supporting</a:t>
            </a:r>
          </a:p>
          <a:p>
            <a:r>
              <a:t>Provider summary | The text displays the classic conversational tropes, rapid turn-taking, and synthetic cadence characteristic of an automated AI podcast generator like NotebookLM.</a:t>
            </a:r>
          </a:p>
          <a:p>
            <a:r>
              <a:t>Evidence 1 | Synthetic origin framing: An informal two-host podcast script discussing academic research on social media discourse and health mandates.</a:t>
            </a:r>
          </a:p>
          <a:p>
            <a:r>
              <a:t>Evidence 2 | Summary (content, for the researcher's coding):</a:t>
            </a:r>
          </a:p>
          <a:p>
            <a:r>
              <a:t>Evidence 3 | Oxford Vaccine Group researchers analyzed 7.89 million English-language tweets from the US and UK between June 2020 and June 2021</a:t>
            </a:r>
          </a:p>
          <a:p>
            <a:r>
              <a:t>Evidence 4 | Study used Meltwater and InfraNodus network analysis software to examine sentiment around masks and vaccines</a:t>
            </a:r>
          </a:p>
          <a:p>
            <a:r>
              <a:t>Evidence 5 | 5.91 million analyzed tweets focused on masks, while 1.98 million focused on vaccines</a:t>
            </a:r>
          </a:p>
          <a:p>
            <a:r>
              <a:t>Evidence 6 | Negative sentiment toward masks was 28% in the UK compared to 22% in the US</a:t>
            </a:r>
          </a:p>
          <a:p>
            <a:r>
              <a:t>Evidence 7 | Caveat: Human podcast hosts discussing academic papers can occasionally use similar rehearsed, highly structured banter.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Provider evidence / 3</a:t>
            </a:r>
          </a:p>
          <a:p>
            <a:r>
              <a:t>Provider | Gemini Analysis</a:t>
            </a:r>
          </a:p>
          <a:p>
            <a:r>
              <a:t>Model | gemini-3.8-flash</a:t>
            </a:r>
          </a:p>
          <a:p>
            <a:r>
              <a:t>Status | ok</a:t>
            </a:r>
          </a:p>
          <a:p>
            <a:r>
              <a:t>Assessment | synthetic likely</a:t>
            </a:r>
          </a:p>
          <a:p>
            <a:r>
              <a:t>Confidence | high</a:t>
            </a:r>
          </a:p>
          <a:p>
            <a:r>
              <a:t>Role in assessment | Supporting</a:t>
            </a:r>
          </a:p>
          <a:p>
            <a:r>
              <a:t>Provider summary | The text displays the classic conversational tropes, rapid turn-taking, and synthetic cadence characteristic of an automated AI podcast generator like NotebookLM.</a:t>
            </a:r>
          </a:p>
          <a:p>
            <a:r>
              <a:t>Evidence 1 | Synthetic origin framing: An informal two-host podcast script discussing academic research on social media discourse and health mandates.</a:t>
            </a:r>
          </a:p>
          <a:p>
            <a:r>
              <a:t>Evidence 2 | Summary (content, for the researcher's coding):</a:t>
            </a:r>
          </a:p>
          <a:p>
            <a:r>
              <a:t>Evidence 3 | Oxford Vaccine Group researchers analyzed 7.89 million English-language tweets from the US and UK between June 2020 and June 2021</a:t>
            </a:r>
          </a:p>
          <a:p>
            <a:r>
              <a:t>Evidence 4 | Study used Meltwater and InfraNodus network analysis software to examine sentiment around masks and vaccines</a:t>
            </a:r>
          </a:p>
          <a:p>
            <a:r>
              <a:t>Evidence 5 | 5.91 million analyzed tweets focused on masks, while 1.98 million focused on vaccines</a:t>
            </a:r>
          </a:p>
          <a:p>
            <a:r>
              <a:t>Evidence 6 | Negative sentiment toward masks was 28% in the UK compared to 22% in the US</a:t>
            </a:r>
          </a:p>
          <a:p>
            <a:r>
              <a:t>Evidence 7 | Caveat: Human podcast hosts discussing academic papers can occasionally use similar rehearsed, highly structured banter.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Provider evidence / 4</a:t>
            </a:r>
          </a:p>
          <a:p>
            <a:r>
              <a:t>Provider | Local forensic cues</a:t>
            </a:r>
          </a:p>
          <a:p>
            <a:r>
              <a:t>Model | Not recorded</a:t>
            </a:r>
          </a:p>
          <a:p>
            <a:r>
              <a:t>Status | ok</a:t>
            </a:r>
          </a:p>
          <a:p>
            <a:r>
              <a:t>Assessment | not applicable</a:t>
            </a:r>
          </a:p>
          <a:p>
            <a:r>
              <a:t>Confidence | Not recorded</a:t>
            </a:r>
          </a:p>
          <a:p>
            <a:r>
              <a:t>Role in assessment | Not listed</a:t>
            </a:r>
          </a:p>
          <a:p>
            <a:r>
              <a:t>Provider summary | Pixel forensics: outside text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Embedded credentials: none found. Origin remains unresolved by this check.</a:t>
            </a:r>
          </a:p>
          <a:p>
            <a:r>
              <a:t>Evidence 1 | Coverage: credentials embedded in the submitted file. External credentials were not retrieved.</a:t>
            </a:r>
          </a:p>
          <a:p>
            <a:r>
              <a:t>Evidence 2 | Verifier: c2pa-python 0.37.12; native SDK 0.91.0; specification target 2.4; policy embedded-offline-reviewed-trust-v3.</a:t>
            </a:r>
          </a:p>
          <a:p>
            <a:r>
              <a:t>Evidence 3 | Offline embedded-manifest verification; no network trust-list, manifest or revocation refresh.</a:t>
            </a:r>
          </a:p>
          <a:p>
            <a:r>
              <a:t>Evidence 4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Content Credentials / provenance</a:t>
            </a:r>
          </a:p>
          <a:p>
            <a:r>
              <a:t>Provider | C2PA Content Credentials</a:t>
            </a:r>
          </a:p>
          <a:p>
            <a:r>
              <a:t>Model | Not recorded</a:t>
            </a:r>
          </a:p>
          <a:p>
            <a:r>
              <a:t>Status | ok</a:t>
            </a:r>
          </a:p>
          <a:p>
            <a:r>
              <a:t>Assessment | inconclusive</a:t>
            </a:r>
          </a:p>
          <a:p>
            <a:r>
              <a:t>Confidence | Not recorded</a:t>
            </a:r>
          </a:p>
          <a:p>
            <a:r>
              <a:t>Role in assessment | Additional finding</a:t>
            </a:r>
          </a:p>
          <a:p>
            <a:r>
              <a:t>Provider summary | Embedded credentials: none found. Origin remains unresolved by this check.</a:t>
            </a:r>
          </a:p>
          <a:p>
            <a:r>
              <a:t>Evidence 1 | Coverage: credentials embedded in the submitted file. External credentials were not retrieved.</a:t>
            </a:r>
          </a:p>
          <a:p>
            <a:r>
              <a:t>Evidence 2 | Verifier: c2pa-python 0.37.12; native SDK 0.91.0; specification target 2.4; policy embedded-offline-reviewed-trust-v3.</a:t>
            </a:r>
          </a:p>
          <a:p>
            <a:r>
              <a:t>Evidence 3 | Offline embedded-manifest verification; no network trust-list, manifest or revocation refresh.</a:t>
            </a:r>
          </a:p>
          <a:p>
            <a:r>
              <a:t>Evidence 4 | No reviewed local C2PA trust snapshot installed. Provenance overrides are disabled.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Local soundtrack inspection</a:t>
            </a:r>
          </a:p>
          <a:p>
            <a:r>
              <a:t>Record 1 | Audio inspection: present; tracks: 1.</a:t>
            </a:r>
          </a:p>
          <a:p>
            <a:r>
              <a:t>Record 2 | Track 0: aac, 2 channel(s), 44100 Hz; duration 1468.569252s; decode decoded; 3/3 sampled windows above -60 dBFS after mono downmix.</a:t>
            </a:r>
          </a:p>
          <a:p>
            <a:r>
              <a:t>Record 3 | Sample windows: 0.0s + 3.0s; 732.785s + 3.0s; 1465.569s + 3.0s</a:t>
            </a:r>
          </a:p>
          <a:p>
            <a:r>
              <a:t>Record 4 | Original-file credentials are recorded separately. Credential coverage of this audio track: unresolved.</a:t>
            </a:r>
          </a:p>
          <a:p>
            <a:r>
              <a:t>Record 5 | Audio-level measurements cover the sampled windows. The remaining audio has not been inspected by this check.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Optional audio excerpt description</a:t>
            </a:r>
          </a:p>
          <a:p>
            <a:r>
              <a:t>Record 1 | Google Gemini / gemini-3.8-flash; status: ok; content: speech.</a:t>
            </a:r>
          </a:p>
          <a:p>
            <a:r>
              <a:t>Record 2 | Checked: 2026-09-27T19:20:45.393134+00:00; consent to Google recorded: True.</a:t>
            </a:r>
          </a:p>
          <a:p>
            <a:r>
              <a:t>Record 3 | Track 0; excerpt 0s + 20.0s; prompt: soundtrack-content-v1.</a:t>
            </a:r>
          </a:p>
          <a:p>
            <a:r>
              <a:t>Record 4 | Original SHA-256: 58663a6a9e4b634bdb703ead0aaa7cd6dce7fbf97e70c3c1cc61b3311b94c0b4; excerpt SHA-256: f9713796490ddc9624cfc92412738eaca7192d9cbde08dd259237e29e2aa2128.</a:t>
            </a:r>
          </a:p>
          <a:p>
            <a:r>
              <a:t>Record 5 | A female voice speaks in an interview or conversational tone.</a:t>
            </a:r>
          </a:p>
          <a:p>
            <a:r>
              <a:t>Record 6 | A male voice responds briefly in agreement.</a:t>
            </a:r>
          </a:p>
          <a:p>
            <a:r>
              <a:t>Record 7 | The conversation sounds like a podcast or radio broadcast discussion.</a:t>
            </a:r>
          </a:p>
          <a:p>
            <a:r>
              <a:t>Record 8 | Audio is clean with minimal to no background noise.</a:t>
            </a:r>
          </a:p>
          <a:p>
            <a:r>
              <a:t>Record 9 | Transcript excerpt: Imagine holding, uh, like a simple piece of cloth in your hand. Let's say it's 2019, and it's just a standard surgical mask. Right, just a boring everyday medical supply, something you'd really only see at the dentist's office. Exactly.</a:t>
            </a:r>
          </a:p>
          <a:p>
            <a:r>
              <a:t>Record 10 | This assessment describes the selected audio excerpt. Origin and credentials are considered separately.</a:t>
            </a:r>
          </a:p>
          <a:p>
            <a:r>
              <a:t>Record 11 | Analysed excerpt: mono, 16 kHz PCM. Credential checks use the original file.</a:t>
            </a:r>
          </a:p>
          <a:p>
            <a:r>
              <a:t>Record 12 | Audio findings are shown alongside the visual assessment and remain separate from its score.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Optional audio excerpt description</a:t>
            </a:r>
          </a:p>
          <a:p>
            <a:r>
              <a:t>Record 1 | Google Gemini / gemini-3.8-flash; status: ok; content: speech.</a:t>
            </a:r>
          </a:p>
          <a:p>
            <a:r>
              <a:t>Record 2 | Checked: 2026-09-27T19:20:45.393134+00:00; consent to Google recorded: True.</a:t>
            </a:r>
          </a:p>
          <a:p>
            <a:r>
              <a:t>Record 3 | Track 0; excerpt 0s + 20.0s; prompt: soundtrack-content-v1.</a:t>
            </a:r>
          </a:p>
          <a:p>
            <a:r>
              <a:t>Record 4 | Original SHA-256: 58663a6a9e4b634bdb703ead0aaa7cd6dce7fbf97e70c3c1cc61b3311b94c0b4; excerpt SHA-256: f9713796490ddc9624cfc92412738eaca7192d9cbde08dd259237e29e2aa2128.</a:t>
            </a:r>
          </a:p>
          <a:p>
            <a:r>
              <a:t>Record 5 | A female voice speaks in an interview or conversational tone.</a:t>
            </a:r>
          </a:p>
          <a:p>
            <a:r>
              <a:t>Record 6 | A male voice responds briefly in agreement.</a:t>
            </a:r>
          </a:p>
          <a:p>
            <a:r>
              <a:t>Record 7 | The conversation sounds like a podcast or radio broadcast discussion.</a:t>
            </a:r>
          </a:p>
          <a:p>
            <a:r>
              <a:t>Record 8 | Audio is clean with minimal to no background noise.</a:t>
            </a:r>
          </a:p>
          <a:p>
            <a:r>
              <a:t>Record 9 | Transcript excerpt: Imagine holding, uh, like a simple piece of cloth in your hand. Let's say it's 2019, and it's just a standard surgical mask. Right, just a boring everyday medical supply, something you'd really only see at the dentist's office. Exactly.</a:t>
            </a:r>
          </a:p>
          <a:p>
            <a:r>
              <a:t>Record 10 | This assessment describes the selected audio excerpt. Origin and credentials are considered separately.</a:t>
            </a:r>
          </a:p>
          <a:p>
            <a:r>
              <a:t>Record 11 | Analysed excerpt: mono, 16 kHz PCM. Credential checks use the original file.</a:t>
            </a:r>
          </a:p>
          <a:p>
            <a:r>
              <a:t>Record 12 | Audio findings are shown alongside the visual assessment and remain separate from its score.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Assessment coverage</a:t>
            </a:r>
          </a:p>
          <a:p>
            <a:r>
              <a:t>Record 1 | Visual verdicts for videos cover the sampled still frames. Standalone-audio content assessments cover the transcript. Soundtrack-origin detection and continuous-motion analysis are outside these assessments.</a:t>
            </a:r>
          </a:p>
          <a:p>
            <a:r>
              <a:t>Record 2 | Original-file credentials, excerpt descriptions and visual interpretation are recorded separately. Credential coverage of an individual audio track remains unresolved by this workflow.</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Evidence supporting this verdict</a:t>
            </a:r>
          </a:p>
          <a:p>
            <a:r>
              <a:t>Claude Analysis | Style closely matches AI-generated two-host 'deep dive' audio overviews (e.g. NotebookLM): stock openers ('Imagine holding...', 'Okay, let's unpack this', 'If we connect this to the bigger picture'), constant affirmations ('Exactly', 'Perfectly said'), scripted neutrality disclaimer and a staged host challenge, suggesting likely synthetic origin.</a:t>
            </a:r>
          </a:p>
          <a:p>
            <a:r>
              <a:t>OpenAI Analysis | The highly regular two-host exchanges, repetitive affirmations, scripted explanatory prompts, and formulaic transitions strongly suggest synthetic generation or editing.</a:t>
            </a:r>
          </a:p>
          <a:p>
            <a:r>
              <a:t>Gemini Analysis | The text displays the classic conversational tropes, rapid turn-taking, and synthetic cadence characteristic of an automated AI podcast generator like NotebookLM.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Additional findings</a:t>
            </a:r>
          </a:p>
          <a:p>
            <a:r>
              <a:t>C2PA Content Credentials | Not checked in this text-analysis pass; no original-media provenance conclusion.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Transcribed text</a:t>
            </a:r>
          </a:p>
          <a:p>
            <a:r>
              <a:t>Recorded text | Imagine holding a like a simple piece of cloth in your hand. Let's say it's 2019, and it's just a standard surgical mask. Right, just a boring everyday medical supply, something you'd really only see at the dentist office. Exactly. But then fast-forward to the end of 2020, and that exact same piece of cloth had morphed into like a literal measure of your morality. Oh, absolutely. It became a symbol of your political affiliation, your patriotism, even. It's just wild to think about. I mean, today we are looking at the exact digital moment a basic health mandate turned into a full-blown ideological war. It really is one of the most compressed, intense sociological shifts we've ever witnessed. Yeah. We went from a public that largely didn't think about epidemiology at all to a society where every single person was forced to take a public, highly visible stance on a global health crisis. And usually, you know, when we talk about a massive global event like that, we have to rely on historians decades later to piece together the public mood. Right, digging through old newspaper clippings or a diary entries. Exactly. But for the COVID-19 pandemic, we have this complete, real-time behavioral laboratory. So, we are grounding our conversation today in this fascinating peer-reviewed study from the journal Vaccine. Yes, authored by Sam Martin and Samantha Vanderslott from the Oxford Vaccine Group. And the scale of their research here is what makes it so robust, right? Oh, totally. They analyzed this massive data set of 7.89 million English-language tweets. Wow. Yeah, from the US and the UK, spanning a very specific window, basically June 1st, 2020 to June 1st, 2021. And they didn't just like count how many times the word mask or vaccine was used, which is what I would have assumed. No, they went way deeper. They utilized media monitoring software called Meltwater and text network analysis software called InfraNodus. Which uh we should probably explain how those tools work because it's vital for understanding the whole study. Please do. So Meltwater acts like this giant net scraping the internet and pulling in every public conversation based on specific keywords. Right. But InfraNodus acts as the brain. It actually maps relationships between words. So if the word mask is constantly sitting right next to the word tyranny or sheep in millions of tweets, The software draws a thick digital line between them. Exactly. It lets researchers see the exact architecture of public sentiment. It's almost like looking at a real-time MRI of society's collective anxiety. That's a really great way to visualize it. It moves us past just individual anecdotes, Yeah. Yeah. and it shows us the actual structural flow of ideas. Yeah. So, the mission for our deep dive today is to explore a very specific phenomenon uncovered in this flow. We want to see how pre-existing anti-vaccine groups and newly formed anti-mask groups actually merged into this massive digital powerhouse. And to understand the psychological, social, and political drivers behind how the public reacted to these mandates. Exactly. Now uh a very quick heads up to you the listener before we dive into the timeline, the data we are analyzing today is heavily political. Very heavily. Yeah, it involves major figures from the left and the right. We're talking President Joe Biden, former President Donald Trump, Vice President Kamala Harris along with a bunch of conservative and liberal viewpoints. Right. So, I have to be clear here. We aren't taking sides today. We aren't endorsing any of the politics discussed. We're just impartially reading the digital footprint left behind to help you understand the mechanics of this social media evolution. Our focus is strictly on the mechanics of the discourse. You know, what the data reflects, what was said, and how it spread. Okay, let's unpack this. To really understand the explosion of outrage and compliance in 2020, we have to recognize that human pushback again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Transcribed text</a:t>
            </a:r>
          </a:p>
          <a:p>
            <a:r>
              <a:t>Recorded text | Imagine holding a like a simple piece of cloth in your hand. Let's say it's 2019, and it's just a standard surgical mask. Right, just a boring everyday medical supply, something you'd really only see at the dentist office. Exactly. But then fast-forward to the end of 2020, and that exact same piece of cloth had morphed into like a literal measure of your morality. Oh, absolutely. It became a symbol of your political affiliation, your patriotism, even. It's just wild to think about. I mean, today we are looking at the exact digital moment a basic health mandate turned into a full-blown ideological war. It really is one of the most compressed, intense sociological shifts we've ever witnessed. Yeah. We went from a public that largely didn't think about epidemiology at all to a society where every single person was forced to take a public, highly visible stance on a global health crisis. And usually, you know, when we talk about a massive global event like that, we have to rely on historians decades later to piece together the public mood. Right, digging through old newspaper clippings or a diary entries. Exactly. But for the COVID-19 pandemic, we have this complete, real-time behavioral laboratory. So, we are grounding our conversation today in this fascinating peer-reviewed study from the journal Vaccine. Yes, authored by Sam Martin and Samantha Vanderslott from the Oxford Vaccine Group. And the scale of their research here is what makes it so robust, right? Oh, totally. They analyzed this massive data set of 7.89 million English-language tweets. Wow. Yeah, from the US and the UK, spanning a very specific window, basically June 1st, 2020 to June 1st, 2021. And they didn't just like count how many times the word mask or vaccine was used, which is what I would have assumed. No, they went way deeper. They utilized media monitoring software called Meltwater and text network analysis software called InfraNodus. Which uh we should probably explain how those tools work because it's vital for understanding the whole study. Please do. So Meltwater acts like this giant net scraping the internet and pulling in every public conversation based on specific keywords. Right. But InfraNodus acts as the brain. It actually maps relationships between words. So if the word mask is constantly sitting right next to the word tyranny or sheep in millions of tweets, The software draws a thick digital line between them. Exactly. It lets researchers see the exact architecture of public sentiment. It's almost like looking at a real-time MRI of society's collective anxiety. That's a really great way to visualize it. It moves us past just individual anecdotes, Yeah. Yeah. and it shows us the actual structural flow of ideas. Yeah. So, the mission for our deep dive today is to explore a very specific phenomenon uncovered in this flow. We want to see how pre-existing anti-vaccine groups and newly formed anti-mask groups actually merged into this massive digital powerhouse. And to understand the psychological, social, and political drivers behind how the public reacted to these mandates. Exactly. Now uh a very quick heads up to you the listener before we dive into the timeline, the data we are analyzing today is heavily political. Very heavily. Yeah, it involves major figures from the left and the right. We're talking President Joe Biden, former President Donald Trump, Vice President Kamala Harris along with a bunch of conservative and liberal viewpoints. Right. So, I have to be clear here. We aren't taking sides today. We aren't endorsing any of the politics discussed. We're just impartially reading the digital footprint left behind to help you understand the mechanics of this social media evolution. Our focus is strictly on the mechanics of the discourse. You know, what the data reflects, what was said, and how it spread. Okay, let's unpack this. To really understand the explosion of outrage and compliance in 2020, we have to recognize that human pushback again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Transcribed text</a:t>
            </a:r>
          </a:p>
          <a:p>
            <a:r>
              <a:t>Recorded text | Imagine holding a like a simple piece of cloth in your hand. Let's say it's 2019, and it's just a standard surgical mask. Right, just a boring everyday medical supply, something you'd really only see at the dentist office. Exactly. But then fast-forward to the end of 2020, and that exact same piece of cloth had morphed into like a literal measure of your morality. Oh, absolutely. It became a symbol of your political affiliation, your patriotism, even. It's just wild to think about. I mean, today we are looking at the exact digital moment a basic health mandate turned into a full-blown ideological war. It really is one of the most compressed, intense sociological shifts we've ever witnessed. Yeah. We went from a public that largely didn't think about epidemiology at all to a society where every single person was forced to take a public, highly visible stance on a global health crisis. And usually, you know, when we talk about a massive global event like that, we have to rely on historians decades later to piece together the public mood. Right, digging through old newspaper clippings or a diary entries. Exactly. But for the COVID-19 pandemic, we have this complete, real-time behavioral laboratory. So, we are grounding our conversation today in this fascinating peer-reviewed study from the journal Vaccine. Yes, authored by Sam Martin and Samantha Vanderslott from the Oxford Vaccine Group. And the scale of their research here is what makes it so robust, right? Oh, totally. They analyzed this massive data set of 7.89 million English-language tweets. Wow. Yeah, from the US and the UK, spanning a very specific window, basically June 1st, 2020 to June 1st, 2021. And they didn't just like count how many times the word mask or vaccine was used, which is what I would have assumed. No, they went way deeper. They utilized media monitoring software called Meltwater and text network analysis software called InfraNodus. Which uh we should probably explain how those tools work because it's vital for understanding the whole study. Please do. So Meltwater acts like this giant net scraping the internet and pulling in every public conversation based on specific keywords. Right. But InfraNodus acts as the brain. It actually maps relationships between words. So if the word mask is constantly sitting right next to the word tyranny or sheep in millions of tweets, The software draws a thick digital line between them. Exactly. It lets researchers see the exact architecture of public sentiment. It's almost like looking at a real-time MRI of society's collective anxiety. That's a really great way to visualize it. It moves us past just individual anecdotes, Yeah. Yeah. and it shows us the actual structural flow of ideas. Yeah. So, the mission for our deep dive today is to explore a very specific phenomenon uncovered in this flow. We want to see how pre-existing anti-vaccine groups and newly formed anti-mask groups actually merged into this massive digital powerhouse. And to understand the psychological, social, and political drivers behind how the public reacted to these mandates. Exactly. Now uh a very quick heads up to you the listener before we dive into the timeline, the data we are analyzing today is heavily political. Very heavily. Yeah, it involves major figures from the left and the right. We're talking President Joe Biden, former President Donald Trump, Vice President Kamala Harris along with a bunch of conservative and liberal viewpoints. Right. So, I have to be clear here. We aren't taking sides today. We aren't endorsing any of the politics discussed. We're just impartially reading the digital footprint left behind to help you understand the mechanics of this social media evolution. Our focus is strictly on the mechanics of the discourse. You know, what the data reflects, what was said, and how it spread. Okay, let's unpack this. To really understand the explosion of outrage and compliance in 2020, we have to recognize that human pushback again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How this assessment was reached</a:t>
            </a:r>
          </a:p>
          <a:p>
            <a:r>
              <a:t>1. override | outcome=none; detail=No confirmed C2PA AI assertion or SynthID watermark. Origin remains unresolved by these checks.</a:t>
            </a:r>
          </a:p>
          <a:p>
            <a:r>
              <a:t>2. model_agreement | synthetic=['Claude Analysis', 'OpenAI Analysis', 'Gemini Analysis']; authentic=[]; uncertain=[]; forensic_supports_synthetic=False</a:t>
            </a:r>
          </a:p>
          <a:p>
            <a:r>
              <a:t>3. verdict | value=synthetic_likely; confidence=high; reason=3 models agree this is likely synthetic.</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File and analysis record</a:t>
            </a:r>
          </a:p>
          <a:p>
            <a:r>
              <a:t>File | podcast.m4a</a:t>
            </a:r>
          </a:p>
          <a:p>
            <a:r>
              <a:t>Analysis ID | 7e1a6917-52a1-453d-8dda-9c4842232f31</a:t>
            </a:r>
          </a:p>
          <a:p>
            <a:r>
              <a:t>Generated | 2026-09-26T22:31:07+00:00</a:t>
            </a:r>
          </a:p>
          <a:p>
            <a:r>
              <a:t>Tool | SDA Vision 0.1.0</a:t>
            </a:r>
          </a:p>
          <a:p>
            <a:r>
              <a:t>Models | claude-opus-5-5, gemini-3.8-flash, gpt-6-astra</a:t>
            </a:r>
          </a:p>
          <a:p>
            <a:r>
              <a:t>Method version | pdf-preparation-2026-09-26.1</a:t>
            </a:r>
          </a:p>
          <a:p>
            <a:r>
              <a:t>Analysis lens | general</a:t>
            </a:r>
          </a:p>
          <a:p>
            <a:r>
              <a:t>Original SHA-256 | 58663a6a9e4b634bdb703ead0aaa7cd6dce7fbf97e70c3c1cc61b3311b94c0b4</a:t>
            </a:r>
          </a:p>
          <a:p>
            <a:r>
              <a:t>Ingestion note 1 | Transcoded to 5737 KB mono 16 kHz (≤1800s).</a:t>
            </a:r>
          </a:p>
          <a:p>
            <a:r>
              <a:t>Ingestion note 2 | Transcribed with Gemini.</a:t>
            </a:r>
          </a:p>
          <a:p>
            <a:r>
              <a:t>Ingestion note 3 | Standalone-audio content assessment covers the transcript. AI-origin detection from sound is outside this assessment. Original-file C2PA was checked before transcription and is reported separately.</a:t>
            </a:r>
          </a:p>
          <a:p>
            <a:r>
              <a:t>Ingestion note 4 | Audio tracks inspected locally. Soundtrack uploads require a separate optional check; AI-origin detection from sound is outside this workflow.</a:t>
            </a:r>
          </a:p>
          <a:p>
            <a:r>
              <a:t>Ingestion note 5 | Fresh provider replies acquired for eleven-examples-refresh-20260926-r1; report assembled locally from the saved responses without further API calls.</a:t>
            </a:r>
          </a:p>
          <a:p>
            <a:r>
              <a:t>Ingestion note 6 | Transcript analysis used the first 12000 characters of a fresh 25985-character transcription; this report retains its first 4000 characters. Sound-origin detection is outside this check.</a:t>
            </a:r>
          </a:p>
          <a:p>
            <a:r>
              <a:t>Ingestion note 7 | Provider latency values are restored from the acquisition receipts (maximum sampled-frame latency per provider); raw replies and assessment results are unchanged by this bookkeeping step.</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podcast.m4a</a:t>
            </a:r>
          </a:p>
          <a:p>
            <a:r>
              <a:t>File and analysis record</a:t>
            </a:r>
          </a:p>
          <a:p>
            <a:r>
              <a:t>File | podcast.m4a</a:t>
            </a:r>
          </a:p>
          <a:p>
            <a:r>
              <a:t>Analysis ID | 7e1a6917-52a1-453d-8dda-9c4842232f31</a:t>
            </a:r>
          </a:p>
          <a:p>
            <a:r>
              <a:t>Generated | 2026-09-26T22:31:07+00:00</a:t>
            </a:r>
          </a:p>
          <a:p>
            <a:r>
              <a:t>Tool | SDA Vision 0.1.0</a:t>
            </a:r>
          </a:p>
          <a:p>
            <a:r>
              <a:t>Models | claude-opus-5-5, gemini-3.8-flash, gpt-6-astra</a:t>
            </a:r>
          </a:p>
          <a:p>
            <a:r>
              <a:t>Method version | pdf-preparation-2026-09-26.1</a:t>
            </a:r>
          </a:p>
          <a:p>
            <a:r>
              <a:t>Analysis lens | general</a:t>
            </a:r>
          </a:p>
          <a:p>
            <a:r>
              <a:t>Original SHA-256 | 58663a6a9e4b634bdb703ead0aaa7cd6dce7fbf97e70c3c1cc61b3311b94c0b4</a:t>
            </a:r>
          </a:p>
          <a:p>
            <a:r>
              <a:t>Ingestion note 1 | Transcoded to 5737 KB mono 16 kHz (≤1800s).</a:t>
            </a:r>
          </a:p>
          <a:p>
            <a:r>
              <a:t>Ingestion note 2 | Transcribed with Gemini.</a:t>
            </a:r>
          </a:p>
          <a:p>
            <a:r>
              <a:t>Ingestion note 3 | Standalone-audio content assessment covers the transcript. AI-origin detection from sound is outside this assessment. Original-file C2PA was checked before transcription and is reported separately.</a:t>
            </a:r>
          </a:p>
          <a:p>
            <a:r>
              <a:t>Ingestion note 4 | Audio tracks inspected locally. Soundtrack uploads require a separate optional check; AI-origin detection from sound is outside this workflow.</a:t>
            </a:r>
          </a:p>
          <a:p>
            <a:r>
              <a:t>Ingestion note 5 | Fresh provider replies acquired for eleven-examples-refresh-20260926-r1; report assembled locally from the saved responses without further API calls.</a:t>
            </a:r>
          </a:p>
          <a:p>
            <a:r>
              <a:t>Ingestion note 6 | Transcript analysis used the first 12000 characters of a fresh 25985-character transcription; this report retains its first 4000 characters. Sound-origin detection is outside this check.</a:t>
            </a:r>
          </a:p>
          <a:p>
            <a:r>
              <a:t>Ingestion note 7 | Provider latency values are restored from the acquisition receipts (maximum sampled-frame latency per provider); raw replies and assessment results are unchanged by this bookkeeping step.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Analysed item</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a:t>
            </a:r>
          </a:p>
        </p:txBody>
      </p:sp>
      <p:pic>
        <p:nvPicPr>
          <p:cNvPr id="6" name="Picture 5" descr="image.jpg"/>
          <p:cNvPicPr>
            <a:picLocks noChangeAspect="1"/>
          </p:cNvPicPr>
          <p:nvPr/>
        </p:nvPicPr>
        <p:blipFill>
          <a:blip r:embed="rId3"/>
          <a:stretch>
            <a:fillRect/>
          </a:stretch>
        </p:blipFill>
        <p:spPr>
          <a:xfrm>
            <a:off x="685800" y="1353312"/>
            <a:ext cx="7772400" cy="3886200"/>
          </a:xfrm>
          <a:prstGeom prst="rect">
            <a:avLst/>
          </a:prstGeom>
        </p:spPr>
      </p:pic>
      <p:sp>
        <p:nvSpPr>
          <p:cNvPr id="7" name="TextBox 6"/>
          <p:cNvSpPr txBox="1"/>
          <p:nvPr/>
        </p:nvSpPr>
        <p:spPr>
          <a:xfrm>
            <a:off x="365760" y="5532120"/>
            <a:ext cx="8412480" cy="594360"/>
          </a:xfrm>
          <a:prstGeom prst="rect">
            <a:avLst/>
          </a:prstGeom>
          <a:noFill/>
        </p:spPr>
        <p:txBody>
          <a:bodyPr wrap="square" lIns="0" rIns="0" tIns="0" bIns="0">
            <a:spAutoFit/>
          </a:bodyPr>
          <a:lstStyle/>
          <a:p>
            <a:pPr>
              <a:lnSpc>
                <a:spcPct val="115000"/>
              </a:lnSpc>
              <a:spcAft>
                <a:spcPts val="0"/>
              </a:spcAft>
              <a:defRPr sz="1100" b="0">
                <a:solidFill>
                  <a:srgbClr val="21243A"/>
                </a:solidFill>
                <a:latin typeface="Arial"/>
              </a:defRPr>
            </a:pPr>
            <a:r>
              <a:t>podcast.m4a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Assessment summary</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Finding</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Leaning synthetic</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Recorded verdict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high</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Indicative rating</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90/100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Rating basis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median of available model ratings; not a calibrated probability</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Explanation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3 models agree this is likely synthetic.</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Coverage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audio - 0 frame(s) analysed</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Review context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Research assessment. Review alongside source information and context. When</a:t>
                      </a:r>
                    </a:p>
                    <a:p>
                      <a:pPr>
                        <a:lnSpc>
                          <a:spcPts val="1600"/>
                        </a:lnSpc>
                        <a:spcAft>
                          <a:spcPts val="0"/>
                        </a:spcAft>
                        <a:defRPr sz="1200" b="0">
                          <a:solidFill>
                            <a:srgbClr val="21243A"/>
                          </a:solidFill>
                          <a:latin typeface="Arial"/>
                        </a:defRPr>
                      </a:pPr>
                      <a:r>
                        <a:t>credentials are missing, origin remains unresolved by this check. Use these</a:t>
                      </a:r>
                    </a:p>
                    <a:p>
                      <a:pPr>
                        <a:lnSpc>
                          <a:spcPts val="1600"/>
                        </a:lnSpc>
                        <a:spcAft>
                          <a:spcPts val="0"/>
                        </a:spcAft>
                        <a:defRPr sz="1200" b="0">
                          <a:solidFill>
                            <a:srgbClr val="21243A"/>
                          </a:solidFill>
                          <a:latin typeface="Arial"/>
                        </a:defRPr>
                      </a:pPr>
                      <a:r>
                        <a:t>findings to inform a documented human review.</a:t>
                      </a:r>
                    </a:p>
                  </a:txBody>
                  <a:tcPr marL="82296" marR="82296" marT="64008" marB="6400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overview</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3</a:t>
            </a:r>
          </a:p>
        </p:txBody>
      </p:sp>
      <p:graphicFrame>
        <p:nvGraphicFramePr>
          <p:cNvPr id="6" name="Table 5"/>
          <p:cNvGraphicFramePr>
            <a:graphicFrameLocks noGrp="1"/>
          </p:cNvGraphicFramePr>
          <p:nvPr/>
        </p:nvGraphicFramePr>
        <p:xfrm>
          <a:off x="365760" y="1353312"/>
          <a:ext cx="8412478" cy="347472"/>
        </p:xfrm>
        <a:graphic>
          <a:graphicData uri="http://schemas.openxmlformats.org/drawingml/2006/table">
            <a:tbl>
              <a:tblPr firstRow="1" bandRow="1">
                <a:tableStyleId>{5C22544A-7EE6-4342-B048-85BDC9FD1C3A}</a:tableStyleId>
              </a:tblPr>
              <a:tblGrid>
                <a:gridCol w="2691993"/>
                <a:gridCol w="1850745"/>
                <a:gridCol w="2523744"/>
                <a:gridCol w="1345996"/>
              </a:tblGrid>
              <a:tr h="347472">
                <a:tc>
                  <a:txBody>
                    <a:bodyPr wrap="none"/>
                    <a:lstStyle/>
                    <a:p>
                      <a:pPr>
                        <a:lnSpc>
                          <a:spcPts val="1600"/>
                        </a:lnSpc>
                        <a:spcAft>
                          <a:spcPts val="0"/>
                        </a:spcAft>
                        <a:defRPr sz="1200" b="1">
                          <a:solidFill>
                            <a:srgbClr val="FFFFFF"/>
                          </a:solidFill>
                          <a:latin typeface="Arial"/>
                        </a:defRPr>
                      </a:pPr>
                      <a:r>
                        <a:t>Provider</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Type / status</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Assessment</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Rating</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Claude Analysis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analysis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78/100</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OpenAI Analysis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analysis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90/100</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Gemini Analysis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analysis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95/100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forensic / ok</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applicable</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n/a</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8" cy="349504"/>
        </p:xfrm>
        <a:graphic>
          <a:graphicData uri="http://schemas.openxmlformats.org/drawingml/2006/table">
            <a:tbl>
              <a:tblPr firstRow="1" bandRow="1">
                <a:tableStyleId>{5C22544A-7EE6-4342-B048-85BDC9FD1C3A}</a:tableStyleId>
              </a:tblPr>
              <a:tblGrid>
                <a:gridCol w="2691993"/>
                <a:gridCol w="1850745"/>
                <a:gridCol w="2523744"/>
                <a:gridCol w="1345996"/>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provenance / ok</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n/a</a:t>
                      </a:r>
                    </a:p>
                  </a:txBody>
                  <a:tcPr marL="82296" marR="82296" marT="64008" marB="64008">
                    <a:solidFill>
                      <a:srgbClr val="F1F7F7"/>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 Analysis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claude-opus-5-5</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1162304"/>
        </p:xfrm>
        <a:graphic>
          <a:graphicData uri="http://schemas.openxmlformats.org/drawingml/2006/table">
            <a:tbl>
              <a:tblPr firstRow="1" bandRow="1">
                <a:tableStyleId>{5C22544A-7EE6-4342-B048-85BDC9FD1C3A}</a:tableStyleId>
              </a:tblPr>
              <a:tblGrid>
                <a:gridCol w="2271369"/>
                <a:gridCol w="6141110"/>
              </a:tblGrid>
              <a:tr h="11623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Style closely matches AI-generated two-host 'deep dive' audio overviews (e.g.</a:t>
                      </a:r>
                    </a:p>
                    <a:p>
                      <a:pPr>
                        <a:lnSpc>
                          <a:spcPts val="1600"/>
                        </a:lnSpc>
                        <a:spcAft>
                          <a:spcPts val="0"/>
                        </a:spcAft>
                        <a:defRPr sz="1200" b="0">
                          <a:solidFill>
                            <a:srgbClr val="21243A"/>
                          </a:solidFill>
                          <a:latin typeface="Arial"/>
                        </a:defRPr>
                      </a:pPr>
                      <a:r>
                        <a:t>NotebookLM): stock openers ('Imagine holding...', 'Okay, let's unpack this', 'If we</a:t>
                      </a:r>
                    </a:p>
                    <a:p>
                      <a:pPr>
                        <a:lnSpc>
                          <a:spcPts val="1600"/>
                        </a:lnSpc>
                        <a:spcAft>
                          <a:spcPts val="0"/>
                        </a:spcAft>
                        <a:defRPr sz="1200" b="0">
                          <a:solidFill>
                            <a:srgbClr val="21243A"/>
                          </a:solidFill>
                          <a:latin typeface="Arial"/>
                        </a:defRPr>
                      </a:pPr>
                      <a:r>
                        <a:t>connect this to the bigger picture'), constant affirmations ('Exactly', 'Perfectly</a:t>
                      </a:r>
                    </a:p>
                    <a:p>
                      <a:pPr>
                        <a:lnSpc>
                          <a:spcPts val="1600"/>
                        </a:lnSpc>
                        <a:spcAft>
                          <a:spcPts val="0"/>
                        </a:spcAft>
                        <a:defRPr sz="1200" b="0">
                          <a:solidFill>
                            <a:srgbClr val="21243A"/>
                          </a:solidFill>
                          <a:latin typeface="Arial"/>
                        </a:defRPr>
                      </a:pPr>
                      <a:r>
                        <a:t>said'), scripted neutrality disclaimer and a staged host challenge, suggesting likely</a:t>
                      </a:r>
                    </a:p>
                    <a:p>
                      <a:pPr>
                        <a:lnSpc>
                          <a:spcPts val="1600"/>
                        </a:lnSpc>
                        <a:spcAft>
                          <a:spcPts val="0"/>
                        </a:spcAft>
                        <a:defRPr sz="1200" b="0">
                          <a:solidFill>
                            <a:srgbClr val="21243A"/>
                          </a:solidFill>
                          <a:latin typeface="Arial"/>
                        </a:defRPr>
                      </a:pPr>
                      <a:r>
                        <a:t>synthetic origin.</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9601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origin framing: Two-host explainer podcast summarising a</a:t>
                      </a:r>
                    </a:p>
                    <a:p>
                      <a:pPr>
                        <a:lnSpc>
                          <a:spcPts val="1600"/>
                        </a:lnSpc>
                        <a:spcAft>
                          <a:spcPts val="0"/>
                        </a:spcAft>
                        <a:defRPr sz="1200" b="0">
                          <a:solidFill>
                            <a:srgbClr val="21243A"/>
                          </a:solidFill>
                          <a:latin typeface="Arial"/>
                        </a:defRPr>
                      </a:pPr>
                      <a:r>
                        <a:t>peer-reviewed study, with historical context, a stated neutrality disclaimer and</a:t>
                      </a:r>
                    </a:p>
                    <a:p>
                      <a:pPr>
                        <a:lnSpc>
                          <a:spcPts val="1600"/>
                        </a:lnSpc>
                        <a:spcAft>
                          <a:spcPts val="0"/>
                        </a:spcAft>
                        <a:defRPr sz="1200" b="0">
                          <a:solidFill>
                            <a:srgbClr val="21243A"/>
                          </a:solidFill>
                          <a:latin typeface="Arial"/>
                        </a:defRPr>
                      </a:pPr>
                      <a:r>
                        <a:t>interpretive commentary on polarisation</a:t>
                      </a:r>
                    </a:p>
                  </a:txBody>
                  <a:tcPr marL="82296" marR="82296" marT="64008" marB="64008">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1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Summary (content, for the researcher's coding):</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Study by Sam Martin and Samantha Vanderslott (Oxford Vaccine Group) published</a:t>
                      </a:r>
                    </a:p>
                    <a:p>
                      <a:pPr>
                        <a:lnSpc>
                          <a:spcPts val="1600"/>
                        </a:lnSpc>
                        <a:spcAft>
                          <a:spcPts val="0"/>
                        </a:spcAft>
                        <a:defRPr sz="1200" b="0">
                          <a:solidFill>
                            <a:srgbClr val="21243A"/>
                          </a:solidFill>
                          <a:latin typeface="Arial"/>
                        </a:defRPr>
                      </a:pPr>
                      <a:r>
                        <a:t>in journal Vaccine</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6029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Analysed 7.89 million English-language US/UK tweets, June 2020 to June 2021</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9524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Used Meltwater for collection and InfraNodus for text network analysis</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3020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5.91 million tweets on masks, 1.98 million on vaccines</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651504"/>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Human podcasters can use similar conventions, and transcription</a:t>
                      </a:r>
                    </a:p>
                    <a:p>
                      <a:pPr>
                        <a:lnSpc>
                          <a:spcPts val="1600"/>
                        </a:lnSpc>
                        <a:spcAft>
                          <a:spcPts val="0"/>
                        </a:spcAft>
                        <a:defRPr sz="1200" b="0">
                          <a:solidFill>
                            <a:srgbClr val="21243A"/>
                          </a:solidFill>
                          <a:latin typeface="Arial"/>
                        </a:defRPr>
                      </a:pPr>
                      <a:r>
                        <a:t>artefacts may mask or mimic synthetic patterns; source audio and provenance</a:t>
                      </a:r>
                    </a:p>
                    <a:p>
                      <a:pPr>
                        <a:lnSpc>
                          <a:spcPts val="1600"/>
                        </a:lnSpc>
                        <a:spcAft>
                          <a:spcPts val="0"/>
                        </a:spcAft>
                        <a:defRPr sz="1200" b="0">
                          <a:solidFill>
                            <a:srgbClr val="21243A"/>
                          </a:solidFill>
                          <a:latin typeface="Arial"/>
                        </a:defRPr>
                      </a:pPr>
                      <a:r>
                        <a:t>should be checked.</a:t>
                      </a:r>
                    </a:p>
                  </a:txBody>
                  <a:tcPr marL="82296" marR="82296" marT="64008" marB="64008">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OpenAI Analysis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gpt-6-astra</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medium</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The highly regular two-host exchanges, repetitive affirmations, scripted</a:t>
                      </a:r>
                    </a:p>
                    <a:p>
                      <a:pPr>
                        <a:lnSpc>
                          <a:spcPts val="1600"/>
                        </a:lnSpc>
                        <a:spcAft>
                          <a:spcPts val="0"/>
                        </a:spcAft>
                        <a:defRPr sz="1200" b="0">
                          <a:solidFill>
                            <a:srgbClr val="21243A"/>
                          </a:solidFill>
                          <a:latin typeface="Arial"/>
                        </a:defRPr>
                      </a:pPr>
                      <a:r>
                        <a:t>explanatory prompts, and formulaic transitions strongly suggest synthetic</a:t>
                      </a:r>
                    </a:p>
                    <a:p>
                      <a:pPr>
                        <a:lnSpc>
                          <a:spcPts val="1600"/>
                        </a:lnSpc>
                        <a:spcAft>
                          <a:spcPts val="0"/>
                        </a:spcAft>
                        <a:defRPr sz="1200" b="0">
                          <a:solidFill>
                            <a:srgbClr val="21243A"/>
                          </a:solidFill>
                          <a:latin typeface="Arial"/>
                        </a:defRPr>
                      </a:pPr>
                      <a:r>
                        <a:t>generation or editing.</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55371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origin framing: Conversational research explainer using staged</a:t>
                      </a:r>
                    </a:p>
                    <a:p>
                      <a:pPr>
                        <a:lnSpc>
                          <a:spcPts val="1600"/>
                        </a:lnSpc>
                        <a:spcAft>
                          <a:spcPts val="0"/>
                        </a:spcAft>
                        <a:defRPr sz="1200" b="0">
                          <a:solidFill>
                            <a:srgbClr val="21243A"/>
                          </a:solidFill>
                          <a:latin typeface="Arial"/>
                        </a:defRPr>
                      </a:pPr>
                      <a:r>
                        <a:t>questions, emphatic agreement, historical parallels, and sociological</a:t>
                      </a:r>
                    </a:p>
                    <a:p>
                      <a:pPr>
                        <a:lnSpc>
                          <a:spcPts val="1600"/>
                        </a:lnSpc>
                        <a:spcAft>
                          <a:spcPts val="0"/>
                        </a:spcAft>
                        <a:defRPr sz="1200" b="0">
                          <a:solidFill>
                            <a:srgbClr val="21243A"/>
                          </a:solidFill>
                          <a:latin typeface="Arial"/>
                        </a:defRPr>
                      </a:pPr>
                      <a:r>
                        <a:t>interpretations.</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3096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Summary (content, for the researcher's coding):</a:t>
                      </a:r>
                    </a:p>
                  </a:txBody>
                  <a:tcPr marL="82296" marR="82296" marT="64008" marB="64008">
                    <a:solidFill>
                      <a:srgbClr val="F1F7F7"/>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2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The cited study reportedly analyzed 7.89 million English-language tweets from</a:t>
                      </a:r>
                    </a:p>
                    <a:p>
                      <a:pPr>
                        <a:lnSpc>
                          <a:spcPts val="1600"/>
                        </a:lnSpc>
                        <a:spcAft>
                          <a:spcPts val="0"/>
                        </a:spcAft>
                        <a:defRPr sz="1200" b="0">
                          <a:solidFill>
                            <a:srgbClr val="21243A"/>
                          </a:solidFill>
                          <a:latin typeface="Arial"/>
                        </a:defRPr>
                      </a:pPr>
                      <a:r>
                        <a:t>June 2020 to June 2021.</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Researchers reportedly used Meltwater and InfraNodus to examine mask and</a:t>
                      </a:r>
                    </a:p>
                    <a:p>
                      <a:pPr>
                        <a:lnSpc>
                          <a:spcPts val="1600"/>
                        </a:lnSpc>
                        <a:spcAft>
                          <a:spcPts val="0"/>
                        </a:spcAft>
                        <a:defRPr sz="1200" b="0">
                          <a:solidFill>
                            <a:srgbClr val="21243A"/>
                          </a:solidFill>
                          <a:latin typeface="Arial"/>
                        </a:defRPr>
                      </a:pPr>
                      <a:r>
                        <a:t>vaccine discourse in the US and UK.</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8061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The text describes convergence between anti-vaccine and anti-mask groups.</a:t>
                      </a:r>
                    </a:p>
                  </a:txBody>
                  <a:tcPr marL="82296" marR="82296" marT="64008" marB="64008">
                    <a:solidFill>
                      <a:srgbClr val="FFFFFF"/>
                    </a:solidFill>
                  </a:tcPr>
                </a:tc>
              </a:tr>
            </a:tbl>
          </a:graphicData>
        </a:graphic>
      </p:graphicFrame>
      <p:graphicFrame>
        <p:nvGraphicFramePr>
          <p:cNvPr id="10" name="Table 9"/>
          <p:cNvGraphicFramePr>
            <a:graphicFrameLocks noGrp="1"/>
          </p:cNvGraphicFramePr>
          <p:nvPr/>
        </p:nvGraphicFramePr>
        <p:xfrm>
          <a:off x="365760" y="31556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It reports greater negative mask sentiment in the UK than the US.</a:t>
                      </a:r>
                    </a:p>
                  </a:txBody>
                  <a:tcPr marL="82296" marR="82296" marT="64008" marB="64008">
                    <a:solidFill>
                      <a:srgbClr val="F1F7F7"/>
                    </a:solidFill>
                  </a:tcPr>
                </a:tc>
              </a:tr>
            </a:tbl>
          </a:graphicData>
        </a:graphic>
      </p:graphicFrame>
      <p:graphicFrame>
        <p:nvGraphicFramePr>
          <p:cNvPr id="11" name="Table 10"/>
          <p:cNvGraphicFramePr>
            <a:graphicFrameLocks noGrp="1"/>
          </p:cNvGraphicFramePr>
          <p:nvPr/>
        </p:nvGraphicFramePr>
        <p:xfrm>
          <a:off x="365760" y="350520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A human-scripted podcast could share these features; transcript artifacts</a:t>
                      </a:r>
                    </a:p>
                    <a:p>
                      <a:pPr>
                        <a:lnSpc>
                          <a:spcPts val="1600"/>
                        </a:lnSpc>
                        <a:spcAft>
                          <a:spcPts val="0"/>
                        </a:spcAft>
                        <a:defRPr sz="1200" b="0">
                          <a:solidFill>
                            <a:srgbClr val="21243A"/>
                          </a:solidFill>
                          <a:latin typeface="Arial"/>
                        </a:defRPr>
                      </a:pPr>
                      <a:r>
                        <a:t>and absent provenance limit attribution.</a:t>
                      </a:r>
                    </a:p>
                  </a:txBody>
                  <a:tcPr marL="82296" marR="82296" marT="64008" marB="64008">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Gemini Analysis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gemini-3.8-flash</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likely</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high</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Supporting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The text displays the classic conversational tropes, rapid turn-taking, and</a:t>
                      </a:r>
                    </a:p>
                    <a:p>
                      <a:pPr>
                        <a:lnSpc>
                          <a:spcPts val="1600"/>
                        </a:lnSpc>
                        <a:spcAft>
                          <a:spcPts val="0"/>
                        </a:spcAft>
                        <a:defRPr sz="1200" b="0">
                          <a:solidFill>
                            <a:srgbClr val="21243A"/>
                          </a:solidFill>
                          <a:latin typeface="Arial"/>
                        </a:defRPr>
                      </a:pPr>
                      <a:r>
                        <a:t>synthetic cadence characteristic of an automated AI podcast generator like</a:t>
                      </a:r>
                    </a:p>
                    <a:p>
                      <a:pPr>
                        <a:lnSpc>
                          <a:spcPts val="1600"/>
                        </a:lnSpc>
                        <a:spcAft>
                          <a:spcPts val="0"/>
                        </a:spcAft>
                        <a:defRPr sz="1200" b="0">
                          <a:solidFill>
                            <a:srgbClr val="21243A"/>
                          </a:solidFill>
                          <a:latin typeface="Arial"/>
                        </a:defRPr>
                      </a:pPr>
                      <a:r>
                        <a:t>NotebookLM.</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5537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 origin framing: An informal two-host podcast script discussing academic</a:t>
                      </a:r>
                    </a:p>
                    <a:p>
                      <a:pPr>
                        <a:lnSpc>
                          <a:spcPts val="1600"/>
                        </a:lnSpc>
                        <a:spcAft>
                          <a:spcPts val="0"/>
                        </a:spcAft>
                        <a:defRPr sz="1200" b="0">
                          <a:solidFill>
                            <a:srgbClr val="21243A"/>
                          </a:solidFill>
                          <a:latin typeface="Arial"/>
                        </a:defRPr>
                      </a:pPr>
                      <a:r>
                        <a:t>research on social media discourse and health mandates.</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1064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Summary (content, for the researcher's coding):</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45592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Oxford Vaccine Group researchers analyzed 7.89 million English-language tweets</a:t>
                      </a:r>
                    </a:p>
                    <a:p>
                      <a:pPr>
                        <a:lnSpc>
                          <a:spcPts val="1600"/>
                        </a:lnSpc>
                        <a:spcAft>
                          <a:spcPts val="0"/>
                        </a:spcAft>
                        <a:defRPr sz="1200" b="0">
                          <a:solidFill>
                            <a:srgbClr val="21243A"/>
                          </a:solidFill>
                          <a:latin typeface="Arial"/>
                        </a:defRPr>
                      </a:pPr>
                      <a:r>
                        <a:t>from the US and UK between June 2020 and June 2021</a:t>
                      </a:r>
                    </a:p>
                  </a:txBody>
                  <a:tcPr marL="82296" marR="82296" marT="64008" marB="64008">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3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9</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Study used Meltwater and InfraNodus network analysis software to examine</a:t>
                      </a:r>
                    </a:p>
                    <a:p>
                      <a:pPr>
                        <a:lnSpc>
                          <a:spcPts val="1600"/>
                        </a:lnSpc>
                        <a:spcAft>
                          <a:spcPts val="0"/>
                        </a:spcAft>
                        <a:defRPr sz="1200" b="0">
                          <a:solidFill>
                            <a:srgbClr val="21243A"/>
                          </a:solidFill>
                          <a:latin typeface="Arial"/>
                        </a:defRPr>
                      </a:pPr>
                      <a:r>
                        <a:t>sentiment around masks and vaccines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5</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5.91 million analyzed tweets focused on masks, while 1.98 million focused on</a:t>
                      </a:r>
                    </a:p>
                    <a:p>
                      <a:pPr>
                        <a:lnSpc>
                          <a:spcPts val="1600"/>
                        </a:lnSpc>
                        <a:spcAft>
                          <a:spcPts val="0"/>
                        </a:spcAft>
                        <a:defRPr sz="1200" b="0">
                          <a:solidFill>
                            <a:srgbClr val="21243A"/>
                          </a:solidFill>
                          <a:latin typeface="Arial"/>
                        </a:defRPr>
                      </a:pPr>
                      <a:r>
                        <a:t>vaccines</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Evidence 6</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Negative sentiment toward masks was 28% in the UK compared to 22% in the US</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31556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7</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Caveat: Human podcast hosts discussing academic papers can occasionally use</a:t>
                      </a:r>
                    </a:p>
                    <a:p>
                      <a:pPr>
                        <a:lnSpc>
                          <a:spcPts val="1600"/>
                        </a:lnSpc>
                        <a:spcAft>
                          <a:spcPts val="0"/>
                        </a:spcAft>
                        <a:defRPr sz="1200" b="0">
                          <a:solidFill>
                            <a:srgbClr val="21243A"/>
                          </a:solidFill>
                          <a:latin typeface="Arial"/>
                        </a:defRPr>
                      </a:pPr>
                      <a:r>
                        <a:t>similar rehearsed, highly structured banter.</a:t>
                      </a:r>
                    </a:p>
                  </a:txBody>
                  <a:tcPr marL="82296" marR="82296" marT="64008" marB="64008">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Provider evidence / 4</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10</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Local forensic cues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applicable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listed</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Pixel forensics: outside text analysis.</a:t>
                      </a:r>
                    </a:p>
                  </a:txBody>
                  <a:tcPr marL="82296" marR="82296" marT="64008" marB="64008">
                    <a:solidFill>
                      <a:srgbClr val="F1F7F7"/>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11</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Status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ok</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inconclusive</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Confidence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Not recorded</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Role in assessment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Additional finding</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Provider summary</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Embedded credentials: none found. Origin remains unresolved by this check.</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1</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Coverage: credentials embedded in the submitted file. External credentials were</a:t>
                      </a:r>
                    </a:p>
                    <a:p>
                      <a:pPr>
                        <a:lnSpc>
                          <a:spcPts val="1600"/>
                        </a:lnSpc>
                        <a:spcAft>
                          <a:spcPts val="0"/>
                        </a:spcAft>
                        <a:defRPr sz="1200" b="0">
                          <a:solidFill>
                            <a:srgbClr val="21243A"/>
                          </a:solidFill>
                          <a:latin typeface="Arial"/>
                        </a:defRPr>
                      </a:pPr>
                      <a:r>
                        <a:t>not retrieved.</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70001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2</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Verifier: c2pa-python 0.37.12; native SDK 0.91.0; specification target 2.4; policy</a:t>
                      </a:r>
                    </a:p>
                    <a:p>
                      <a:pPr>
                        <a:lnSpc>
                          <a:spcPts val="1600"/>
                        </a:lnSpc>
                        <a:spcAft>
                          <a:spcPts val="0"/>
                        </a:spcAft>
                        <a:defRPr sz="1200" b="0">
                          <a:solidFill>
                            <a:srgbClr val="21243A"/>
                          </a:solidFill>
                          <a:latin typeface="Arial"/>
                        </a:defRPr>
                      </a:pPr>
                      <a:r>
                        <a:t>embedded-offline-reviewed-trust-v3.</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525272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3</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Offline embedded-manifest verification; no network trust-list, manifest or</a:t>
                      </a:r>
                    </a:p>
                    <a:p>
                      <a:pPr>
                        <a:lnSpc>
                          <a:spcPts val="1600"/>
                        </a:lnSpc>
                        <a:spcAft>
                          <a:spcPts val="0"/>
                        </a:spcAft>
                        <a:defRPr sz="1200" b="0">
                          <a:solidFill>
                            <a:srgbClr val="21243A"/>
                          </a:solidFill>
                          <a:latin typeface="Arial"/>
                        </a:defRPr>
                      </a:pPr>
                      <a:r>
                        <a:t>revocation refresh.</a:t>
                      </a:r>
                    </a:p>
                  </a:txBody>
                  <a:tcPr marL="82296" marR="82296" marT="64008" marB="64008">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Content Credentials / provenance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Evidence 4</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 reviewed local C2PA trust snapshot installed. Provenance overrides are</a:t>
                      </a:r>
                    </a:p>
                    <a:p>
                      <a:pPr>
                        <a:lnSpc>
                          <a:spcPts val="1600"/>
                        </a:lnSpc>
                        <a:spcAft>
                          <a:spcPts val="0"/>
                        </a:spcAft>
                        <a:defRPr sz="1200" b="0">
                          <a:solidFill>
                            <a:srgbClr val="21243A"/>
                          </a:solidFill>
                          <a:latin typeface="Arial"/>
                        </a:defRPr>
                      </a:pPr>
                      <a:r>
                        <a:t>disabled.</a:t>
                      </a:r>
                    </a:p>
                  </a:txBody>
                  <a:tcPr marL="82296" marR="82296" marT="64008" marB="64008">
                    <a:solidFill>
                      <a:srgbClr val="F1F7F7"/>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Local soundtrack inspection</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13</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Audio inspection: present; tracks: 1.</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Record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Track 0: aac, 2 channel(s), 44100 Hz; duration 1468.569252s; decode decoded; 3/3</a:t>
                      </a:r>
                    </a:p>
                    <a:p>
                      <a:pPr>
                        <a:lnSpc>
                          <a:spcPts val="1600"/>
                        </a:lnSpc>
                        <a:spcAft>
                          <a:spcPts val="0"/>
                        </a:spcAft>
                        <a:defRPr sz="1200" b="0">
                          <a:solidFill>
                            <a:srgbClr val="21243A"/>
                          </a:solidFill>
                          <a:latin typeface="Arial"/>
                        </a:defRPr>
                      </a:pPr>
                      <a:r>
                        <a:t>sampled windows above -60 dBFS after mono downmix.</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6029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3</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Sample windows: 0.0s + 3.0s; 732.785s + 3.0s; 1465.569s + 3.0s</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952496"/>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Record 4</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Original-file credentials are recorded separately. Credential coverage of this audio</a:t>
                      </a:r>
                    </a:p>
                    <a:p>
                      <a:pPr>
                        <a:lnSpc>
                          <a:spcPts val="1600"/>
                        </a:lnSpc>
                        <a:spcAft>
                          <a:spcPts val="0"/>
                        </a:spcAft>
                        <a:defRPr sz="1200" b="0">
                          <a:solidFill>
                            <a:srgbClr val="21243A"/>
                          </a:solidFill>
                          <a:latin typeface="Arial"/>
                        </a:defRPr>
                      </a:pPr>
                      <a:r>
                        <a:t>track: unresolved.</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505200"/>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Record 5</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Audio-level measurements cover the sampled windows. The remaining audio has</a:t>
                      </a:r>
                    </a:p>
                    <a:p>
                      <a:pPr>
                        <a:lnSpc>
                          <a:spcPts val="1600"/>
                        </a:lnSpc>
                        <a:spcAft>
                          <a:spcPts val="0"/>
                        </a:spcAft>
                        <a:defRPr sz="1200" b="0">
                          <a:solidFill>
                            <a:srgbClr val="21243A"/>
                          </a:solidFill>
                          <a:latin typeface="Arial"/>
                        </a:defRPr>
                      </a:pPr>
                      <a:r>
                        <a:t>not been inspected by this check.</a:t>
                      </a:r>
                    </a:p>
                  </a:txBody>
                  <a:tcPr marL="82296" marR="82296" marT="64008" marB="64008">
                    <a:solidFill>
                      <a:srgbClr val="F1F7F7"/>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Optional audio excerpt description</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Google Gemini / gemini-3.8-flash; status: ok; content: speech.</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Checked: 2026-09-27T19:20:45.393134+00:00; consent to Google recorded: True.</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3</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Track 0; excerpt 0s + 20.0s; prompt: soundtrack-content-v1.</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Record 4</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Original SHA-256:</a:t>
                      </a:r>
                    </a:p>
                    <a:p>
                      <a:pPr>
                        <a:lnSpc>
                          <a:spcPts val="1600"/>
                        </a:lnSpc>
                        <a:spcAft>
                          <a:spcPts val="0"/>
                        </a:spcAft>
                        <a:defRPr sz="1200" b="0">
                          <a:solidFill>
                            <a:srgbClr val="21243A"/>
                          </a:solidFill>
                          <a:latin typeface="Arial"/>
                        </a:defRPr>
                      </a:pPr>
                      <a:r>
                        <a:t>58663a6a9e4b634bdb703ead0aaa7cd6dce7fbf97e70c3c1cc61b3311b94c0b4;</a:t>
                      </a:r>
                    </a:p>
                    <a:p>
                      <a:pPr>
                        <a:lnSpc>
                          <a:spcPts val="1600"/>
                        </a:lnSpc>
                        <a:spcAft>
                          <a:spcPts val="0"/>
                        </a:spcAft>
                        <a:defRPr sz="1200" b="0">
                          <a:solidFill>
                            <a:srgbClr val="21243A"/>
                          </a:solidFill>
                          <a:latin typeface="Arial"/>
                        </a:defRPr>
                      </a:pPr>
                      <a:r>
                        <a:t>excerpt SHA-256:</a:t>
                      </a:r>
                    </a:p>
                    <a:p>
                      <a:pPr>
                        <a:lnSpc>
                          <a:spcPts val="1600"/>
                        </a:lnSpc>
                        <a:spcAft>
                          <a:spcPts val="0"/>
                        </a:spcAft>
                        <a:defRPr sz="1200" b="0">
                          <a:solidFill>
                            <a:srgbClr val="21243A"/>
                          </a:solidFill>
                          <a:latin typeface="Arial"/>
                        </a:defRPr>
                      </a:pPr>
                      <a:r>
                        <a:t>f9713796490ddc9624cfc92412738eaca7192d9cbde08dd259237e29e2aa2128.</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7084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5</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 female voice speaks in an interview or conversational tone.</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40579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6</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 male voice responds briefly in agreement.</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44074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7</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The conversation sounds like a podcast or radio broadcast discussion.</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7569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8</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Audio is clean with minimal to no background noise.</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5106416"/>
          <a:ext cx="8412479" cy="959103"/>
        </p:xfrm>
        <a:graphic>
          <a:graphicData uri="http://schemas.openxmlformats.org/drawingml/2006/table">
            <a:tbl>
              <a:tblPr firstRow="1" bandRow="1">
                <a:tableStyleId>{5C22544A-7EE6-4342-B048-85BDC9FD1C3A}</a:tableStyleId>
              </a:tblPr>
              <a:tblGrid>
                <a:gridCol w="2271369"/>
                <a:gridCol w="6141110"/>
              </a:tblGrid>
              <a:tr h="959103">
                <a:tc>
                  <a:txBody>
                    <a:bodyPr wrap="none"/>
                    <a:lstStyle/>
                    <a:p>
                      <a:pPr>
                        <a:lnSpc>
                          <a:spcPts val="1600"/>
                        </a:lnSpc>
                        <a:spcAft>
                          <a:spcPts val="0"/>
                        </a:spcAft>
                        <a:defRPr sz="1200" b="0">
                          <a:solidFill>
                            <a:srgbClr val="21243A"/>
                          </a:solidFill>
                          <a:latin typeface="Arial"/>
                        </a:defRPr>
                      </a:pPr>
                      <a:r>
                        <a:t>Record 9</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Transcript excerpt: Imagine holding, uh, like a simple piece of cloth in your hand.</a:t>
                      </a:r>
                    </a:p>
                    <a:p>
                      <a:pPr>
                        <a:lnSpc>
                          <a:spcPts val="1600"/>
                        </a:lnSpc>
                        <a:spcAft>
                          <a:spcPts val="0"/>
                        </a:spcAft>
                        <a:defRPr sz="1200" b="0">
                          <a:solidFill>
                            <a:srgbClr val="21243A"/>
                          </a:solidFill>
                          <a:latin typeface="Arial"/>
                        </a:defRPr>
                      </a:pPr>
                      <a:r>
                        <a:t>Let's say it's 2019, and it's just a standard surgical mask. Right, just a boring</a:t>
                      </a:r>
                    </a:p>
                    <a:p>
                      <a:pPr>
                        <a:lnSpc>
                          <a:spcPts val="1600"/>
                        </a:lnSpc>
                        <a:spcAft>
                          <a:spcPts val="0"/>
                        </a:spcAft>
                        <a:defRPr sz="1200" b="0">
                          <a:solidFill>
                            <a:srgbClr val="21243A"/>
                          </a:solidFill>
                          <a:latin typeface="Arial"/>
                        </a:defRPr>
                      </a:pPr>
                      <a:r>
                        <a:t>everyday medical supply, something you'd really only see at the dentist's office.</a:t>
                      </a:r>
                    </a:p>
                    <a:p>
                      <a:pPr>
                        <a:lnSpc>
                          <a:spcPts val="1600"/>
                        </a:lnSpc>
                        <a:spcAft>
                          <a:spcPts val="0"/>
                        </a:spcAft>
                        <a:defRPr sz="1200" b="0">
                          <a:solidFill>
                            <a:srgbClr val="21243A"/>
                          </a:solidFill>
                          <a:latin typeface="Arial"/>
                        </a:defRPr>
                      </a:pPr>
                      <a:r>
                        <a:t>Exactly.</a:t>
                      </a:r>
                    </a:p>
                  </a:txBody>
                  <a:tcPr marL="82296" marR="82296" marT="64008" marB="64008">
                    <a:solidFill>
                      <a:srgbClr val="F1F7F7"/>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Optional audio excerpt description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15</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Record 10</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This assessment describes the selected audio excerpt. Origin and credentials are</a:t>
                      </a:r>
                    </a:p>
                    <a:p>
                      <a:pPr>
                        <a:lnSpc>
                          <a:spcPts val="1600"/>
                        </a:lnSpc>
                        <a:spcAft>
                          <a:spcPts val="0"/>
                        </a:spcAft>
                        <a:defRPr sz="1200" b="0">
                          <a:solidFill>
                            <a:srgbClr val="21243A"/>
                          </a:solidFill>
                          <a:latin typeface="Arial"/>
                        </a:defRPr>
                      </a:pPr>
                      <a:r>
                        <a:t>considered separately.</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2534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Record 11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Analysed excerpt: mono, 16 kHz PCM. Credential checks use the original file.</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6029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Record 12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Audio findings are shown alongside the visual assessment and remain separate</a:t>
                      </a:r>
                    </a:p>
                    <a:p>
                      <a:pPr>
                        <a:lnSpc>
                          <a:spcPts val="1600"/>
                        </a:lnSpc>
                        <a:spcAft>
                          <a:spcPts val="0"/>
                        </a:spcAft>
                        <a:defRPr sz="1200" b="0">
                          <a:solidFill>
                            <a:srgbClr val="21243A"/>
                          </a:solidFill>
                          <a:latin typeface="Arial"/>
                        </a:defRPr>
                      </a:pPr>
                      <a:r>
                        <a:t>from its score.</a:t>
                      </a:r>
                    </a:p>
                  </a:txBody>
                  <a:tcPr marL="82296" marR="82296" marT="64008" marB="6400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Assessment coverage</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16</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Record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Visual verdicts for videos cover the sampled still frames. Standalone-audio content</a:t>
                      </a:r>
                    </a:p>
                    <a:p>
                      <a:pPr>
                        <a:lnSpc>
                          <a:spcPts val="1600"/>
                        </a:lnSpc>
                        <a:spcAft>
                          <a:spcPts val="0"/>
                        </a:spcAft>
                        <a:defRPr sz="1200" b="0">
                          <a:solidFill>
                            <a:srgbClr val="21243A"/>
                          </a:solidFill>
                          <a:latin typeface="Arial"/>
                        </a:defRPr>
                      </a:pPr>
                      <a:r>
                        <a:t>assessments cover the transcript. Soundtrack-origin detection and</a:t>
                      </a:r>
                    </a:p>
                    <a:p>
                      <a:pPr>
                        <a:lnSpc>
                          <a:spcPts val="1600"/>
                        </a:lnSpc>
                        <a:spcAft>
                          <a:spcPts val="0"/>
                        </a:spcAft>
                        <a:defRPr sz="1200" b="0">
                          <a:solidFill>
                            <a:srgbClr val="21243A"/>
                          </a:solidFill>
                          <a:latin typeface="Arial"/>
                        </a:defRPr>
                      </a:pPr>
                      <a:r>
                        <a:t>continuous-motion analysis are outside these assessments.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45668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Record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Original-file credentials, excerpt descriptions and visual interpretation are</a:t>
                      </a:r>
                    </a:p>
                    <a:p>
                      <a:pPr>
                        <a:lnSpc>
                          <a:spcPts val="1600"/>
                        </a:lnSpc>
                        <a:spcAft>
                          <a:spcPts val="0"/>
                        </a:spcAft>
                        <a:defRPr sz="1200" b="0">
                          <a:solidFill>
                            <a:srgbClr val="21243A"/>
                          </a:solidFill>
                          <a:latin typeface="Arial"/>
                        </a:defRPr>
                      </a:pPr>
                      <a:r>
                        <a:t>recorded separately. Credential coverage of an individual audio track remains</a:t>
                      </a:r>
                    </a:p>
                    <a:p>
                      <a:pPr>
                        <a:lnSpc>
                          <a:spcPts val="1600"/>
                        </a:lnSpc>
                        <a:spcAft>
                          <a:spcPts val="0"/>
                        </a:spcAft>
                        <a:defRPr sz="1200" b="0">
                          <a:solidFill>
                            <a:srgbClr val="21243A"/>
                          </a:solidFill>
                          <a:latin typeface="Arial"/>
                        </a:defRPr>
                      </a:pPr>
                      <a:r>
                        <a:t>unresolved by this workflow.</a:t>
                      </a:r>
                    </a:p>
                  </a:txBody>
                  <a:tcPr marL="82296" marR="82296" marT="64008" marB="64008">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Evidence supporting this verdict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17</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1162304"/>
        </p:xfrm>
        <a:graphic>
          <a:graphicData uri="http://schemas.openxmlformats.org/drawingml/2006/table">
            <a:tbl>
              <a:tblPr firstRow="1" bandRow="1">
                <a:tableStyleId>{5C22544A-7EE6-4342-B048-85BDC9FD1C3A}</a:tableStyleId>
              </a:tblPr>
              <a:tblGrid>
                <a:gridCol w="2271369"/>
                <a:gridCol w="6141110"/>
              </a:tblGrid>
              <a:tr h="1162304">
                <a:tc>
                  <a:txBody>
                    <a:bodyPr wrap="none"/>
                    <a:lstStyle/>
                    <a:p>
                      <a:pPr>
                        <a:lnSpc>
                          <a:spcPts val="1600"/>
                        </a:lnSpc>
                        <a:spcAft>
                          <a:spcPts val="0"/>
                        </a:spcAft>
                        <a:defRPr sz="1200" b="0">
                          <a:solidFill>
                            <a:srgbClr val="21243A"/>
                          </a:solidFill>
                          <a:latin typeface="Arial"/>
                        </a:defRPr>
                      </a:pPr>
                      <a:r>
                        <a:t>Claude Analysis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Style closely matches AI-generated two-host 'deep dive' audio overviews (e.g.</a:t>
                      </a:r>
                    </a:p>
                    <a:p>
                      <a:pPr>
                        <a:lnSpc>
                          <a:spcPts val="1600"/>
                        </a:lnSpc>
                        <a:spcAft>
                          <a:spcPts val="0"/>
                        </a:spcAft>
                        <a:defRPr sz="1200" b="0">
                          <a:solidFill>
                            <a:srgbClr val="21243A"/>
                          </a:solidFill>
                          <a:latin typeface="Arial"/>
                        </a:defRPr>
                      </a:pPr>
                      <a:r>
                        <a:t>NotebookLM): stock openers ('Imagine holding...', 'Okay, let's unpack this', 'If we</a:t>
                      </a:r>
                    </a:p>
                    <a:p>
                      <a:pPr>
                        <a:lnSpc>
                          <a:spcPts val="1600"/>
                        </a:lnSpc>
                        <a:spcAft>
                          <a:spcPts val="0"/>
                        </a:spcAft>
                        <a:defRPr sz="1200" b="0">
                          <a:solidFill>
                            <a:srgbClr val="21243A"/>
                          </a:solidFill>
                          <a:latin typeface="Arial"/>
                        </a:defRPr>
                      </a:pPr>
                      <a:r>
                        <a:t>connect this to the bigger picture'), constant affirmations ('Exactly', 'Perfectly</a:t>
                      </a:r>
                    </a:p>
                    <a:p>
                      <a:pPr>
                        <a:lnSpc>
                          <a:spcPts val="1600"/>
                        </a:lnSpc>
                        <a:spcAft>
                          <a:spcPts val="0"/>
                        </a:spcAft>
                        <a:defRPr sz="1200" b="0">
                          <a:solidFill>
                            <a:srgbClr val="21243A"/>
                          </a:solidFill>
                          <a:latin typeface="Arial"/>
                        </a:defRPr>
                      </a:pPr>
                      <a:r>
                        <a:t>said'), scripted neutrality disclaimer and a staged host challenge, suggesting likely</a:t>
                      </a:r>
                    </a:p>
                    <a:p>
                      <a:pPr>
                        <a:lnSpc>
                          <a:spcPts val="1600"/>
                        </a:lnSpc>
                        <a:spcAft>
                          <a:spcPts val="0"/>
                        </a:spcAft>
                        <a:defRPr sz="1200" b="0">
                          <a:solidFill>
                            <a:srgbClr val="21243A"/>
                          </a:solidFill>
                          <a:latin typeface="Arial"/>
                        </a:defRPr>
                      </a:pPr>
                      <a:r>
                        <a:t>synthetic origin.</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863088"/>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OpenAI Analysis</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The highly regular two-host exchanges, repetitive affirmations, scripted</a:t>
                      </a:r>
                    </a:p>
                    <a:p>
                      <a:pPr>
                        <a:lnSpc>
                          <a:spcPts val="1600"/>
                        </a:lnSpc>
                        <a:spcAft>
                          <a:spcPts val="0"/>
                        </a:spcAft>
                        <a:defRPr sz="1200" b="0">
                          <a:solidFill>
                            <a:srgbClr val="21243A"/>
                          </a:solidFill>
                          <a:latin typeface="Arial"/>
                        </a:defRPr>
                      </a:pPr>
                      <a:r>
                        <a:t>explanatory prompts, and formulaic transitions strongly suggest synthetic</a:t>
                      </a:r>
                    </a:p>
                    <a:p>
                      <a:pPr>
                        <a:lnSpc>
                          <a:spcPts val="1600"/>
                        </a:lnSpc>
                        <a:spcAft>
                          <a:spcPts val="0"/>
                        </a:spcAft>
                        <a:defRPr sz="1200" b="0">
                          <a:solidFill>
                            <a:srgbClr val="21243A"/>
                          </a:solidFill>
                          <a:latin typeface="Arial"/>
                        </a:defRPr>
                      </a:pPr>
                      <a:r>
                        <a:t>generation or editing.</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361899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Gemini Analysis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The text displays the classic conversational tropes, rapid turn-taking, and</a:t>
                      </a:r>
                    </a:p>
                    <a:p>
                      <a:pPr>
                        <a:lnSpc>
                          <a:spcPts val="1600"/>
                        </a:lnSpc>
                        <a:spcAft>
                          <a:spcPts val="0"/>
                        </a:spcAft>
                        <a:defRPr sz="1200" b="0">
                          <a:solidFill>
                            <a:srgbClr val="21243A"/>
                          </a:solidFill>
                          <a:latin typeface="Arial"/>
                        </a:defRPr>
                      </a:pPr>
                      <a:r>
                        <a:t>synthetic cadence characteristic of an automated AI podcast generator like</a:t>
                      </a:r>
                    </a:p>
                    <a:p>
                      <a:pPr>
                        <a:lnSpc>
                          <a:spcPts val="1600"/>
                        </a:lnSpc>
                        <a:spcAft>
                          <a:spcPts val="0"/>
                        </a:spcAft>
                        <a:defRPr sz="1200" b="0">
                          <a:solidFill>
                            <a:srgbClr val="21243A"/>
                          </a:solidFill>
                          <a:latin typeface="Arial"/>
                        </a:defRPr>
                      </a:pPr>
                      <a:r>
                        <a:t>NotebookLM.</a:t>
                      </a:r>
                    </a:p>
                  </a:txBody>
                  <a:tcPr marL="82296" marR="82296" marT="64008" marB="64008">
                    <a:solidFill>
                      <a:srgbClr val="F1F7F7"/>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Additional findings</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18</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C2PA Content Credentials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Not checked in this text-analysis pass; no original-media provenance conclusion.</a:t>
                      </a:r>
                    </a:p>
                  </a:txBody>
                  <a:tcPr marL="82296" marR="82296" marT="64008" marB="64008">
                    <a:solidFill>
                      <a:srgbClr val="F1F7F7"/>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Transcribed text</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19</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4210304"/>
        </p:xfrm>
        <a:graphic>
          <a:graphicData uri="http://schemas.openxmlformats.org/drawingml/2006/table">
            <a:tbl>
              <a:tblPr firstRow="1" bandRow="1">
                <a:tableStyleId>{5C22544A-7EE6-4342-B048-85BDC9FD1C3A}</a:tableStyleId>
              </a:tblPr>
              <a:tblGrid>
                <a:gridCol w="2271369"/>
                <a:gridCol w="6141110"/>
              </a:tblGrid>
              <a:tr h="4210304">
                <a:tc>
                  <a:txBody>
                    <a:bodyPr wrap="none"/>
                    <a:lstStyle/>
                    <a:p>
                      <a:pPr>
                        <a:lnSpc>
                          <a:spcPts val="1600"/>
                        </a:lnSpc>
                        <a:spcAft>
                          <a:spcPts val="0"/>
                        </a:spcAft>
                        <a:defRPr sz="1200" b="0">
                          <a:solidFill>
                            <a:srgbClr val="21243A"/>
                          </a:solidFill>
                          <a:latin typeface="Arial"/>
                        </a:defRPr>
                      </a:pPr>
                      <a:r>
                        <a:t>Recorded text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Imagine holding a like a simple piece of cloth in your hand. Let's say it's 2019, and</a:t>
                      </a:r>
                    </a:p>
                    <a:p>
                      <a:pPr>
                        <a:lnSpc>
                          <a:spcPts val="1600"/>
                        </a:lnSpc>
                        <a:spcAft>
                          <a:spcPts val="0"/>
                        </a:spcAft>
                        <a:defRPr sz="1200" b="0">
                          <a:solidFill>
                            <a:srgbClr val="21243A"/>
                          </a:solidFill>
                          <a:latin typeface="Arial"/>
                        </a:defRPr>
                      </a:pPr>
                      <a:r>
                        <a:t>it's just a standard surgical mask. Right, just a boring everyday medical supply,</a:t>
                      </a:r>
                    </a:p>
                    <a:p>
                      <a:pPr>
                        <a:lnSpc>
                          <a:spcPts val="1600"/>
                        </a:lnSpc>
                        <a:spcAft>
                          <a:spcPts val="0"/>
                        </a:spcAft>
                        <a:defRPr sz="1200" b="0">
                          <a:solidFill>
                            <a:srgbClr val="21243A"/>
                          </a:solidFill>
                          <a:latin typeface="Arial"/>
                        </a:defRPr>
                      </a:pPr>
                      <a:r>
                        <a:t>something you'd really only see at the dentist office. Exactly. But then fast-forward</a:t>
                      </a:r>
                    </a:p>
                    <a:p>
                      <a:pPr>
                        <a:lnSpc>
                          <a:spcPts val="1600"/>
                        </a:lnSpc>
                        <a:spcAft>
                          <a:spcPts val="0"/>
                        </a:spcAft>
                        <a:defRPr sz="1200" b="0">
                          <a:solidFill>
                            <a:srgbClr val="21243A"/>
                          </a:solidFill>
                          <a:latin typeface="Arial"/>
                        </a:defRPr>
                      </a:pPr>
                      <a:r>
                        <a:t>to the end of 2020, and that exact same piece of cloth had morphed into like a</a:t>
                      </a:r>
                    </a:p>
                    <a:p>
                      <a:pPr>
                        <a:lnSpc>
                          <a:spcPts val="1600"/>
                        </a:lnSpc>
                        <a:spcAft>
                          <a:spcPts val="0"/>
                        </a:spcAft>
                        <a:defRPr sz="1200" b="0">
                          <a:solidFill>
                            <a:srgbClr val="21243A"/>
                          </a:solidFill>
                          <a:latin typeface="Arial"/>
                        </a:defRPr>
                      </a:pPr>
                      <a:r>
                        <a:t>literal measure of your morality. Oh, absolutely. It became a symbol of your</a:t>
                      </a:r>
                    </a:p>
                    <a:p>
                      <a:pPr>
                        <a:lnSpc>
                          <a:spcPts val="1600"/>
                        </a:lnSpc>
                        <a:spcAft>
                          <a:spcPts val="0"/>
                        </a:spcAft>
                        <a:defRPr sz="1200" b="0">
                          <a:solidFill>
                            <a:srgbClr val="21243A"/>
                          </a:solidFill>
                          <a:latin typeface="Arial"/>
                        </a:defRPr>
                      </a:pPr>
                      <a:r>
                        <a:t>political affiliation, your patriotism, even. It's just wild to think about. I mean,</a:t>
                      </a:r>
                    </a:p>
                    <a:p>
                      <a:pPr>
                        <a:lnSpc>
                          <a:spcPts val="1600"/>
                        </a:lnSpc>
                        <a:spcAft>
                          <a:spcPts val="0"/>
                        </a:spcAft>
                        <a:defRPr sz="1200" b="0">
                          <a:solidFill>
                            <a:srgbClr val="21243A"/>
                          </a:solidFill>
                          <a:latin typeface="Arial"/>
                        </a:defRPr>
                      </a:pPr>
                      <a:r>
                        <a:t>today we are looking at the exact digital moment a basic health mandate turned</a:t>
                      </a:r>
                    </a:p>
                    <a:p>
                      <a:pPr>
                        <a:lnSpc>
                          <a:spcPts val="1600"/>
                        </a:lnSpc>
                        <a:spcAft>
                          <a:spcPts val="0"/>
                        </a:spcAft>
                        <a:defRPr sz="1200" b="0">
                          <a:solidFill>
                            <a:srgbClr val="21243A"/>
                          </a:solidFill>
                          <a:latin typeface="Arial"/>
                        </a:defRPr>
                      </a:pPr>
                      <a:r>
                        <a:t>into a full-blown ideological war. It really is one of the most compressed, intense</a:t>
                      </a:r>
                    </a:p>
                    <a:p>
                      <a:pPr>
                        <a:lnSpc>
                          <a:spcPts val="1600"/>
                        </a:lnSpc>
                        <a:spcAft>
                          <a:spcPts val="0"/>
                        </a:spcAft>
                        <a:defRPr sz="1200" b="0">
                          <a:solidFill>
                            <a:srgbClr val="21243A"/>
                          </a:solidFill>
                          <a:latin typeface="Arial"/>
                        </a:defRPr>
                      </a:pPr>
                      <a:r>
                        <a:t>sociological shifts we've ever witnessed. Yeah. We went from a public that largely</a:t>
                      </a:r>
                    </a:p>
                    <a:p>
                      <a:pPr>
                        <a:lnSpc>
                          <a:spcPts val="1600"/>
                        </a:lnSpc>
                        <a:spcAft>
                          <a:spcPts val="0"/>
                        </a:spcAft>
                        <a:defRPr sz="1200" b="0">
                          <a:solidFill>
                            <a:srgbClr val="21243A"/>
                          </a:solidFill>
                          <a:latin typeface="Arial"/>
                        </a:defRPr>
                      </a:pPr>
                      <a:r>
                        <a:t>didn't think about epidemiology at all to a society where every single person was</a:t>
                      </a:r>
                    </a:p>
                    <a:p>
                      <a:pPr>
                        <a:lnSpc>
                          <a:spcPts val="1600"/>
                        </a:lnSpc>
                        <a:spcAft>
                          <a:spcPts val="0"/>
                        </a:spcAft>
                        <a:defRPr sz="1200" b="0">
                          <a:solidFill>
                            <a:srgbClr val="21243A"/>
                          </a:solidFill>
                          <a:latin typeface="Arial"/>
                        </a:defRPr>
                      </a:pPr>
                      <a:r>
                        <a:t>forced to take a public, highly visible stance on a global health crisis. And usually,</a:t>
                      </a:r>
                    </a:p>
                    <a:p>
                      <a:pPr>
                        <a:lnSpc>
                          <a:spcPts val="1600"/>
                        </a:lnSpc>
                        <a:spcAft>
                          <a:spcPts val="0"/>
                        </a:spcAft>
                        <a:defRPr sz="1200" b="0">
                          <a:solidFill>
                            <a:srgbClr val="21243A"/>
                          </a:solidFill>
                          <a:latin typeface="Arial"/>
                        </a:defRPr>
                      </a:pPr>
                      <a:r>
                        <a:t>you know, when we talk about a massive global event like that, we have to rely on</a:t>
                      </a:r>
                    </a:p>
                    <a:p>
                      <a:pPr>
                        <a:lnSpc>
                          <a:spcPts val="1600"/>
                        </a:lnSpc>
                        <a:spcAft>
                          <a:spcPts val="0"/>
                        </a:spcAft>
                        <a:defRPr sz="1200" b="0">
                          <a:solidFill>
                            <a:srgbClr val="21243A"/>
                          </a:solidFill>
                          <a:latin typeface="Arial"/>
                        </a:defRPr>
                      </a:pPr>
                      <a:r>
                        <a:t>historians decades later to piece together the public mood. Right, digging through</a:t>
                      </a:r>
                    </a:p>
                    <a:p>
                      <a:pPr>
                        <a:lnSpc>
                          <a:spcPts val="1600"/>
                        </a:lnSpc>
                        <a:spcAft>
                          <a:spcPts val="0"/>
                        </a:spcAft>
                        <a:defRPr sz="1200" b="0">
                          <a:solidFill>
                            <a:srgbClr val="21243A"/>
                          </a:solidFill>
                          <a:latin typeface="Arial"/>
                        </a:defRPr>
                      </a:pPr>
                      <a:r>
                        <a:t>old newspaper clippings or a diary entries. Exactly. But for the COVID-19</a:t>
                      </a:r>
                    </a:p>
                    <a:p>
                      <a:pPr>
                        <a:lnSpc>
                          <a:spcPts val="1600"/>
                        </a:lnSpc>
                        <a:spcAft>
                          <a:spcPts val="0"/>
                        </a:spcAft>
                        <a:defRPr sz="1200" b="0">
                          <a:solidFill>
                            <a:srgbClr val="21243A"/>
                          </a:solidFill>
                          <a:latin typeface="Arial"/>
                        </a:defRPr>
                      </a:pPr>
                      <a:r>
                        <a:t>pandemic, we have this complete, real-time behavioral laboratory. So, we are</a:t>
                      </a:r>
                    </a:p>
                    <a:p>
                      <a:pPr>
                        <a:lnSpc>
                          <a:spcPts val="1600"/>
                        </a:lnSpc>
                        <a:spcAft>
                          <a:spcPts val="0"/>
                        </a:spcAft>
                        <a:defRPr sz="1200" b="0">
                          <a:solidFill>
                            <a:srgbClr val="21243A"/>
                          </a:solidFill>
                          <a:latin typeface="Arial"/>
                        </a:defRPr>
                      </a:pPr>
                      <a:r>
                        <a:t>grounding our conversation today in this fascinating peer-reviewed study from</a:t>
                      </a:r>
                    </a:p>
                    <a:p>
                      <a:pPr>
                        <a:lnSpc>
                          <a:spcPts val="1600"/>
                        </a:lnSpc>
                        <a:spcAft>
                          <a:spcPts val="0"/>
                        </a:spcAft>
                        <a:defRPr sz="1200" b="0">
                          <a:solidFill>
                            <a:srgbClr val="21243A"/>
                          </a:solidFill>
                          <a:latin typeface="Arial"/>
                        </a:defRPr>
                      </a:pPr>
                      <a:r>
                        <a:t>the journal Vaccine. Yes, authored by Sam Martin and Samantha Vanderslott from</a:t>
                      </a:r>
                    </a:p>
                    <a:p>
                      <a:pPr>
                        <a:lnSpc>
                          <a:spcPts val="1600"/>
                        </a:lnSpc>
                        <a:spcAft>
                          <a:spcPts val="0"/>
                        </a:spcAft>
                        <a:defRPr sz="1200" b="0">
                          <a:solidFill>
                            <a:srgbClr val="21243A"/>
                          </a:solidFill>
                          <a:latin typeface="Arial"/>
                        </a:defRPr>
                      </a:pPr>
                      <a:r>
                        <a:t>the Oxford Vaccine Group. And the scale of their research here is what makes it so</a:t>
                      </a:r>
                    </a:p>
                    <a:p>
                      <a:pPr>
                        <a:lnSpc>
                          <a:spcPts val="1600"/>
                        </a:lnSpc>
                        <a:spcAft>
                          <a:spcPts val="0"/>
                        </a:spcAft>
                        <a:defRPr sz="1200" b="0">
                          <a:solidFill>
                            <a:srgbClr val="21243A"/>
                          </a:solidFill>
                          <a:latin typeface="Arial"/>
                        </a:defRPr>
                      </a:pPr>
                      <a:r>
                        <a:t>robust, right? Oh, totally. They analyzed this massive data set of 7.89 million</a:t>
                      </a:r>
                    </a:p>
                    <a:p>
                      <a:pPr>
                        <a:lnSpc>
                          <a:spcPts val="1600"/>
                        </a:lnSpc>
                        <a:spcAft>
                          <a:spcPts val="0"/>
                        </a:spcAft>
                        <a:defRPr sz="1200" b="0">
                          <a:solidFill>
                            <a:srgbClr val="21243A"/>
                          </a:solidFill>
                          <a:latin typeface="Arial"/>
                        </a:defRPr>
                      </a:pPr>
                      <a:r>
                        <a:t>English-language tweets. Wow. Yeah, from the US and the UK, spanning a very</a:t>
                      </a:r>
                    </a:p>
                  </a:txBody>
                  <a:tcPr marL="82296" marR="82296" marT="64008" marB="64008">
                    <a:solidFill>
                      <a:srgbClr val="F1F7F7"/>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Transcribed text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20</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4210304"/>
        </p:xfrm>
        <a:graphic>
          <a:graphicData uri="http://schemas.openxmlformats.org/drawingml/2006/table">
            <a:tbl>
              <a:tblPr firstRow="1" bandRow="1">
                <a:tableStyleId>{5C22544A-7EE6-4342-B048-85BDC9FD1C3A}</a:tableStyleId>
              </a:tblPr>
              <a:tblGrid>
                <a:gridCol w="2271369"/>
                <a:gridCol w="6141110"/>
              </a:tblGrid>
              <a:tr h="4210304">
                <a:tc>
                  <a:txBody>
                    <a:bodyPr wrap="none"/>
                    <a:lstStyle/>
                    <a:p>
                      <a:pPr>
                        <a:lnSpc>
                          <a:spcPts val="1600"/>
                        </a:lnSpc>
                        <a:spcAft>
                          <a:spcPts val="0"/>
                        </a:spcAft>
                        <a:defRPr sz="1200" b="0">
                          <a:solidFill>
                            <a:srgbClr val="21243A"/>
                          </a:solidFill>
                          <a:latin typeface="Arial"/>
                        </a:defRPr>
                      </a:pPr>
                      <a:r>
                        <a:t>Continued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specific window, basically June 1st, 2020 to June 1st, 2021. And they didn't just like</a:t>
                      </a:r>
                    </a:p>
                    <a:p>
                      <a:pPr>
                        <a:lnSpc>
                          <a:spcPts val="1600"/>
                        </a:lnSpc>
                        <a:spcAft>
                          <a:spcPts val="0"/>
                        </a:spcAft>
                        <a:defRPr sz="1200" b="0">
                          <a:solidFill>
                            <a:srgbClr val="21243A"/>
                          </a:solidFill>
                          <a:latin typeface="Arial"/>
                        </a:defRPr>
                      </a:pPr>
                      <a:r>
                        <a:t>count how many times the word mask or vaccine was used, which is what I would</a:t>
                      </a:r>
                    </a:p>
                    <a:p>
                      <a:pPr>
                        <a:lnSpc>
                          <a:spcPts val="1600"/>
                        </a:lnSpc>
                        <a:spcAft>
                          <a:spcPts val="0"/>
                        </a:spcAft>
                        <a:defRPr sz="1200" b="0">
                          <a:solidFill>
                            <a:srgbClr val="21243A"/>
                          </a:solidFill>
                          <a:latin typeface="Arial"/>
                        </a:defRPr>
                      </a:pPr>
                      <a:r>
                        <a:t>have assumed. No, they went way deeper. They utilized media monitoring</a:t>
                      </a:r>
                    </a:p>
                    <a:p>
                      <a:pPr>
                        <a:lnSpc>
                          <a:spcPts val="1600"/>
                        </a:lnSpc>
                        <a:spcAft>
                          <a:spcPts val="0"/>
                        </a:spcAft>
                        <a:defRPr sz="1200" b="0">
                          <a:solidFill>
                            <a:srgbClr val="21243A"/>
                          </a:solidFill>
                          <a:latin typeface="Arial"/>
                        </a:defRPr>
                      </a:pPr>
                      <a:r>
                        <a:t>software called Meltwater and text network analysis software called InfraNodus.</a:t>
                      </a:r>
                    </a:p>
                    <a:p>
                      <a:pPr>
                        <a:lnSpc>
                          <a:spcPts val="1600"/>
                        </a:lnSpc>
                        <a:spcAft>
                          <a:spcPts val="0"/>
                        </a:spcAft>
                        <a:defRPr sz="1200" b="0">
                          <a:solidFill>
                            <a:srgbClr val="21243A"/>
                          </a:solidFill>
                          <a:latin typeface="Arial"/>
                        </a:defRPr>
                      </a:pPr>
                      <a:r>
                        <a:t>Which uh we should probably explain how those tools work because it's vital for</a:t>
                      </a:r>
                    </a:p>
                    <a:p>
                      <a:pPr>
                        <a:lnSpc>
                          <a:spcPts val="1600"/>
                        </a:lnSpc>
                        <a:spcAft>
                          <a:spcPts val="0"/>
                        </a:spcAft>
                        <a:defRPr sz="1200" b="0">
                          <a:solidFill>
                            <a:srgbClr val="21243A"/>
                          </a:solidFill>
                          <a:latin typeface="Arial"/>
                        </a:defRPr>
                      </a:pPr>
                      <a:r>
                        <a:t>understanding the whole study. Please do. So Meltwater acts like this giant net</a:t>
                      </a:r>
                    </a:p>
                    <a:p>
                      <a:pPr>
                        <a:lnSpc>
                          <a:spcPts val="1600"/>
                        </a:lnSpc>
                        <a:spcAft>
                          <a:spcPts val="0"/>
                        </a:spcAft>
                        <a:defRPr sz="1200" b="0">
                          <a:solidFill>
                            <a:srgbClr val="21243A"/>
                          </a:solidFill>
                          <a:latin typeface="Arial"/>
                        </a:defRPr>
                      </a:pPr>
                      <a:r>
                        <a:t>scraping the internet and pulling in every public conversation based on specific</a:t>
                      </a:r>
                    </a:p>
                    <a:p>
                      <a:pPr>
                        <a:lnSpc>
                          <a:spcPts val="1600"/>
                        </a:lnSpc>
                        <a:spcAft>
                          <a:spcPts val="0"/>
                        </a:spcAft>
                        <a:defRPr sz="1200" b="0">
                          <a:solidFill>
                            <a:srgbClr val="21243A"/>
                          </a:solidFill>
                          <a:latin typeface="Arial"/>
                        </a:defRPr>
                      </a:pPr>
                      <a:r>
                        <a:t>keywords. Right. But InfraNodus acts as the brain. It actually maps relationships</a:t>
                      </a:r>
                    </a:p>
                    <a:p>
                      <a:pPr>
                        <a:lnSpc>
                          <a:spcPts val="1600"/>
                        </a:lnSpc>
                        <a:spcAft>
                          <a:spcPts val="0"/>
                        </a:spcAft>
                        <a:defRPr sz="1200" b="0">
                          <a:solidFill>
                            <a:srgbClr val="21243A"/>
                          </a:solidFill>
                          <a:latin typeface="Arial"/>
                        </a:defRPr>
                      </a:pPr>
                      <a:r>
                        <a:t>between words. So if the word mask is constantly sitting right next to the word</a:t>
                      </a:r>
                    </a:p>
                    <a:p>
                      <a:pPr>
                        <a:lnSpc>
                          <a:spcPts val="1600"/>
                        </a:lnSpc>
                        <a:spcAft>
                          <a:spcPts val="0"/>
                        </a:spcAft>
                        <a:defRPr sz="1200" b="0">
                          <a:solidFill>
                            <a:srgbClr val="21243A"/>
                          </a:solidFill>
                          <a:latin typeface="Arial"/>
                        </a:defRPr>
                      </a:pPr>
                      <a:r>
                        <a:t>tyranny or sheep in millions of tweets, The software draws a thick digital line</a:t>
                      </a:r>
                    </a:p>
                    <a:p>
                      <a:pPr>
                        <a:lnSpc>
                          <a:spcPts val="1600"/>
                        </a:lnSpc>
                        <a:spcAft>
                          <a:spcPts val="0"/>
                        </a:spcAft>
                        <a:defRPr sz="1200" b="0">
                          <a:solidFill>
                            <a:srgbClr val="21243A"/>
                          </a:solidFill>
                          <a:latin typeface="Arial"/>
                        </a:defRPr>
                      </a:pPr>
                      <a:r>
                        <a:t>between them. Exactly. It lets researchers see the exact architecture of public</a:t>
                      </a:r>
                    </a:p>
                    <a:p>
                      <a:pPr>
                        <a:lnSpc>
                          <a:spcPts val="1600"/>
                        </a:lnSpc>
                        <a:spcAft>
                          <a:spcPts val="0"/>
                        </a:spcAft>
                        <a:defRPr sz="1200" b="0">
                          <a:solidFill>
                            <a:srgbClr val="21243A"/>
                          </a:solidFill>
                          <a:latin typeface="Arial"/>
                        </a:defRPr>
                      </a:pPr>
                      <a:r>
                        <a:t>sentiment. It's almost like looking at a real-time MRI of society's collective anxiety.</a:t>
                      </a:r>
                    </a:p>
                    <a:p>
                      <a:pPr>
                        <a:lnSpc>
                          <a:spcPts val="1600"/>
                        </a:lnSpc>
                        <a:spcAft>
                          <a:spcPts val="0"/>
                        </a:spcAft>
                        <a:defRPr sz="1200" b="0">
                          <a:solidFill>
                            <a:srgbClr val="21243A"/>
                          </a:solidFill>
                          <a:latin typeface="Arial"/>
                        </a:defRPr>
                      </a:pPr>
                      <a:r>
                        <a:t>That's a really great way to visualize it. It moves us past just individual anecdotes,</a:t>
                      </a:r>
                    </a:p>
                    <a:p>
                      <a:pPr>
                        <a:lnSpc>
                          <a:spcPts val="1600"/>
                        </a:lnSpc>
                        <a:spcAft>
                          <a:spcPts val="0"/>
                        </a:spcAft>
                        <a:defRPr sz="1200" b="0">
                          <a:solidFill>
                            <a:srgbClr val="21243A"/>
                          </a:solidFill>
                          <a:latin typeface="Arial"/>
                        </a:defRPr>
                      </a:pPr>
                      <a:r>
                        <a:t>Yeah. Yeah. and it shows us the actual structural flow of ideas. Yeah. So, the</a:t>
                      </a:r>
                    </a:p>
                    <a:p>
                      <a:pPr>
                        <a:lnSpc>
                          <a:spcPts val="1600"/>
                        </a:lnSpc>
                        <a:spcAft>
                          <a:spcPts val="0"/>
                        </a:spcAft>
                        <a:defRPr sz="1200" b="0">
                          <a:solidFill>
                            <a:srgbClr val="21243A"/>
                          </a:solidFill>
                          <a:latin typeface="Arial"/>
                        </a:defRPr>
                      </a:pPr>
                      <a:r>
                        <a:t>mission for our deep dive today is to explore a very specific phenomenon</a:t>
                      </a:r>
                    </a:p>
                    <a:p>
                      <a:pPr>
                        <a:lnSpc>
                          <a:spcPts val="1600"/>
                        </a:lnSpc>
                        <a:spcAft>
                          <a:spcPts val="0"/>
                        </a:spcAft>
                        <a:defRPr sz="1200" b="0">
                          <a:solidFill>
                            <a:srgbClr val="21243A"/>
                          </a:solidFill>
                          <a:latin typeface="Arial"/>
                        </a:defRPr>
                      </a:pPr>
                      <a:r>
                        <a:t>uncovered in this flow. We want to see how pre-existing anti-vaccine groups and</a:t>
                      </a:r>
                    </a:p>
                    <a:p>
                      <a:pPr>
                        <a:lnSpc>
                          <a:spcPts val="1600"/>
                        </a:lnSpc>
                        <a:spcAft>
                          <a:spcPts val="0"/>
                        </a:spcAft>
                        <a:defRPr sz="1200" b="0">
                          <a:solidFill>
                            <a:srgbClr val="21243A"/>
                          </a:solidFill>
                          <a:latin typeface="Arial"/>
                        </a:defRPr>
                      </a:pPr>
                      <a:r>
                        <a:t>newly formed anti-mask groups actually merged into this massive digital</a:t>
                      </a:r>
                    </a:p>
                    <a:p>
                      <a:pPr>
                        <a:lnSpc>
                          <a:spcPts val="1600"/>
                        </a:lnSpc>
                        <a:spcAft>
                          <a:spcPts val="0"/>
                        </a:spcAft>
                        <a:defRPr sz="1200" b="0">
                          <a:solidFill>
                            <a:srgbClr val="21243A"/>
                          </a:solidFill>
                          <a:latin typeface="Arial"/>
                        </a:defRPr>
                      </a:pPr>
                      <a:r>
                        <a:t>powerhouse. And to understand the psychological, social, and political drivers</a:t>
                      </a:r>
                    </a:p>
                    <a:p>
                      <a:pPr>
                        <a:lnSpc>
                          <a:spcPts val="1600"/>
                        </a:lnSpc>
                        <a:spcAft>
                          <a:spcPts val="0"/>
                        </a:spcAft>
                        <a:defRPr sz="1200" b="0">
                          <a:solidFill>
                            <a:srgbClr val="21243A"/>
                          </a:solidFill>
                          <a:latin typeface="Arial"/>
                        </a:defRPr>
                      </a:pPr>
                      <a:r>
                        <a:t>behind how the public reacted to these mandates. Exactly. Now uh a very quick</a:t>
                      </a:r>
                    </a:p>
                    <a:p>
                      <a:pPr>
                        <a:lnSpc>
                          <a:spcPts val="1600"/>
                        </a:lnSpc>
                        <a:spcAft>
                          <a:spcPts val="0"/>
                        </a:spcAft>
                        <a:defRPr sz="1200" b="0">
                          <a:solidFill>
                            <a:srgbClr val="21243A"/>
                          </a:solidFill>
                          <a:latin typeface="Arial"/>
                        </a:defRPr>
                      </a:pPr>
                      <a:r>
                        <a:t>heads up to you the listener before we dive into the timeline, the data we are</a:t>
                      </a:r>
                    </a:p>
                  </a:txBody>
                  <a:tcPr marL="82296" marR="82296" marT="64008" marB="64008">
                    <a:solidFill>
                      <a:srgbClr val="F1F7F7"/>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Transcribed text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21</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2178304"/>
        </p:xfrm>
        <a:graphic>
          <a:graphicData uri="http://schemas.openxmlformats.org/drawingml/2006/table">
            <a:tbl>
              <a:tblPr firstRow="1" bandRow="1">
                <a:tableStyleId>{5C22544A-7EE6-4342-B048-85BDC9FD1C3A}</a:tableStyleId>
              </a:tblPr>
              <a:tblGrid>
                <a:gridCol w="2271369"/>
                <a:gridCol w="6141110"/>
              </a:tblGrid>
              <a:tr h="2178304">
                <a:tc>
                  <a:txBody>
                    <a:bodyPr wrap="none"/>
                    <a:lstStyle/>
                    <a:p>
                      <a:pPr>
                        <a:lnSpc>
                          <a:spcPts val="1600"/>
                        </a:lnSpc>
                        <a:spcAft>
                          <a:spcPts val="0"/>
                        </a:spcAft>
                        <a:defRPr sz="1200" b="0">
                          <a:solidFill>
                            <a:srgbClr val="21243A"/>
                          </a:solidFill>
                          <a:latin typeface="Arial"/>
                        </a:defRPr>
                      </a:pPr>
                      <a:r>
                        <a:t>Continued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analyzing today is heavily political. Very heavily. Yeah, it involves major figures</a:t>
                      </a:r>
                    </a:p>
                    <a:p>
                      <a:pPr>
                        <a:lnSpc>
                          <a:spcPts val="1600"/>
                        </a:lnSpc>
                        <a:spcAft>
                          <a:spcPts val="0"/>
                        </a:spcAft>
                        <a:defRPr sz="1200" b="0">
                          <a:solidFill>
                            <a:srgbClr val="21243A"/>
                          </a:solidFill>
                          <a:latin typeface="Arial"/>
                        </a:defRPr>
                      </a:pPr>
                      <a:r>
                        <a:t>from the left and the right. We're talking President Joe Biden, former President</a:t>
                      </a:r>
                    </a:p>
                    <a:p>
                      <a:pPr>
                        <a:lnSpc>
                          <a:spcPts val="1600"/>
                        </a:lnSpc>
                        <a:spcAft>
                          <a:spcPts val="0"/>
                        </a:spcAft>
                        <a:defRPr sz="1200" b="0">
                          <a:solidFill>
                            <a:srgbClr val="21243A"/>
                          </a:solidFill>
                          <a:latin typeface="Arial"/>
                        </a:defRPr>
                      </a:pPr>
                      <a:r>
                        <a:t>Donald Trump, Vice President Kamala Harris along with a bunch of conservative</a:t>
                      </a:r>
                    </a:p>
                    <a:p>
                      <a:pPr>
                        <a:lnSpc>
                          <a:spcPts val="1600"/>
                        </a:lnSpc>
                        <a:spcAft>
                          <a:spcPts val="0"/>
                        </a:spcAft>
                        <a:defRPr sz="1200" b="0">
                          <a:solidFill>
                            <a:srgbClr val="21243A"/>
                          </a:solidFill>
                          <a:latin typeface="Arial"/>
                        </a:defRPr>
                      </a:pPr>
                      <a:r>
                        <a:t>and liberal viewpoints. Right. So, I have to be clear here. We aren't taking sides</a:t>
                      </a:r>
                    </a:p>
                    <a:p>
                      <a:pPr>
                        <a:lnSpc>
                          <a:spcPts val="1600"/>
                        </a:lnSpc>
                        <a:spcAft>
                          <a:spcPts val="0"/>
                        </a:spcAft>
                        <a:defRPr sz="1200" b="0">
                          <a:solidFill>
                            <a:srgbClr val="21243A"/>
                          </a:solidFill>
                          <a:latin typeface="Arial"/>
                        </a:defRPr>
                      </a:pPr>
                      <a:r>
                        <a:t>today. We aren't endorsing any of the politics discussed. We're just impartially</a:t>
                      </a:r>
                    </a:p>
                    <a:p>
                      <a:pPr>
                        <a:lnSpc>
                          <a:spcPts val="1600"/>
                        </a:lnSpc>
                        <a:spcAft>
                          <a:spcPts val="0"/>
                        </a:spcAft>
                        <a:defRPr sz="1200" b="0">
                          <a:solidFill>
                            <a:srgbClr val="21243A"/>
                          </a:solidFill>
                          <a:latin typeface="Arial"/>
                        </a:defRPr>
                      </a:pPr>
                      <a:r>
                        <a:t>reading the digital footprint left behind to help you understand the mechanics of</a:t>
                      </a:r>
                    </a:p>
                    <a:p>
                      <a:pPr>
                        <a:lnSpc>
                          <a:spcPts val="1600"/>
                        </a:lnSpc>
                        <a:spcAft>
                          <a:spcPts val="0"/>
                        </a:spcAft>
                        <a:defRPr sz="1200" b="0">
                          <a:solidFill>
                            <a:srgbClr val="21243A"/>
                          </a:solidFill>
                          <a:latin typeface="Arial"/>
                        </a:defRPr>
                      </a:pPr>
                      <a:r>
                        <a:t>this social media evolution. Our focus is strictly on the mechanics of the discourse.</a:t>
                      </a:r>
                    </a:p>
                    <a:p>
                      <a:pPr>
                        <a:lnSpc>
                          <a:spcPts val="1600"/>
                        </a:lnSpc>
                        <a:spcAft>
                          <a:spcPts val="0"/>
                        </a:spcAft>
                        <a:defRPr sz="1200" b="0">
                          <a:solidFill>
                            <a:srgbClr val="21243A"/>
                          </a:solidFill>
                          <a:latin typeface="Arial"/>
                        </a:defRPr>
                      </a:pPr>
                      <a:r>
                        <a:t>You know, what the data reflects, what was said, and how it spread. Okay, let's</a:t>
                      </a:r>
                    </a:p>
                    <a:p>
                      <a:pPr>
                        <a:lnSpc>
                          <a:spcPts val="1600"/>
                        </a:lnSpc>
                        <a:spcAft>
                          <a:spcPts val="0"/>
                        </a:spcAft>
                        <a:defRPr sz="1200" b="0">
                          <a:solidFill>
                            <a:srgbClr val="21243A"/>
                          </a:solidFill>
                          <a:latin typeface="Arial"/>
                        </a:defRPr>
                      </a:pPr>
                      <a:r>
                        <a:t>unpack this. To really understand the explosion of outrage and compliance in</a:t>
                      </a:r>
                    </a:p>
                    <a:p>
                      <a:pPr>
                        <a:lnSpc>
                          <a:spcPts val="1600"/>
                        </a:lnSpc>
                        <a:spcAft>
                          <a:spcPts val="0"/>
                        </a:spcAft>
                        <a:defRPr sz="1200" b="0">
                          <a:solidFill>
                            <a:srgbClr val="21243A"/>
                          </a:solidFill>
                          <a:latin typeface="Arial"/>
                        </a:defRPr>
                      </a:pPr>
                      <a:r>
                        <a:t>2020, we have to recognize that human pushback again</a:t>
                      </a:r>
                    </a:p>
                  </a:txBody>
                  <a:tcPr marL="82296" marR="82296" marT="64008" marB="64008">
                    <a:solidFill>
                      <a:srgbClr val="F1F7F7"/>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How this assessment was reached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22</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1. override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outcome=none; detail=No confirmed C2PA AI assertion or SynthID watermark.</a:t>
                      </a:r>
                    </a:p>
                    <a:p>
                      <a:pPr>
                        <a:lnSpc>
                          <a:spcPts val="1600"/>
                        </a:lnSpc>
                        <a:spcAft>
                          <a:spcPts val="0"/>
                        </a:spcAft>
                        <a:defRPr sz="1200" b="0">
                          <a:solidFill>
                            <a:srgbClr val="21243A"/>
                          </a:solidFill>
                          <a:latin typeface="Arial"/>
                        </a:defRPr>
                      </a:pPr>
                      <a:r>
                        <a:t>Origin remains unresolved by these checks.</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2. model_agreement</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synthetic=['Claude Analysis', 'OpenAI Analysis', 'Gemini Analysis']; authentic=[];</a:t>
                      </a:r>
                    </a:p>
                    <a:p>
                      <a:pPr>
                        <a:lnSpc>
                          <a:spcPts val="1600"/>
                        </a:lnSpc>
                        <a:spcAft>
                          <a:spcPts val="0"/>
                        </a:spcAft>
                        <a:defRPr sz="1200" b="0">
                          <a:solidFill>
                            <a:srgbClr val="21243A"/>
                          </a:solidFill>
                          <a:latin typeface="Arial"/>
                        </a:defRPr>
                      </a:pPr>
                      <a:r>
                        <a:t>uncertain=[]; forensic_supports_synthetic=False</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806192"/>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3. verdict</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value=synthetic_likely; confidence=high; reason=3 models agree this is likely</a:t>
                      </a:r>
                    </a:p>
                    <a:p>
                      <a:pPr>
                        <a:lnSpc>
                          <a:spcPts val="1600"/>
                        </a:lnSpc>
                        <a:spcAft>
                          <a:spcPts val="0"/>
                        </a:spcAft>
                        <a:defRPr sz="1200" b="0">
                          <a:solidFill>
                            <a:srgbClr val="21243A"/>
                          </a:solidFill>
                          <a:latin typeface="Arial"/>
                        </a:defRPr>
                      </a:pPr>
                      <a:r>
                        <a:t>synthetic.</a:t>
                      </a:r>
                    </a:p>
                  </a:txBody>
                  <a:tcPr marL="82296" marR="82296" marT="64008" marB="64008">
                    <a:solidFill>
                      <a:srgbClr val="F1F7F7"/>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File and analysis record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23</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File</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podcast.m4a</a:t>
                      </a:r>
                    </a:p>
                  </a:txBody>
                  <a:tcPr marL="82296" marR="82296" marT="64008" marB="64008">
                    <a:solidFill>
                      <a:srgbClr val="F1F7F7"/>
                    </a:solidFill>
                  </a:tcPr>
                </a:tc>
              </a:tr>
            </a:tbl>
          </a:graphicData>
        </a:graphic>
      </p:graphicFrame>
      <p:graphicFrame>
        <p:nvGraphicFramePr>
          <p:cNvPr id="8" name="Table 7"/>
          <p:cNvGraphicFramePr>
            <a:graphicFrameLocks noGrp="1"/>
          </p:cNvGraphicFramePr>
          <p:nvPr/>
        </p:nvGraphicFramePr>
        <p:xfrm>
          <a:off x="365760" y="205028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ID</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7e1a6917-52a1-453d-8dda-9c4842232f31</a:t>
                      </a:r>
                    </a:p>
                  </a:txBody>
                  <a:tcPr marL="82296" marR="82296" marT="64008" marB="64008">
                    <a:solidFill>
                      <a:srgbClr val="FFFFFF"/>
                    </a:solidFill>
                  </a:tcPr>
                </a:tc>
              </a:tr>
            </a:tbl>
          </a:graphicData>
        </a:graphic>
      </p:graphicFrame>
      <p:graphicFrame>
        <p:nvGraphicFramePr>
          <p:cNvPr id="9" name="Table 8"/>
          <p:cNvGraphicFramePr>
            <a:graphicFrameLocks noGrp="1"/>
          </p:cNvGraphicFramePr>
          <p:nvPr/>
        </p:nvGraphicFramePr>
        <p:xfrm>
          <a:off x="365760" y="239979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Generated</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2026-09-26T22:31:07+00:00</a:t>
                      </a:r>
                    </a:p>
                  </a:txBody>
                  <a:tcPr marL="82296" marR="82296" marT="64008" marB="64008">
                    <a:solidFill>
                      <a:srgbClr val="F1F7F7"/>
                    </a:solidFill>
                  </a:tcPr>
                </a:tc>
              </a:tr>
            </a:tbl>
          </a:graphicData>
        </a:graphic>
      </p:graphicFrame>
      <p:graphicFrame>
        <p:nvGraphicFramePr>
          <p:cNvPr id="10" name="Table 9"/>
          <p:cNvGraphicFramePr>
            <a:graphicFrameLocks noGrp="1"/>
          </p:cNvGraphicFramePr>
          <p:nvPr/>
        </p:nvGraphicFramePr>
        <p:xfrm>
          <a:off x="365760" y="274929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Tool</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SDA Vision 0.1.0</a:t>
                      </a:r>
                    </a:p>
                  </a:txBody>
                  <a:tcPr marL="82296" marR="82296" marT="64008" marB="64008">
                    <a:solidFill>
                      <a:srgbClr val="FFFFFF"/>
                    </a:solidFill>
                  </a:tcPr>
                </a:tc>
              </a:tr>
            </a:tbl>
          </a:graphicData>
        </a:graphic>
      </p:graphicFrame>
      <p:graphicFrame>
        <p:nvGraphicFramePr>
          <p:cNvPr id="11" name="Table 10"/>
          <p:cNvGraphicFramePr>
            <a:graphicFrameLocks noGrp="1"/>
          </p:cNvGraphicFramePr>
          <p:nvPr/>
        </p:nvGraphicFramePr>
        <p:xfrm>
          <a:off x="365760" y="309880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Models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claude-opus-5-5, gemini-3.8-flash, gpt-6-astra</a:t>
                      </a:r>
                    </a:p>
                  </a:txBody>
                  <a:tcPr marL="82296" marR="82296" marT="64008" marB="64008">
                    <a:solidFill>
                      <a:srgbClr val="F1F7F7"/>
                    </a:solidFill>
                  </a:tcPr>
                </a:tc>
              </a:tr>
            </a:tbl>
          </a:graphicData>
        </a:graphic>
      </p:graphicFrame>
      <p:graphicFrame>
        <p:nvGraphicFramePr>
          <p:cNvPr id="12" name="Table 11"/>
          <p:cNvGraphicFramePr>
            <a:graphicFrameLocks noGrp="1"/>
          </p:cNvGraphicFramePr>
          <p:nvPr/>
        </p:nvGraphicFramePr>
        <p:xfrm>
          <a:off x="365760" y="3448304"/>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Method version</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pdf-preparation-2026-09-26.1</a:t>
                      </a:r>
                    </a:p>
                  </a:txBody>
                  <a:tcPr marL="82296" marR="82296" marT="64008" marB="64008">
                    <a:solidFill>
                      <a:srgbClr val="FFFFFF"/>
                    </a:solidFill>
                  </a:tcPr>
                </a:tc>
              </a:tr>
            </a:tbl>
          </a:graphicData>
        </a:graphic>
      </p:graphicFrame>
      <p:graphicFrame>
        <p:nvGraphicFramePr>
          <p:cNvPr id="13" name="Table 12"/>
          <p:cNvGraphicFramePr>
            <a:graphicFrameLocks noGrp="1"/>
          </p:cNvGraphicFramePr>
          <p:nvPr/>
        </p:nvGraphicFramePr>
        <p:xfrm>
          <a:off x="365760" y="3797808"/>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Analysis lens</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general</a:t>
                      </a:r>
                    </a:p>
                  </a:txBody>
                  <a:tcPr marL="82296" marR="82296" marT="64008" marB="64008">
                    <a:solidFill>
                      <a:srgbClr val="F1F7F7"/>
                    </a:solidFill>
                  </a:tcPr>
                </a:tc>
              </a:tr>
            </a:tbl>
          </a:graphicData>
        </a:graphic>
      </p:graphicFrame>
      <p:graphicFrame>
        <p:nvGraphicFramePr>
          <p:cNvPr id="14" name="Table 13"/>
          <p:cNvGraphicFramePr>
            <a:graphicFrameLocks noGrp="1"/>
          </p:cNvGraphicFramePr>
          <p:nvPr/>
        </p:nvGraphicFramePr>
        <p:xfrm>
          <a:off x="365760" y="4147312"/>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Original SHA-256</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58663a6a9e4b634bdb703ead0aaa7cd6dce7fbf97e70c3c1cc61b3311b94c0b4</a:t>
                      </a:r>
                    </a:p>
                  </a:txBody>
                  <a:tcPr marL="82296" marR="82296" marT="64008" marB="64008">
                    <a:solidFill>
                      <a:srgbClr val="FFFFFF"/>
                    </a:solidFill>
                  </a:tcPr>
                </a:tc>
              </a:tr>
            </a:tbl>
          </a:graphicData>
        </a:graphic>
      </p:graphicFrame>
      <p:graphicFrame>
        <p:nvGraphicFramePr>
          <p:cNvPr id="15" name="Table 14"/>
          <p:cNvGraphicFramePr>
            <a:graphicFrameLocks noGrp="1"/>
          </p:cNvGraphicFramePr>
          <p:nvPr/>
        </p:nvGraphicFramePr>
        <p:xfrm>
          <a:off x="365760" y="4496816"/>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Ingestion note 1</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Transcoded to 5737 KB mono 16 kHz (≤1800s).</a:t>
                      </a:r>
                    </a:p>
                  </a:txBody>
                  <a:tcPr marL="82296" marR="82296" marT="64008" marB="64008">
                    <a:solidFill>
                      <a:srgbClr val="F1F7F7"/>
                    </a:solidFill>
                  </a:tcPr>
                </a:tc>
              </a:tr>
            </a:tbl>
          </a:graphicData>
        </a:graphic>
      </p:graphicFrame>
      <p:graphicFrame>
        <p:nvGraphicFramePr>
          <p:cNvPr id="16" name="Table 15"/>
          <p:cNvGraphicFramePr>
            <a:graphicFrameLocks noGrp="1"/>
          </p:cNvGraphicFramePr>
          <p:nvPr/>
        </p:nvGraphicFramePr>
        <p:xfrm>
          <a:off x="365760" y="4846320"/>
          <a:ext cx="8412479" cy="349504"/>
        </p:xfrm>
        <a:graphic>
          <a:graphicData uri="http://schemas.openxmlformats.org/drawingml/2006/table">
            <a:tbl>
              <a:tblPr firstRow="1" bandRow="1">
                <a:tableStyleId>{5C22544A-7EE6-4342-B048-85BDC9FD1C3A}</a:tableStyleId>
              </a:tblPr>
              <a:tblGrid>
                <a:gridCol w="2271369"/>
                <a:gridCol w="6141110"/>
              </a:tblGrid>
              <a:tr h="349504">
                <a:tc>
                  <a:txBody>
                    <a:bodyPr wrap="none"/>
                    <a:lstStyle/>
                    <a:p>
                      <a:pPr>
                        <a:lnSpc>
                          <a:spcPts val="1600"/>
                        </a:lnSpc>
                        <a:spcAft>
                          <a:spcPts val="0"/>
                        </a:spcAft>
                        <a:defRPr sz="1200" b="0">
                          <a:solidFill>
                            <a:srgbClr val="21243A"/>
                          </a:solidFill>
                          <a:latin typeface="Arial"/>
                        </a:defRPr>
                      </a:pPr>
                      <a:r>
                        <a:t>Ingestion note 2</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Transcribed with Gemini.</a:t>
                      </a:r>
                    </a:p>
                  </a:txBody>
                  <a:tcPr marL="82296" marR="82296" marT="64008" marB="64008">
                    <a:solidFill>
                      <a:srgbClr val="FFFFFF"/>
                    </a:solidFill>
                  </a:tcPr>
                </a:tc>
              </a:tr>
            </a:tbl>
          </a:graphicData>
        </a:graphic>
      </p:graphicFrame>
      <p:graphicFrame>
        <p:nvGraphicFramePr>
          <p:cNvPr id="17" name="Table 16"/>
          <p:cNvGraphicFramePr>
            <a:graphicFrameLocks noGrp="1"/>
          </p:cNvGraphicFramePr>
          <p:nvPr/>
        </p:nvGraphicFramePr>
        <p:xfrm>
          <a:off x="365760" y="5195824"/>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Ingestion note 3</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Standalone-audio content assessment covers the transcript. AI-origin detection</a:t>
                      </a:r>
                    </a:p>
                    <a:p>
                      <a:pPr>
                        <a:lnSpc>
                          <a:spcPts val="1600"/>
                        </a:lnSpc>
                        <a:spcAft>
                          <a:spcPts val="0"/>
                        </a:spcAft>
                        <a:defRPr sz="1200" b="0">
                          <a:solidFill>
                            <a:srgbClr val="21243A"/>
                          </a:solidFill>
                          <a:latin typeface="Arial"/>
                        </a:defRPr>
                      </a:pPr>
                      <a:r>
                        <a:t>from sound is outside this assessment. Original-file C2PA was checked before</a:t>
                      </a:r>
                    </a:p>
                    <a:p>
                      <a:pPr>
                        <a:lnSpc>
                          <a:spcPts val="1600"/>
                        </a:lnSpc>
                        <a:spcAft>
                          <a:spcPts val="0"/>
                        </a:spcAft>
                        <a:defRPr sz="1200" b="0">
                          <a:solidFill>
                            <a:srgbClr val="21243A"/>
                          </a:solidFill>
                          <a:latin typeface="Arial"/>
                        </a:defRPr>
                      </a:pPr>
                      <a:r>
                        <a:t>transcription and is reported separately.</a:t>
                      </a:r>
                    </a:p>
                  </a:txBody>
                  <a:tcPr marL="82296" marR="82296" marT="64008" marB="64008">
                    <a:solidFill>
                      <a:srgbClr val="F1F7F7"/>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19456"/>
            <a:ext cx="8412480" cy="228600"/>
          </a:xfrm>
          <a:prstGeom prst="rect">
            <a:avLst/>
          </a:prstGeom>
          <a:noFill/>
        </p:spPr>
        <p:txBody>
          <a:bodyPr wrap="square" lIns="0" rIns="0" tIns="0" bIns="0">
            <a:spAutoFit/>
          </a:bodyPr>
          <a:lstStyle/>
          <a:p>
            <a:pPr>
              <a:lnSpc>
                <a:spcPct val="115000"/>
              </a:lnSpc>
              <a:spcAft>
                <a:spcPts val="0"/>
              </a:spcAft>
              <a:defRPr sz="1100" b="1">
                <a:solidFill>
                  <a:srgbClr val="C5006A"/>
                </a:solidFill>
                <a:latin typeface="Arial"/>
              </a:defRPr>
            </a:pPr>
            <a:r>
              <a:t>SDA VISION / RESEARCH REPORT</a:t>
            </a:r>
          </a:p>
        </p:txBody>
      </p:sp>
      <p:sp>
        <p:nvSpPr>
          <p:cNvPr id="3" name="TextBox 2"/>
          <p:cNvSpPr txBox="1"/>
          <p:nvPr/>
        </p:nvSpPr>
        <p:spPr>
          <a:xfrm>
            <a:off x="365760" y="658368"/>
            <a:ext cx="8412480" cy="612648"/>
          </a:xfrm>
          <a:prstGeom prst="rect">
            <a:avLst/>
          </a:prstGeom>
          <a:noFill/>
        </p:spPr>
        <p:txBody>
          <a:bodyPr wrap="square" lIns="0" rIns="0" tIns="0" bIns="0">
            <a:spAutoFit/>
          </a:bodyPr>
          <a:lstStyle/>
          <a:p>
            <a:pPr>
              <a:lnSpc>
                <a:spcPct val="115000"/>
              </a:lnSpc>
              <a:spcAft>
                <a:spcPts val="0"/>
              </a:spcAft>
              <a:defRPr sz="2200" b="1">
                <a:solidFill>
                  <a:srgbClr val="21243A"/>
                </a:solidFill>
                <a:latin typeface="Arial"/>
              </a:defRPr>
            </a:pPr>
            <a:r>
              <a:t>File and analysis record (continued)</a:t>
            </a:r>
          </a:p>
        </p:txBody>
      </p:sp>
      <p:sp>
        <p:nvSpPr>
          <p:cNvPr id="4" name="TextBox 3"/>
          <p:cNvSpPr txBox="1"/>
          <p:nvPr/>
        </p:nvSpPr>
        <p:spPr>
          <a:xfrm>
            <a:off x="365760" y="6291072"/>
            <a:ext cx="8001000" cy="365760"/>
          </a:xfrm>
          <a:prstGeom prst="rect">
            <a:avLst/>
          </a:prstGeom>
          <a:noFill/>
        </p:spPr>
        <p:txBody>
          <a:bodyPr wrap="square" lIns="0" rIns="0" tIns="0" bIns="0">
            <a:spAutoFit/>
          </a:bodyPr>
          <a:lstStyle/>
          <a:p>
            <a:pPr>
              <a:lnSpc>
                <a:spcPct val="115000"/>
              </a:lnSpc>
              <a:spcAft>
                <a:spcPts val="0"/>
              </a:spcAft>
              <a:defRPr sz="800" b="0">
                <a:solidFill>
                  <a:srgbClr val="545B6D"/>
                </a:solidFill>
                <a:latin typeface="Arial"/>
              </a:defRPr>
            </a:pPr>
            <a:r>
              <a:t>Research assessment. Ratings are not calibrated probabilities. Acoustic AI-origin detection: outside scope.</a:t>
            </a:r>
          </a:p>
        </p:txBody>
      </p:sp>
      <p:sp>
        <p:nvSpPr>
          <p:cNvPr id="5" name="TextBox 4"/>
          <p:cNvSpPr txBox="1"/>
          <p:nvPr/>
        </p:nvSpPr>
        <p:spPr>
          <a:xfrm>
            <a:off x="8394192" y="6318504"/>
            <a:ext cx="365760" cy="228600"/>
          </a:xfrm>
          <a:prstGeom prst="rect">
            <a:avLst/>
          </a:prstGeom>
          <a:noFill/>
        </p:spPr>
        <p:txBody>
          <a:bodyPr wrap="square" lIns="0" rIns="0" tIns="0" bIns="0">
            <a:spAutoFit/>
          </a:bodyPr>
          <a:lstStyle/>
          <a:p>
            <a:pPr>
              <a:lnSpc>
                <a:spcPct val="115000"/>
              </a:lnSpc>
              <a:spcAft>
                <a:spcPts val="0"/>
              </a:spcAft>
              <a:defRPr sz="900" b="0">
                <a:solidFill>
                  <a:srgbClr val="545B6D"/>
                </a:solidFill>
                <a:latin typeface="Arial"/>
              </a:defRPr>
            </a:pPr>
            <a:r>
              <a:t>24</a:t>
            </a:r>
          </a:p>
        </p:txBody>
      </p:sp>
      <p:graphicFrame>
        <p:nvGraphicFramePr>
          <p:cNvPr id="6" name="Table 5"/>
          <p:cNvGraphicFramePr>
            <a:graphicFrameLocks noGrp="1"/>
          </p:cNvGraphicFramePr>
          <p:nvPr/>
        </p:nvGraphicFramePr>
        <p:xfrm>
          <a:off x="365760" y="1353312"/>
          <a:ext cx="8412479" cy="347472"/>
        </p:xfrm>
        <a:graphic>
          <a:graphicData uri="http://schemas.openxmlformats.org/drawingml/2006/table">
            <a:tbl>
              <a:tblPr firstRow="1" bandRow="1">
                <a:tableStyleId>{5C22544A-7EE6-4342-B048-85BDC9FD1C3A}</a:tableStyleId>
              </a:tblPr>
              <a:tblGrid>
                <a:gridCol w="2271369"/>
                <a:gridCol w="6141110"/>
              </a:tblGrid>
              <a:tr h="347472">
                <a:tc>
                  <a:txBody>
                    <a:bodyPr wrap="none"/>
                    <a:lstStyle/>
                    <a:p>
                      <a:pPr>
                        <a:lnSpc>
                          <a:spcPts val="1600"/>
                        </a:lnSpc>
                        <a:spcAft>
                          <a:spcPts val="0"/>
                        </a:spcAft>
                        <a:defRPr sz="1200" b="1">
                          <a:solidFill>
                            <a:srgbClr val="FFFFFF"/>
                          </a:solidFill>
                          <a:latin typeface="Arial"/>
                        </a:defRPr>
                      </a:pPr>
                      <a:r>
                        <a:t>Field</a:t>
                      </a:r>
                    </a:p>
                  </a:txBody>
                  <a:tcPr marL="82296" marR="82296" marT="64008" marB="64008">
                    <a:solidFill>
                      <a:srgbClr val="16787C"/>
                    </a:solidFill>
                  </a:tcPr>
                </a:tc>
                <a:tc>
                  <a:txBody>
                    <a:bodyPr wrap="none"/>
                    <a:lstStyle/>
                    <a:p>
                      <a:pPr>
                        <a:lnSpc>
                          <a:spcPts val="1600"/>
                        </a:lnSpc>
                        <a:spcAft>
                          <a:spcPts val="0"/>
                        </a:spcAft>
                        <a:defRPr sz="1200" b="1">
                          <a:solidFill>
                            <a:srgbClr val="FFFFFF"/>
                          </a:solidFill>
                          <a:latin typeface="Arial"/>
                        </a:defRPr>
                      </a:pPr>
                      <a:r>
                        <a:t>Recorded detail</a:t>
                      </a:r>
                    </a:p>
                  </a:txBody>
                  <a:tcPr marL="82296" marR="82296" marT="64008" marB="64008">
                    <a:solidFill>
                      <a:srgbClr val="16787C"/>
                    </a:solidFill>
                  </a:tcPr>
                </a:tc>
              </a:tr>
            </a:tbl>
          </a:graphicData>
        </a:graphic>
      </p:graphicFrame>
      <p:graphicFrame>
        <p:nvGraphicFramePr>
          <p:cNvPr id="7" name="Table 6"/>
          <p:cNvGraphicFramePr>
            <a:graphicFrameLocks noGrp="1"/>
          </p:cNvGraphicFramePr>
          <p:nvPr/>
        </p:nvGraphicFramePr>
        <p:xfrm>
          <a:off x="365760" y="1700784"/>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Ingestion note 4</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Audio tracks inspected locally. Soundtrack uploads require a separate optional</a:t>
                      </a:r>
                    </a:p>
                    <a:p>
                      <a:pPr>
                        <a:lnSpc>
                          <a:spcPts val="1600"/>
                        </a:lnSpc>
                        <a:spcAft>
                          <a:spcPts val="0"/>
                        </a:spcAft>
                        <a:defRPr sz="1200" b="0">
                          <a:solidFill>
                            <a:srgbClr val="21243A"/>
                          </a:solidFill>
                          <a:latin typeface="Arial"/>
                        </a:defRPr>
                      </a:pPr>
                      <a:r>
                        <a:t>check; AI-origin detection from sound is outside this workflow.</a:t>
                      </a:r>
                    </a:p>
                  </a:txBody>
                  <a:tcPr marL="82296" marR="82296" marT="64008" marB="64008">
                    <a:solidFill>
                      <a:srgbClr val="FFFFFF"/>
                    </a:solidFill>
                  </a:tcPr>
                </a:tc>
              </a:tr>
            </a:tbl>
          </a:graphicData>
        </a:graphic>
      </p:graphicFrame>
      <p:graphicFrame>
        <p:nvGraphicFramePr>
          <p:cNvPr id="8" name="Table 7"/>
          <p:cNvGraphicFramePr>
            <a:graphicFrameLocks noGrp="1"/>
          </p:cNvGraphicFramePr>
          <p:nvPr/>
        </p:nvGraphicFramePr>
        <p:xfrm>
          <a:off x="365760" y="2253488"/>
          <a:ext cx="8412479" cy="552704"/>
        </p:xfrm>
        <a:graphic>
          <a:graphicData uri="http://schemas.openxmlformats.org/drawingml/2006/table">
            <a:tbl>
              <a:tblPr firstRow="1" bandRow="1">
                <a:tableStyleId>{5C22544A-7EE6-4342-B048-85BDC9FD1C3A}</a:tableStyleId>
              </a:tblPr>
              <a:tblGrid>
                <a:gridCol w="2271369"/>
                <a:gridCol w="6141110"/>
              </a:tblGrid>
              <a:tr h="552704">
                <a:tc>
                  <a:txBody>
                    <a:bodyPr wrap="none"/>
                    <a:lstStyle/>
                    <a:p>
                      <a:pPr>
                        <a:lnSpc>
                          <a:spcPts val="1600"/>
                        </a:lnSpc>
                        <a:spcAft>
                          <a:spcPts val="0"/>
                        </a:spcAft>
                        <a:defRPr sz="1200" b="0">
                          <a:solidFill>
                            <a:srgbClr val="21243A"/>
                          </a:solidFill>
                          <a:latin typeface="Arial"/>
                        </a:defRPr>
                      </a:pPr>
                      <a:r>
                        <a:t>Ingestion note 5</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Fresh provider replies acquired for eleven-examples-refresh-20260926-r1; report</a:t>
                      </a:r>
                    </a:p>
                    <a:p>
                      <a:pPr>
                        <a:lnSpc>
                          <a:spcPts val="1600"/>
                        </a:lnSpc>
                        <a:spcAft>
                          <a:spcPts val="0"/>
                        </a:spcAft>
                        <a:defRPr sz="1200" b="0">
                          <a:solidFill>
                            <a:srgbClr val="21243A"/>
                          </a:solidFill>
                          <a:latin typeface="Arial"/>
                        </a:defRPr>
                      </a:pPr>
                      <a:r>
                        <a:t>assembled locally from the saved responses without further API calls.</a:t>
                      </a:r>
                    </a:p>
                  </a:txBody>
                  <a:tcPr marL="82296" marR="82296" marT="64008" marB="64008">
                    <a:solidFill>
                      <a:srgbClr val="F1F7F7"/>
                    </a:solidFill>
                  </a:tcPr>
                </a:tc>
              </a:tr>
            </a:tbl>
          </a:graphicData>
        </a:graphic>
      </p:graphicFrame>
      <p:graphicFrame>
        <p:nvGraphicFramePr>
          <p:cNvPr id="9" name="Table 8"/>
          <p:cNvGraphicFramePr>
            <a:graphicFrameLocks noGrp="1"/>
          </p:cNvGraphicFramePr>
          <p:nvPr/>
        </p:nvGraphicFramePr>
        <p:xfrm>
          <a:off x="365760" y="2806192"/>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Ingestion note 6</a:t>
                      </a:r>
                    </a:p>
                  </a:txBody>
                  <a:tcPr marL="82296" marR="82296" marT="64008" marB="64008">
                    <a:solidFill>
                      <a:srgbClr val="FFFFFF"/>
                    </a:solidFill>
                  </a:tcPr>
                </a:tc>
                <a:tc>
                  <a:txBody>
                    <a:bodyPr wrap="none"/>
                    <a:lstStyle/>
                    <a:p>
                      <a:pPr>
                        <a:lnSpc>
                          <a:spcPts val="1600"/>
                        </a:lnSpc>
                        <a:spcAft>
                          <a:spcPts val="0"/>
                        </a:spcAft>
                        <a:defRPr sz="1200" b="0">
                          <a:solidFill>
                            <a:srgbClr val="21243A"/>
                          </a:solidFill>
                          <a:latin typeface="Arial"/>
                        </a:defRPr>
                      </a:pPr>
                      <a:r>
                        <a:t>Transcript analysis used the first 12000 characters of a fresh 25985-character</a:t>
                      </a:r>
                    </a:p>
                    <a:p>
                      <a:pPr>
                        <a:lnSpc>
                          <a:spcPts val="1600"/>
                        </a:lnSpc>
                        <a:spcAft>
                          <a:spcPts val="0"/>
                        </a:spcAft>
                        <a:defRPr sz="1200" b="0">
                          <a:solidFill>
                            <a:srgbClr val="21243A"/>
                          </a:solidFill>
                          <a:latin typeface="Arial"/>
                        </a:defRPr>
                      </a:pPr>
                      <a:r>
                        <a:t>transcription; this report retains its first 4000 characters. Sound-origin detection is</a:t>
                      </a:r>
                    </a:p>
                    <a:p>
                      <a:pPr>
                        <a:lnSpc>
                          <a:spcPts val="1600"/>
                        </a:lnSpc>
                        <a:spcAft>
                          <a:spcPts val="0"/>
                        </a:spcAft>
                        <a:defRPr sz="1200" b="0">
                          <a:solidFill>
                            <a:srgbClr val="21243A"/>
                          </a:solidFill>
                          <a:latin typeface="Arial"/>
                        </a:defRPr>
                      </a:pPr>
                      <a:r>
                        <a:t>outside this check.</a:t>
                      </a:r>
                    </a:p>
                  </a:txBody>
                  <a:tcPr marL="82296" marR="82296" marT="64008" marB="64008">
                    <a:solidFill>
                      <a:srgbClr val="FFFFFF"/>
                    </a:solidFill>
                  </a:tcPr>
                </a:tc>
              </a:tr>
            </a:tbl>
          </a:graphicData>
        </a:graphic>
      </p:graphicFrame>
      <p:graphicFrame>
        <p:nvGraphicFramePr>
          <p:cNvPr id="10" name="Table 9"/>
          <p:cNvGraphicFramePr>
            <a:graphicFrameLocks noGrp="1"/>
          </p:cNvGraphicFramePr>
          <p:nvPr/>
        </p:nvGraphicFramePr>
        <p:xfrm>
          <a:off x="365760" y="3562096"/>
          <a:ext cx="8412479" cy="755904"/>
        </p:xfrm>
        <a:graphic>
          <a:graphicData uri="http://schemas.openxmlformats.org/drawingml/2006/table">
            <a:tbl>
              <a:tblPr firstRow="1" bandRow="1">
                <a:tableStyleId>{5C22544A-7EE6-4342-B048-85BDC9FD1C3A}</a:tableStyleId>
              </a:tblPr>
              <a:tblGrid>
                <a:gridCol w="2271369"/>
                <a:gridCol w="6141110"/>
              </a:tblGrid>
              <a:tr h="755904">
                <a:tc>
                  <a:txBody>
                    <a:bodyPr wrap="none"/>
                    <a:lstStyle/>
                    <a:p>
                      <a:pPr>
                        <a:lnSpc>
                          <a:spcPts val="1600"/>
                        </a:lnSpc>
                        <a:spcAft>
                          <a:spcPts val="0"/>
                        </a:spcAft>
                        <a:defRPr sz="1200" b="0">
                          <a:solidFill>
                            <a:srgbClr val="21243A"/>
                          </a:solidFill>
                          <a:latin typeface="Arial"/>
                        </a:defRPr>
                      </a:pPr>
                      <a:r>
                        <a:t>Ingestion note 7</a:t>
                      </a:r>
                    </a:p>
                  </a:txBody>
                  <a:tcPr marL="82296" marR="82296" marT="64008" marB="64008">
                    <a:solidFill>
                      <a:srgbClr val="F1F7F7"/>
                    </a:solidFill>
                  </a:tcPr>
                </a:tc>
                <a:tc>
                  <a:txBody>
                    <a:bodyPr wrap="none"/>
                    <a:lstStyle/>
                    <a:p>
                      <a:pPr>
                        <a:lnSpc>
                          <a:spcPts val="1600"/>
                        </a:lnSpc>
                        <a:spcAft>
                          <a:spcPts val="0"/>
                        </a:spcAft>
                        <a:defRPr sz="1200" b="0">
                          <a:solidFill>
                            <a:srgbClr val="21243A"/>
                          </a:solidFill>
                          <a:latin typeface="Arial"/>
                        </a:defRPr>
                      </a:pPr>
                      <a:r>
                        <a:t>Provider latency values are restored from the acquisition receipts (maximum</a:t>
                      </a:r>
                    </a:p>
                    <a:p>
                      <a:pPr>
                        <a:lnSpc>
                          <a:spcPts val="1600"/>
                        </a:lnSpc>
                        <a:spcAft>
                          <a:spcPts val="0"/>
                        </a:spcAft>
                        <a:defRPr sz="1200" b="0">
                          <a:solidFill>
                            <a:srgbClr val="21243A"/>
                          </a:solidFill>
                          <a:latin typeface="Arial"/>
                        </a:defRPr>
                      </a:pPr>
                      <a:r>
                        <a:t>sampled-frame latency per provider); raw replies and assessment results are</a:t>
                      </a:r>
                    </a:p>
                    <a:p>
                      <a:pPr>
                        <a:lnSpc>
                          <a:spcPts val="1600"/>
                        </a:lnSpc>
                        <a:spcAft>
                          <a:spcPts val="0"/>
                        </a:spcAft>
                        <a:defRPr sz="1200" b="0">
                          <a:solidFill>
                            <a:srgbClr val="21243A"/>
                          </a:solidFill>
                          <a:latin typeface="Arial"/>
                        </a:defRPr>
                      </a:pPr>
                      <a:r>
                        <a:t>unchanged by this bookkeeping step.</a:t>
                      </a:r>
                    </a:p>
                  </a:txBody>
                  <a:tcPr marL="82296" marR="82296" marT="64008" marB="64008">
                    <a:solidFill>
                      <a:srgbClr val="F1F7F7"/>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SDA Vision: Analysis report</dc:title>
  <dc:subject>Research assessment export</dc:subject>
  <dc:creator>SDA Vision</dc:creator>
  <cp:keywords/>
  <dc:description/>
  <cp:lastModifiedBy>SDA Vision</cp:lastModifiedBy>
  <cp:revision>1</cp:revision>
  <dcterms:created xsi:type="dcterms:W3CDTF">2026-10-16T06:37:15Z</dcterms:created>
  <dcterms:modified xsi:type="dcterms:W3CDTF">2026-10-16T06:37:15Z</dcterms:modified>
  <cp:category/>
</cp:coreProperties>
</file>