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podcast.m4a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summary</a:t>
            </a:r>
          </a:p>
          <a:p>
            <a:r>
              <a:t>Finding | Leaning synthetic</a:t>
            </a:r>
          </a:p>
          <a:p>
            <a:r>
              <a:t>Recorded verdict | synthetic likely</a:t>
            </a:r>
          </a:p>
          <a:p>
            <a:r>
              <a:t>Confidence | high</a:t>
            </a:r>
          </a:p>
          <a:p>
            <a:r>
              <a:t>Indicative rating | 85/100</a:t>
            </a:r>
          </a:p>
          <a:p>
            <a:r>
              <a:t>Rating basis | median of available model ratings; not a calibrated probability</a:t>
            </a:r>
          </a:p>
          <a:p>
            <a:r>
              <a:t>Explanation | 3 models agree this is likely synthetic.</a:t>
            </a:r>
          </a:p>
          <a:p>
            <a:r>
              <a:t>Coverage | audio - 0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overview</a:t>
            </a:r>
          </a:p>
          <a:p>
            <a:r>
              <a:t>Claude Analysis | analysis / ok | synthetic likely | 80/100</a:t>
            </a:r>
          </a:p>
          <a:p>
            <a:r>
              <a:t>OpenAI Analysis | analysis / ok | synthetic likely | 88/100</a:t>
            </a:r>
          </a:p>
          <a:p>
            <a:r>
              <a:t>Gemini Analysis | analysis / ok | synthetic likely | 85/100</a:t>
            </a:r>
          </a:p>
          <a:p>
            <a:r>
              <a:t>Local forensic cues | forensic / ok | not applicable | n/a</a:t>
            </a:r>
          </a:p>
          <a:p>
            <a:r>
              <a:t>C2PA Content Credentials | provenance / ok | inconclusive | 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strongly resembles AI-generated two-host podcast audio (e.g. NotebookLM 'deep dive' format): stock phrases like 'Okay, let's unpack this', 'If we connect this to the bigger picture', 'the mission for our deep dive today', 'a quick heads-up to you, the listener', a formulaic impartiality disclaimer, constant affirmations ('Exactly', 'Perfectly said'), vivid metaphors ('real-time MRI of society'), and inserted fillers, all suggesting a likely synthetic origin.</a:t>
            </a:r>
          </a:p>
          <a:p>
            <a:r>
              <a:t>Evidence 1 | Synthetic origin framing: Two-host explainer-podcast dialogue summarizing a peer-reviewed study, with explicit neutrality disclaimer, historical context, and sociological interpretation of pro-mask discourse.</a:t>
            </a:r>
          </a:p>
          <a:p>
            <a:r>
              <a:t>Evidence 2 | Summary (content, for the researcher's coding):</a:t>
            </a:r>
          </a:p>
          <a:p>
            <a:r>
              <a:t>Evidence 3 | Study by Sam Martin and Samantha Vanderslott, Oxford Vaccine Group, published in journal Vaccine</a:t>
            </a:r>
          </a:p>
          <a:p>
            <a:r>
              <a:t>Evidence 4 | Analyzed 7.89 million English-language US/UK tweets, June 2020 to June 2021</a:t>
            </a:r>
          </a:p>
          <a:p>
            <a:r>
              <a:t>Evidence 5 | Used Meltwater and InfraNodus software for data collection and text network analysis</a:t>
            </a:r>
          </a:p>
          <a:p>
            <a:r>
              <a:t>Evidence 6 | 5.91 million tweets on masks versus 1.98 million on vaccines</a:t>
            </a:r>
          </a:p>
          <a:p>
            <a:r>
              <a:t>Evidence 7 | Caveat: Human podcasters can use similar conversational tics and scripted structure, and the transcription may have added or smoothed fillers. Audio or provenance data would be needed to confirm origin.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strongly resembles AI-generated two-host podcast audio (e.g. NotebookLM 'deep dive' format): stock phrases like 'Okay, let's unpack this', 'If we connect this to the bigger picture', 'the mission for our deep dive today', 'a quick heads-up to you, the listener', a formulaic impartiality disclaimer, constant affirmations ('Exactly', 'Perfectly said'), vivid metaphors ('real-time MRI of society'), and inserted fillers, all suggesting a likely synthetic origin.</a:t>
            </a:r>
          </a:p>
          <a:p>
            <a:r>
              <a:t>Evidence 1 | Synthetic origin framing: Two-host explainer-podcast dialogue summarizing a peer-reviewed study, with explicit neutrality disclaimer, historical context, and sociological interpretation of pro-mask discourse.</a:t>
            </a:r>
          </a:p>
          <a:p>
            <a:r>
              <a:t>Evidence 2 | Summary (content, for the researcher's coding):</a:t>
            </a:r>
          </a:p>
          <a:p>
            <a:r>
              <a:t>Evidence 3 | Study by Sam Martin and Samantha Vanderslott, Oxford Vaccine Group, published in journal Vaccine</a:t>
            </a:r>
          </a:p>
          <a:p>
            <a:r>
              <a:t>Evidence 4 | Analyzed 7.89 million English-language US/UK tweets, June 2020 to June 2021</a:t>
            </a:r>
          </a:p>
          <a:p>
            <a:r>
              <a:t>Evidence 5 | Used Meltwater and InfraNodus software for data collection and text network analysis</a:t>
            </a:r>
          </a:p>
          <a:p>
            <a:r>
              <a:t>Evidence 6 | 5.91 million tweets on masks versus 1.98 million on vaccines</a:t>
            </a:r>
          </a:p>
          <a:p>
            <a:r>
              <a:t>Evidence 7 | Caveat: Human podcasters can use similar conversational tics and scripted structure, and the transcription may have added or smoothed fillers. Audio or provenance data would be needed to confirm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question-answer scaffolding, repetitive affirmations, staged discoveries, and polished explanatory transitions strongly suggest AI-generated or AI-edited dialogue.</a:t>
            </a:r>
          </a:p>
          <a:p>
            <a:r>
              <a:t>Evidence 1 | Synthetic origin framing: Conversational research explainer using two-host banter, historical parallels, vivid analogies, and stated political neutrality.</a:t>
            </a:r>
          </a:p>
          <a:p>
            <a:r>
              <a:t>Evidence 2 | Summary (content, for the researcher's coding):</a:t>
            </a:r>
          </a:p>
          <a:p>
            <a:r>
              <a:t>Evidence 3 | The cited study analyzed 7.89 million US and UK tweets from June 2020 to June 2021.</a:t>
            </a:r>
          </a:p>
          <a:p>
            <a:r>
              <a:t>Evidence 4 | Researchers reportedly used Meltwater and InfraNodus to collect tweets and map word relationships.</a:t>
            </a:r>
          </a:p>
          <a:p>
            <a:r>
              <a:t>Evidence 5 | The text describes convergence between anti-vaccine and anti-mask groups online.</a:t>
            </a:r>
          </a:p>
          <a:p>
            <a:r>
              <a:t>Evidence 6 | Reported mask-related negative sentiment was 28% in the UK and 22% in the US.</a:t>
            </a:r>
          </a:p>
          <a:p>
            <a:r>
              <a:t>Evidence 7 | Caveat: Scripted human podcasts can share these features; transcript style alone cannot establish authorship.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question-answer scaffolding, repetitive affirmations, staged discoveries, and polished explanatory transitions strongly suggest AI-generated or AI-edited dialogue.</a:t>
            </a:r>
          </a:p>
          <a:p>
            <a:r>
              <a:t>Evidence 1 | Synthetic origin framing: Conversational research explainer using two-host banter, historical parallels, vivid analogies, and stated political neutrality.</a:t>
            </a:r>
          </a:p>
          <a:p>
            <a:r>
              <a:t>Evidence 2 | Summary (content, for the researcher's coding):</a:t>
            </a:r>
          </a:p>
          <a:p>
            <a:r>
              <a:t>Evidence 3 | The cited study analyzed 7.89 million US and UK tweets from June 2020 to June 2021.</a:t>
            </a:r>
          </a:p>
          <a:p>
            <a:r>
              <a:t>Evidence 4 | Researchers reportedly used Meltwater and InfraNodus to collect tweets and map word relationships.</a:t>
            </a:r>
          </a:p>
          <a:p>
            <a:r>
              <a:t>Evidence 5 | The text describes convergence between anti-vaccine and anti-mask groups online.</a:t>
            </a:r>
          </a:p>
          <a:p>
            <a:r>
              <a:t>Evidence 6 | Reported mask-related negative sentiment was 28% in the UK and 22% in the US.</a:t>
            </a:r>
          </a:p>
          <a:p>
            <a:r>
              <a:t>Evidence 7 | Caveat: Scripted human podcasts can share these features; transcript style alone cannot establish authorship.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Highly synthetic structure exhibiting classic patterns of AI-generated podcast dialogues (such as NotebookLM Audio Overviews) with formulaic back-and-forth banter and simulated natural disfluencies.</a:t>
            </a:r>
          </a:p>
          <a:p>
            <a:r>
              <a:t>Evidence 1 | Synthetic origin framing: Conversational podcast-style dialogue reviewing academic research on pandemic social dynamics and digital discourse.</a:t>
            </a:r>
          </a:p>
          <a:p>
            <a:r>
              <a:t>Evidence 2 | Summary (content, for the researcher's coding):</a:t>
            </a:r>
          </a:p>
          <a:p>
            <a:r>
              <a:t>Evidence 3 | Oxford Vaccine Group study analyzed 7.89 million tweets from June 2020 to June 2021</a:t>
            </a:r>
          </a:p>
          <a:p>
            <a:r>
              <a:t>Evidence 4 | 5.91 million tweets focused on masks while 1.98 million focused on vaccines</a:t>
            </a:r>
          </a:p>
          <a:p>
            <a:r>
              <a:t>Evidence 5 | UK tweets showed 28 percent negative sentiment on masks compared to 22 percent in US</a:t>
            </a:r>
          </a:p>
          <a:p>
            <a:r>
              <a:t>Evidence 6 | Negative sentiment toward vaccines was 17 percent in the US and 15 percent in the UK</a:t>
            </a:r>
          </a:p>
          <a:p>
            <a:r>
              <a:t>Evidence 7 | Caveat: Real human podcast transcripts can display similar conversational cadence and informal conversational fillers.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Highly synthetic structure exhibiting classic patterns of AI-generated podcast dialogues (such as NotebookLM Audio Overviews) with formulaic back-and-forth banter and simulated natural disfluencies.</a:t>
            </a:r>
          </a:p>
          <a:p>
            <a:r>
              <a:t>Evidence 1 | Synthetic origin framing: Conversational podcast-style dialogue reviewing academic research on pandemic social dynamics and digital discourse.</a:t>
            </a:r>
          </a:p>
          <a:p>
            <a:r>
              <a:t>Evidence 2 | Summary (content, for the researcher's coding):</a:t>
            </a:r>
          </a:p>
          <a:p>
            <a:r>
              <a:t>Evidence 3 | Oxford Vaccine Group study analyzed 7.89 million tweets from June 2020 to June 2021</a:t>
            </a:r>
          </a:p>
          <a:p>
            <a:r>
              <a:t>Evidence 4 | 5.91 million tweets focused on masks while 1.98 million focused on vaccines</a:t>
            </a:r>
          </a:p>
          <a:p>
            <a:r>
              <a:t>Evidence 5 | UK tweets showed 28 percent negative sentiment on masks compared to 22 percent in US</a:t>
            </a:r>
          </a:p>
          <a:p>
            <a:r>
              <a:t>Evidence 6 | Negative sentiment toward vaccines was 17 percent in the US and 15 percent in the UK</a:t>
            </a:r>
          </a:p>
          <a:p>
            <a:r>
              <a:t>Evidence 7 | Caveat: Real human podcast transcripts can display similar conversational cadence and informal conversational fillers.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4</a:t>
            </a:r>
          </a:p>
          <a:p>
            <a:r>
              <a:t>Provider | Local forensic cues</a:t>
            </a:r>
          </a:p>
          <a:p>
            <a:r>
              <a:t>Model | Not recorded</a:t>
            </a:r>
          </a:p>
          <a:p>
            <a:r>
              <a:t>Status | ok</a:t>
            </a:r>
          </a:p>
          <a:p>
            <a:r>
              <a:t>Assessment | not applicable</a:t>
            </a:r>
          </a:p>
          <a:p>
            <a:r>
              <a:t>Confidence | Not recorded</a:t>
            </a:r>
          </a:p>
          <a:p>
            <a:r>
              <a:t>Role in assessment | Not listed</a:t>
            </a:r>
          </a:p>
          <a:p>
            <a:r>
              <a:t>Provider summary | Pixel forensics: outside text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Local soundtrack inspection</a:t>
            </a:r>
          </a:p>
          <a:p>
            <a:r>
              <a:t>Record 1 | Audio inspection: present; tracks: 1.</a:t>
            </a:r>
          </a:p>
          <a:p>
            <a:r>
              <a:t>Record 2 | Track 0: aac, 2 channel(s), 44100 Hz; duration 1468.569252s; decode decoded; 3/3 sampled windows above -60 dBFS after mono downmix.</a:t>
            </a:r>
          </a:p>
          <a:p>
            <a:r>
              <a:t>Record 3 | Sample windows: 0.0s + 3.0s; 732.785s + 3.0s; 1465.569s + 3.0s</a:t>
            </a:r>
          </a:p>
          <a:p>
            <a:r>
              <a:t>Record 4 | Original-file credentials are recorded separately. Credential coverage of this audio track: unresolved.</a:t>
            </a:r>
          </a:p>
          <a:p>
            <a:r>
              <a:t>Record 5 | Audio-level measurements cover the sampled windows. The remaining audio has not been inspected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coverage</a:t>
            </a:r>
          </a:p>
          <a:p>
            <a:r>
              <a:t>Record 1 | Visual verdicts for videos cover the sampled still frames. Standalone-audio content assessments cover the transcript. Soundtrack-origin detection and continuous-motion analysis are outside these assessments.</a:t>
            </a:r>
          </a:p>
          <a:p>
            <a:r>
              <a:t>Record 2 | Original-file credentials, excerpt descriptions and visual interpretation are recorded separately. Credential coverage of an individual audio track remains unresolved by this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Evidence supporting this verdict</a:t>
            </a:r>
          </a:p>
          <a:p>
            <a:r>
              <a:t>Claude Analysis | Style strongly resembles AI-generated two-host podcast audio (e.g. NotebookLM 'deep dive' format): stock phrases like 'Okay, let's unpack this', 'If we connect this to the bigger picture', 'the mission for our deep dive today', 'a quick heads-up to you, the listener', a formulaic impartiality disclaimer, constant affirmations ('Exactly', 'Perfectly said'), vivid metaphors ('real-time MRI of society'), and inserted fillers, all suggesting a likely synthetic origin.</a:t>
            </a:r>
          </a:p>
          <a:p>
            <a:r>
              <a:t>OpenAI Analysis | The highly regular question-answer scaffolding, repetitive affirmations, staged discoveries, and polished explanatory transitions strongly suggest AI-generated or AI-edited dialogue.</a:t>
            </a:r>
          </a:p>
          <a:p>
            <a:r>
              <a:t>Gemini Analysis | Highly synthetic structure exhibiting classic patterns of AI-generated podcast dialogues (such as NotebookLM Audio Overviews) with formulaic back-and-forth banter and simulated natural disfluencies.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Additional findings</a:t>
            </a:r>
          </a:p>
          <a:p>
            <a:r>
              <a:t>C2PA Content Credentials | Not checked in this text-analysis pass; no original-media provenance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uh like a simple piece of cloth in your hand. Let's say it's 2019, and it's just a standard surgical mask. Right, just a boring, everyday medical supply. Something you'd really only see at the dentist's office. Exactly. But then fast 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I mean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uh,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Yeah. It moves us past just individual anecdotes, Yeah. and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uh like a simple piece of cloth in your hand. Let's say it's 2019, and it's just a standard surgical mask. Right, just a boring, everyday medical supply. Something you'd really only see at the dentist's office. Exactly. But then fast 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I mean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uh,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Yeah. It moves us past just individual anecdotes, Yeah. and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uh like a simple piece of cloth in your hand. Let's say it's 2019, and it's just a standard surgical mask. Right, just a boring, everyday medical supply. Something you'd really only see at the dentist's office. Exactly. But then fast 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I mean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uh,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Yeah. It moves us past just individual anecdotes, Yeah. and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How this assessment was reached</a:t>
            </a:r>
          </a:p>
          <a:p>
            <a:r>
              <a:t>1. override | outcome=none; detail=No confirmed C2PA AI assertion or SynthID watermark. Origin remains unresolved by these checks.</a:t>
            </a:r>
          </a:p>
          <a:p>
            <a:r>
              <a:t>2. model_agreement | synthetic=['Claude Analysis', 'OpenAI Analysis', 'Gemini Analysis'];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b6fa93e8-0de4-4ed9-b106-d6b642a9a901</a:t>
            </a:r>
          </a:p>
          <a:p>
            <a:r>
              <a:t>Generated | 2026-09-26T20:30:11+00:00</a:t>
            </a:r>
          </a:p>
          <a:p>
            <a:r>
              <a:t>Tool | SDA Vision 0.1.0</a:t>
            </a:r>
          </a:p>
          <a:p>
            <a:r>
              <a:t>Models | claude-opus-5-5, gemini-3.8-flash, gpt-6-astra</a:t>
            </a:r>
          </a:p>
          <a:p>
            <a:r>
              <a:t>Method version | verdict-consistency-2026-09-26.1</a:t>
            </a:r>
          </a:p>
          <a:p>
            <a:r>
              <a:t>Analysis lens | general</a:t>
            </a:r>
          </a:p>
          <a:p>
            <a:r>
              <a:t>Original SHA-256 | 58663a6a9e4b634bdb703ead0aaa7cd6dce7fbf97e70c3c1cc61b3311b94c0b4</a:t>
            </a:r>
          </a:p>
          <a:p>
            <a:r>
              <a:t>Ingestion note 1 | Saved transcript excerpt reused for display (4,000 characters); the full original transcript is not retained in the saved report. The three model replies were acquired in the original transcript run, not generated from this excerpt. No new transcription or provider request.</a:t>
            </a:r>
          </a:p>
          <a:p>
            <a:r>
              <a:t>Ingestion note 2 | Standalone-audio content assessment covers the transcript. AI-origin detection from sound is outside this assessment. Original-file C2PA was checked locally while assembling this saved-results copy and is reported separately.</a:t>
            </a:r>
          </a:p>
          <a:p>
            <a:r>
              <a:t>Ingestion note 3 | Audio tracks inspected locally. Soundtrack uploads require a separate optional check; AI-origin detection from sound is outside this workflow.</a:t>
            </a:r>
          </a:p>
          <a:p>
            <a:r>
              <a:t>Ingestion note 4 | Reassembled locally from saved transcript-model replies acquired at 2026-09-24T15:10:51+00:00 under method publication-repair-2026-09-24.1. Original report d5e5a924-6232-4fb4-a4ef-d991655062cc is preserved. The original run used a source-labelled filename. Local audio-track and original-file credential checks were repeated; model replies were not rerun. Original run notes: Transcoded to 5737 KB mono 16 kHz (≤1800s).; Transcribed with Gemini.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b6fa93e8-0de4-4ed9-b106-d6b642a9a901</a:t>
            </a:r>
          </a:p>
          <a:p>
            <a:r>
              <a:t>Generated | 2026-09-26T20:30:11+00:00</a:t>
            </a:r>
          </a:p>
          <a:p>
            <a:r>
              <a:t>Tool | SDA Vision 0.1.0</a:t>
            </a:r>
          </a:p>
          <a:p>
            <a:r>
              <a:t>Models | claude-opus-5-5, gemini-3.8-flash, gpt-6-astra</a:t>
            </a:r>
          </a:p>
          <a:p>
            <a:r>
              <a:t>Method version | verdict-consistency-2026-09-26.1</a:t>
            </a:r>
          </a:p>
          <a:p>
            <a:r>
              <a:t>Analysis lens | general</a:t>
            </a:r>
          </a:p>
          <a:p>
            <a:r>
              <a:t>Original SHA-256 | 58663a6a9e4b634bdb703ead0aaa7cd6dce7fbf97e70c3c1cc61b3311b94c0b4</a:t>
            </a:r>
          </a:p>
          <a:p>
            <a:r>
              <a:t>Ingestion note 1 | Saved transcript excerpt reused for display (4,000 characters); the full original transcript is not retained in the saved report. The three model replies were acquired in the original transcript run, not generated from this excerpt. No new transcription or provider request.</a:t>
            </a:r>
          </a:p>
          <a:p>
            <a:r>
              <a:t>Ingestion note 2 | Standalone-audio content assessment covers the transcript. AI-origin detection from sound is outside this assessment. Original-file C2PA was checked locally while assembling this saved-results copy and is reported separately.</a:t>
            </a:r>
          </a:p>
          <a:p>
            <a:r>
              <a:t>Ingestion note 3 | Audio tracks inspected locally. Soundtrack uploads require a separate optional check; AI-origin detection from sound is outside this workflow.</a:t>
            </a:r>
          </a:p>
          <a:p>
            <a:r>
              <a:t>Ingestion note 4 | Reassembled locally from saved transcript-model replies acquired at 2026-09-24T15:10:51+00:00 under method publication-repair-2026-09-24.1. Original report d5e5a924-6232-4fb4-a4ef-d991655062cc is preserved. The original run used a source-labelled filename. Local audio-track and original-file credential checks were repeated; model replies were not rerun. Original run notes: Transcoded to 5737 KB mono 16 kHz (≤1800s).; Transcribed with Gemini.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685800" y="1353312"/>
            <a:ext cx="7772400" cy="38862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podcast.m4a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85/100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- 0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strongly resembles AI-generated two-host podcast audio (e.g. NotebookLM</a:t>
                      </a:r>
                    </a:p>
                    <a:p>
                      <a:pPr>
                        <a:lnSpc>
                          <a:spcPts val="1600"/>
                        </a:lnSpc>
                        <a:spcAft>
                          <a:spcPts val="0"/>
                        </a:spcAft>
                        <a:defRPr sz="1200" b="0">
                          <a:solidFill>
                            <a:srgbClr val="21243A"/>
                          </a:solidFill>
                          <a:latin typeface="Arial"/>
                        </a:defRPr>
                      </a:pPr>
                      <a:r>
                        <a:t>'deep dive' format): stock phrases like 'Okay, let's unpack this', 'If we connect this</a:t>
                      </a:r>
                    </a:p>
                    <a:p>
                      <a:pPr>
                        <a:lnSpc>
                          <a:spcPts val="1600"/>
                        </a:lnSpc>
                        <a:spcAft>
                          <a:spcPts val="0"/>
                        </a:spcAft>
                        <a:defRPr sz="1200" b="0">
                          <a:solidFill>
                            <a:srgbClr val="21243A"/>
                          </a:solidFill>
                          <a:latin typeface="Arial"/>
                        </a:defRPr>
                      </a:pPr>
                      <a:r>
                        <a:t>to the bigger picture', 'the mission for our deep dive today', 'a quick heads-up to</a:t>
                      </a:r>
                    </a:p>
                    <a:p>
                      <a:pPr>
                        <a:lnSpc>
                          <a:spcPts val="1600"/>
                        </a:lnSpc>
                        <a:spcAft>
                          <a:spcPts val="0"/>
                        </a:spcAft>
                        <a:defRPr sz="1200" b="0">
                          <a:solidFill>
                            <a:srgbClr val="21243A"/>
                          </a:solidFill>
                          <a:latin typeface="Arial"/>
                        </a:defRPr>
                      </a:pPr>
                      <a:r>
                        <a:t>you, the listener', a formulaic impartiality disclaimer, constant affirmations</a:t>
                      </a:r>
                    </a:p>
                    <a:p>
                      <a:pPr>
                        <a:lnSpc>
                          <a:spcPts val="1600"/>
                        </a:lnSpc>
                        <a:spcAft>
                          <a:spcPts val="0"/>
                        </a:spcAft>
                        <a:defRPr sz="1200" b="0">
                          <a:solidFill>
                            <a:srgbClr val="21243A"/>
                          </a:solidFill>
                          <a:latin typeface="Arial"/>
                        </a:defRPr>
                      </a:pPr>
                      <a:r>
                        <a:t>('Exactly', 'Perfectly said'), vivid metaphors ('real-time MRI of society'), and inserted</a:t>
                      </a:r>
                    </a:p>
                    <a:p>
                      <a:pPr>
                        <a:lnSpc>
                          <a:spcPts val="1600"/>
                        </a:lnSpc>
                        <a:spcAft>
                          <a:spcPts val="0"/>
                        </a:spcAft>
                        <a:defRPr sz="1200" b="0">
                          <a:solidFill>
                            <a:srgbClr val="21243A"/>
                          </a:solidFill>
                          <a:latin typeface="Arial"/>
                        </a:defRPr>
                      </a:pPr>
                      <a:r>
                        <a:t>fillers, all suggesting a likely synthetic origin.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Two-host explainer-podcast dialogue summarizing a</a:t>
                      </a:r>
                    </a:p>
                    <a:p>
                      <a:pPr>
                        <a:lnSpc>
                          <a:spcPts val="1600"/>
                        </a:lnSpc>
                        <a:spcAft>
                          <a:spcPts val="0"/>
                        </a:spcAft>
                        <a:defRPr sz="1200" b="0">
                          <a:solidFill>
                            <a:srgbClr val="21243A"/>
                          </a:solidFill>
                          <a:latin typeface="Arial"/>
                        </a:defRPr>
                      </a:pPr>
                      <a:r>
                        <a:t>peer-reviewed study, with explicit neutrality disclaimer, historical context, and</a:t>
                      </a:r>
                    </a:p>
                    <a:p>
                      <a:pPr>
                        <a:lnSpc>
                          <a:spcPts val="1600"/>
                        </a:lnSpc>
                        <a:spcAft>
                          <a:spcPts val="0"/>
                        </a:spcAft>
                        <a:defRPr sz="1200" b="0">
                          <a:solidFill>
                            <a:srgbClr val="21243A"/>
                          </a:solidFill>
                          <a:latin typeface="Arial"/>
                        </a:defRPr>
                      </a:pPr>
                      <a:r>
                        <a:t>sociological interpretation of pro-mask discourse.</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Study by Sam Martin and Samantha Vanderslott, Oxford Vaccine Group, published</a:t>
                      </a:r>
                    </a:p>
                    <a:p>
                      <a:pPr>
                        <a:lnSpc>
                          <a:spcPts val="1600"/>
                        </a:lnSpc>
                        <a:spcAft>
                          <a:spcPts val="0"/>
                        </a:spcAft>
                        <a:defRPr sz="1200" b="0">
                          <a:solidFill>
                            <a:srgbClr val="21243A"/>
                          </a:solidFill>
                          <a:latin typeface="Arial"/>
                        </a:defRPr>
                      </a:pPr>
                      <a:r>
                        <a:t>in journal Vaccine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Analyzed 7.89 million English-language US/UK tweets, June 2020 to June 2021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Used Meltwater and InfraNodus software for data collection and text network</a:t>
                      </a:r>
                    </a:p>
                    <a:p>
                      <a:pPr>
                        <a:lnSpc>
                          <a:spcPts val="1600"/>
                        </a:lnSpc>
                        <a:spcAft>
                          <a:spcPts val="0"/>
                        </a:spcAft>
                        <a:defRPr sz="1200" b="0">
                          <a:solidFill>
                            <a:srgbClr val="21243A"/>
                          </a:solidFill>
                          <a:latin typeface="Arial"/>
                        </a:defRPr>
                      </a:pPr>
                      <a:r>
                        <a:t>analysis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on masks versus 1.98 million on vaccines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podcasters can use similar conversational tics and scripted</a:t>
                      </a:r>
                    </a:p>
                    <a:p>
                      <a:pPr>
                        <a:lnSpc>
                          <a:spcPts val="1600"/>
                        </a:lnSpc>
                        <a:spcAft>
                          <a:spcPts val="0"/>
                        </a:spcAft>
                        <a:defRPr sz="1200" b="0">
                          <a:solidFill>
                            <a:srgbClr val="21243A"/>
                          </a:solidFill>
                          <a:latin typeface="Arial"/>
                        </a:defRPr>
                      </a:pPr>
                      <a:r>
                        <a:t>structure, and the transcription may have added or smoothed fillers. Audio or</a:t>
                      </a:r>
                    </a:p>
                    <a:p>
                      <a:pPr>
                        <a:lnSpc>
                          <a:spcPts val="1600"/>
                        </a:lnSpc>
                        <a:spcAft>
                          <a:spcPts val="0"/>
                        </a:spcAft>
                        <a:defRPr sz="1200" b="0">
                          <a:solidFill>
                            <a:srgbClr val="21243A"/>
                          </a:solidFill>
                          <a:latin typeface="Arial"/>
                        </a:defRPr>
                      </a:pPr>
                      <a:r>
                        <a:t>provenance data would be needed to confirm origin.</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highly regular question-answer scaffolding, repetitive affirmations, staged</a:t>
                      </a:r>
                    </a:p>
                    <a:p>
                      <a:pPr>
                        <a:lnSpc>
                          <a:spcPts val="1600"/>
                        </a:lnSpc>
                        <a:spcAft>
                          <a:spcPts val="0"/>
                        </a:spcAft>
                        <a:defRPr sz="1200" b="0">
                          <a:solidFill>
                            <a:srgbClr val="21243A"/>
                          </a:solidFill>
                          <a:latin typeface="Arial"/>
                        </a:defRPr>
                      </a:pPr>
                      <a:r>
                        <a:t>discoveries, and polished explanatory transitions strongly suggest AI-generated</a:t>
                      </a:r>
                    </a:p>
                    <a:p>
                      <a:pPr>
                        <a:lnSpc>
                          <a:spcPts val="1600"/>
                        </a:lnSpc>
                        <a:spcAft>
                          <a:spcPts val="0"/>
                        </a:spcAft>
                        <a:defRPr sz="1200" b="0">
                          <a:solidFill>
                            <a:srgbClr val="21243A"/>
                          </a:solidFill>
                          <a:latin typeface="Arial"/>
                        </a:defRPr>
                      </a:pPr>
                      <a:r>
                        <a:t>or AI-edited dialogue.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research explainer using two-host</a:t>
                      </a:r>
                    </a:p>
                    <a:p>
                      <a:pPr>
                        <a:lnSpc>
                          <a:spcPts val="1600"/>
                        </a:lnSpc>
                        <a:spcAft>
                          <a:spcPts val="0"/>
                        </a:spcAft>
                        <a:defRPr sz="1200" b="0">
                          <a:solidFill>
                            <a:srgbClr val="21243A"/>
                          </a:solidFill>
                          <a:latin typeface="Arial"/>
                        </a:defRPr>
                      </a:pPr>
                      <a:r>
                        <a:t>banter, historical parallels, vivid analogies, and stated political neutrality.</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cited study analyzed 7.89 million US and UK tweets from June 2020 to June</a:t>
                      </a:r>
                    </a:p>
                    <a:p>
                      <a:pPr>
                        <a:lnSpc>
                          <a:spcPts val="1600"/>
                        </a:lnSpc>
                        <a:spcAft>
                          <a:spcPts val="0"/>
                        </a:spcAft>
                        <a:defRPr sz="1200" b="0">
                          <a:solidFill>
                            <a:srgbClr val="21243A"/>
                          </a:solidFill>
                          <a:latin typeface="Arial"/>
                        </a:defRPr>
                      </a:pPr>
                      <a:r>
                        <a:t>2021.</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Researchers reportedly used Meltwater and InfraNodus to collect tweets and map</a:t>
                      </a:r>
                    </a:p>
                    <a:p>
                      <a:pPr>
                        <a:lnSpc>
                          <a:spcPts val="1600"/>
                        </a:lnSpc>
                        <a:spcAft>
                          <a:spcPts val="0"/>
                        </a:spcAft>
                        <a:defRPr sz="1200" b="0">
                          <a:solidFill>
                            <a:srgbClr val="21243A"/>
                          </a:solidFill>
                          <a:latin typeface="Arial"/>
                        </a:defRPr>
                      </a:pPr>
                      <a:r>
                        <a:t>word relationships.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text describes convergence between anti-vaccine and anti-mask groups</a:t>
                      </a:r>
                    </a:p>
                    <a:p>
                      <a:pPr>
                        <a:lnSpc>
                          <a:spcPts val="1600"/>
                        </a:lnSpc>
                        <a:spcAft>
                          <a:spcPts val="0"/>
                        </a:spcAft>
                        <a:defRPr sz="1200" b="0">
                          <a:solidFill>
                            <a:srgbClr val="21243A"/>
                          </a:solidFill>
                          <a:latin typeface="Arial"/>
                        </a:defRPr>
                      </a:pPr>
                      <a:r>
                        <a:t>online.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Reported mask-related negative sentiment was 28% in the UK and 22% in the US.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Scripted human podcasts can share these features; transcript style alone</a:t>
                      </a:r>
                    </a:p>
                    <a:p>
                      <a:pPr>
                        <a:lnSpc>
                          <a:spcPts val="1600"/>
                        </a:lnSpc>
                        <a:spcAft>
                          <a:spcPts val="0"/>
                        </a:spcAft>
                        <a:defRPr sz="1200" b="0">
                          <a:solidFill>
                            <a:srgbClr val="21243A"/>
                          </a:solidFill>
                          <a:latin typeface="Arial"/>
                        </a:defRPr>
                      </a:pPr>
                      <a:r>
                        <a:t>cannot establish authorship.</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Highly synthetic structure exhibiting classic patterns of AI-generated podcast</a:t>
                      </a:r>
                    </a:p>
                    <a:p>
                      <a:pPr>
                        <a:lnSpc>
                          <a:spcPts val="1600"/>
                        </a:lnSpc>
                        <a:spcAft>
                          <a:spcPts val="0"/>
                        </a:spcAft>
                        <a:defRPr sz="1200" b="0">
                          <a:solidFill>
                            <a:srgbClr val="21243A"/>
                          </a:solidFill>
                          <a:latin typeface="Arial"/>
                        </a:defRPr>
                      </a:pPr>
                      <a:r>
                        <a:t>dialogues (such as NotebookLM Audio Overviews) with formulaic back-and-forth</a:t>
                      </a:r>
                    </a:p>
                    <a:p>
                      <a:pPr>
                        <a:lnSpc>
                          <a:spcPts val="1600"/>
                        </a:lnSpc>
                        <a:spcAft>
                          <a:spcPts val="0"/>
                        </a:spcAft>
                        <a:defRPr sz="1200" b="0">
                          <a:solidFill>
                            <a:srgbClr val="21243A"/>
                          </a:solidFill>
                          <a:latin typeface="Arial"/>
                        </a:defRPr>
                      </a:pPr>
                      <a:r>
                        <a:t>banter and simulated natural disfluencies.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podcast-style dialogue reviewing</a:t>
                      </a:r>
                    </a:p>
                    <a:p>
                      <a:pPr>
                        <a:lnSpc>
                          <a:spcPts val="1600"/>
                        </a:lnSpc>
                        <a:spcAft>
                          <a:spcPts val="0"/>
                        </a:spcAft>
                        <a:defRPr sz="1200" b="0">
                          <a:solidFill>
                            <a:srgbClr val="21243A"/>
                          </a:solidFill>
                          <a:latin typeface="Arial"/>
                        </a:defRPr>
                      </a:pPr>
                      <a:r>
                        <a:t>academic research on pandemic social dynamics and digital discourse.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Oxford Vaccine Group study analyzed 7.89 million tweets from June 2020 to June</a:t>
                      </a:r>
                    </a:p>
                    <a:p>
                      <a:pPr>
                        <a:lnSpc>
                          <a:spcPts val="1600"/>
                        </a:lnSpc>
                        <a:spcAft>
                          <a:spcPts val="0"/>
                        </a:spcAft>
                        <a:defRPr sz="1200" b="0">
                          <a:solidFill>
                            <a:srgbClr val="21243A"/>
                          </a:solidFill>
                          <a:latin typeface="Arial"/>
                        </a:defRPr>
                      </a:pPr>
                      <a:r>
                        <a:t>2021</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focused on masks while 1.98 million focused on vaccines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UK tweets showed 28 percent negative sentiment on masks compared to 22</a:t>
                      </a:r>
                    </a:p>
                    <a:p>
                      <a:pPr>
                        <a:lnSpc>
                          <a:spcPts val="1600"/>
                        </a:lnSpc>
                        <a:spcAft>
                          <a:spcPts val="0"/>
                        </a:spcAft>
                        <a:defRPr sz="1200" b="0">
                          <a:solidFill>
                            <a:srgbClr val="21243A"/>
                          </a:solidFill>
                          <a:latin typeface="Arial"/>
                        </a:defRPr>
                      </a:pPr>
                      <a:r>
                        <a:t>percent in US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Negative sentiment toward vaccines was 17 percent in the US and 15 percent in</a:t>
                      </a:r>
                    </a:p>
                    <a:p>
                      <a:pPr>
                        <a:lnSpc>
                          <a:spcPts val="1600"/>
                        </a:lnSpc>
                        <a:spcAft>
                          <a:spcPts val="0"/>
                        </a:spcAft>
                        <a:defRPr sz="1200" b="0">
                          <a:solidFill>
                            <a:srgbClr val="21243A"/>
                          </a:solidFill>
                          <a:latin typeface="Arial"/>
                        </a:defRPr>
                      </a:pPr>
                      <a:r>
                        <a:t>the UK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Real human podcast transcripts can display similar conversational</a:t>
                      </a:r>
                    </a:p>
                    <a:p>
                      <a:pPr>
                        <a:lnSpc>
                          <a:spcPts val="1600"/>
                        </a:lnSpc>
                        <a:spcAft>
                          <a:spcPts val="0"/>
                        </a:spcAft>
                        <a:defRPr sz="1200" b="0">
                          <a:solidFill>
                            <a:srgbClr val="21243A"/>
                          </a:solidFill>
                          <a:latin typeface="Arial"/>
                        </a:defRPr>
                      </a:pPr>
                      <a:r>
                        <a:t>cadence and informal conversational fillers.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4</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listed</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Pixel forensics: outside text analysis.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Local soundtrack inspection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inspection: present; tracks: 1.</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Track 0: aac, 2 channel(s), 44100 Hz; duration 1468.569252s; decode decoded; 3/3</a:t>
                      </a:r>
                    </a:p>
                    <a:p>
                      <a:pPr>
                        <a:lnSpc>
                          <a:spcPts val="1600"/>
                        </a:lnSpc>
                        <a:spcAft>
                          <a:spcPts val="0"/>
                        </a:spcAft>
                        <a:defRPr sz="1200" b="0">
                          <a:solidFill>
                            <a:srgbClr val="21243A"/>
                          </a:solidFill>
                          <a:latin typeface="Arial"/>
                        </a:defRPr>
                      </a:pPr>
                      <a:r>
                        <a:t>sampled windows above -60 dBFS after mono downmix.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Sample windows: 0.0s + 3.0s; 732.785s + 3.0s; 1465.569s + 3.0s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are recorded separately. Credential coverage of this audio</a:t>
                      </a:r>
                    </a:p>
                    <a:p>
                      <a:pPr>
                        <a:lnSpc>
                          <a:spcPts val="1600"/>
                        </a:lnSpc>
                        <a:spcAft>
                          <a:spcPts val="0"/>
                        </a:spcAft>
                        <a:defRPr sz="1200" b="0">
                          <a:solidFill>
                            <a:srgbClr val="21243A"/>
                          </a:solidFill>
                          <a:latin typeface="Arial"/>
                        </a:defRPr>
                      </a:pPr>
                      <a:r>
                        <a:t>track: unresolved.</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Audio-level measurements cover the sampled windows. The remaining audio has</a:t>
                      </a:r>
                    </a:p>
                    <a:p>
                      <a:pPr>
                        <a:lnSpc>
                          <a:spcPts val="1600"/>
                        </a:lnSpc>
                        <a:spcAft>
                          <a:spcPts val="0"/>
                        </a:spcAft>
                        <a:defRPr sz="1200" b="0">
                          <a:solidFill>
                            <a:srgbClr val="21243A"/>
                          </a:solidFill>
                          <a:latin typeface="Arial"/>
                        </a:defRPr>
                      </a:pPr>
                      <a:r>
                        <a:t>not been inspected by this check.</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coverage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Visual verdicts for videos cover the sampled still frames. Standalone-audio content</a:t>
                      </a:r>
                    </a:p>
                    <a:p>
                      <a:pPr>
                        <a:lnSpc>
                          <a:spcPts val="1600"/>
                        </a:lnSpc>
                        <a:spcAft>
                          <a:spcPts val="0"/>
                        </a:spcAft>
                        <a:defRPr sz="1200" b="0">
                          <a:solidFill>
                            <a:srgbClr val="21243A"/>
                          </a:solidFill>
                          <a:latin typeface="Arial"/>
                        </a:defRPr>
                      </a:pPr>
                      <a:r>
                        <a:t>assessments cover the transcript. Soundtrack-origin detection and</a:t>
                      </a:r>
                    </a:p>
                    <a:p>
                      <a:pPr>
                        <a:lnSpc>
                          <a:spcPts val="1600"/>
                        </a:lnSpc>
                        <a:spcAft>
                          <a:spcPts val="0"/>
                        </a:spcAft>
                        <a:defRPr sz="1200" b="0">
                          <a:solidFill>
                            <a:srgbClr val="21243A"/>
                          </a:solidFill>
                          <a:latin typeface="Arial"/>
                        </a:defRPr>
                      </a:pPr>
                      <a:r>
                        <a:t>continuous-motion analysis are outside these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excerpt descriptions and visual interpretation are</a:t>
                      </a:r>
                    </a:p>
                    <a:p>
                      <a:pPr>
                        <a:lnSpc>
                          <a:spcPts val="1600"/>
                        </a:lnSpc>
                        <a:spcAft>
                          <a:spcPts val="0"/>
                        </a:spcAft>
                        <a:defRPr sz="1200" b="0">
                          <a:solidFill>
                            <a:srgbClr val="21243A"/>
                          </a:solidFill>
                          <a:latin typeface="Arial"/>
                        </a:defRPr>
                      </a:pPr>
                      <a:r>
                        <a:t>recorded separately. Credential coverage of an individual audio track remains</a:t>
                      </a:r>
                    </a:p>
                    <a:p>
                      <a:pPr>
                        <a:lnSpc>
                          <a:spcPts val="1600"/>
                        </a:lnSpc>
                        <a:spcAft>
                          <a:spcPts val="0"/>
                        </a:spcAft>
                        <a:defRPr sz="1200" b="0">
                          <a:solidFill>
                            <a:srgbClr val="21243A"/>
                          </a:solidFill>
                          <a:latin typeface="Arial"/>
                        </a:defRPr>
                      </a:pPr>
                      <a:r>
                        <a:t>unresolved by this workflow.</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strongly resembles AI-generated two-host podcast audio (e.g. NotebookLM</a:t>
                      </a:r>
                    </a:p>
                    <a:p>
                      <a:pPr>
                        <a:lnSpc>
                          <a:spcPts val="1600"/>
                        </a:lnSpc>
                        <a:spcAft>
                          <a:spcPts val="0"/>
                        </a:spcAft>
                        <a:defRPr sz="1200" b="0">
                          <a:solidFill>
                            <a:srgbClr val="21243A"/>
                          </a:solidFill>
                          <a:latin typeface="Arial"/>
                        </a:defRPr>
                      </a:pPr>
                      <a:r>
                        <a:t>'deep dive' format): stock phrases like 'Okay, let's unpack this', 'If we connect this</a:t>
                      </a:r>
                    </a:p>
                    <a:p>
                      <a:pPr>
                        <a:lnSpc>
                          <a:spcPts val="1600"/>
                        </a:lnSpc>
                        <a:spcAft>
                          <a:spcPts val="0"/>
                        </a:spcAft>
                        <a:defRPr sz="1200" b="0">
                          <a:solidFill>
                            <a:srgbClr val="21243A"/>
                          </a:solidFill>
                          <a:latin typeface="Arial"/>
                        </a:defRPr>
                      </a:pPr>
                      <a:r>
                        <a:t>to the bigger picture', 'the mission for our deep dive today', 'a quick heads-up to</a:t>
                      </a:r>
                    </a:p>
                    <a:p>
                      <a:pPr>
                        <a:lnSpc>
                          <a:spcPts val="1600"/>
                        </a:lnSpc>
                        <a:spcAft>
                          <a:spcPts val="0"/>
                        </a:spcAft>
                        <a:defRPr sz="1200" b="0">
                          <a:solidFill>
                            <a:srgbClr val="21243A"/>
                          </a:solidFill>
                          <a:latin typeface="Arial"/>
                        </a:defRPr>
                      </a:pPr>
                      <a:r>
                        <a:t>you, the listener', a formulaic impartiality disclaimer, constant affirmations</a:t>
                      </a:r>
                    </a:p>
                    <a:p>
                      <a:pPr>
                        <a:lnSpc>
                          <a:spcPts val="1600"/>
                        </a:lnSpc>
                        <a:spcAft>
                          <a:spcPts val="0"/>
                        </a:spcAft>
                        <a:defRPr sz="1200" b="0">
                          <a:solidFill>
                            <a:srgbClr val="21243A"/>
                          </a:solidFill>
                          <a:latin typeface="Arial"/>
                        </a:defRPr>
                      </a:pPr>
                      <a:r>
                        <a:t>('Exactly', 'Perfectly said'), vivid metaphors ('real-time MRI of society'), and inserted</a:t>
                      </a:r>
                    </a:p>
                    <a:p>
                      <a:pPr>
                        <a:lnSpc>
                          <a:spcPts val="1600"/>
                        </a:lnSpc>
                        <a:spcAft>
                          <a:spcPts val="0"/>
                        </a:spcAft>
                        <a:defRPr sz="1200" b="0">
                          <a:solidFill>
                            <a:srgbClr val="21243A"/>
                          </a:solidFill>
                          <a:latin typeface="Arial"/>
                        </a:defRPr>
                      </a:pPr>
                      <a:r>
                        <a:t>fillers, all suggesting a likely synthetic origin.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highly regular question-answer scaffolding, repetitive affirmations, staged</a:t>
                      </a:r>
                    </a:p>
                    <a:p>
                      <a:pPr>
                        <a:lnSpc>
                          <a:spcPts val="1600"/>
                        </a:lnSpc>
                        <a:spcAft>
                          <a:spcPts val="0"/>
                        </a:spcAft>
                        <a:defRPr sz="1200" b="0">
                          <a:solidFill>
                            <a:srgbClr val="21243A"/>
                          </a:solidFill>
                          <a:latin typeface="Arial"/>
                        </a:defRPr>
                      </a:pPr>
                      <a:r>
                        <a:t>discoveries, and polished explanatory transitions strongly suggest AI-generated</a:t>
                      </a:r>
                    </a:p>
                    <a:p>
                      <a:pPr>
                        <a:lnSpc>
                          <a:spcPts val="1600"/>
                        </a:lnSpc>
                        <a:spcAft>
                          <a:spcPts val="0"/>
                        </a:spcAft>
                        <a:defRPr sz="1200" b="0">
                          <a:solidFill>
                            <a:srgbClr val="21243A"/>
                          </a:solidFill>
                          <a:latin typeface="Arial"/>
                        </a:defRPr>
                      </a:pPr>
                      <a:r>
                        <a:t>or AI-edited dialogue.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822191"/>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Highly synthetic structure exhibiting classic patterns of AI-generated podcast</a:t>
                      </a:r>
                    </a:p>
                    <a:p>
                      <a:pPr>
                        <a:lnSpc>
                          <a:spcPts val="1600"/>
                        </a:lnSpc>
                        <a:spcAft>
                          <a:spcPts val="0"/>
                        </a:spcAft>
                        <a:defRPr sz="1200" b="0">
                          <a:solidFill>
                            <a:srgbClr val="21243A"/>
                          </a:solidFill>
                          <a:latin typeface="Arial"/>
                        </a:defRPr>
                      </a:pPr>
                      <a:r>
                        <a:t>dialogues (such as NotebookLM Audio Overviews) with formulaic back-and-forth</a:t>
                      </a:r>
                    </a:p>
                    <a:p>
                      <a:pPr>
                        <a:lnSpc>
                          <a:spcPts val="1600"/>
                        </a:lnSpc>
                        <a:spcAft>
                          <a:spcPts val="0"/>
                        </a:spcAft>
                        <a:defRPr sz="1200" b="0">
                          <a:solidFill>
                            <a:srgbClr val="21243A"/>
                          </a:solidFill>
                          <a:latin typeface="Arial"/>
                        </a:defRPr>
                      </a:pPr>
                      <a:r>
                        <a:t>banter and simulated natural disfluencies.</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checked in this text-analysis pass; no original-media provenance conclusion.</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Imagine holding uh like a simple piece of cloth in your hand. Let's say it's 2019,</a:t>
                      </a:r>
                    </a:p>
                    <a:p>
                      <a:pPr>
                        <a:lnSpc>
                          <a:spcPts val="1600"/>
                        </a:lnSpc>
                        <a:spcAft>
                          <a:spcPts val="0"/>
                        </a:spcAft>
                        <a:defRPr sz="1200" b="0">
                          <a:solidFill>
                            <a:srgbClr val="21243A"/>
                          </a:solidFill>
                          <a:latin typeface="Arial"/>
                        </a:defRPr>
                      </a:pPr>
                      <a:r>
                        <a:t>and it's just a standard surgical mask. Right, just a boring, everyday medical</a:t>
                      </a:r>
                    </a:p>
                    <a:p>
                      <a:pPr>
                        <a:lnSpc>
                          <a:spcPts val="1600"/>
                        </a:lnSpc>
                        <a:spcAft>
                          <a:spcPts val="0"/>
                        </a:spcAft>
                        <a:defRPr sz="1200" b="0">
                          <a:solidFill>
                            <a:srgbClr val="21243A"/>
                          </a:solidFill>
                          <a:latin typeface="Arial"/>
                        </a:defRPr>
                      </a:pPr>
                      <a:r>
                        <a:t>supply. Something you'd really only see at the dentist's office. Exactly. But then</a:t>
                      </a:r>
                    </a:p>
                    <a:p>
                      <a:pPr>
                        <a:lnSpc>
                          <a:spcPts val="1600"/>
                        </a:lnSpc>
                        <a:spcAft>
                          <a:spcPts val="0"/>
                        </a:spcAft>
                        <a:defRPr sz="1200" b="0">
                          <a:solidFill>
                            <a:srgbClr val="21243A"/>
                          </a:solidFill>
                          <a:latin typeface="Arial"/>
                        </a:defRPr>
                      </a:pPr>
                      <a:r>
                        <a:t>fast forward to the end of 2020, and that exact same piece of cloth had morphed</a:t>
                      </a:r>
                    </a:p>
                    <a:p>
                      <a:pPr>
                        <a:lnSpc>
                          <a:spcPts val="1600"/>
                        </a:lnSpc>
                        <a:spcAft>
                          <a:spcPts val="0"/>
                        </a:spcAft>
                        <a:defRPr sz="1200" b="0">
                          <a:solidFill>
                            <a:srgbClr val="21243A"/>
                          </a:solidFill>
                          <a:latin typeface="Arial"/>
                        </a:defRPr>
                      </a:pPr>
                      <a:r>
                        <a:t>into like a literal measure of your morality. Oh, absolutely. It became a symbol of</a:t>
                      </a:r>
                    </a:p>
                    <a:p>
                      <a:pPr>
                        <a:lnSpc>
                          <a:spcPts val="1600"/>
                        </a:lnSpc>
                        <a:spcAft>
                          <a:spcPts val="0"/>
                        </a:spcAft>
                        <a:defRPr sz="1200" b="0">
                          <a:solidFill>
                            <a:srgbClr val="21243A"/>
                          </a:solidFill>
                          <a:latin typeface="Arial"/>
                        </a:defRPr>
                      </a:pPr>
                      <a:r>
                        <a:t>your political affiliation, your patriotism, even. It's just wild to think about. I mean,</a:t>
                      </a:r>
                    </a:p>
                    <a:p>
                      <a:pPr>
                        <a:lnSpc>
                          <a:spcPts val="1600"/>
                        </a:lnSpc>
                        <a:spcAft>
                          <a:spcPts val="0"/>
                        </a:spcAft>
                        <a:defRPr sz="1200" b="0">
                          <a:solidFill>
                            <a:srgbClr val="21243A"/>
                          </a:solidFill>
                          <a:latin typeface="Arial"/>
                        </a:defRPr>
                      </a:pPr>
                      <a:r>
                        <a:t>today we are looking at the exact digital moment a basic health mandate turned</a:t>
                      </a:r>
                    </a:p>
                    <a:p>
                      <a:pPr>
                        <a:lnSpc>
                          <a:spcPts val="1600"/>
                        </a:lnSpc>
                        <a:spcAft>
                          <a:spcPts val="0"/>
                        </a:spcAft>
                        <a:defRPr sz="1200" b="0">
                          <a:solidFill>
                            <a:srgbClr val="21243A"/>
                          </a:solidFill>
                          <a:latin typeface="Arial"/>
                        </a:defRPr>
                      </a:pPr>
                      <a:r>
                        <a:t>into a full-blown ideological war. It really is one of the most compressed, intense</a:t>
                      </a:r>
                    </a:p>
                    <a:p>
                      <a:pPr>
                        <a:lnSpc>
                          <a:spcPts val="1600"/>
                        </a:lnSpc>
                        <a:spcAft>
                          <a:spcPts val="0"/>
                        </a:spcAft>
                        <a:defRPr sz="1200" b="0">
                          <a:solidFill>
                            <a:srgbClr val="21243A"/>
                          </a:solidFill>
                          <a:latin typeface="Arial"/>
                        </a:defRPr>
                      </a:pPr>
                      <a:r>
                        <a:t>sociological shifts we've ever witnessed. Yeah. I mean we went from a public that</a:t>
                      </a:r>
                    </a:p>
                    <a:p>
                      <a:pPr>
                        <a:lnSpc>
                          <a:spcPts val="1600"/>
                        </a:lnSpc>
                        <a:spcAft>
                          <a:spcPts val="0"/>
                        </a:spcAft>
                        <a:defRPr sz="1200" b="0">
                          <a:solidFill>
                            <a:srgbClr val="21243A"/>
                          </a:solidFill>
                          <a:latin typeface="Arial"/>
                        </a:defRPr>
                      </a:pPr>
                      <a:r>
                        <a:t>largely didn't think about epidemiology at all to a society where every single</a:t>
                      </a:r>
                    </a:p>
                    <a:p>
                      <a:pPr>
                        <a:lnSpc>
                          <a:spcPts val="1600"/>
                        </a:lnSpc>
                        <a:spcAft>
                          <a:spcPts val="0"/>
                        </a:spcAft>
                        <a:defRPr sz="1200" b="0">
                          <a:solidFill>
                            <a:srgbClr val="21243A"/>
                          </a:solidFill>
                          <a:latin typeface="Arial"/>
                        </a:defRPr>
                      </a:pPr>
                      <a:r>
                        <a:t>person was forced to take a public, highly visible stance on a global health crisis.</a:t>
                      </a:r>
                    </a:p>
                    <a:p>
                      <a:pPr>
                        <a:lnSpc>
                          <a:spcPts val="1600"/>
                        </a:lnSpc>
                        <a:spcAft>
                          <a:spcPts val="0"/>
                        </a:spcAft>
                        <a:defRPr sz="1200" b="0">
                          <a:solidFill>
                            <a:srgbClr val="21243A"/>
                          </a:solidFill>
                          <a:latin typeface="Arial"/>
                        </a:defRPr>
                      </a:pPr>
                      <a:r>
                        <a:t>And usually, you know, when we talk about a massive global event like that, we</a:t>
                      </a:r>
                    </a:p>
                    <a:p>
                      <a:pPr>
                        <a:lnSpc>
                          <a:spcPts val="1600"/>
                        </a:lnSpc>
                        <a:spcAft>
                          <a:spcPts val="0"/>
                        </a:spcAft>
                        <a:defRPr sz="1200" b="0">
                          <a:solidFill>
                            <a:srgbClr val="21243A"/>
                          </a:solidFill>
                          <a:latin typeface="Arial"/>
                        </a:defRPr>
                      </a:pPr>
                      <a:r>
                        <a:t>have to rely on historians decades later to piece together the public mood. Right,</a:t>
                      </a:r>
                    </a:p>
                    <a:p>
                      <a:pPr>
                        <a:lnSpc>
                          <a:spcPts val="1600"/>
                        </a:lnSpc>
                        <a:spcAft>
                          <a:spcPts val="0"/>
                        </a:spcAft>
                        <a:defRPr sz="1200" b="0">
                          <a:solidFill>
                            <a:srgbClr val="21243A"/>
                          </a:solidFill>
                          <a:latin typeface="Arial"/>
                        </a:defRPr>
                      </a:pPr>
                      <a:r>
                        <a:t>digging through old newspaper clippings, or uh, diary entries. Exactly. But for the</a:t>
                      </a:r>
                    </a:p>
                    <a:p>
                      <a:pPr>
                        <a:lnSpc>
                          <a:spcPts val="1600"/>
                        </a:lnSpc>
                        <a:spcAft>
                          <a:spcPts val="0"/>
                        </a:spcAft>
                        <a:defRPr sz="1200" b="0">
                          <a:solidFill>
                            <a:srgbClr val="21243A"/>
                          </a:solidFill>
                          <a:latin typeface="Arial"/>
                        </a:defRPr>
                      </a:pPr>
                      <a:r>
                        <a:t>COVID-19 pandemic, we have this complete, real-time, behavioral laboratory. So,</a:t>
                      </a:r>
                    </a:p>
                    <a:p>
                      <a:pPr>
                        <a:lnSpc>
                          <a:spcPts val="1600"/>
                        </a:lnSpc>
                        <a:spcAft>
                          <a:spcPts val="0"/>
                        </a:spcAft>
                        <a:defRPr sz="1200" b="0">
                          <a:solidFill>
                            <a:srgbClr val="21243A"/>
                          </a:solidFill>
                          <a:latin typeface="Arial"/>
                        </a:defRPr>
                      </a:pPr>
                      <a:r>
                        <a:t>we are grounding our conversation today in this fascinating peer-reviewed study</a:t>
                      </a:r>
                    </a:p>
                    <a:p>
                      <a:pPr>
                        <a:lnSpc>
                          <a:spcPts val="1600"/>
                        </a:lnSpc>
                        <a:spcAft>
                          <a:spcPts val="0"/>
                        </a:spcAft>
                        <a:defRPr sz="1200" b="0">
                          <a:solidFill>
                            <a:srgbClr val="21243A"/>
                          </a:solidFill>
                          <a:latin typeface="Arial"/>
                        </a:defRPr>
                      </a:pPr>
                      <a:r>
                        <a:t>from the journal, Vaccine. Yes, authored by Sam Martin and Samantha Vanderslott</a:t>
                      </a:r>
                    </a:p>
                    <a:p>
                      <a:pPr>
                        <a:lnSpc>
                          <a:spcPts val="1600"/>
                        </a:lnSpc>
                        <a:spcAft>
                          <a:spcPts val="0"/>
                        </a:spcAft>
                        <a:defRPr sz="1200" b="0">
                          <a:solidFill>
                            <a:srgbClr val="21243A"/>
                          </a:solidFill>
                          <a:latin typeface="Arial"/>
                        </a:defRPr>
                      </a:pPr>
                      <a:r>
                        <a:t>from the Oxford Vaccine Group. And the scale of their research here is what</a:t>
                      </a:r>
                    </a:p>
                    <a:p>
                      <a:pPr>
                        <a:lnSpc>
                          <a:spcPts val="1600"/>
                        </a:lnSpc>
                        <a:spcAft>
                          <a:spcPts val="0"/>
                        </a:spcAft>
                        <a:defRPr sz="1200" b="0">
                          <a:solidFill>
                            <a:srgbClr val="21243A"/>
                          </a:solidFill>
                          <a:latin typeface="Arial"/>
                        </a:defRPr>
                      </a:pPr>
                      <a:r>
                        <a:t>makes it so robust, right? Oh, totally. They analyzed this massive data set of 7.89</a:t>
                      </a:r>
                    </a:p>
                    <a:p>
                      <a:pPr>
                        <a:lnSpc>
                          <a:spcPts val="1600"/>
                        </a:lnSpc>
                        <a:spcAft>
                          <a:spcPts val="0"/>
                        </a:spcAft>
                        <a:defRPr sz="1200" b="0">
                          <a:solidFill>
                            <a:srgbClr val="21243A"/>
                          </a:solidFill>
                          <a:latin typeface="Arial"/>
                        </a:defRPr>
                      </a:pPr>
                      <a:r>
                        <a:t>million English-language tweets, Wow. Yeah, from the US and the UK spanning a</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very specific window, basically, June 1st, 2020 to June 1st, 2021. And they didn't</a:t>
                      </a:r>
                    </a:p>
                    <a:p>
                      <a:pPr>
                        <a:lnSpc>
                          <a:spcPts val="1600"/>
                        </a:lnSpc>
                        <a:spcAft>
                          <a:spcPts val="0"/>
                        </a:spcAft>
                        <a:defRPr sz="1200" b="0">
                          <a:solidFill>
                            <a:srgbClr val="21243A"/>
                          </a:solidFill>
                          <a:latin typeface="Arial"/>
                        </a:defRPr>
                      </a:pPr>
                      <a:r>
                        <a:t>just like count how many times the word "mask" or "vaccine" was used, which is</a:t>
                      </a:r>
                    </a:p>
                    <a:p>
                      <a:pPr>
                        <a:lnSpc>
                          <a:spcPts val="1600"/>
                        </a:lnSpc>
                        <a:spcAft>
                          <a:spcPts val="0"/>
                        </a:spcAft>
                        <a:defRPr sz="1200" b="0">
                          <a:solidFill>
                            <a:srgbClr val="21243A"/>
                          </a:solidFill>
                          <a:latin typeface="Arial"/>
                        </a:defRPr>
                      </a:pPr>
                      <a:r>
                        <a:t>what I would have assumed. No, they went way deeper. They utilized media</a:t>
                      </a:r>
                    </a:p>
                    <a:p>
                      <a:pPr>
                        <a:lnSpc>
                          <a:spcPts val="1600"/>
                        </a:lnSpc>
                        <a:spcAft>
                          <a:spcPts val="0"/>
                        </a:spcAft>
                        <a:defRPr sz="1200" b="0">
                          <a:solidFill>
                            <a:srgbClr val="21243A"/>
                          </a:solidFill>
                          <a:latin typeface="Arial"/>
                        </a:defRPr>
                      </a:pPr>
                      <a:r>
                        <a:t>monitoring software called Meltwater and text network analysis software called</a:t>
                      </a:r>
                    </a:p>
                    <a:p>
                      <a:pPr>
                        <a:lnSpc>
                          <a:spcPts val="1600"/>
                        </a:lnSpc>
                        <a:spcAft>
                          <a:spcPts val="0"/>
                        </a:spcAft>
                        <a:defRPr sz="1200" b="0">
                          <a:solidFill>
                            <a:srgbClr val="21243A"/>
                          </a:solidFill>
                          <a:latin typeface="Arial"/>
                        </a:defRPr>
                      </a:pPr>
                      <a:r>
                        <a:t>InfraNodus. Which uh, we should probably explain how those tools work, because</a:t>
                      </a:r>
                    </a:p>
                    <a:p>
                      <a:pPr>
                        <a:lnSpc>
                          <a:spcPts val="1600"/>
                        </a:lnSpc>
                        <a:spcAft>
                          <a:spcPts val="0"/>
                        </a:spcAft>
                        <a:defRPr sz="1200" b="0">
                          <a:solidFill>
                            <a:srgbClr val="21243A"/>
                          </a:solidFill>
                          <a:latin typeface="Arial"/>
                        </a:defRPr>
                      </a:pPr>
                      <a:r>
                        <a:t>it's vital for understanding the whole study. Please do. So, Meltwater acts like this</a:t>
                      </a:r>
                    </a:p>
                    <a:p>
                      <a:pPr>
                        <a:lnSpc>
                          <a:spcPts val="1600"/>
                        </a:lnSpc>
                        <a:spcAft>
                          <a:spcPts val="0"/>
                        </a:spcAft>
                        <a:defRPr sz="1200" b="0">
                          <a:solidFill>
                            <a:srgbClr val="21243A"/>
                          </a:solidFill>
                          <a:latin typeface="Arial"/>
                        </a:defRPr>
                      </a:pPr>
                      <a:r>
                        <a:t>giant net scraping the internet and pulling in every public conversation based on</a:t>
                      </a:r>
                    </a:p>
                    <a:p>
                      <a:pPr>
                        <a:lnSpc>
                          <a:spcPts val="1600"/>
                        </a:lnSpc>
                        <a:spcAft>
                          <a:spcPts val="0"/>
                        </a:spcAft>
                        <a:defRPr sz="1200" b="0">
                          <a:solidFill>
                            <a:srgbClr val="21243A"/>
                          </a:solidFill>
                          <a:latin typeface="Arial"/>
                        </a:defRPr>
                      </a:pPr>
                      <a:r>
                        <a:t>specific keywords. Right. But InfraNodus acts as the brain. It actually maps</a:t>
                      </a:r>
                    </a:p>
                    <a:p>
                      <a:pPr>
                        <a:lnSpc>
                          <a:spcPts val="1600"/>
                        </a:lnSpc>
                        <a:spcAft>
                          <a:spcPts val="0"/>
                        </a:spcAft>
                        <a:defRPr sz="1200" b="0">
                          <a:solidFill>
                            <a:srgbClr val="21243A"/>
                          </a:solidFill>
                          <a:latin typeface="Arial"/>
                        </a:defRPr>
                      </a:pPr>
                      <a:r>
                        <a:t>relationships between words. So, if the word "mask" is constantly sitting right next</a:t>
                      </a:r>
                    </a:p>
                    <a:p>
                      <a:pPr>
                        <a:lnSpc>
                          <a:spcPts val="1600"/>
                        </a:lnSpc>
                        <a:spcAft>
                          <a:spcPts val="0"/>
                        </a:spcAft>
                        <a:defRPr sz="1200" b="0">
                          <a:solidFill>
                            <a:srgbClr val="21243A"/>
                          </a:solidFill>
                          <a:latin typeface="Arial"/>
                        </a:defRPr>
                      </a:pPr>
                      <a:r>
                        <a:t>to the word "tyranny" or "sheep" in millions of tweets, The software draws a thick</a:t>
                      </a:r>
                    </a:p>
                    <a:p>
                      <a:pPr>
                        <a:lnSpc>
                          <a:spcPts val="1600"/>
                        </a:lnSpc>
                        <a:spcAft>
                          <a:spcPts val="0"/>
                        </a:spcAft>
                        <a:defRPr sz="1200" b="0">
                          <a:solidFill>
                            <a:srgbClr val="21243A"/>
                          </a:solidFill>
                          <a:latin typeface="Arial"/>
                        </a:defRPr>
                      </a:pPr>
                      <a:r>
                        <a:t>digital line between them. Exactly, it lets researchers see the exact architecture of</a:t>
                      </a:r>
                    </a:p>
                    <a:p>
                      <a:pPr>
                        <a:lnSpc>
                          <a:spcPts val="1600"/>
                        </a:lnSpc>
                        <a:spcAft>
                          <a:spcPts val="0"/>
                        </a:spcAft>
                        <a:defRPr sz="1200" b="0">
                          <a:solidFill>
                            <a:srgbClr val="21243A"/>
                          </a:solidFill>
                          <a:latin typeface="Arial"/>
                        </a:defRPr>
                      </a:pPr>
                      <a:r>
                        <a:t>public sentiment. It's almost like looking at a real-time MRI of society's collective</a:t>
                      </a:r>
                    </a:p>
                    <a:p>
                      <a:pPr>
                        <a:lnSpc>
                          <a:spcPts val="1600"/>
                        </a:lnSpc>
                        <a:spcAft>
                          <a:spcPts val="0"/>
                        </a:spcAft>
                        <a:defRPr sz="1200" b="0">
                          <a:solidFill>
                            <a:srgbClr val="21243A"/>
                          </a:solidFill>
                          <a:latin typeface="Arial"/>
                        </a:defRPr>
                      </a:pPr>
                      <a:r>
                        <a:t>anxiety. That's a really great way to visualize it. Yeah. It moves us past just</a:t>
                      </a:r>
                    </a:p>
                    <a:p>
                      <a:pPr>
                        <a:lnSpc>
                          <a:spcPts val="1600"/>
                        </a:lnSpc>
                        <a:spcAft>
                          <a:spcPts val="0"/>
                        </a:spcAft>
                        <a:defRPr sz="1200" b="0">
                          <a:solidFill>
                            <a:srgbClr val="21243A"/>
                          </a:solidFill>
                          <a:latin typeface="Arial"/>
                        </a:defRPr>
                      </a:pPr>
                      <a:r>
                        <a:t>individual anecdotes, Yeah. and shows us the actual structural flow of ideas. Yeah,</a:t>
                      </a:r>
                    </a:p>
                    <a:p>
                      <a:pPr>
                        <a:lnSpc>
                          <a:spcPts val="1600"/>
                        </a:lnSpc>
                        <a:spcAft>
                          <a:spcPts val="0"/>
                        </a:spcAft>
                        <a:defRPr sz="1200" b="0">
                          <a:solidFill>
                            <a:srgbClr val="21243A"/>
                          </a:solidFill>
                          <a:latin typeface="Arial"/>
                        </a:defRPr>
                      </a:pPr>
                      <a:r>
                        <a:t>so the mission for our deep dive today is to explore a very specific phenomenon</a:t>
                      </a:r>
                    </a:p>
                    <a:p>
                      <a:pPr>
                        <a:lnSpc>
                          <a:spcPts val="1600"/>
                        </a:lnSpc>
                        <a:spcAft>
                          <a:spcPts val="0"/>
                        </a:spcAft>
                        <a:defRPr sz="1200" b="0">
                          <a:solidFill>
                            <a:srgbClr val="21243A"/>
                          </a:solidFill>
                          <a:latin typeface="Arial"/>
                        </a:defRPr>
                      </a:pPr>
                      <a:r>
                        <a:t>uncovered in this flow. We want to see how pre-existing anti-vaccine groups and</a:t>
                      </a:r>
                    </a:p>
                    <a:p>
                      <a:pPr>
                        <a:lnSpc>
                          <a:spcPts val="1600"/>
                        </a:lnSpc>
                        <a:spcAft>
                          <a:spcPts val="0"/>
                        </a:spcAft>
                        <a:defRPr sz="1200" b="0">
                          <a:solidFill>
                            <a:srgbClr val="21243A"/>
                          </a:solidFill>
                          <a:latin typeface="Arial"/>
                        </a:defRPr>
                      </a:pPr>
                      <a:r>
                        <a:t>newly formed anti-mask groups actually merged into this massive digital</a:t>
                      </a:r>
                    </a:p>
                    <a:p>
                      <a:pPr>
                        <a:lnSpc>
                          <a:spcPts val="1600"/>
                        </a:lnSpc>
                        <a:spcAft>
                          <a:spcPts val="0"/>
                        </a:spcAft>
                        <a:defRPr sz="1200" b="0">
                          <a:solidFill>
                            <a:srgbClr val="21243A"/>
                          </a:solidFill>
                          <a:latin typeface="Arial"/>
                        </a:defRPr>
                      </a:pPr>
                      <a:r>
                        <a:t>powerhouse. And to understand the psychological, social, and political drivers</a:t>
                      </a:r>
                    </a:p>
                    <a:p>
                      <a:pPr>
                        <a:lnSpc>
                          <a:spcPts val="1600"/>
                        </a:lnSpc>
                        <a:spcAft>
                          <a:spcPts val="0"/>
                        </a:spcAft>
                        <a:defRPr sz="1200" b="0">
                          <a:solidFill>
                            <a:srgbClr val="21243A"/>
                          </a:solidFill>
                          <a:latin typeface="Arial"/>
                        </a:defRPr>
                      </a:pPr>
                      <a:r>
                        <a:t>behind how the public reacted to these mandates. Exactly. Now, uh, a very quick</a:t>
                      </a:r>
                    </a:p>
                    <a:p>
                      <a:pPr>
                        <a:lnSpc>
                          <a:spcPts val="1600"/>
                        </a:lnSpc>
                        <a:spcAft>
                          <a:spcPts val="0"/>
                        </a:spcAft>
                        <a:defRPr sz="1200" b="0">
                          <a:solidFill>
                            <a:srgbClr val="21243A"/>
                          </a:solidFill>
                          <a:latin typeface="Arial"/>
                        </a:defRPr>
                      </a:pPr>
                      <a:r>
                        <a:t>heads-up to you, the listener, before we dive into the timeline. The data we are</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2178304"/>
        </p:xfrm>
        <a:graphic>
          <a:graphicData uri="http://schemas.openxmlformats.org/drawingml/2006/table">
            <a:tbl>
              <a:tblPr firstRow="1" bandRow="1">
                <a:tableStyleId>{5C22544A-7EE6-4342-B048-85BDC9FD1C3A}</a:tableStyleId>
              </a:tblPr>
              <a:tblGrid>
                <a:gridCol w="2271369"/>
                <a:gridCol w="6141110"/>
              </a:tblGrid>
              <a:tr h="2178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analyzing today is heavily political. Very heavily. Yeah, it involves major figures</a:t>
                      </a:r>
                    </a:p>
                    <a:p>
                      <a:pPr>
                        <a:lnSpc>
                          <a:spcPts val="1600"/>
                        </a:lnSpc>
                        <a:spcAft>
                          <a:spcPts val="0"/>
                        </a:spcAft>
                        <a:defRPr sz="1200" b="0">
                          <a:solidFill>
                            <a:srgbClr val="21243A"/>
                          </a:solidFill>
                          <a:latin typeface="Arial"/>
                        </a:defRPr>
                      </a:pPr>
                      <a:r>
                        <a:t>from the left and the right. We're talking President Joe Biden, former President</a:t>
                      </a:r>
                    </a:p>
                    <a:p>
                      <a:pPr>
                        <a:lnSpc>
                          <a:spcPts val="1600"/>
                        </a:lnSpc>
                        <a:spcAft>
                          <a:spcPts val="0"/>
                        </a:spcAft>
                        <a:defRPr sz="1200" b="0">
                          <a:solidFill>
                            <a:srgbClr val="21243A"/>
                          </a:solidFill>
                          <a:latin typeface="Arial"/>
                        </a:defRPr>
                      </a:pPr>
                      <a:r>
                        <a:t>Donald Trump, Vice President Kamala Harris, along with a bunch of conservative</a:t>
                      </a:r>
                    </a:p>
                    <a:p>
                      <a:pPr>
                        <a:lnSpc>
                          <a:spcPts val="1600"/>
                        </a:lnSpc>
                        <a:spcAft>
                          <a:spcPts val="0"/>
                        </a:spcAft>
                        <a:defRPr sz="1200" b="0">
                          <a:solidFill>
                            <a:srgbClr val="21243A"/>
                          </a:solidFill>
                          <a:latin typeface="Arial"/>
                        </a:defRPr>
                      </a:pPr>
                      <a:r>
                        <a:t>and liberal viewpoints. Right. So, I have to be clear here. We aren't taking sides</a:t>
                      </a:r>
                    </a:p>
                    <a:p>
                      <a:pPr>
                        <a:lnSpc>
                          <a:spcPts val="1600"/>
                        </a:lnSpc>
                        <a:spcAft>
                          <a:spcPts val="0"/>
                        </a:spcAft>
                        <a:defRPr sz="1200" b="0">
                          <a:solidFill>
                            <a:srgbClr val="21243A"/>
                          </a:solidFill>
                          <a:latin typeface="Arial"/>
                        </a:defRPr>
                      </a:pPr>
                      <a:r>
                        <a:t>today. We aren't endorsing any of the politics discussed. We're just impartially</a:t>
                      </a:r>
                    </a:p>
                    <a:p>
                      <a:pPr>
                        <a:lnSpc>
                          <a:spcPts val="1600"/>
                        </a:lnSpc>
                        <a:spcAft>
                          <a:spcPts val="0"/>
                        </a:spcAft>
                        <a:defRPr sz="1200" b="0">
                          <a:solidFill>
                            <a:srgbClr val="21243A"/>
                          </a:solidFill>
                          <a:latin typeface="Arial"/>
                        </a:defRPr>
                      </a:pPr>
                      <a:r>
                        <a:t>reading the digital footprint left behind to help you understand the mechanics of</a:t>
                      </a:r>
                    </a:p>
                    <a:p>
                      <a:pPr>
                        <a:lnSpc>
                          <a:spcPts val="1600"/>
                        </a:lnSpc>
                        <a:spcAft>
                          <a:spcPts val="0"/>
                        </a:spcAft>
                        <a:defRPr sz="1200" b="0">
                          <a:solidFill>
                            <a:srgbClr val="21243A"/>
                          </a:solidFill>
                          <a:latin typeface="Arial"/>
                        </a:defRPr>
                      </a:pPr>
                      <a:r>
                        <a:t>this social media evolution. Our focus is strictly on the mechanics of the discourse.</a:t>
                      </a:r>
                    </a:p>
                    <a:p>
                      <a:pPr>
                        <a:lnSpc>
                          <a:spcPts val="1600"/>
                        </a:lnSpc>
                        <a:spcAft>
                          <a:spcPts val="0"/>
                        </a:spcAft>
                        <a:defRPr sz="1200" b="0">
                          <a:solidFill>
                            <a:srgbClr val="21243A"/>
                          </a:solidFill>
                          <a:latin typeface="Arial"/>
                        </a:defRPr>
                      </a:pPr>
                      <a:r>
                        <a:t>You know, what the data reflects, what was said, and how it spread. Okay, let's</a:t>
                      </a:r>
                    </a:p>
                    <a:p>
                      <a:pPr>
                        <a:lnSpc>
                          <a:spcPts val="1600"/>
                        </a:lnSpc>
                        <a:spcAft>
                          <a:spcPts val="0"/>
                        </a:spcAft>
                        <a:defRPr sz="1200" b="0">
                          <a:solidFill>
                            <a:srgbClr val="21243A"/>
                          </a:solidFill>
                          <a:latin typeface="Arial"/>
                        </a:defRPr>
                      </a:pPr>
                      <a:r>
                        <a:t>unpack this. To really understand the explosion of outrage and compliance in</a:t>
                      </a:r>
                    </a:p>
                    <a:p>
                      <a:pPr>
                        <a:lnSpc>
                          <a:spcPts val="1600"/>
                        </a:lnSpc>
                        <a:spcAft>
                          <a:spcPts val="0"/>
                        </a:spcAft>
                        <a:defRPr sz="1200" b="0">
                          <a:solidFill>
                            <a:srgbClr val="21243A"/>
                          </a:solidFill>
                          <a:latin typeface="Arial"/>
                        </a:defRPr>
                      </a:pPr>
                      <a:r>
                        <a:t>2020, we have to reco</a:t>
                      </a:r>
                    </a:p>
                  </a:txBody>
                  <a:tcPr marL="82296" marR="82296" marT="64008" marB="64008">
                    <a:solidFill>
                      <a:srgbClr val="F1F7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Analysis', 'OpenAI Analysis', 'Gemini Analysis'];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podcast.m4a</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b6fa93e8-0de4-4ed9-b106-d6b642a9a901</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2026-09-26T20:30:11+00:00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verdict-consistency-2026-09-26.1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58663a6a9e4b634bdb703ead0aaa7cd6dce7fbf97e70c3c1cc61b3311b94c0b4</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Saved transcript excerpt reused for display (4,000 characters); the full original</a:t>
                      </a:r>
                    </a:p>
                    <a:p>
                      <a:pPr>
                        <a:lnSpc>
                          <a:spcPts val="1600"/>
                        </a:lnSpc>
                        <a:spcAft>
                          <a:spcPts val="0"/>
                        </a:spcAft>
                        <a:defRPr sz="1200" b="0">
                          <a:solidFill>
                            <a:srgbClr val="21243A"/>
                          </a:solidFill>
                          <a:latin typeface="Arial"/>
                        </a:defRPr>
                      </a:pPr>
                      <a:r>
                        <a:t>transcript is not retained in the saved report. The three model replies were</a:t>
                      </a:r>
                    </a:p>
                    <a:p>
                      <a:pPr>
                        <a:lnSpc>
                          <a:spcPts val="1600"/>
                        </a:lnSpc>
                        <a:spcAft>
                          <a:spcPts val="0"/>
                        </a:spcAft>
                        <a:defRPr sz="1200" b="0">
                          <a:solidFill>
                            <a:srgbClr val="21243A"/>
                          </a:solidFill>
                          <a:latin typeface="Arial"/>
                        </a:defRPr>
                      </a:pPr>
                      <a:r>
                        <a:t>acquired in the original transcript run, not generated from this excerpt. No new</a:t>
                      </a:r>
                    </a:p>
                    <a:p>
                      <a:pPr>
                        <a:lnSpc>
                          <a:spcPts val="1600"/>
                        </a:lnSpc>
                        <a:spcAft>
                          <a:spcPts val="0"/>
                        </a:spcAft>
                        <a:defRPr sz="1200" b="0">
                          <a:solidFill>
                            <a:srgbClr val="21243A"/>
                          </a:solidFill>
                          <a:latin typeface="Arial"/>
                        </a:defRPr>
                      </a:pPr>
                      <a:r>
                        <a:t>transcription or provider request.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Standalone-audio content assessment covers the transcript. AI-origin detection</a:t>
                      </a:r>
                    </a:p>
                    <a:p>
                      <a:pPr>
                        <a:lnSpc>
                          <a:spcPts val="1600"/>
                        </a:lnSpc>
                        <a:spcAft>
                          <a:spcPts val="0"/>
                        </a:spcAft>
                        <a:defRPr sz="1200" b="0">
                          <a:solidFill>
                            <a:srgbClr val="21243A"/>
                          </a:solidFill>
                          <a:latin typeface="Arial"/>
                        </a:defRPr>
                      </a:pPr>
                      <a:r>
                        <a:t>from sound is outside this assessment. Original-file C2PA was checked locally</a:t>
                      </a:r>
                    </a:p>
                  </a:txBody>
                  <a:tcPr marL="82296" marR="82296" marT="64008" marB="64008">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while assembling this saved-results copy and is reported separately.</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tracks inspected locally. Soundtrack uploads require a separate optional</a:t>
                      </a:r>
                    </a:p>
                    <a:p>
                      <a:pPr>
                        <a:lnSpc>
                          <a:spcPts val="1600"/>
                        </a:lnSpc>
                        <a:spcAft>
                          <a:spcPts val="0"/>
                        </a:spcAft>
                        <a:defRPr sz="1200" b="0">
                          <a:solidFill>
                            <a:srgbClr val="21243A"/>
                          </a:solidFill>
                          <a:latin typeface="Arial"/>
                        </a:defRPr>
                      </a:pPr>
                      <a:r>
                        <a:t>check; AI-origin detection from sound is outside this workflow.</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Ingestion note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Reassembled locally from saved transcript-model replies acquired at</a:t>
                      </a:r>
                    </a:p>
                    <a:p>
                      <a:pPr>
                        <a:lnSpc>
                          <a:spcPts val="1600"/>
                        </a:lnSpc>
                        <a:spcAft>
                          <a:spcPts val="0"/>
                        </a:spcAft>
                        <a:defRPr sz="1200" b="0">
                          <a:solidFill>
                            <a:srgbClr val="21243A"/>
                          </a:solidFill>
                          <a:latin typeface="Arial"/>
                        </a:defRPr>
                      </a:pPr>
                      <a:r>
                        <a:t>2026-09-24T15:10:51+00:00 under method publication-repair-2026-09-24.1.</a:t>
                      </a:r>
                    </a:p>
                    <a:p>
                      <a:pPr>
                        <a:lnSpc>
                          <a:spcPts val="1600"/>
                        </a:lnSpc>
                        <a:spcAft>
                          <a:spcPts val="0"/>
                        </a:spcAft>
                        <a:defRPr sz="1200" b="0">
                          <a:solidFill>
                            <a:srgbClr val="21243A"/>
                          </a:solidFill>
                          <a:latin typeface="Arial"/>
                        </a:defRPr>
                      </a:pPr>
                      <a:r>
                        <a:t>Original report d5e5a924-6232-4fb4-a4ef-d991655062cc is preserved. The original</a:t>
                      </a:r>
                    </a:p>
                    <a:p>
                      <a:pPr>
                        <a:lnSpc>
                          <a:spcPts val="1600"/>
                        </a:lnSpc>
                        <a:spcAft>
                          <a:spcPts val="0"/>
                        </a:spcAft>
                        <a:defRPr sz="1200" b="0">
                          <a:solidFill>
                            <a:srgbClr val="21243A"/>
                          </a:solidFill>
                          <a:latin typeface="Arial"/>
                        </a:defRPr>
                      </a:pPr>
                      <a:r>
                        <a:t>run used a source-labelled filename. Local audio-track and original-file credential</a:t>
                      </a:r>
                    </a:p>
                    <a:p>
                      <a:pPr>
                        <a:lnSpc>
                          <a:spcPts val="1600"/>
                        </a:lnSpc>
                        <a:spcAft>
                          <a:spcPts val="0"/>
                        </a:spcAft>
                        <a:defRPr sz="1200" b="0">
                          <a:solidFill>
                            <a:srgbClr val="21243A"/>
                          </a:solidFill>
                          <a:latin typeface="Arial"/>
                        </a:defRPr>
                      </a:pPr>
                      <a:r>
                        <a:t>checks were repeated; model replies were not rerun. Original run notes:</a:t>
                      </a:r>
                    </a:p>
                    <a:p>
                      <a:pPr>
                        <a:lnSpc>
                          <a:spcPts val="1600"/>
                        </a:lnSpc>
                        <a:spcAft>
                          <a:spcPts val="0"/>
                        </a:spcAft>
                        <a:defRPr sz="1200" b="0">
                          <a:solidFill>
                            <a:srgbClr val="21243A"/>
                          </a:solidFill>
                          <a:latin typeface="Arial"/>
                        </a:defRPr>
                      </a:pPr>
                      <a:r>
                        <a:t>Transcoded to 5737 KB mono 16 kHz (≤1800s).; Transcribed with Gemini.</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